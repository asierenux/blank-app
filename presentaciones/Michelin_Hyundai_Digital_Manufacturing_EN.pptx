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f3a037f-0e5d-c5d4-8a82-ff2230a00659}">
          <p14:sldIdLst>
            <p14:sldId id="256"/>
            <p14:sldId id="257"/>
            <p14:sldId id="258"/>
          </p14:sldIdLst>
        </p14:section>
        <p14:section name="Our digital transformation" id="{8a72b1cc-c87a-2ecd-0393-52f321568cec}">
          <p14:sldIdLst>
            <p14:sldId id="259"/>
            <p14:sldId id="260"/>
            <p14:sldId id="261"/>
          </p14:sldIdLst>
        </p14:section>
        <p14:section name="Inside the process" id="{759e04af-8c2e-a06e-a66c-84710b51ea11}">
          <p14:sldIdLst>
            <p14:sldId id="262"/>
            <p14:sldId id="263"/>
            <p14:sldId id="264"/>
            <p14:sldId id="265"/>
            <p14:sldId id="266"/>
            <p14:sldId id="267"/>
          </p14:sldIdLst>
        </p14:section>
        <p14:section name="Value for Hyundai" id="{cdb0f192-532b-2ec0-c01d-a62ad18f88f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message: Hyundai is not only buying a tire, it is buying a digitally controlled manufacturing process. Today we show how data, analytics and automation make every tire measured, monitored and corrected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audience remembers one slide, it is this one. The three steps are the backbone of the whole presentation: digitise, analyse,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sources: 2017 agreement (IONIQ 5), June 2022 MoU (premium EVs, real-time tire monitoring) and a third three-year agreement announced by Hyundai Motor Group / Kia. Confirm the signing date of the third agreement before the meeting. Key link: the real-time monitoring we co-develop for your vehicles is the same philosophy we apply inside our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OLM system we show today sits on steps 3 and 4: real-time analytics and closed-loop control. Michelin's Digital Manufacturing programme has used the PI System since 2017 and is now moving into a second phase based on advanced analytics. The next step is predictive quality with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slide: this is not an isolated project but part of Michelin's group-wide digital transformation. The €60M and robot figures are self-reported by Michelin in 2023 press coverage; quote them as such. Update with internal figures if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capture, edge computing, the PI data platform, analytics, decision and action. The architecture image is the MAC5 network: 8 stations, 16 sensors, 1 PLC, 4 PCs.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Gocator 2400 series specs from the original technical deck: scan rate up to 5 kHz, repeatability in microns depending on model. Images from the MAC (RFI, GI, BT) and P15 lines. A first demonstrator already flagged incorrectly applied (poorly stitched)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rolling median filters noise and shows the trend, so we act on a drift before any tire is out of tolerance. This is statistical process control running live, not in a weekly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full cycle: the median enters alert, the owner is notified, action is taken, and the median exits the alert. Everything is stored in the alert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slide for a carmaker: the system does not just warn, it acts. Example from the BJ regulation screen: the edge gauge (trusquin) reaches the lower limit, the ODM correction activates and the value returns to target. If correction is impossible, the rule blocks the machine or segregates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message: sensors, data platform, dashboards and rules are standard building blocks, so each new line is faster to digitise. BNS uses a Gocator 2650 class 3R laser profiler.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carmaker, traceability is critical: if a question ever arises on a batch, we have the measurement data from its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product: Hyundai homologates one tire; our digital process makes sure the thousands they receive are identical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Translate technology into buyer and quality benefits. Stress the link with our joint R&amp;D: real-time monitoring is exactly what we develop together for your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ask. Adjust the next steps to the real goal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tmp/claude-0/-home-user-blank-app/7493bec7-5fc4-598a-95c5-e4a4b47f4a0e/scratchpad/img/logo.png">    </p:cNvPr>
          <p:cNvPicPr>
            <a:picLocks noChangeAspect="1"/>
          </p:cNvPicPr>
          <p:nvPr/>
        </p:nvPicPr>
        <p:blipFill>
          <a:blip r:embed="rId1"/>
          <a:stretch>
            <a:fillRect/>
          </a:stretch>
        </p:blipFill>
        <p:spPr>
          <a:xfrm>
            <a:off x="10500055" y="384048"/>
            <a:ext cx="1143000" cy="500534"/>
          </a:xfrm>
          <a:prstGeom prst="rect">
            <a:avLst/>
          </a:prstGeom>
        </p:spPr>
      </p:pic>
      <p:sp>
        <p:nvSpPr>
          <p:cNvPr id="3" name="Text 0"/>
          <p:cNvSpPr/>
          <p:nvPr>
            <p:ph idx="101" type="title" hasCustomPrompt="1"/>
          </p:nvPr>
        </p:nvSpPr>
        <p:spPr>
          <a:xfrm>
            <a:off x="548640" y="320040"/>
            <a:ext cx="9631375"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ph idx="102" type="body" hasCustomPrompt="1"/>
          </p:nvPr>
        </p:nvSpPr>
        <p:spPr>
          <a:xfrm>
            <a:off x="548640" y="987552"/>
            <a:ext cx="9631375" cy="411480"/>
          </a:xfrm>
          <a:prstGeom prst="rect">
            <a:avLst/>
          </a:prstGeom>
          <a:noFill/>
          <a:ln/>
        </p:spPr>
        <p:txBody>
          <a:bodyPr wrap="square" rtlCol="0"/>
          <a:lstStyle>
            <a:lvl1pPr indent="0" marL="0">
              <a:buNone/>
              <a:defRPr lang="en-US" sz="1600" dirty="0">
                <a:solidFill>
                  <a:schemeClr val="accent1"/>
                </a:solidFill>
              </a:defRPr>
            </a:lvl1pPr>
          </a:lstStyle>
          <a:p>
            <a:pPr indent="0" marL="0">
              <a:buNone/>
            </a:pPr>
            <a:endParaRPr lang="en-US" sz="1600" dirty="0"/>
          </a:p>
        </p:txBody>
      </p:sp>
      <p:sp>
        <p:nvSpPr>
          <p:cNvPr id="5"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900" dirty="0">
                <a:solidFill>
                  <a:schemeClr val="accent6"/>
                </a:solidFill>
              </a:rPr>
              <a:t>Michelin · Hyundai Motor Group</a:t>
            </a:r>
            <a:endParaRPr lang="en-US" sz="9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ph idx="101" type="body" hasCustomPrompt="1"/>
          </p:nvPr>
        </p:nvSpPr>
        <p:spPr>
          <a:xfrm>
            <a:off x="548640" y="987552"/>
            <a:ext cx="11094415" cy="4114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jp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tx2"/>
        </a:solidFill>
      </p:bgPr>
    </p:bg>
    <p:spTree>
      <p:nvGrpSpPr>
        <p:cNvPr id="1" name=""/>
        <p:cNvGrpSpPr/>
        <p:nvPr/>
      </p:nvGrpSpPr>
      <p:grpSpPr>
        <a:xfrm>
          <a:off x="0" y="0"/>
          <a:ext cx="0" cy="0"/>
          <a:chOff x="0" y="0"/>
          <a:chExt cx="0" cy="0"/>
        </a:xfrm>
      </p:grpSpPr>
      <p:pic>
        <p:nvPicPr>
          <p:cNvPr id="2" name="Image 0" descr="/tmp/claude-0/-home-user-blank-app/7493bec7-5fc4-598a-95c5-e4a4b47f4a0e/scratchpad/img/tucson.jpg">    </p:cNvPr>
          <p:cNvPicPr>
            <a:picLocks noChangeAspect="1"/>
          </p:cNvPicPr>
          <p:nvPr/>
        </p:nvPicPr>
        <p:blipFill>
          <a:blip r:embed="rId1"/>
          <a:srcRect l="0" r="0" t="0" b="0"/>
          <a:stretch/>
        </p:blipFill>
        <p:spPr>
          <a:xfrm>
            <a:off x="5120640" y="0"/>
            <a:ext cx="7071055" cy="6858000"/>
          </a:xfrm>
          <a:prstGeom prst="rect">
            <a:avLst/>
          </a:prstGeom>
        </p:spPr>
      </p:pic>
      <p:sp>
        <p:nvSpPr>
          <p:cNvPr id="3" name="Shape 0"/>
          <p:cNvSpPr/>
          <p:nvPr/>
        </p:nvSpPr>
        <p:spPr>
          <a:xfrm>
            <a:off x="0" y="0"/>
            <a:ext cx="5120640" cy="6858000"/>
          </a:xfrm>
          <a:prstGeom prst="rect">
            <a:avLst/>
          </a:prstGeom>
          <a:solidFill>
            <a:schemeClr val="tx2"/>
          </a:solidFill>
          <a:ln/>
        </p:spPr>
      </p:sp>
      <p:sp>
        <p:nvSpPr>
          <p:cNvPr id="4" name="Shape 1"/>
          <p:cNvSpPr/>
          <p:nvPr/>
        </p:nvSpPr>
        <p:spPr>
          <a:xfrm>
            <a:off x="548640" y="548640"/>
            <a:ext cx="1737360" cy="914400"/>
          </a:xfrm>
          <a:prstGeom prst="roundRect">
            <a:avLst>
              <a:gd name="adj" fmla="val 8000"/>
            </a:avLst>
          </a:prstGeom>
          <a:solidFill>
            <a:schemeClr val="bg1"/>
          </a:solidFill>
          <a:ln/>
        </p:spPr>
      </p:sp>
      <p:pic>
        <p:nvPicPr>
          <p:cNvPr id="5" name="Image 1" descr="/tmp/claude-0/-home-user-blank-app/7493bec7-5fc4-598a-95c5-e4a4b47f4a0e/scratchpad/img/logo.png">    </p:cNvPr>
          <p:cNvPicPr>
            <a:picLocks noChangeAspect="1"/>
          </p:cNvPicPr>
          <p:nvPr/>
        </p:nvPicPr>
        <p:blipFill>
          <a:blip r:embed="rId2"/>
          <a:stretch>
            <a:fillRect/>
          </a:stretch>
        </p:blipFill>
        <p:spPr>
          <a:xfrm>
            <a:off x="685800" y="685498"/>
            <a:ext cx="1463040" cy="640684"/>
          </a:xfrm>
          <a:prstGeom prst="rect">
            <a:avLst/>
          </a:prstGeom>
        </p:spPr>
      </p:pic>
      <p:sp>
        <p:nvSpPr>
          <p:cNvPr id="6" name="Text 2"/>
          <p:cNvSpPr txBox="1"/>
          <p:nvPr/>
        </p:nvSpPr>
        <p:spPr>
          <a:xfrm>
            <a:off x="548640" y="1920240"/>
            <a:ext cx="4389120" cy="457200"/>
          </a:xfrm>
          <a:prstGeom prst="rect">
            <a:avLst/>
          </a:prstGeom>
          <a:noFill/>
          <a:ln/>
        </p:spPr>
        <p:txBody>
          <a:bodyPr wrap="square" lIns="0" tIns="0" rIns="0" bIns="0" rtlCol="0" anchor="ctr"/>
          <a:lstStyle/>
          <a:p>
            <a:pPr indent="0" marL="0">
              <a:buNone/>
            </a:pPr>
            <a:r>
              <a:rPr lang="en-US" sz="1800" b="1" dirty="0">
                <a:solidFill>
                  <a:schemeClr val="accent2"/>
                </a:solidFill>
              </a:rPr>
              <a:t>Hyundai &amp; Michelin</a:t>
            </a:r>
            <a:endParaRPr lang="en-US" sz="1800" dirty="0"/>
          </a:p>
        </p:txBody>
      </p:sp>
      <p:sp>
        <p:nvSpPr>
          <p:cNvPr id="7" name="Text 3"/>
          <p:cNvSpPr txBox="1"/>
          <p:nvPr/>
        </p:nvSpPr>
        <p:spPr>
          <a:xfrm>
            <a:off x="548640" y="2377440"/>
            <a:ext cx="4389120" cy="1554480"/>
          </a:xfrm>
          <a:prstGeom prst="rect">
            <a:avLst/>
          </a:prstGeom>
          <a:noFill/>
          <a:ln/>
        </p:spPr>
        <p:txBody>
          <a:bodyPr wrap="square" lIns="0" tIns="0" rIns="0" bIns="0" rtlCol="0" anchor="t"/>
          <a:lstStyle/>
          <a:p>
            <a:pPr indent="0" marL="0">
              <a:buNone/>
            </a:pPr>
            <a:r>
              <a:rPr lang="en-US" sz="3800" b="1" dirty="0">
                <a:solidFill>
                  <a:schemeClr val="bg1"/>
                </a:solidFill>
              </a:rPr>
              <a:t>From data to the perfect tire</a:t>
            </a:r>
            <a:endParaRPr lang="en-US" sz="3800" dirty="0"/>
          </a:p>
        </p:txBody>
      </p:sp>
      <p:sp>
        <p:nvSpPr>
          <p:cNvPr id="8" name="Text 4"/>
          <p:cNvSpPr txBox="1"/>
          <p:nvPr/>
        </p:nvSpPr>
        <p:spPr>
          <a:xfrm>
            <a:off x="548640" y="4114800"/>
            <a:ext cx="4206240" cy="1188720"/>
          </a:xfrm>
          <a:prstGeom prst="rect">
            <a:avLst/>
          </a:prstGeom>
          <a:noFill/>
          <a:ln/>
        </p:spPr>
        <p:txBody>
          <a:bodyPr wrap="square" lIns="0" tIns="0" rIns="0" bIns="0" rtlCol="0" anchor="t"/>
          <a:lstStyle/>
          <a:p>
            <a:pPr indent="0" marL="0">
              <a:buNone/>
            </a:pPr>
            <a:r>
              <a:rPr lang="en-US" sz="1600" dirty="0">
                <a:solidFill>
                  <a:schemeClr val="accent5"/>
                </a:solidFill>
              </a:rPr>
              <a:t>How Michelin's digital manufacturing guarantees the quality of the Primacy 5 Energy for the new Hyundai Tucson 2027</a:t>
            </a:r>
            <a:endParaRPr lang="en-US" sz="1600" dirty="0"/>
          </a:p>
        </p:txBody>
      </p:sp>
      <p:sp>
        <p:nvSpPr>
          <p:cNvPr id="9" name="Text 5"/>
          <p:cNvSpPr txBox="1"/>
          <p:nvPr/>
        </p:nvSpPr>
        <p:spPr>
          <a:xfrm>
            <a:off x="548640" y="6035040"/>
            <a:ext cx="4389120" cy="320040"/>
          </a:xfrm>
          <a:prstGeom prst="rect">
            <a:avLst/>
          </a:prstGeom>
          <a:noFill/>
          <a:ln/>
        </p:spPr>
        <p:txBody>
          <a:bodyPr wrap="square" lIns="0" tIns="0" rIns="0" bIns="0" rtlCol="0" anchor="ctr"/>
          <a:lstStyle/>
          <a:p>
            <a:pPr indent="0" marL="0">
              <a:buNone/>
            </a:pPr>
            <a:r>
              <a:rPr lang="en-US" sz="1200" dirty="0">
                <a:solidFill>
                  <a:schemeClr val="accent5"/>
                </a:solidFill>
              </a:rPr>
              <a:t>Plant visit · On-Line Measurement (OLM) · MAC &amp; BNS lines</a:t>
            </a:r>
            <a:endParaRPr lang="en-US" sz="1200" dirty="0"/>
          </a:p>
        </p:txBody>
      </p:sp>
      <p:pic>
        <p:nvPicPr>
          <p:cNvPr id="10" name="Image 2" descr="/tmp/claude-0/-home-user-blank-app/7493bec7-5fc4-598a-95c5-e4a4b47f4a0e/scratchpad/img/tire.png">    </p:cNvPr>
          <p:cNvPicPr>
            <a:picLocks noChangeAspect="1"/>
          </p:cNvPicPr>
          <p:nvPr/>
        </p:nvPicPr>
        <p:blipFill>
          <a:blip r:embed="rId3"/>
          <a:stretch>
            <a:fillRect/>
          </a:stretch>
        </p:blipFill>
        <p:spPr>
          <a:xfrm>
            <a:off x="8503920" y="3017520"/>
            <a:ext cx="3566160" cy="3566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000" b="1" dirty="0">
                <a:solidFill>
                  <a:schemeClr val="bg1"/>
                </a:solidFill>
              </a:rPr>
              <a:t>Our digital factory in three ideas</a:t>
            </a:r>
            <a:endParaRPr lang="en-US" sz="3000" dirty="0"/>
          </a:p>
        </p:txBody>
      </p:sp>
      <p:sp>
        <p:nvSpPr>
          <p:cNvPr id="3" name="Text 0"/>
          <p:cNvSpPr/>
          <p:nvPr>
            <p:ph idx="101" type="body" hasCustomPrompt="1"/>
          </p:nvPr>
        </p:nvSpPr>
        <p:spPr>
          <a:xfrm>
            <a:off x="548640" y="987552"/>
            <a:ext cx="11094415" cy="411480"/>
          </a:xfrm>
          <a:prstGeom prst="rect">
            <a:avLst/>
          </a:prstGeom>
          <a:noFill/>
          <a:ln/>
        </p:spPr>
        <p:txBody>
          <a:bodyPr wrap="square" lIns="0" tIns="0" rIns="0" bIns="0" rtlCol="0" anchor="t"/>
          <a:lstStyle/>
          <a:p>
            <a:pPr indent="0" marL="0">
              <a:buNone/>
            </a:pPr>
            <a:r>
              <a:rPr lang="en-US" sz="1600" dirty="0">
                <a:solidFill>
                  <a:schemeClr val="accent2"/>
                </a:solidFill>
              </a:rPr>
              <a:t>Every tire reaching your assembly line has been turned into data, analysed and corrected while it was being built</a:t>
            </a:r>
            <a:endParaRPr lang="en-US" sz="1600" dirty="0"/>
          </a:p>
        </p:txBody>
      </p:sp>
      <p:sp>
        <p:nvSpPr>
          <p:cNvPr id="4" name="card 1 · Digitise everything"/>
          <p:cNvSpPr/>
          <p:nvPr/>
        </p:nvSpPr>
        <p:spPr>
          <a:xfrm>
            <a:off x="548640" y="1920240"/>
            <a:ext cx="3515258" cy="3291840"/>
          </a:xfrm>
          <a:prstGeom prst="roundRect">
            <a:avLst>
              <a:gd name="adj" fmla="val 3333"/>
            </a:avLst>
          </a:prstGeom>
          <a:solidFill>
            <a:srgbClr val="13306B"/>
          </a:solidFill>
          <a:ln/>
        </p:spPr>
      </p:sp>
      <p:sp>
        <p:nvSpPr>
          <p:cNvPr id="5" name="Shape 3"/>
          <p:cNvSpPr/>
          <p:nvPr/>
        </p:nvSpPr>
        <p:spPr>
          <a:xfrm>
            <a:off x="822960" y="2194560"/>
            <a:ext cx="640080" cy="64008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960120" y="2331720"/>
            <a:ext cx="365760" cy="365760"/>
          </a:xfrm>
          <a:prstGeom prst="rect">
            <a:avLst/>
          </a:prstGeom>
        </p:spPr>
      </p:pic>
      <p:sp>
        <p:nvSpPr>
          <p:cNvPr id="7" name="Text 4"/>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chemeClr val="bg1"/>
                </a:solidFill>
              </a:rPr>
              <a:t>1 · Digitise everything</a:t>
            </a:r>
            <a:endParaRPr lang="en-US" sz="1800" dirty="0"/>
          </a:p>
        </p:txBody>
      </p:sp>
      <p:sp>
        <p:nvSpPr>
          <p:cNvPr id="8" name="Text 5"/>
          <p:cNvSpPr txBox="1"/>
          <p:nvPr/>
        </p:nvSpPr>
        <p:spPr>
          <a:xfrm>
            <a:off x="822960" y="3429000"/>
            <a:ext cx="2966618" cy="1600200"/>
          </a:xfrm>
          <a:prstGeom prst="rect">
            <a:avLst/>
          </a:prstGeom>
          <a:noFill/>
          <a:ln/>
        </p:spPr>
        <p:txBody>
          <a:bodyPr wrap="square" lIns="0" tIns="0" rIns="0" bIns="0" rtlCol="0" anchor="t"/>
          <a:lstStyle/>
          <a:p>
            <a:pPr indent="0" marL="0">
              <a:buNone/>
            </a:pPr>
            <a:r>
              <a:rPr lang="en-US" sz="1600" dirty="0">
                <a:solidFill>
                  <a:srgbClr val="DCE4F2"/>
                </a:solidFill>
              </a:rPr>
              <a:t>3D laser sensors turn every tire component into a digital profile. 100% of production, no sampling, no contact.</a:t>
            </a:r>
            <a:endParaRPr lang="en-US" sz="1600" dirty="0"/>
          </a:p>
        </p:txBody>
      </p:sp>
      <p:sp>
        <p:nvSpPr>
          <p:cNvPr id="9" name="card 2 · Analyse in real time"/>
          <p:cNvSpPr/>
          <p:nvPr/>
        </p:nvSpPr>
        <p:spPr>
          <a:xfrm>
            <a:off x="4338218" y="1920240"/>
            <a:ext cx="3515258" cy="3291840"/>
          </a:xfrm>
          <a:prstGeom prst="roundRect">
            <a:avLst>
              <a:gd name="adj" fmla="val 3333"/>
            </a:avLst>
          </a:prstGeom>
          <a:solidFill>
            <a:srgbClr val="13306B"/>
          </a:solidFill>
          <a:ln/>
        </p:spPr>
      </p:sp>
      <p:sp>
        <p:nvSpPr>
          <p:cNvPr id="10" name="Shape 7"/>
          <p:cNvSpPr/>
          <p:nvPr/>
        </p:nvSpPr>
        <p:spPr>
          <a:xfrm>
            <a:off x="4612538" y="2194560"/>
            <a:ext cx="640080" cy="64008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4749698" y="2331720"/>
            <a:ext cx="365760" cy="365760"/>
          </a:xfrm>
          <a:prstGeom prst="rect">
            <a:avLst/>
          </a:prstGeom>
        </p:spPr>
      </p:pic>
      <p:sp>
        <p:nvSpPr>
          <p:cNvPr id="12" name="Text 8"/>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chemeClr val="bg1"/>
                </a:solidFill>
              </a:rPr>
              <a:t>2 · Analyse in real time</a:t>
            </a:r>
            <a:endParaRPr lang="en-US" sz="1800" dirty="0"/>
          </a:p>
        </p:txBody>
      </p:sp>
      <p:sp>
        <p:nvSpPr>
          <p:cNvPr id="13" name="Text 9"/>
          <p:cNvSpPr txBox="1"/>
          <p:nvPr/>
        </p:nvSpPr>
        <p:spPr>
          <a:xfrm>
            <a:off x="4612538" y="3429000"/>
            <a:ext cx="2966618" cy="1600200"/>
          </a:xfrm>
          <a:prstGeom prst="rect">
            <a:avLst/>
          </a:prstGeom>
          <a:noFill/>
          <a:ln/>
        </p:spPr>
        <p:txBody>
          <a:bodyPr wrap="square" lIns="0" tIns="0" rIns="0" bIns="0" rtlCol="0" anchor="t"/>
          <a:lstStyle/>
          <a:p>
            <a:pPr indent="0" marL="0">
              <a:buNone/>
            </a:pPr>
            <a:r>
              <a:rPr lang="en-US" sz="1600" dirty="0">
                <a:solidFill>
                  <a:srgbClr val="DCE4F2"/>
                </a:solidFill>
              </a:rPr>
              <a:t>Our industrial data platform and advanced analytics detect drifts before they become defects, and alert the right people instantly.</a:t>
            </a:r>
            <a:endParaRPr lang="en-US" sz="1600" dirty="0"/>
          </a:p>
        </p:txBody>
      </p:sp>
      <p:sp>
        <p:nvSpPr>
          <p:cNvPr id="14" name="card 3 · Close the loop"/>
          <p:cNvSpPr/>
          <p:nvPr/>
        </p:nvSpPr>
        <p:spPr>
          <a:xfrm>
            <a:off x="8127797" y="1920240"/>
            <a:ext cx="3515258" cy="3291840"/>
          </a:xfrm>
          <a:prstGeom prst="roundRect">
            <a:avLst>
              <a:gd name="adj" fmla="val 3333"/>
            </a:avLst>
          </a:prstGeom>
          <a:solidFill>
            <a:srgbClr val="13306B"/>
          </a:solidFill>
          <a:ln/>
        </p:spPr>
      </p:sp>
      <p:sp>
        <p:nvSpPr>
          <p:cNvPr id="15" name="Shape 11"/>
          <p:cNvSpPr/>
          <p:nvPr/>
        </p:nvSpPr>
        <p:spPr>
          <a:xfrm>
            <a:off x="8402117" y="2194560"/>
            <a:ext cx="640080" cy="640080"/>
          </a:xfrm>
          <a:prstGeom prst="ellipse">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8539277" y="2331720"/>
            <a:ext cx="365760" cy="365760"/>
          </a:xfrm>
          <a:prstGeom prst="rect">
            <a:avLst/>
          </a:prstGeom>
        </p:spPr>
      </p:pic>
      <p:sp>
        <p:nvSpPr>
          <p:cNvPr id="17" name="Text 12"/>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chemeClr val="bg1"/>
                </a:solidFill>
              </a:rPr>
              <a:t>3 · Close the loop</a:t>
            </a:r>
            <a:endParaRPr lang="en-US" sz="1800" dirty="0"/>
          </a:p>
        </p:txBody>
      </p:sp>
      <p:sp>
        <p:nvSpPr>
          <p:cNvPr id="18" name="Text 13"/>
          <p:cNvSpPr txBox="1"/>
          <p:nvPr/>
        </p:nvSpPr>
        <p:spPr>
          <a:xfrm>
            <a:off x="8402117" y="3429000"/>
            <a:ext cx="2966618" cy="1600200"/>
          </a:xfrm>
          <a:prstGeom prst="rect">
            <a:avLst/>
          </a:prstGeom>
          <a:noFill/>
          <a:ln/>
        </p:spPr>
        <p:txBody>
          <a:bodyPr wrap="square" lIns="0" tIns="0" rIns="0" bIns="0" rtlCol="0" anchor="t"/>
          <a:lstStyle/>
          <a:p>
            <a:pPr indent="0" marL="0">
              <a:buNone/>
            </a:pPr>
            <a:r>
              <a:rPr lang="en-US" sz="1600" dirty="0">
                <a:solidFill>
                  <a:srgbClr val="DCE4F2"/>
                </a:solidFill>
              </a:rPr>
              <a:t>A rules engine acts automatically: it adjusts the machine, stops it or sets the product aside. Quality is built in, not inspected in.</a:t>
            </a:r>
            <a:endParaRPr lang="en-US" sz="1600" dirty="0"/>
          </a:p>
        </p:txBody>
      </p:sp>
      <p:sp>
        <p:nvSpPr>
          <p:cNvPr id="19" name="Text 14"/>
          <p:cNvSpPr txBox="1"/>
          <p:nvPr/>
        </p:nvSpPr>
        <p:spPr>
          <a:xfrm>
            <a:off x="548640" y="5577840"/>
            <a:ext cx="11094415" cy="457200"/>
          </a:xfrm>
          <a:prstGeom prst="rect">
            <a:avLst/>
          </a:prstGeom>
          <a:noFill/>
          <a:ln/>
        </p:spPr>
        <p:txBody>
          <a:bodyPr wrap="square" lIns="0" tIns="0" rIns="0" bIns="0" rtlCol="0" anchor="ctr"/>
          <a:lstStyle/>
          <a:p>
            <a:pPr indent="0" marL="0">
              <a:buNone/>
            </a:pPr>
            <a:r>
              <a:rPr lang="en-US" sz="1800" b="1" dirty="0">
                <a:solidFill>
                  <a:schemeClr val="accent2"/>
                </a:solidFill>
              </a:rPr>
              <a:t>Data → Insight → Action, in seconds, on every tire.</a:t>
            </a:r>
            <a:endParaRPr lang="en-US" sz="18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Partners in innovation since 2017</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Hyundai and Michelin already share a data-driven vision of the tire</a:t>
            </a:r>
            <a:endParaRPr lang="en-US" sz="1600" dirty="0"/>
          </a:p>
        </p:txBody>
      </p:sp>
      <p:sp>
        <p:nvSpPr>
          <p:cNvPr id="4" name="Shape 2"/>
          <p:cNvSpPr/>
          <p:nvPr/>
        </p:nvSpPr>
        <p:spPr>
          <a:xfrm>
            <a:off x="868680" y="2468880"/>
            <a:ext cx="8526551" cy="0"/>
          </a:xfrm>
          <a:prstGeom prst="line">
            <a:avLst/>
          </a:prstGeom>
          <a:noFill/>
          <a:ln w="25400">
            <a:solidFill>
              <a:schemeClr val="accent1"/>
            </a:solidFill>
            <a:prstDash val="solid"/>
          </a:ln>
        </p:spPr>
      </p:sp>
      <p:sp>
        <p:nvSpPr>
          <p:cNvPr id="5" name="Shape 3"/>
          <p:cNvSpPr/>
          <p:nvPr/>
        </p:nvSpPr>
        <p:spPr>
          <a:xfrm>
            <a:off x="548640" y="2148840"/>
            <a:ext cx="640080" cy="640080"/>
          </a:xfrm>
          <a:prstGeom prst="ellipse">
            <a:avLst/>
          </a:prstGeom>
          <a:solidFill>
            <a:schemeClr val="accent1"/>
          </a:solidFill>
          <a:ln w="381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704088" y="2304288"/>
            <a:ext cx="329184" cy="329184"/>
          </a:xfrm>
          <a:prstGeom prst="rect">
            <a:avLst/>
          </a:prstGeom>
        </p:spPr>
      </p:pic>
      <p:sp>
        <p:nvSpPr>
          <p:cNvPr id="7" name="Text 4"/>
          <p:cNvSpPr txBox="1"/>
          <p:nvPr/>
        </p:nvSpPr>
        <p:spPr>
          <a:xfrm>
            <a:off x="548640" y="2971800"/>
            <a:ext cx="2567864" cy="548640"/>
          </a:xfrm>
          <a:prstGeom prst="rect">
            <a:avLst/>
          </a:prstGeom>
          <a:noFill/>
          <a:ln/>
        </p:spPr>
        <p:txBody>
          <a:bodyPr wrap="square" lIns="0" tIns="0" rIns="0" bIns="0" rtlCol="0" anchor="ctr"/>
          <a:lstStyle/>
          <a:p>
            <a:pPr indent="0" marL="0">
              <a:buNone/>
            </a:pPr>
            <a:r>
              <a:rPr lang="en-US" sz="3200" b="1" dirty="0">
                <a:solidFill>
                  <a:schemeClr val="accent1"/>
                </a:solidFill>
              </a:rPr>
              <a:t>2017</a:t>
            </a:r>
            <a:endParaRPr lang="en-US" sz="3200" dirty="0"/>
          </a:p>
        </p:txBody>
      </p:sp>
      <p:sp>
        <p:nvSpPr>
          <p:cNvPr id="8" name="Text 5"/>
          <p:cNvSpPr txBox="1"/>
          <p:nvPr/>
        </p:nvSpPr>
        <p:spPr>
          <a:xfrm>
            <a:off x="548640" y="3520440"/>
            <a:ext cx="2567864" cy="365760"/>
          </a:xfrm>
          <a:prstGeom prst="rect">
            <a:avLst/>
          </a:prstGeom>
          <a:noFill/>
          <a:ln/>
        </p:spPr>
        <p:txBody>
          <a:bodyPr wrap="square" lIns="0" tIns="0" rIns="0" bIns="0" rtlCol="0" anchor="ctr"/>
          <a:lstStyle/>
          <a:p>
            <a:pPr indent="0" marL="0">
              <a:buNone/>
            </a:pPr>
            <a:r>
              <a:rPr lang="en-US" sz="1700" b="1" dirty="0">
                <a:solidFill>
                  <a:schemeClr val="tx2"/>
                </a:solidFill>
              </a:rPr>
              <a:t>First agreement</a:t>
            </a:r>
            <a:endParaRPr lang="en-US" sz="1700" dirty="0"/>
          </a:p>
        </p:txBody>
      </p:sp>
      <p:sp>
        <p:nvSpPr>
          <p:cNvPr id="9" name="Text 6"/>
          <p:cNvSpPr txBox="1"/>
          <p:nvPr/>
        </p:nvSpPr>
        <p:spPr>
          <a:xfrm>
            <a:off x="548640" y="3931920"/>
            <a:ext cx="2567864" cy="1463040"/>
          </a:xfrm>
          <a:prstGeom prst="rect">
            <a:avLst/>
          </a:prstGeom>
          <a:noFill/>
          <a:ln/>
        </p:spPr>
        <p:txBody>
          <a:bodyPr wrap="square" lIns="0" tIns="0" rIns="0" bIns="0" rtlCol="0" anchor="t"/>
          <a:lstStyle/>
          <a:p>
            <a:pPr indent="0" marL="0">
              <a:buNone/>
            </a:pPr>
            <a:r>
              <a:rPr lang="en-US" sz="1400" dirty="0">
                <a:solidFill>
                  <a:schemeClr val="tx1"/>
                </a:solidFill>
              </a:rPr>
              <a:t>5 years. Exclusive co-developed tire for the IONIQ 5, shared testing methods and technology exchange.</a:t>
            </a:r>
            <a:endParaRPr lang="en-US" sz="1400" dirty="0"/>
          </a:p>
        </p:txBody>
      </p:sp>
      <p:sp>
        <p:nvSpPr>
          <p:cNvPr id="10" name="Shape 7"/>
          <p:cNvSpPr/>
          <p:nvPr/>
        </p:nvSpPr>
        <p:spPr>
          <a:xfrm>
            <a:off x="3390824" y="2148840"/>
            <a:ext cx="640080" cy="640080"/>
          </a:xfrm>
          <a:prstGeom prst="ellipse">
            <a:avLst/>
          </a:prstGeom>
          <a:solidFill>
            <a:schemeClr val="accent1"/>
          </a:solidFill>
          <a:ln w="381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3546272" y="2304288"/>
            <a:ext cx="329184" cy="329184"/>
          </a:xfrm>
          <a:prstGeom prst="rect">
            <a:avLst/>
          </a:prstGeom>
        </p:spPr>
      </p:pic>
      <p:sp>
        <p:nvSpPr>
          <p:cNvPr id="12" name="Text 8"/>
          <p:cNvSpPr txBox="1"/>
          <p:nvPr/>
        </p:nvSpPr>
        <p:spPr>
          <a:xfrm>
            <a:off x="3390824" y="2971800"/>
            <a:ext cx="2567864" cy="548640"/>
          </a:xfrm>
          <a:prstGeom prst="rect">
            <a:avLst/>
          </a:prstGeom>
          <a:noFill/>
          <a:ln/>
        </p:spPr>
        <p:txBody>
          <a:bodyPr wrap="square" lIns="0" tIns="0" rIns="0" bIns="0" rtlCol="0" anchor="ctr"/>
          <a:lstStyle/>
          <a:p>
            <a:pPr indent="0" marL="0">
              <a:buNone/>
            </a:pPr>
            <a:r>
              <a:rPr lang="en-US" sz="3200" b="1" dirty="0">
                <a:solidFill>
                  <a:schemeClr val="accent1"/>
                </a:solidFill>
              </a:rPr>
              <a:t>2022</a:t>
            </a:r>
            <a:endParaRPr lang="en-US" sz="3200" dirty="0"/>
          </a:p>
        </p:txBody>
      </p:sp>
      <p:sp>
        <p:nvSpPr>
          <p:cNvPr id="13" name="Text 9"/>
          <p:cNvSpPr txBox="1"/>
          <p:nvPr/>
        </p:nvSpPr>
        <p:spPr>
          <a:xfrm>
            <a:off x="3390824" y="3520440"/>
            <a:ext cx="2567864" cy="365760"/>
          </a:xfrm>
          <a:prstGeom prst="rect">
            <a:avLst/>
          </a:prstGeom>
          <a:noFill/>
          <a:ln/>
        </p:spPr>
        <p:txBody>
          <a:bodyPr wrap="square" lIns="0" tIns="0" rIns="0" bIns="0" rtlCol="0" anchor="ctr"/>
          <a:lstStyle/>
          <a:p>
            <a:pPr indent="0" marL="0">
              <a:buNone/>
            </a:pPr>
            <a:r>
              <a:rPr lang="en-US" sz="1700" b="1" dirty="0">
                <a:solidFill>
                  <a:schemeClr val="tx2"/>
                </a:solidFill>
              </a:rPr>
              <a:t>Second agreement</a:t>
            </a:r>
            <a:endParaRPr lang="en-US" sz="1700" dirty="0"/>
          </a:p>
        </p:txBody>
      </p:sp>
      <p:sp>
        <p:nvSpPr>
          <p:cNvPr id="14" name="Text 10"/>
          <p:cNvSpPr txBox="1"/>
          <p:nvPr/>
        </p:nvSpPr>
        <p:spPr>
          <a:xfrm>
            <a:off x="3390824" y="3931920"/>
            <a:ext cx="2567864" cy="1463040"/>
          </a:xfrm>
          <a:prstGeom prst="rect">
            <a:avLst/>
          </a:prstGeom>
          <a:noFill/>
          <a:ln/>
        </p:spPr>
        <p:txBody>
          <a:bodyPr wrap="square" lIns="0" tIns="0" rIns="0" bIns="0" rtlCol="0" anchor="t"/>
          <a:lstStyle/>
          <a:p>
            <a:pPr indent="0" marL="0">
              <a:buNone/>
            </a:pPr>
            <a:r>
              <a:rPr lang="en-US" sz="1400" dirty="0">
                <a:solidFill>
                  <a:schemeClr val="tx1"/>
                </a:solidFill>
              </a:rPr>
              <a:t>3 years. Next-gen EV tires, more sustainable materials and real-time tire monitoring for autonomous driving.</a:t>
            </a:r>
            <a:endParaRPr lang="en-US" sz="1400" dirty="0"/>
          </a:p>
        </p:txBody>
      </p:sp>
      <p:sp>
        <p:nvSpPr>
          <p:cNvPr id="15" name="Shape 11"/>
          <p:cNvSpPr/>
          <p:nvPr/>
        </p:nvSpPr>
        <p:spPr>
          <a:xfrm>
            <a:off x="6233008" y="2148840"/>
            <a:ext cx="640080" cy="640080"/>
          </a:xfrm>
          <a:prstGeom prst="ellipse">
            <a:avLst/>
          </a:prstGeom>
          <a:solidFill>
            <a:schemeClr val="accent1"/>
          </a:solidFill>
          <a:ln w="38100">
            <a:solidFill>
              <a:schemeClr val="bg1"/>
            </a:solidFill>
            <a:prstDash val="solid"/>
          </a:ln>
        </p:spPr>
      </p:sp>
      <p:pic>
        <p:nvPicPr>
          <p:cNvPr id="16" name="Image 2" descr="preencoded.png">    </p:cNvPr>
          <p:cNvPicPr>
            <a:picLocks noChangeAspect="1"/>
          </p:cNvPicPr>
          <p:nvPr/>
        </p:nvPicPr>
        <p:blipFill>
          <a:blip r:embed="rId3"/>
          <a:stretch>
            <a:fillRect/>
          </a:stretch>
        </p:blipFill>
        <p:spPr>
          <a:xfrm>
            <a:off x="6388456" y="2304288"/>
            <a:ext cx="329184" cy="329184"/>
          </a:xfrm>
          <a:prstGeom prst="rect">
            <a:avLst/>
          </a:prstGeom>
        </p:spPr>
      </p:pic>
      <p:sp>
        <p:nvSpPr>
          <p:cNvPr id="17" name="Text 12"/>
          <p:cNvSpPr txBox="1"/>
          <p:nvPr/>
        </p:nvSpPr>
        <p:spPr>
          <a:xfrm>
            <a:off x="6233008" y="2971800"/>
            <a:ext cx="2567864" cy="548640"/>
          </a:xfrm>
          <a:prstGeom prst="rect">
            <a:avLst/>
          </a:prstGeom>
          <a:noFill/>
          <a:ln/>
        </p:spPr>
        <p:txBody>
          <a:bodyPr wrap="square" lIns="0" tIns="0" rIns="0" bIns="0" rtlCol="0" anchor="ctr"/>
          <a:lstStyle/>
          <a:p>
            <a:pPr indent="0" marL="0">
              <a:buNone/>
            </a:pPr>
            <a:r>
              <a:rPr lang="en-US" sz="3200" b="1" dirty="0">
                <a:solidFill>
                  <a:schemeClr val="accent1"/>
                </a:solidFill>
              </a:rPr>
              <a:t>Today</a:t>
            </a:r>
            <a:endParaRPr lang="en-US" sz="3200" dirty="0"/>
          </a:p>
        </p:txBody>
      </p:sp>
      <p:sp>
        <p:nvSpPr>
          <p:cNvPr id="18" name="Text 13"/>
          <p:cNvSpPr txBox="1"/>
          <p:nvPr/>
        </p:nvSpPr>
        <p:spPr>
          <a:xfrm>
            <a:off x="6233008" y="3520440"/>
            <a:ext cx="2567864" cy="365760"/>
          </a:xfrm>
          <a:prstGeom prst="rect">
            <a:avLst/>
          </a:prstGeom>
          <a:noFill/>
          <a:ln/>
        </p:spPr>
        <p:txBody>
          <a:bodyPr wrap="square" lIns="0" tIns="0" rIns="0" bIns="0" rtlCol="0" anchor="ctr"/>
          <a:lstStyle/>
          <a:p>
            <a:pPr indent="0" marL="0">
              <a:buNone/>
            </a:pPr>
            <a:r>
              <a:rPr lang="en-US" sz="1700" b="1" dirty="0">
                <a:solidFill>
                  <a:schemeClr val="tx2"/>
                </a:solidFill>
              </a:rPr>
              <a:t>Third agreement</a:t>
            </a:r>
            <a:endParaRPr lang="en-US" sz="1700" dirty="0"/>
          </a:p>
        </p:txBody>
      </p:sp>
      <p:sp>
        <p:nvSpPr>
          <p:cNvPr id="19" name="Text 14"/>
          <p:cNvSpPr txBox="1"/>
          <p:nvPr/>
        </p:nvSpPr>
        <p:spPr>
          <a:xfrm>
            <a:off x="6233008" y="3931920"/>
            <a:ext cx="2567864" cy="1463040"/>
          </a:xfrm>
          <a:prstGeom prst="rect">
            <a:avLst/>
          </a:prstGeom>
          <a:noFill/>
          <a:ln/>
        </p:spPr>
        <p:txBody>
          <a:bodyPr wrap="square" lIns="0" tIns="0" rIns="0" bIns="0" rtlCol="0" anchor="t"/>
          <a:lstStyle/>
          <a:p>
            <a:pPr indent="0" marL="0">
              <a:buNone/>
            </a:pPr>
            <a:r>
              <a:rPr lang="en-US" sz="1400" dirty="0">
                <a:solidFill>
                  <a:schemeClr val="tx1"/>
                </a:solidFill>
              </a:rPr>
              <a:t>3 years. Low rolling resistance, high performance, virtual tire development and SmartGrip braking technology.</a:t>
            </a:r>
            <a:endParaRPr lang="en-US" sz="1400" dirty="0"/>
          </a:p>
        </p:txBody>
      </p:sp>
      <p:sp>
        <p:nvSpPr>
          <p:cNvPr id="20" name="Shape 15"/>
          <p:cNvSpPr/>
          <p:nvPr/>
        </p:nvSpPr>
        <p:spPr>
          <a:xfrm>
            <a:off x="9075191" y="2148840"/>
            <a:ext cx="640080" cy="640080"/>
          </a:xfrm>
          <a:prstGeom prst="ellipse">
            <a:avLst/>
          </a:prstGeom>
          <a:solidFill>
            <a:schemeClr val="accent2"/>
          </a:solidFill>
          <a:ln w="38100">
            <a:solidFill>
              <a:schemeClr val="bg1"/>
            </a:solidFill>
            <a:prstDash val="solid"/>
          </a:ln>
        </p:spPr>
      </p:sp>
      <p:pic>
        <p:nvPicPr>
          <p:cNvPr id="21" name="Image 3" descr="preencoded.png">    </p:cNvPr>
          <p:cNvPicPr>
            <a:picLocks noChangeAspect="1"/>
          </p:cNvPicPr>
          <p:nvPr/>
        </p:nvPicPr>
        <p:blipFill>
          <a:blip r:embed="rId4"/>
          <a:stretch>
            <a:fillRect/>
          </a:stretch>
        </p:blipFill>
        <p:spPr>
          <a:xfrm>
            <a:off x="9230639" y="2304288"/>
            <a:ext cx="329184" cy="329184"/>
          </a:xfrm>
          <a:prstGeom prst="rect">
            <a:avLst/>
          </a:prstGeom>
        </p:spPr>
      </p:pic>
      <p:sp>
        <p:nvSpPr>
          <p:cNvPr id="22" name="Text 16"/>
          <p:cNvSpPr txBox="1"/>
          <p:nvPr/>
        </p:nvSpPr>
        <p:spPr>
          <a:xfrm>
            <a:off x="9075191" y="2971800"/>
            <a:ext cx="2567864" cy="548640"/>
          </a:xfrm>
          <a:prstGeom prst="rect">
            <a:avLst/>
          </a:prstGeom>
          <a:noFill/>
          <a:ln/>
        </p:spPr>
        <p:txBody>
          <a:bodyPr wrap="square" lIns="0" tIns="0" rIns="0" bIns="0" rtlCol="0" anchor="ctr"/>
          <a:lstStyle/>
          <a:p>
            <a:pPr indent="0" marL="0">
              <a:buNone/>
            </a:pPr>
            <a:r>
              <a:rPr lang="en-US" sz="3200" b="1" dirty="0">
                <a:solidFill>
                  <a:schemeClr val="accent1"/>
                </a:solidFill>
              </a:rPr>
              <a:t>2027</a:t>
            </a:r>
            <a:endParaRPr lang="en-US" sz="3200" dirty="0"/>
          </a:p>
        </p:txBody>
      </p:sp>
      <p:sp>
        <p:nvSpPr>
          <p:cNvPr id="23" name="Text 17"/>
          <p:cNvSpPr txBox="1"/>
          <p:nvPr/>
        </p:nvSpPr>
        <p:spPr>
          <a:xfrm>
            <a:off x="9075191" y="3520440"/>
            <a:ext cx="2567864" cy="365760"/>
          </a:xfrm>
          <a:prstGeom prst="rect">
            <a:avLst/>
          </a:prstGeom>
          <a:noFill/>
          <a:ln/>
        </p:spPr>
        <p:txBody>
          <a:bodyPr wrap="square" lIns="0" tIns="0" rIns="0" bIns="0" rtlCol="0" anchor="ctr"/>
          <a:lstStyle/>
          <a:p>
            <a:pPr indent="0" marL="0">
              <a:buNone/>
            </a:pPr>
            <a:r>
              <a:rPr lang="en-US" sz="1700" b="1" dirty="0">
                <a:solidFill>
                  <a:schemeClr val="tx2"/>
                </a:solidFill>
              </a:rPr>
              <a:t>New Tucson</a:t>
            </a:r>
            <a:endParaRPr lang="en-US" sz="1700" dirty="0"/>
          </a:p>
        </p:txBody>
      </p:sp>
      <p:sp>
        <p:nvSpPr>
          <p:cNvPr id="24" name="Text 18"/>
          <p:cNvSpPr txBox="1"/>
          <p:nvPr/>
        </p:nvSpPr>
        <p:spPr>
          <a:xfrm>
            <a:off x="9075191" y="3931920"/>
            <a:ext cx="2567864" cy="1463040"/>
          </a:xfrm>
          <a:prstGeom prst="rect">
            <a:avLst/>
          </a:prstGeom>
          <a:noFill/>
          <a:ln/>
        </p:spPr>
        <p:txBody>
          <a:bodyPr wrap="square" lIns="0" tIns="0" rIns="0" bIns="0" rtlCol="0" anchor="t"/>
          <a:lstStyle/>
          <a:p>
            <a:pPr indent="0" marL="0">
              <a:buNone/>
            </a:pPr>
            <a:r>
              <a:rPr lang="en-US" sz="1400" dirty="0">
                <a:solidFill>
                  <a:schemeClr val="tx1"/>
                </a:solidFill>
              </a:rPr>
              <a:t>Primacy 5 Energy 235/45 R20 as original equipment on the new Hyundai Tucson 2027.</a:t>
            </a:r>
            <a:endParaRPr lang="en-US" sz="1400" dirty="0"/>
          </a:p>
        </p:txBody>
      </p:sp>
      <p:sp>
        <p:nvSpPr>
          <p:cNvPr id="25" name="Shape 19"/>
          <p:cNvSpPr/>
          <p:nvPr/>
        </p:nvSpPr>
        <p:spPr>
          <a:xfrm>
            <a:off x="548640" y="5486400"/>
            <a:ext cx="11094415" cy="685800"/>
          </a:xfrm>
          <a:prstGeom prst="roundRect">
            <a:avLst>
              <a:gd name="adj" fmla="val 13333"/>
            </a:avLst>
          </a:prstGeom>
          <a:solidFill>
            <a:schemeClr val="bg2"/>
          </a:solidFill>
          <a:ln/>
        </p:spPr>
      </p:sp>
      <p:sp>
        <p:nvSpPr>
          <p:cNvPr id="26" name="Text 20"/>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500" b="1" dirty="0">
                <a:solidFill>
                  <a:schemeClr val="tx2"/>
                </a:solidFill>
              </a:rPr>
              <a:t>Already original equipment on your premium range: </a:t>
            </a:r>
            <a:pPr indent="0" marL="0">
              <a:buNone/>
            </a:pPr>
            <a:r>
              <a:rPr lang="en-US" sz="1500" dirty="0">
                <a:solidFill>
                  <a:schemeClr val="tx1"/>
                </a:solidFill>
              </a:rPr>
              <a:t>HN-marked tires for Hyundai N and GOE-marked tires for Genesis.</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Our digital journey</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From manual sampling to self-correcting production lines</a:t>
            </a:r>
            <a:endParaRPr lang="en-US" sz="1600" dirty="0"/>
          </a:p>
        </p:txBody>
      </p:sp>
      <p:sp>
        <p:nvSpPr>
          <p:cNvPr id="4" name="Shape 2"/>
          <p:cNvSpPr/>
          <p:nvPr/>
        </p:nvSpPr>
        <p:spPr>
          <a:xfrm>
            <a:off x="548640" y="3794760"/>
            <a:ext cx="2072579" cy="2194560"/>
          </a:xfrm>
          <a:prstGeom prst="roundRect">
            <a:avLst>
              <a:gd name="adj" fmla="val 5294"/>
            </a:avLst>
          </a:prstGeom>
          <a:solidFill>
            <a:schemeClr val="bg2"/>
          </a:solidFill>
          <a:ln/>
        </p:spPr>
      </p:sp>
      <p:sp>
        <p:nvSpPr>
          <p:cNvPr id="5" name="Shape 3"/>
          <p:cNvSpPr/>
          <p:nvPr/>
        </p:nvSpPr>
        <p:spPr>
          <a:xfrm>
            <a:off x="777240" y="4023360"/>
            <a:ext cx="594360" cy="59436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925830" y="4171950"/>
            <a:ext cx="297180" cy="297180"/>
          </a:xfrm>
          <a:prstGeom prst="rect">
            <a:avLst/>
          </a:prstGeom>
        </p:spPr>
      </p:pic>
      <p:sp>
        <p:nvSpPr>
          <p:cNvPr id="7" name="Text 4"/>
          <p:cNvSpPr txBox="1"/>
          <p:nvPr/>
        </p:nvSpPr>
        <p:spPr>
          <a:xfrm>
            <a:off x="777240" y="4754880"/>
            <a:ext cx="1615379" cy="548640"/>
          </a:xfrm>
          <a:prstGeom prst="rect">
            <a:avLst/>
          </a:prstGeom>
          <a:noFill/>
          <a:ln/>
        </p:spPr>
        <p:txBody>
          <a:bodyPr wrap="square" lIns="0" tIns="0" rIns="0" bIns="0" rtlCol="0" anchor="t"/>
          <a:lstStyle/>
          <a:p>
            <a:pPr indent="0" marL="0">
              <a:buNone/>
            </a:pPr>
            <a:r>
              <a:rPr lang="en-US" sz="1600" b="1" dirty="0">
                <a:solidFill>
                  <a:schemeClr val="tx2"/>
                </a:solidFill>
              </a:rPr>
              <a:t>Sampling</a:t>
            </a:r>
            <a:endParaRPr lang="en-US" sz="1600" dirty="0"/>
          </a:p>
        </p:txBody>
      </p:sp>
      <p:sp>
        <p:nvSpPr>
          <p:cNvPr id="8" name="Text 5"/>
          <p:cNvSpPr txBox="1"/>
          <p:nvPr/>
        </p:nvSpPr>
        <p:spPr>
          <a:xfrm>
            <a:off x="777240" y="5303520"/>
            <a:ext cx="1615379" cy="594360"/>
          </a:xfrm>
          <a:prstGeom prst="rect">
            <a:avLst/>
          </a:prstGeom>
          <a:noFill/>
          <a:ln/>
        </p:spPr>
        <p:txBody>
          <a:bodyPr wrap="square" lIns="0" tIns="0" rIns="0" bIns="0" rtlCol="0" anchor="t"/>
          <a:lstStyle/>
          <a:p>
            <a:pPr indent="0" marL="0">
              <a:buNone/>
            </a:pPr>
            <a:r>
              <a:rPr lang="en-US" sz="1300" dirty="0">
                <a:solidFill>
                  <a:schemeClr val="tx2"/>
                </a:solidFill>
              </a:rPr>
              <a:t>Manual checks on a few tires per shift. Defects found late.</a:t>
            </a:r>
            <a:endParaRPr lang="en-US" sz="1300" dirty="0"/>
          </a:p>
        </p:txBody>
      </p:sp>
      <p:sp>
        <p:nvSpPr>
          <p:cNvPr id="9" name="Shape 6"/>
          <p:cNvSpPr/>
          <p:nvPr/>
        </p:nvSpPr>
        <p:spPr>
          <a:xfrm>
            <a:off x="2804099" y="3383280"/>
            <a:ext cx="2072579" cy="2606040"/>
          </a:xfrm>
          <a:prstGeom prst="roundRect">
            <a:avLst>
              <a:gd name="adj" fmla="val 5294"/>
            </a:avLst>
          </a:prstGeom>
          <a:solidFill>
            <a:schemeClr val="bg2"/>
          </a:solidFill>
          <a:ln/>
        </p:spPr>
      </p:sp>
      <p:sp>
        <p:nvSpPr>
          <p:cNvPr id="10" name="Shape 7"/>
          <p:cNvSpPr/>
          <p:nvPr/>
        </p:nvSpPr>
        <p:spPr>
          <a:xfrm>
            <a:off x="3032699" y="3611880"/>
            <a:ext cx="594360" cy="59436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3181289" y="3760470"/>
            <a:ext cx="297180" cy="297180"/>
          </a:xfrm>
          <a:prstGeom prst="rect">
            <a:avLst/>
          </a:prstGeom>
        </p:spPr>
      </p:pic>
      <p:sp>
        <p:nvSpPr>
          <p:cNvPr id="12" name="Text 8"/>
          <p:cNvSpPr txBox="1"/>
          <p:nvPr/>
        </p:nvSpPr>
        <p:spPr>
          <a:xfrm>
            <a:off x="3032699" y="4343400"/>
            <a:ext cx="1615379" cy="548640"/>
          </a:xfrm>
          <a:prstGeom prst="rect">
            <a:avLst/>
          </a:prstGeom>
          <a:noFill/>
          <a:ln/>
        </p:spPr>
        <p:txBody>
          <a:bodyPr wrap="square" lIns="0" tIns="0" rIns="0" bIns="0" rtlCol="0" anchor="t"/>
          <a:lstStyle/>
          <a:p>
            <a:pPr indent="0" marL="0">
              <a:buNone/>
            </a:pPr>
            <a:r>
              <a:rPr lang="en-US" sz="1600" b="1" dirty="0">
                <a:solidFill>
                  <a:schemeClr val="tx2"/>
                </a:solidFill>
              </a:rPr>
              <a:t>Connected</a:t>
            </a:r>
            <a:endParaRPr lang="en-US" sz="1600" dirty="0"/>
          </a:p>
        </p:txBody>
      </p:sp>
      <p:sp>
        <p:nvSpPr>
          <p:cNvPr id="13" name="Text 9"/>
          <p:cNvSpPr txBox="1"/>
          <p:nvPr/>
        </p:nvSpPr>
        <p:spPr>
          <a:xfrm>
            <a:off x="3032699" y="4892040"/>
            <a:ext cx="1615379" cy="1005840"/>
          </a:xfrm>
          <a:prstGeom prst="rect">
            <a:avLst/>
          </a:prstGeom>
          <a:noFill/>
          <a:ln/>
        </p:spPr>
        <p:txBody>
          <a:bodyPr wrap="square" lIns="0" tIns="0" rIns="0" bIns="0" rtlCol="0" anchor="t"/>
          <a:lstStyle/>
          <a:p>
            <a:pPr indent="0" marL="0">
              <a:buNone/>
            </a:pPr>
            <a:r>
              <a:rPr lang="en-US" sz="1300" dirty="0">
                <a:solidFill>
                  <a:schemeClr val="tx2"/>
                </a:solidFill>
              </a:rPr>
              <a:t>Machines connected to an industrial data platform (PI System, since 2017).</a:t>
            </a:r>
            <a:endParaRPr lang="en-US" sz="1300" dirty="0"/>
          </a:p>
        </p:txBody>
      </p:sp>
      <p:sp>
        <p:nvSpPr>
          <p:cNvPr id="14" name="Shape 10"/>
          <p:cNvSpPr/>
          <p:nvPr/>
        </p:nvSpPr>
        <p:spPr>
          <a:xfrm>
            <a:off x="5059558" y="2971800"/>
            <a:ext cx="2072579" cy="3017520"/>
          </a:xfrm>
          <a:prstGeom prst="roundRect">
            <a:avLst>
              <a:gd name="adj" fmla="val 5294"/>
            </a:avLst>
          </a:prstGeom>
          <a:solidFill>
            <a:schemeClr val="accent1"/>
          </a:solidFill>
          <a:ln/>
        </p:spPr>
      </p:sp>
      <p:sp>
        <p:nvSpPr>
          <p:cNvPr id="15" name="Shape 11"/>
          <p:cNvSpPr/>
          <p:nvPr/>
        </p:nvSpPr>
        <p:spPr>
          <a:xfrm>
            <a:off x="5288158" y="3200400"/>
            <a:ext cx="594360" cy="594360"/>
          </a:xfrm>
          <a:prstGeom prst="ellipse">
            <a:avLst/>
          </a:prstGeom>
          <a:solidFill>
            <a:schemeClr val="tx2"/>
          </a:solidFill>
          <a:ln/>
        </p:spPr>
      </p:sp>
      <p:pic>
        <p:nvPicPr>
          <p:cNvPr id="16" name="Image 2" descr="preencoded.png">    </p:cNvPr>
          <p:cNvPicPr>
            <a:picLocks noChangeAspect="1"/>
          </p:cNvPicPr>
          <p:nvPr/>
        </p:nvPicPr>
        <p:blipFill>
          <a:blip r:embed="rId3"/>
          <a:stretch>
            <a:fillRect/>
          </a:stretch>
        </p:blipFill>
        <p:spPr>
          <a:xfrm>
            <a:off x="5436748" y="3348990"/>
            <a:ext cx="297180" cy="297180"/>
          </a:xfrm>
          <a:prstGeom prst="rect">
            <a:avLst/>
          </a:prstGeom>
        </p:spPr>
      </p:pic>
      <p:sp>
        <p:nvSpPr>
          <p:cNvPr id="17" name="Text 12"/>
          <p:cNvSpPr txBox="1"/>
          <p:nvPr/>
        </p:nvSpPr>
        <p:spPr>
          <a:xfrm>
            <a:off x="5288158" y="3931920"/>
            <a:ext cx="1615379" cy="548640"/>
          </a:xfrm>
          <a:prstGeom prst="rect">
            <a:avLst/>
          </a:prstGeom>
          <a:noFill/>
          <a:ln/>
        </p:spPr>
        <p:txBody>
          <a:bodyPr wrap="square" lIns="0" tIns="0" rIns="0" bIns="0" rtlCol="0" anchor="t"/>
          <a:lstStyle/>
          <a:p>
            <a:pPr indent="0" marL="0">
              <a:buNone/>
            </a:pPr>
            <a:r>
              <a:rPr lang="en-US" sz="1600" b="1" dirty="0">
                <a:solidFill>
                  <a:schemeClr val="bg1"/>
                </a:solidFill>
              </a:rPr>
              <a:t>Real-time analytics</a:t>
            </a:r>
            <a:endParaRPr lang="en-US" sz="1600" dirty="0"/>
          </a:p>
        </p:txBody>
      </p:sp>
      <p:sp>
        <p:nvSpPr>
          <p:cNvPr id="18" name="Text 13"/>
          <p:cNvSpPr txBox="1"/>
          <p:nvPr/>
        </p:nvSpPr>
        <p:spPr>
          <a:xfrm>
            <a:off x="5288158" y="4480560"/>
            <a:ext cx="1615379" cy="1417320"/>
          </a:xfrm>
          <a:prstGeom prst="rect">
            <a:avLst/>
          </a:prstGeom>
          <a:noFill/>
          <a:ln/>
        </p:spPr>
        <p:txBody>
          <a:bodyPr wrap="square" lIns="0" tIns="0" rIns="0" bIns="0" rtlCol="0" anchor="t"/>
          <a:lstStyle/>
          <a:p>
            <a:pPr indent="0" marL="0">
              <a:buNone/>
            </a:pPr>
            <a:r>
              <a:rPr lang="en-US" sz="1300" dirty="0">
                <a:solidFill>
                  <a:schemeClr val="bg1"/>
                </a:solidFill>
              </a:rPr>
              <a:t>Live dashboards, statistical control and smart alerts.</a:t>
            </a:r>
            <a:endParaRPr lang="en-US" sz="1300" dirty="0"/>
          </a:p>
        </p:txBody>
      </p:sp>
      <p:sp>
        <p:nvSpPr>
          <p:cNvPr id="19" name="Shape 14"/>
          <p:cNvSpPr/>
          <p:nvPr/>
        </p:nvSpPr>
        <p:spPr>
          <a:xfrm>
            <a:off x="7315017" y="2560320"/>
            <a:ext cx="2072579" cy="3429000"/>
          </a:xfrm>
          <a:prstGeom prst="roundRect">
            <a:avLst>
              <a:gd name="adj" fmla="val 5294"/>
            </a:avLst>
          </a:prstGeom>
          <a:solidFill>
            <a:schemeClr val="accent1"/>
          </a:solidFill>
          <a:ln/>
        </p:spPr>
      </p:sp>
      <p:sp>
        <p:nvSpPr>
          <p:cNvPr id="20" name="Shape 15"/>
          <p:cNvSpPr/>
          <p:nvPr/>
        </p:nvSpPr>
        <p:spPr>
          <a:xfrm>
            <a:off x="7543617" y="2788920"/>
            <a:ext cx="594360" cy="594360"/>
          </a:xfrm>
          <a:prstGeom prst="ellipse">
            <a:avLst/>
          </a:prstGeom>
          <a:solidFill>
            <a:schemeClr val="tx2"/>
          </a:solidFill>
          <a:ln/>
        </p:spPr>
      </p:sp>
      <p:pic>
        <p:nvPicPr>
          <p:cNvPr id="21" name="Image 3" descr="preencoded.png">    </p:cNvPr>
          <p:cNvPicPr>
            <a:picLocks noChangeAspect="1"/>
          </p:cNvPicPr>
          <p:nvPr/>
        </p:nvPicPr>
        <p:blipFill>
          <a:blip r:embed="rId4"/>
          <a:stretch>
            <a:fillRect/>
          </a:stretch>
        </p:blipFill>
        <p:spPr>
          <a:xfrm>
            <a:off x="7692207" y="2937510"/>
            <a:ext cx="297180" cy="297180"/>
          </a:xfrm>
          <a:prstGeom prst="rect">
            <a:avLst/>
          </a:prstGeom>
        </p:spPr>
      </p:pic>
      <p:sp>
        <p:nvSpPr>
          <p:cNvPr id="22" name="Text 16"/>
          <p:cNvSpPr txBox="1"/>
          <p:nvPr/>
        </p:nvSpPr>
        <p:spPr>
          <a:xfrm>
            <a:off x="7543617" y="3520440"/>
            <a:ext cx="1615379" cy="548640"/>
          </a:xfrm>
          <a:prstGeom prst="rect">
            <a:avLst/>
          </a:prstGeom>
          <a:noFill/>
          <a:ln/>
        </p:spPr>
        <p:txBody>
          <a:bodyPr wrap="square" lIns="0" tIns="0" rIns="0" bIns="0" rtlCol="0" anchor="t"/>
          <a:lstStyle/>
          <a:p>
            <a:pPr indent="0" marL="0">
              <a:buNone/>
            </a:pPr>
            <a:r>
              <a:rPr lang="en-US" sz="1600" b="1" dirty="0">
                <a:solidFill>
                  <a:schemeClr val="bg1"/>
                </a:solidFill>
              </a:rPr>
              <a:t>Closed loop</a:t>
            </a:r>
            <a:endParaRPr lang="en-US" sz="1600" dirty="0"/>
          </a:p>
        </p:txBody>
      </p:sp>
      <p:sp>
        <p:nvSpPr>
          <p:cNvPr id="23" name="Text 17"/>
          <p:cNvSpPr txBox="1"/>
          <p:nvPr/>
        </p:nvSpPr>
        <p:spPr>
          <a:xfrm>
            <a:off x="7543617" y="4069080"/>
            <a:ext cx="1615379" cy="1828800"/>
          </a:xfrm>
          <a:prstGeom prst="rect">
            <a:avLst/>
          </a:prstGeom>
          <a:noFill/>
          <a:ln/>
        </p:spPr>
        <p:txBody>
          <a:bodyPr wrap="square" lIns="0" tIns="0" rIns="0" bIns="0" rtlCol="0" anchor="t"/>
          <a:lstStyle/>
          <a:p>
            <a:pPr indent="0" marL="0">
              <a:buNone/>
            </a:pPr>
            <a:r>
              <a:rPr lang="en-US" sz="1300" dirty="0">
                <a:solidFill>
                  <a:schemeClr val="bg1"/>
                </a:solidFill>
              </a:rPr>
              <a:t>Rules engine corrects the process automatically.</a:t>
            </a:r>
            <a:endParaRPr lang="en-US" sz="1300" dirty="0"/>
          </a:p>
        </p:txBody>
      </p:sp>
      <p:sp>
        <p:nvSpPr>
          <p:cNvPr id="24" name="Shape 18"/>
          <p:cNvSpPr/>
          <p:nvPr/>
        </p:nvSpPr>
        <p:spPr>
          <a:xfrm>
            <a:off x="9570476" y="2148840"/>
            <a:ext cx="2072579" cy="3840480"/>
          </a:xfrm>
          <a:prstGeom prst="roundRect">
            <a:avLst>
              <a:gd name="adj" fmla="val 5294"/>
            </a:avLst>
          </a:prstGeom>
          <a:solidFill>
            <a:schemeClr val="accent2"/>
          </a:solidFill>
          <a:ln/>
        </p:spPr>
      </p:sp>
      <p:sp>
        <p:nvSpPr>
          <p:cNvPr id="25" name="Shape 19"/>
          <p:cNvSpPr/>
          <p:nvPr/>
        </p:nvSpPr>
        <p:spPr>
          <a:xfrm>
            <a:off x="9799076" y="2377440"/>
            <a:ext cx="594360" cy="594360"/>
          </a:xfrm>
          <a:prstGeom prst="ellipse">
            <a:avLst/>
          </a:prstGeom>
          <a:solidFill>
            <a:schemeClr val="accent1"/>
          </a:solidFill>
          <a:ln/>
        </p:spPr>
      </p:sp>
      <p:pic>
        <p:nvPicPr>
          <p:cNvPr id="26" name="Image 4" descr="preencoded.png">    </p:cNvPr>
          <p:cNvPicPr>
            <a:picLocks noChangeAspect="1"/>
          </p:cNvPicPr>
          <p:nvPr/>
        </p:nvPicPr>
        <p:blipFill>
          <a:blip r:embed="rId5"/>
          <a:stretch>
            <a:fillRect/>
          </a:stretch>
        </p:blipFill>
        <p:spPr>
          <a:xfrm>
            <a:off x="9947666" y="2526030"/>
            <a:ext cx="297180" cy="297180"/>
          </a:xfrm>
          <a:prstGeom prst="rect">
            <a:avLst/>
          </a:prstGeom>
        </p:spPr>
      </p:pic>
      <p:sp>
        <p:nvSpPr>
          <p:cNvPr id="27" name="Text 20"/>
          <p:cNvSpPr txBox="1"/>
          <p:nvPr/>
        </p:nvSpPr>
        <p:spPr>
          <a:xfrm>
            <a:off x="9799076" y="3108960"/>
            <a:ext cx="1615379" cy="548640"/>
          </a:xfrm>
          <a:prstGeom prst="rect">
            <a:avLst/>
          </a:prstGeom>
          <a:noFill/>
          <a:ln/>
        </p:spPr>
        <p:txBody>
          <a:bodyPr wrap="square" lIns="0" tIns="0" rIns="0" bIns="0" rtlCol="0" anchor="t"/>
          <a:lstStyle/>
          <a:p>
            <a:pPr indent="0" marL="0">
              <a:buNone/>
            </a:pPr>
            <a:r>
              <a:rPr lang="en-US" sz="1600" b="1" dirty="0">
                <a:solidFill>
                  <a:schemeClr val="tx2"/>
                </a:solidFill>
              </a:rPr>
              <a:t>Predictive &amp; AI</a:t>
            </a:r>
            <a:endParaRPr lang="en-US" sz="1600" dirty="0"/>
          </a:p>
        </p:txBody>
      </p:sp>
      <p:sp>
        <p:nvSpPr>
          <p:cNvPr id="28" name="Text 21"/>
          <p:cNvSpPr txBox="1"/>
          <p:nvPr/>
        </p:nvSpPr>
        <p:spPr>
          <a:xfrm>
            <a:off x="9799076" y="3657600"/>
            <a:ext cx="1615379" cy="2240280"/>
          </a:xfrm>
          <a:prstGeom prst="rect">
            <a:avLst/>
          </a:prstGeom>
          <a:noFill/>
          <a:ln/>
        </p:spPr>
        <p:txBody>
          <a:bodyPr wrap="square" lIns="0" tIns="0" rIns="0" bIns="0" rtlCol="0" anchor="t"/>
          <a:lstStyle/>
          <a:p>
            <a:pPr indent="0" marL="0">
              <a:buNone/>
            </a:pPr>
            <a:r>
              <a:rPr lang="en-US" sz="1300" dirty="0">
                <a:solidFill>
                  <a:schemeClr val="tx2"/>
                </a:solidFill>
              </a:rPr>
              <a:t>Advanced analytics, digital twins and AI to anticipate issues.</a:t>
            </a:r>
            <a:endParaRPr lang="en-US" sz="1300" dirty="0"/>
          </a:p>
        </p:txBody>
      </p:sp>
      <p:sp>
        <p:nvSpPr>
          <p:cNvPr id="29" name="Shape 22"/>
          <p:cNvSpPr/>
          <p:nvPr/>
        </p:nvSpPr>
        <p:spPr>
          <a:xfrm>
            <a:off x="548640" y="1673352"/>
            <a:ext cx="182880" cy="182880"/>
          </a:xfrm>
          <a:prstGeom prst="rect">
            <a:avLst/>
          </a:prstGeom>
          <a:solidFill>
            <a:schemeClr val="accent1"/>
          </a:solidFill>
          <a:ln/>
        </p:spPr>
      </p:sp>
      <p:sp>
        <p:nvSpPr>
          <p:cNvPr id="30" name="Text 23"/>
          <p:cNvSpPr txBox="1"/>
          <p:nvPr/>
        </p:nvSpPr>
        <p:spPr>
          <a:xfrm>
            <a:off x="822960" y="1600200"/>
            <a:ext cx="1371600" cy="320040"/>
          </a:xfrm>
          <a:prstGeom prst="rect">
            <a:avLst/>
          </a:prstGeom>
          <a:noFill/>
          <a:ln/>
        </p:spPr>
        <p:txBody>
          <a:bodyPr wrap="square" lIns="0" tIns="0" rIns="0" bIns="0" rtlCol="0" anchor="ctr"/>
          <a:lstStyle/>
          <a:p>
            <a:pPr indent="0" marL="0">
              <a:buNone/>
            </a:pPr>
            <a:r>
              <a:rPr lang="en-US" sz="1300" b="1" dirty="0">
                <a:solidFill>
                  <a:schemeClr val="tx2"/>
                </a:solidFill>
              </a:rPr>
              <a:t>OLM today</a:t>
            </a:r>
            <a:endParaRPr lang="en-US" sz="1300" dirty="0"/>
          </a:p>
        </p:txBody>
      </p:sp>
      <p:sp>
        <p:nvSpPr>
          <p:cNvPr id="31" name="Shape 24"/>
          <p:cNvSpPr/>
          <p:nvPr/>
        </p:nvSpPr>
        <p:spPr>
          <a:xfrm>
            <a:off x="2286000" y="1673352"/>
            <a:ext cx="182880" cy="182880"/>
          </a:xfrm>
          <a:prstGeom prst="rect">
            <a:avLst/>
          </a:prstGeom>
          <a:solidFill>
            <a:schemeClr val="accent2"/>
          </a:solidFill>
          <a:ln/>
        </p:spPr>
      </p:sp>
      <p:sp>
        <p:nvSpPr>
          <p:cNvPr id="32" name="Text 25"/>
          <p:cNvSpPr txBox="1"/>
          <p:nvPr/>
        </p:nvSpPr>
        <p:spPr>
          <a:xfrm>
            <a:off x="2560320" y="1600200"/>
            <a:ext cx="1371600" cy="320040"/>
          </a:xfrm>
          <a:prstGeom prst="rect">
            <a:avLst/>
          </a:prstGeom>
          <a:noFill/>
          <a:ln/>
        </p:spPr>
        <p:txBody>
          <a:bodyPr wrap="square" lIns="0" tIns="0" rIns="0" bIns="0" rtlCol="0" anchor="ctr"/>
          <a:lstStyle/>
          <a:p>
            <a:pPr indent="0" marL="0">
              <a:buNone/>
            </a:pPr>
            <a:r>
              <a:rPr lang="en-US" sz="1300" b="1" dirty="0">
                <a:solidFill>
                  <a:schemeClr val="tx2"/>
                </a:solidFill>
              </a:rPr>
              <a:t>Next phase</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000" b="1" dirty="0">
                <a:solidFill>
                  <a:schemeClr val="bg1"/>
                </a:solidFill>
              </a:rPr>
              <a:t>A group-wide transformation</a:t>
            </a:r>
            <a:endParaRPr lang="en-US" sz="3000" dirty="0"/>
          </a:p>
        </p:txBody>
      </p:sp>
      <p:sp>
        <p:nvSpPr>
          <p:cNvPr id="3" name="Text 0"/>
          <p:cNvSpPr/>
          <p:nvPr>
            <p:ph idx="101" type="body" hasCustomPrompt="1"/>
          </p:nvPr>
        </p:nvSpPr>
        <p:spPr>
          <a:xfrm>
            <a:off x="548640" y="987552"/>
            <a:ext cx="11094415" cy="411480"/>
          </a:xfrm>
          <a:prstGeom prst="rect">
            <a:avLst/>
          </a:prstGeom>
          <a:noFill/>
          <a:ln/>
        </p:spPr>
        <p:txBody>
          <a:bodyPr wrap="square" lIns="0" tIns="0" rIns="0" bIns="0" rtlCol="0" anchor="t"/>
          <a:lstStyle/>
          <a:p>
            <a:pPr indent="0" marL="0">
              <a:buNone/>
            </a:pPr>
            <a:r>
              <a:rPr lang="en-US" sz="1600" dirty="0">
                <a:solidFill>
                  <a:schemeClr val="accent2"/>
                </a:solidFill>
              </a:rPr>
              <a:t>OLM is one piece of Michelin's Plant 4.0 programme, deployed across our factories</a:t>
            </a:r>
            <a:endParaRPr lang="en-US" sz="1600" dirty="0"/>
          </a:p>
        </p:txBody>
      </p:sp>
      <p:sp>
        <p:nvSpPr>
          <p:cNvPr id="4" name="Text 2"/>
          <p:cNvSpPr txBox="1"/>
          <p:nvPr/>
        </p:nvSpPr>
        <p:spPr>
          <a:xfrm>
            <a:off x="548640" y="1737360"/>
            <a:ext cx="3515258" cy="1005840"/>
          </a:xfrm>
          <a:prstGeom prst="rect">
            <a:avLst/>
          </a:prstGeom>
          <a:noFill/>
          <a:ln/>
        </p:spPr>
        <p:txBody>
          <a:bodyPr wrap="square" lIns="0" tIns="0" rIns="0" bIns="0" rtlCol="0" anchor="ctr"/>
          <a:lstStyle/>
          <a:p>
            <a:pPr indent="0" marL="0">
              <a:buNone/>
            </a:pPr>
            <a:r>
              <a:rPr lang="en-US" sz="5400" b="1" dirty="0">
                <a:solidFill>
                  <a:schemeClr val="accent2"/>
                </a:solidFill>
              </a:rPr>
              <a:t>€60M</a:t>
            </a:r>
            <a:endParaRPr lang="en-US" sz="5400" dirty="0"/>
          </a:p>
        </p:txBody>
      </p:sp>
      <p:sp>
        <p:nvSpPr>
          <p:cNvPr id="5" name="Text 3"/>
          <p:cNvSpPr txBox="1"/>
          <p:nvPr/>
        </p:nvSpPr>
        <p:spPr>
          <a:xfrm>
            <a:off x="548640" y="2743200"/>
            <a:ext cx="3332378" cy="822960"/>
          </a:xfrm>
          <a:prstGeom prst="rect">
            <a:avLst/>
          </a:prstGeom>
          <a:noFill/>
          <a:ln/>
        </p:spPr>
        <p:txBody>
          <a:bodyPr wrap="square" lIns="0" tIns="0" rIns="0" bIns="0" rtlCol="0" anchor="t"/>
          <a:lstStyle/>
          <a:p>
            <a:pPr indent="0" marL="0">
              <a:buNone/>
            </a:pPr>
            <a:r>
              <a:rPr lang="en-US" sz="1500" dirty="0">
                <a:solidFill>
                  <a:srgbClr val="DCE4F2"/>
                </a:solidFill>
              </a:rPr>
              <a:t>annual gains reported by Michelin from digitalisation and AI in its plants (2023)</a:t>
            </a:r>
            <a:endParaRPr lang="en-US" sz="1500" dirty="0"/>
          </a:p>
        </p:txBody>
      </p:sp>
      <p:sp>
        <p:nvSpPr>
          <p:cNvPr id="6" name="Text 4"/>
          <p:cNvSpPr txBox="1"/>
          <p:nvPr/>
        </p:nvSpPr>
        <p:spPr>
          <a:xfrm>
            <a:off x="4338218" y="1737360"/>
            <a:ext cx="3515258" cy="1005840"/>
          </a:xfrm>
          <a:prstGeom prst="rect">
            <a:avLst/>
          </a:prstGeom>
          <a:noFill/>
          <a:ln/>
        </p:spPr>
        <p:txBody>
          <a:bodyPr wrap="square" lIns="0" tIns="0" rIns="0" bIns="0" rtlCol="0" anchor="ctr"/>
          <a:lstStyle/>
          <a:p>
            <a:pPr indent="0" marL="0">
              <a:buNone/>
            </a:pPr>
            <a:r>
              <a:rPr lang="en-US" sz="5400" b="1" dirty="0">
                <a:solidFill>
                  <a:schemeClr val="accent2"/>
                </a:solidFill>
              </a:rPr>
              <a:t>2017</a:t>
            </a:r>
            <a:endParaRPr lang="en-US" sz="5400" dirty="0"/>
          </a:p>
        </p:txBody>
      </p:sp>
      <p:sp>
        <p:nvSpPr>
          <p:cNvPr id="7" name="Text 5"/>
          <p:cNvSpPr txBox="1"/>
          <p:nvPr/>
        </p:nvSpPr>
        <p:spPr>
          <a:xfrm>
            <a:off x="4338218" y="2743200"/>
            <a:ext cx="3332378" cy="822960"/>
          </a:xfrm>
          <a:prstGeom prst="rect">
            <a:avLst/>
          </a:prstGeom>
          <a:noFill/>
          <a:ln/>
        </p:spPr>
        <p:txBody>
          <a:bodyPr wrap="square" lIns="0" tIns="0" rIns="0" bIns="0" rtlCol="0" anchor="t"/>
          <a:lstStyle/>
          <a:p>
            <a:pPr indent="0" marL="0">
              <a:buNone/>
            </a:pPr>
            <a:r>
              <a:rPr lang="en-US" sz="1500" dirty="0">
                <a:solidFill>
                  <a:srgbClr val="DCE4F2"/>
                </a:solidFill>
              </a:rPr>
              <a:t>start of our Digital Manufacturing platform built on the PI System</a:t>
            </a:r>
            <a:endParaRPr lang="en-US" sz="1500" dirty="0"/>
          </a:p>
        </p:txBody>
      </p:sp>
      <p:sp>
        <p:nvSpPr>
          <p:cNvPr id="8" name="Text 6"/>
          <p:cNvSpPr txBox="1"/>
          <p:nvPr/>
        </p:nvSpPr>
        <p:spPr>
          <a:xfrm>
            <a:off x="8127797" y="1737360"/>
            <a:ext cx="3515258" cy="1005840"/>
          </a:xfrm>
          <a:prstGeom prst="rect">
            <a:avLst/>
          </a:prstGeom>
          <a:noFill/>
          <a:ln/>
        </p:spPr>
        <p:txBody>
          <a:bodyPr wrap="square" lIns="0" tIns="0" rIns="0" bIns="0" rtlCol="0" anchor="ctr"/>
          <a:lstStyle/>
          <a:p>
            <a:pPr indent="0" marL="0">
              <a:buNone/>
            </a:pPr>
            <a:r>
              <a:rPr lang="en-US" sz="5400" b="1" dirty="0">
                <a:solidFill>
                  <a:schemeClr val="accent2"/>
                </a:solidFill>
              </a:rPr>
              <a:t>3×</a:t>
            </a:r>
            <a:endParaRPr lang="en-US" sz="5400" dirty="0"/>
          </a:p>
        </p:txBody>
      </p:sp>
      <p:sp>
        <p:nvSpPr>
          <p:cNvPr id="9" name="Text 7"/>
          <p:cNvSpPr txBox="1"/>
          <p:nvPr/>
        </p:nvSpPr>
        <p:spPr>
          <a:xfrm>
            <a:off x="8127797" y="2743200"/>
            <a:ext cx="3332378" cy="822960"/>
          </a:xfrm>
          <a:prstGeom prst="rect">
            <a:avLst/>
          </a:prstGeom>
          <a:noFill/>
          <a:ln/>
        </p:spPr>
        <p:txBody>
          <a:bodyPr wrap="square" lIns="0" tIns="0" rIns="0" bIns="0" rtlCol="0" anchor="t"/>
          <a:lstStyle/>
          <a:p>
            <a:pPr indent="0" marL="0">
              <a:buNone/>
            </a:pPr>
            <a:r>
              <a:rPr lang="en-US" sz="1500" dirty="0">
                <a:solidFill>
                  <a:srgbClr val="DCE4F2"/>
                </a:solidFill>
              </a:rPr>
              <a:t>more operating robots targeted by 2025 under Plant 4.0</a:t>
            </a:r>
            <a:endParaRPr lang="en-US" sz="1500" dirty="0"/>
          </a:p>
        </p:txBody>
      </p:sp>
      <p:sp>
        <p:nvSpPr>
          <p:cNvPr id="10" name="Shape 8"/>
          <p:cNvSpPr/>
          <p:nvPr/>
        </p:nvSpPr>
        <p:spPr>
          <a:xfrm>
            <a:off x="548640" y="3977640"/>
            <a:ext cx="2567864" cy="1965960"/>
          </a:xfrm>
          <a:prstGeom prst="roundRect">
            <a:avLst>
              <a:gd name="adj" fmla="val 5581"/>
            </a:avLst>
          </a:prstGeom>
          <a:solidFill>
            <a:srgbClr val="13306B"/>
          </a:solidFill>
          <a:ln/>
        </p:spPr>
      </p:sp>
      <p:sp>
        <p:nvSpPr>
          <p:cNvPr id="11" name="Shape 9"/>
          <p:cNvSpPr/>
          <p:nvPr/>
        </p:nvSpPr>
        <p:spPr>
          <a:xfrm>
            <a:off x="777240" y="4206240"/>
            <a:ext cx="548640" cy="548640"/>
          </a:xfrm>
          <a:prstGeom prst="ellipse">
            <a:avLst/>
          </a:prstGeom>
          <a:solidFill>
            <a:schemeClr val="accent1"/>
          </a:solidFill>
          <a:ln/>
        </p:spPr>
      </p:sp>
      <p:pic>
        <p:nvPicPr>
          <p:cNvPr id="12" name="Image 0" descr="preencoded.png">    </p:cNvPr>
          <p:cNvPicPr>
            <a:picLocks noChangeAspect="1"/>
          </p:cNvPicPr>
          <p:nvPr/>
        </p:nvPicPr>
        <p:blipFill>
          <a:blip r:embed="rId1"/>
          <a:stretch>
            <a:fillRect/>
          </a:stretch>
        </p:blipFill>
        <p:spPr>
          <a:xfrm>
            <a:off x="914400" y="4343400"/>
            <a:ext cx="274320" cy="274320"/>
          </a:xfrm>
          <a:prstGeom prst="rect">
            <a:avLst/>
          </a:prstGeom>
        </p:spPr>
      </p:pic>
      <p:sp>
        <p:nvSpPr>
          <p:cNvPr id="13" name="Text 10"/>
          <p:cNvSpPr txBox="1"/>
          <p:nvPr/>
        </p:nvSpPr>
        <p:spPr>
          <a:xfrm>
            <a:off x="777240" y="4818888"/>
            <a:ext cx="2110664" cy="548640"/>
          </a:xfrm>
          <a:prstGeom prst="rect">
            <a:avLst/>
          </a:prstGeom>
          <a:noFill/>
          <a:ln/>
        </p:spPr>
        <p:txBody>
          <a:bodyPr wrap="square" lIns="0" tIns="0" rIns="0" bIns="0" rtlCol="0" anchor="t"/>
          <a:lstStyle/>
          <a:p>
            <a:pPr indent="0" marL="0">
              <a:buNone/>
            </a:pPr>
            <a:r>
              <a:rPr lang="en-US" sz="1500" b="1" dirty="0">
                <a:solidFill>
                  <a:schemeClr val="bg1"/>
                </a:solidFill>
              </a:rPr>
              <a:t>Digital twins</a:t>
            </a:r>
            <a:endParaRPr lang="en-US" sz="1500" dirty="0"/>
          </a:p>
        </p:txBody>
      </p:sp>
      <p:sp>
        <p:nvSpPr>
          <p:cNvPr id="14" name="Text 11"/>
          <p:cNvSpPr txBox="1"/>
          <p:nvPr/>
        </p:nvSpPr>
        <p:spPr>
          <a:xfrm>
            <a:off x="777240" y="5349240"/>
            <a:ext cx="2110664" cy="548640"/>
          </a:xfrm>
          <a:prstGeom prst="rect">
            <a:avLst/>
          </a:prstGeom>
          <a:noFill/>
          <a:ln/>
        </p:spPr>
        <p:txBody>
          <a:bodyPr wrap="square" lIns="0" tIns="0" rIns="0" bIns="0" rtlCol="0" anchor="t"/>
          <a:lstStyle/>
          <a:p>
            <a:pPr indent="0" marL="0">
              <a:buNone/>
            </a:pPr>
            <a:r>
              <a:rPr lang="en-US" sz="1300" dirty="0">
                <a:solidFill>
                  <a:srgbClr val="DCE4F2"/>
                </a:solidFill>
              </a:rPr>
              <a:t>to simulate and tune processes</a:t>
            </a:r>
            <a:endParaRPr lang="en-US" sz="1300" dirty="0"/>
          </a:p>
        </p:txBody>
      </p:sp>
      <p:sp>
        <p:nvSpPr>
          <p:cNvPr id="15" name="Shape 12"/>
          <p:cNvSpPr/>
          <p:nvPr/>
        </p:nvSpPr>
        <p:spPr>
          <a:xfrm>
            <a:off x="3390824" y="3977640"/>
            <a:ext cx="2567864" cy="1965960"/>
          </a:xfrm>
          <a:prstGeom prst="roundRect">
            <a:avLst>
              <a:gd name="adj" fmla="val 5581"/>
            </a:avLst>
          </a:prstGeom>
          <a:solidFill>
            <a:srgbClr val="13306B"/>
          </a:solidFill>
          <a:ln/>
        </p:spPr>
      </p:sp>
      <p:sp>
        <p:nvSpPr>
          <p:cNvPr id="16" name="Shape 13"/>
          <p:cNvSpPr/>
          <p:nvPr/>
        </p:nvSpPr>
        <p:spPr>
          <a:xfrm>
            <a:off x="3619424" y="4206240"/>
            <a:ext cx="548640" cy="548640"/>
          </a:xfrm>
          <a:prstGeom prst="ellipse">
            <a:avLst/>
          </a:prstGeom>
          <a:solidFill>
            <a:schemeClr val="accent1"/>
          </a:solidFill>
          <a:ln/>
        </p:spPr>
      </p:sp>
      <p:pic>
        <p:nvPicPr>
          <p:cNvPr id="17" name="Image 1" descr="preencoded.png">    </p:cNvPr>
          <p:cNvPicPr>
            <a:picLocks noChangeAspect="1"/>
          </p:cNvPicPr>
          <p:nvPr/>
        </p:nvPicPr>
        <p:blipFill>
          <a:blip r:embed="rId2"/>
          <a:stretch>
            <a:fillRect/>
          </a:stretch>
        </p:blipFill>
        <p:spPr>
          <a:xfrm>
            <a:off x="3756584" y="4343400"/>
            <a:ext cx="274320" cy="274320"/>
          </a:xfrm>
          <a:prstGeom prst="rect">
            <a:avLst/>
          </a:prstGeom>
        </p:spPr>
      </p:pic>
      <p:sp>
        <p:nvSpPr>
          <p:cNvPr id="18" name="Text 14"/>
          <p:cNvSpPr txBox="1"/>
          <p:nvPr/>
        </p:nvSpPr>
        <p:spPr>
          <a:xfrm>
            <a:off x="3619424" y="4818888"/>
            <a:ext cx="2110664" cy="548640"/>
          </a:xfrm>
          <a:prstGeom prst="rect">
            <a:avLst/>
          </a:prstGeom>
          <a:noFill/>
          <a:ln/>
        </p:spPr>
        <p:txBody>
          <a:bodyPr wrap="square" lIns="0" tIns="0" rIns="0" bIns="0" rtlCol="0" anchor="t"/>
          <a:lstStyle/>
          <a:p>
            <a:pPr indent="0" marL="0">
              <a:buNone/>
            </a:pPr>
            <a:r>
              <a:rPr lang="en-US" sz="1500" b="1" dirty="0">
                <a:solidFill>
                  <a:schemeClr val="bg1"/>
                </a:solidFill>
              </a:rPr>
              <a:t>Predictive maintenance</a:t>
            </a:r>
            <a:endParaRPr lang="en-US" sz="1500" dirty="0"/>
          </a:p>
        </p:txBody>
      </p:sp>
      <p:sp>
        <p:nvSpPr>
          <p:cNvPr id="19" name="Text 15"/>
          <p:cNvSpPr txBox="1"/>
          <p:nvPr/>
        </p:nvSpPr>
        <p:spPr>
          <a:xfrm>
            <a:off x="3619424" y="5349240"/>
            <a:ext cx="2110664" cy="548640"/>
          </a:xfrm>
          <a:prstGeom prst="rect">
            <a:avLst/>
          </a:prstGeom>
          <a:noFill/>
          <a:ln/>
        </p:spPr>
        <p:txBody>
          <a:bodyPr wrap="square" lIns="0" tIns="0" rIns="0" bIns="0" rtlCol="0" anchor="t"/>
          <a:lstStyle/>
          <a:p>
            <a:pPr indent="0" marL="0">
              <a:buNone/>
            </a:pPr>
            <a:r>
              <a:rPr lang="en-US" sz="1300" dirty="0">
                <a:solidFill>
                  <a:srgbClr val="DCE4F2"/>
                </a:solidFill>
              </a:rPr>
              <a:t>to avoid unplanned stops</a:t>
            </a:r>
            <a:endParaRPr lang="en-US" sz="1300" dirty="0"/>
          </a:p>
        </p:txBody>
      </p:sp>
      <p:sp>
        <p:nvSpPr>
          <p:cNvPr id="20" name="Shape 16"/>
          <p:cNvSpPr/>
          <p:nvPr/>
        </p:nvSpPr>
        <p:spPr>
          <a:xfrm>
            <a:off x="6233008" y="3977640"/>
            <a:ext cx="2567864" cy="1965960"/>
          </a:xfrm>
          <a:prstGeom prst="roundRect">
            <a:avLst>
              <a:gd name="adj" fmla="val 5581"/>
            </a:avLst>
          </a:prstGeom>
          <a:solidFill>
            <a:srgbClr val="13306B"/>
          </a:solidFill>
          <a:ln/>
        </p:spPr>
      </p:sp>
      <p:sp>
        <p:nvSpPr>
          <p:cNvPr id="21" name="Shape 17"/>
          <p:cNvSpPr/>
          <p:nvPr/>
        </p:nvSpPr>
        <p:spPr>
          <a:xfrm>
            <a:off x="6461608" y="4206240"/>
            <a:ext cx="548640" cy="548640"/>
          </a:xfrm>
          <a:prstGeom prst="ellipse">
            <a:avLst/>
          </a:prstGeom>
          <a:solidFill>
            <a:schemeClr val="accent1"/>
          </a:solidFill>
          <a:ln/>
        </p:spPr>
      </p:sp>
      <p:pic>
        <p:nvPicPr>
          <p:cNvPr id="22" name="Image 2" descr="preencoded.png">    </p:cNvPr>
          <p:cNvPicPr>
            <a:picLocks noChangeAspect="1"/>
          </p:cNvPicPr>
          <p:nvPr/>
        </p:nvPicPr>
        <p:blipFill>
          <a:blip r:embed="rId3"/>
          <a:stretch>
            <a:fillRect/>
          </a:stretch>
        </p:blipFill>
        <p:spPr>
          <a:xfrm>
            <a:off x="6598768" y="4343400"/>
            <a:ext cx="274320" cy="274320"/>
          </a:xfrm>
          <a:prstGeom prst="rect">
            <a:avLst/>
          </a:prstGeom>
        </p:spPr>
      </p:pic>
      <p:sp>
        <p:nvSpPr>
          <p:cNvPr id="23" name="Text 18"/>
          <p:cNvSpPr txBox="1"/>
          <p:nvPr/>
        </p:nvSpPr>
        <p:spPr>
          <a:xfrm>
            <a:off x="6461608" y="4818888"/>
            <a:ext cx="2110664" cy="548640"/>
          </a:xfrm>
          <a:prstGeom prst="rect">
            <a:avLst/>
          </a:prstGeom>
          <a:noFill/>
          <a:ln/>
        </p:spPr>
        <p:txBody>
          <a:bodyPr wrap="square" lIns="0" tIns="0" rIns="0" bIns="0" rtlCol="0" anchor="t"/>
          <a:lstStyle/>
          <a:p>
            <a:pPr indent="0" marL="0">
              <a:buNone/>
            </a:pPr>
            <a:r>
              <a:rPr lang="en-US" sz="1500" b="1" dirty="0">
                <a:solidFill>
                  <a:schemeClr val="bg1"/>
                </a:solidFill>
              </a:rPr>
              <a:t>Computer vision</a:t>
            </a:r>
            <a:endParaRPr lang="en-US" sz="1500" dirty="0"/>
          </a:p>
        </p:txBody>
      </p:sp>
      <p:sp>
        <p:nvSpPr>
          <p:cNvPr id="24" name="Text 19"/>
          <p:cNvSpPr txBox="1"/>
          <p:nvPr/>
        </p:nvSpPr>
        <p:spPr>
          <a:xfrm>
            <a:off x="6461608" y="5349240"/>
            <a:ext cx="2110664" cy="548640"/>
          </a:xfrm>
          <a:prstGeom prst="rect">
            <a:avLst/>
          </a:prstGeom>
          <a:noFill/>
          <a:ln/>
        </p:spPr>
        <p:txBody>
          <a:bodyPr wrap="square" lIns="0" tIns="0" rIns="0" bIns="0" rtlCol="0" anchor="t"/>
          <a:lstStyle/>
          <a:p>
            <a:pPr indent="0" marL="0">
              <a:buNone/>
            </a:pPr>
            <a:r>
              <a:rPr lang="en-US" sz="1300" dirty="0">
                <a:solidFill>
                  <a:srgbClr val="DCE4F2"/>
                </a:solidFill>
              </a:rPr>
              <a:t>for automated quality control</a:t>
            </a:r>
            <a:endParaRPr lang="en-US" sz="1300" dirty="0"/>
          </a:p>
        </p:txBody>
      </p:sp>
      <p:sp>
        <p:nvSpPr>
          <p:cNvPr id="25" name="Shape 20"/>
          <p:cNvSpPr/>
          <p:nvPr/>
        </p:nvSpPr>
        <p:spPr>
          <a:xfrm>
            <a:off x="9075191" y="3977640"/>
            <a:ext cx="2567864" cy="1965960"/>
          </a:xfrm>
          <a:prstGeom prst="roundRect">
            <a:avLst>
              <a:gd name="adj" fmla="val 5581"/>
            </a:avLst>
          </a:prstGeom>
          <a:solidFill>
            <a:srgbClr val="13306B"/>
          </a:solidFill>
          <a:ln/>
        </p:spPr>
      </p:sp>
      <p:sp>
        <p:nvSpPr>
          <p:cNvPr id="26" name="Shape 21"/>
          <p:cNvSpPr/>
          <p:nvPr/>
        </p:nvSpPr>
        <p:spPr>
          <a:xfrm>
            <a:off x="9303791" y="4206240"/>
            <a:ext cx="548640" cy="548640"/>
          </a:xfrm>
          <a:prstGeom prst="ellipse">
            <a:avLst/>
          </a:prstGeom>
          <a:solidFill>
            <a:schemeClr val="accent1"/>
          </a:solidFill>
          <a:ln/>
        </p:spPr>
      </p:sp>
      <p:pic>
        <p:nvPicPr>
          <p:cNvPr id="27" name="Image 3" descr="preencoded.png">    </p:cNvPr>
          <p:cNvPicPr>
            <a:picLocks noChangeAspect="1"/>
          </p:cNvPicPr>
          <p:nvPr/>
        </p:nvPicPr>
        <p:blipFill>
          <a:blip r:embed="rId4"/>
          <a:stretch>
            <a:fillRect/>
          </a:stretch>
        </p:blipFill>
        <p:spPr>
          <a:xfrm>
            <a:off x="9440951" y="4343400"/>
            <a:ext cx="274320" cy="274320"/>
          </a:xfrm>
          <a:prstGeom prst="rect">
            <a:avLst/>
          </a:prstGeom>
        </p:spPr>
      </p:pic>
      <p:sp>
        <p:nvSpPr>
          <p:cNvPr id="28" name="Text 22"/>
          <p:cNvSpPr txBox="1"/>
          <p:nvPr/>
        </p:nvSpPr>
        <p:spPr>
          <a:xfrm>
            <a:off x="9303791" y="4818888"/>
            <a:ext cx="2110664" cy="548640"/>
          </a:xfrm>
          <a:prstGeom prst="rect">
            <a:avLst/>
          </a:prstGeom>
          <a:noFill/>
          <a:ln/>
        </p:spPr>
        <p:txBody>
          <a:bodyPr wrap="square" lIns="0" tIns="0" rIns="0" bIns="0" rtlCol="0" anchor="t"/>
          <a:lstStyle/>
          <a:p>
            <a:pPr indent="0" marL="0">
              <a:buNone/>
            </a:pPr>
            <a:r>
              <a:rPr lang="en-US" sz="1500" b="1" dirty="0">
                <a:solidFill>
                  <a:schemeClr val="bg1"/>
                </a:solidFill>
              </a:rPr>
              <a:t>Robotics + AI</a:t>
            </a:r>
            <a:endParaRPr lang="en-US" sz="1500" dirty="0"/>
          </a:p>
        </p:txBody>
      </p:sp>
      <p:sp>
        <p:nvSpPr>
          <p:cNvPr id="29" name="Text 23"/>
          <p:cNvSpPr txBox="1"/>
          <p:nvPr/>
        </p:nvSpPr>
        <p:spPr>
          <a:xfrm>
            <a:off x="9303791" y="5349240"/>
            <a:ext cx="2110664" cy="548640"/>
          </a:xfrm>
          <a:prstGeom prst="rect">
            <a:avLst/>
          </a:prstGeom>
          <a:noFill/>
          <a:ln/>
        </p:spPr>
        <p:txBody>
          <a:bodyPr wrap="square" lIns="0" tIns="0" rIns="0" bIns="0" rtlCol="0" anchor="t"/>
          <a:lstStyle/>
          <a:p>
            <a:pPr indent="0" marL="0">
              <a:buNone/>
            </a:pPr>
            <a:r>
              <a:rPr lang="en-US" sz="1300" dirty="0">
                <a:solidFill>
                  <a:srgbClr val="DCE4F2"/>
                </a:solidFill>
              </a:rPr>
              <a:t>for safer, more consistent work</a:t>
            </a:r>
            <a:endParaRPr lang="en-US" sz="1300" dirty="0"/>
          </a:p>
        </p:txBody>
      </p:sp>
      <p:sp>
        <p:nvSpPr>
          <p:cNvPr id="30" name="Text 24"/>
          <p:cNvSpPr txBox="1"/>
          <p:nvPr/>
        </p:nvSpPr>
        <p:spPr>
          <a:xfrm>
            <a:off x="548640" y="6172200"/>
            <a:ext cx="8229600" cy="274320"/>
          </a:xfrm>
          <a:prstGeom prst="rect">
            <a:avLst/>
          </a:prstGeom>
          <a:noFill/>
          <a:ln/>
        </p:spPr>
        <p:txBody>
          <a:bodyPr wrap="square" lIns="0" tIns="0" rIns="0" bIns="0" rtlCol="0" anchor="ctr"/>
          <a:lstStyle/>
          <a:p>
            <a:pPr indent="0" marL="0">
              <a:buNone/>
            </a:pPr>
            <a:r>
              <a:rPr lang="en-US" sz="1000" i="1" dirty="0">
                <a:solidFill>
                  <a:schemeClr val="accent5"/>
                </a:solidFill>
              </a:rPr>
              <a:t>Figures as publicly reported by Michelin (European Rubber Journal, AVEVA PI World).</a:t>
            </a:r>
            <a:endParaRPr lang="en-US" sz="10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The digital data chain behind every tire</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From the laser sensor to an automatic decision, in real time</a:t>
            </a:r>
            <a:endParaRPr lang="en-US" sz="1600" dirty="0"/>
          </a:p>
        </p:txBody>
      </p:sp>
      <p:sp>
        <p:nvSpPr>
          <p:cNvPr id="4" name="Shape 2"/>
          <p:cNvSpPr/>
          <p:nvPr/>
        </p:nvSpPr>
        <p:spPr>
          <a:xfrm>
            <a:off x="548640" y="1783080"/>
            <a:ext cx="1605229" cy="2148840"/>
          </a:xfrm>
          <a:prstGeom prst="roundRect">
            <a:avLst>
              <a:gd name="adj" fmla="val 6836"/>
            </a:avLst>
          </a:prstGeom>
          <a:solidFill>
            <a:schemeClr val="bg2"/>
          </a:solidFill>
          <a:ln/>
        </p:spPr>
      </p:sp>
      <p:sp>
        <p:nvSpPr>
          <p:cNvPr id="5" name="Shape 3"/>
          <p:cNvSpPr/>
          <p:nvPr/>
        </p:nvSpPr>
        <p:spPr>
          <a:xfrm>
            <a:off x="731520" y="1965960"/>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68680" y="2103120"/>
            <a:ext cx="274320" cy="274320"/>
          </a:xfrm>
          <a:prstGeom prst="rect">
            <a:avLst/>
          </a:prstGeom>
        </p:spPr>
      </p:pic>
      <p:sp>
        <p:nvSpPr>
          <p:cNvPr id="7" name="Text 4"/>
          <p:cNvSpPr txBox="1"/>
          <p:nvPr/>
        </p:nvSpPr>
        <p:spPr>
          <a:xfrm>
            <a:off x="731520" y="2651760"/>
            <a:ext cx="1239469" cy="365760"/>
          </a:xfrm>
          <a:prstGeom prst="rect">
            <a:avLst/>
          </a:prstGeom>
          <a:noFill/>
          <a:ln/>
        </p:spPr>
        <p:txBody>
          <a:bodyPr wrap="square" lIns="0" tIns="0" rIns="0" bIns="0" rtlCol="0" anchor="ctr"/>
          <a:lstStyle/>
          <a:p>
            <a:pPr indent="0" marL="0">
              <a:buNone/>
            </a:pPr>
            <a:r>
              <a:rPr lang="en-US" sz="1400" b="1" dirty="0">
                <a:solidFill>
                  <a:schemeClr val="tx2"/>
                </a:solidFill>
              </a:rPr>
              <a:t>Capture</a:t>
            </a:r>
            <a:endParaRPr lang="en-US" sz="1400" dirty="0"/>
          </a:p>
        </p:txBody>
      </p:sp>
      <p:sp>
        <p:nvSpPr>
          <p:cNvPr id="8" name="Text 5"/>
          <p:cNvSpPr txBox="1"/>
          <p:nvPr/>
        </p:nvSpPr>
        <p:spPr>
          <a:xfrm>
            <a:off x="731520" y="3017520"/>
            <a:ext cx="1239469" cy="822960"/>
          </a:xfrm>
          <a:prstGeom prst="rect">
            <a:avLst/>
          </a:prstGeom>
          <a:noFill/>
          <a:ln/>
        </p:spPr>
        <p:txBody>
          <a:bodyPr wrap="square" lIns="0" tIns="0" rIns="0" bIns="0" rtlCol="0" anchor="t"/>
          <a:lstStyle/>
          <a:p>
            <a:pPr indent="0" marL="0">
              <a:buNone/>
            </a:pPr>
            <a:r>
              <a:rPr lang="en-US" sz="1200" dirty="0">
                <a:solidFill>
                  <a:schemeClr val="tx1"/>
                </a:solidFill>
              </a:rPr>
              <a:t>16 3D laser sensors on 8 stations</a:t>
            </a:r>
            <a:endParaRPr lang="en-US" sz="1200" dirty="0"/>
          </a:p>
        </p:txBody>
      </p:sp>
      <p:sp>
        <p:nvSpPr>
          <p:cNvPr id="9" name="Shape 6"/>
          <p:cNvSpPr/>
          <p:nvPr/>
        </p:nvSpPr>
        <p:spPr>
          <a:xfrm>
            <a:off x="2227021" y="2729484"/>
            <a:ext cx="164592" cy="256032"/>
          </a:xfrm>
          <a:prstGeom prst="chevron">
            <a:avLst/>
          </a:prstGeom>
          <a:solidFill>
            <a:schemeClr val="accent6"/>
          </a:solidFill>
          <a:ln/>
        </p:spPr>
      </p:sp>
      <p:sp>
        <p:nvSpPr>
          <p:cNvPr id="10" name="Shape 7"/>
          <p:cNvSpPr/>
          <p:nvPr/>
        </p:nvSpPr>
        <p:spPr>
          <a:xfrm>
            <a:off x="2446477" y="1783080"/>
            <a:ext cx="1605229" cy="2148840"/>
          </a:xfrm>
          <a:prstGeom prst="roundRect">
            <a:avLst>
              <a:gd name="adj" fmla="val 6836"/>
            </a:avLst>
          </a:prstGeom>
          <a:solidFill>
            <a:schemeClr val="bg2"/>
          </a:solidFill>
          <a:ln/>
        </p:spPr>
      </p:sp>
      <p:sp>
        <p:nvSpPr>
          <p:cNvPr id="11" name="Shape 8"/>
          <p:cNvSpPr/>
          <p:nvPr/>
        </p:nvSpPr>
        <p:spPr>
          <a:xfrm>
            <a:off x="2629357" y="1965960"/>
            <a:ext cx="548640" cy="548640"/>
          </a:xfrm>
          <a:prstGeom prst="ellipse">
            <a:avLst/>
          </a:prstGeom>
          <a:solidFill>
            <a:schemeClr val="accent1"/>
          </a:solidFill>
          <a:ln/>
        </p:spPr>
      </p:sp>
      <p:pic>
        <p:nvPicPr>
          <p:cNvPr id="12" name="Image 1" descr="preencoded.png">    </p:cNvPr>
          <p:cNvPicPr>
            <a:picLocks noChangeAspect="1"/>
          </p:cNvPicPr>
          <p:nvPr/>
        </p:nvPicPr>
        <p:blipFill>
          <a:blip r:embed="rId2"/>
          <a:stretch>
            <a:fillRect/>
          </a:stretch>
        </p:blipFill>
        <p:spPr>
          <a:xfrm>
            <a:off x="2766517" y="2103120"/>
            <a:ext cx="274320" cy="274320"/>
          </a:xfrm>
          <a:prstGeom prst="rect">
            <a:avLst/>
          </a:prstGeom>
        </p:spPr>
      </p:pic>
      <p:sp>
        <p:nvSpPr>
          <p:cNvPr id="13" name="Text 9"/>
          <p:cNvSpPr txBox="1"/>
          <p:nvPr/>
        </p:nvSpPr>
        <p:spPr>
          <a:xfrm>
            <a:off x="2629357" y="2651760"/>
            <a:ext cx="1239469" cy="365760"/>
          </a:xfrm>
          <a:prstGeom prst="rect">
            <a:avLst/>
          </a:prstGeom>
          <a:noFill/>
          <a:ln/>
        </p:spPr>
        <p:txBody>
          <a:bodyPr wrap="square" lIns="0" tIns="0" rIns="0" bIns="0" rtlCol="0" anchor="ctr"/>
          <a:lstStyle/>
          <a:p>
            <a:pPr indent="0" marL="0">
              <a:buNone/>
            </a:pPr>
            <a:r>
              <a:rPr lang="en-US" sz="1400" b="1" dirty="0">
                <a:solidFill>
                  <a:schemeClr val="tx2"/>
                </a:solidFill>
              </a:rPr>
              <a:t>Edge</a:t>
            </a:r>
            <a:endParaRPr lang="en-US" sz="1400" dirty="0"/>
          </a:p>
        </p:txBody>
      </p:sp>
      <p:sp>
        <p:nvSpPr>
          <p:cNvPr id="14" name="Text 10"/>
          <p:cNvSpPr txBox="1"/>
          <p:nvPr/>
        </p:nvSpPr>
        <p:spPr>
          <a:xfrm>
            <a:off x="2629357" y="3017520"/>
            <a:ext cx="1239469" cy="822960"/>
          </a:xfrm>
          <a:prstGeom prst="rect">
            <a:avLst/>
          </a:prstGeom>
          <a:noFill/>
          <a:ln/>
        </p:spPr>
        <p:txBody>
          <a:bodyPr wrap="square" lIns="0" tIns="0" rIns="0" bIns="0" rtlCol="0" anchor="t"/>
          <a:lstStyle/>
          <a:p>
            <a:pPr indent="0" marL="0">
              <a:buNone/>
            </a:pPr>
            <a:r>
              <a:rPr lang="en-US" sz="1200" dirty="0">
                <a:solidFill>
                  <a:schemeClr val="tx1"/>
                </a:solidFill>
              </a:rPr>
              <a:t>1 measurement PLC + 4 analysis PCs</a:t>
            </a:r>
            <a:endParaRPr lang="en-US" sz="1200" dirty="0"/>
          </a:p>
        </p:txBody>
      </p:sp>
      <p:sp>
        <p:nvSpPr>
          <p:cNvPr id="15" name="Shape 11"/>
          <p:cNvSpPr/>
          <p:nvPr/>
        </p:nvSpPr>
        <p:spPr>
          <a:xfrm>
            <a:off x="4124858" y="2729484"/>
            <a:ext cx="164592" cy="256032"/>
          </a:xfrm>
          <a:prstGeom prst="chevron">
            <a:avLst/>
          </a:prstGeom>
          <a:solidFill>
            <a:schemeClr val="accent6"/>
          </a:solidFill>
          <a:ln/>
        </p:spPr>
      </p:sp>
      <p:sp>
        <p:nvSpPr>
          <p:cNvPr id="16" name="Shape 12"/>
          <p:cNvSpPr/>
          <p:nvPr/>
        </p:nvSpPr>
        <p:spPr>
          <a:xfrm>
            <a:off x="4344314" y="1783080"/>
            <a:ext cx="1605229" cy="2148840"/>
          </a:xfrm>
          <a:prstGeom prst="roundRect">
            <a:avLst>
              <a:gd name="adj" fmla="val 6836"/>
            </a:avLst>
          </a:prstGeom>
          <a:solidFill>
            <a:schemeClr val="bg2"/>
          </a:solidFill>
          <a:ln/>
        </p:spPr>
      </p:sp>
      <p:sp>
        <p:nvSpPr>
          <p:cNvPr id="17" name="Shape 13"/>
          <p:cNvSpPr/>
          <p:nvPr/>
        </p:nvSpPr>
        <p:spPr>
          <a:xfrm>
            <a:off x="4527194" y="1965960"/>
            <a:ext cx="548640" cy="548640"/>
          </a:xfrm>
          <a:prstGeom prst="ellipse">
            <a:avLst/>
          </a:prstGeom>
          <a:solidFill>
            <a:schemeClr val="accent1"/>
          </a:solidFill>
          <a:ln/>
        </p:spPr>
      </p:sp>
      <p:pic>
        <p:nvPicPr>
          <p:cNvPr id="18" name="Image 2" descr="preencoded.png">    </p:cNvPr>
          <p:cNvPicPr>
            <a:picLocks noChangeAspect="1"/>
          </p:cNvPicPr>
          <p:nvPr/>
        </p:nvPicPr>
        <p:blipFill>
          <a:blip r:embed="rId3"/>
          <a:stretch>
            <a:fillRect/>
          </a:stretch>
        </p:blipFill>
        <p:spPr>
          <a:xfrm>
            <a:off x="4664354" y="2103120"/>
            <a:ext cx="274320" cy="274320"/>
          </a:xfrm>
          <a:prstGeom prst="rect">
            <a:avLst/>
          </a:prstGeom>
        </p:spPr>
      </p:pic>
      <p:sp>
        <p:nvSpPr>
          <p:cNvPr id="19" name="Text 14"/>
          <p:cNvSpPr txBox="1"/>
          <p:nvPr/>
        </p:nvSpPr>
        <p:spPr>
          <a:xfrm>
            <a:off x="4527194" y="2651760"/>
            <a:ext cx="1239469" cy="365760"/>
          </a:xfrm>
          <a:prstGeom prst="rect">
            <a:avLst/>
          </a:prstGeom>
          <a:noFill/>
          <a:ln/>
        </p:spPr>
        <p:txBody>
          <a:bodyPr wrap="square" lIns="0" tIns="0" rIns="0" bIns="0" rtlCol="0" anchor="ctr"/>
          <a:lstStyle/>
          <a:p>
            <a:pPr indent="0" marL="0">
              <a:buNone/>
            </a:pPr>
            <a:r>
              <a:rPr lang="en-US" sz="1400" b="1" dirty="0">
                <a:solidFill>
                  <a:schemeClr val="tx2"/>
                </a:solidFill>
              </a:rPr>
              <a:t>Data platform</a:t>
            </a:r>
            <a:endParaRPr lang="en-US" sz="1400" dirty="0"/>
          </a:p>
        </p:txBody>
      </p:sp>
      <p:sp>
        <p:nvSpPr>
          <p:cNvPr id="20" name="Text 15"/>
          <p:cNvSpPr txBox="1"/>
          <p:nvPr/>
        </p:nvSpPr>
        <p:spPr>
          <a:xfrm>
            <a:off x="4527194" y="3017520"/>
            <a:ext cx="1239469" cy="822960"/>
          </a:xfrm>
          <a:prstGeom prst="rect">
            <a:avLst/>
          </a:prstGeom>
          <a:noFill/>
          <a:ln/>
        </p:spPr>
        <p:txBody>
          <a:bodyPr wrap="square" lIns="0" tIns="0" rIns="0" bIns="0" rtlCol="0" anchor="t"/>
          <a:lstStyle/>
          <a:p>
            <a:pPr indent="0" marL="0">
              <a:buNone/>
            </a:pPr>
            <a:r>
              <a:rPr lang="en-US" sz="1200" dirty="0">
                <a:solidFill>
                  <a:schemeClr val="tx1"/>
                </a:solidFill>
              </a:rPr>
              <a:t>PI System: every value stored and time-stamped</a:t>
            </a:r>
            <a:endParaRPr lang="en-US" sz="1200" dirty="0"/>
          </a:p>
        </p:txBody>
      </p:sp>
      <p:sp>
        <p:nvSpPr>
          <p:cNvPr id="21" name="Shape 16"/>
          <p:cNvSpPr/>
          <p:nvPr/>
        </p:nvSpPr>
        <p:spPr>
          <a:xfrm>
            <a:off x="6022696" y="2729484"/>
            <a:ext cx="164592" cy="256032"/>
          </a:xfrm>
          <a:prstGeom prst="chevron">
            <a:avLst/>
          </a:prstGeom>
          <a:solidFill>
            <a:schemeClr val="accent6"/>
          </a:solidFill>
          <a:ln/>
        </p:spPr>
      </p:sp>
      <p:sp>
        <p:nvSpPr>
          <p:cNvPr id="22" name="Shape 17"/>
          <p:cNvSpPr/>
          <p:nvPr/>
        </p:nvSpPr>
        <p:spPr>
          <a:xfrm>
            <a:off x="6242152" y="1783080"/>
            <a:ext cx="1605229" cy="2148840"/>
          </a:xfrm>
          <a:prstGeom prst="roundRect">
            <a:avLst>
              <a:gd name="adj" fmla="val 6836"/>
            </a:avLst>
          </a:prstGeom>
          <a:solidFill>
            <a:schemeClr val="accent1"/>
          </a:solidFill>
          <a:ln/>
        </p:spPr>
      </p:sp>
      <p:sp>
        <p:nvSpPr>
          <p:cNvPr id="23" name="Shape 18"/>
          <p:cNvSpPr/>
          <p:nvPr/>
        </p:nvSpPr>
        <p:spPr>
          <a:xfrm>
            <a:off x="6425032" y="1965960"/>
            <a:ext cx="548640" cy="54864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562192" y="2103120"/>
            <a:ext cx="274320" cy="274320"/>
          </a:xfrm>
          <a:prstGeom prst="rect">
            <a:avLst/>
          </a:prstGeom>
        </p:spPr>
      </p:pic>
      <p:sp>
        <p:nvSpPr>
          <p:cNvPr id="25" name="Text 19"/>
          <p:cNvSpPr txBox="1"/>
          <p:nvPr/>
        </p:nvSpPr>
        <p:spPr>
          <a:xfrm>
            <a:off x="6425032" y="2651760"/>
            <a:ext cx="1239469" cy="365760"/>
          </a:xfrm>
          <a:prstGeom prst="rect">
            <a:avLst/>
          </a:prstGeom>
          <a:noFill/>
          <a:ln/>
        </p:spPr>
        <p:txBody>
          <a:bodyPr wrap="square" lIns="0" tIns="0" rIns="0" bIns="0" rtlCol="0" anchor="ctr"/>
          <a:lstStyle/>
          <a:p>
            <a:pPr indent="0" marL="0">
              <a:buNone/>
            </a:pPr>
            <a:r>
              <a:rPr lang="en-US" sz="1400" b="1" dirty="0">
                <a:solidFill>
                  <a:schemeClr val="bg1"/>
                </a:solidFill>
              </a:rPr>
              <a:t>Analytics</a:t>
            </a:r>
            <a:endParaRPr lang="en-US" sz="1400" dirty="0"/>
          </a:p>
        </p:txBody>
      </p:sp>
      <p:sp>
        <p:nvSpPr>
          <p:cNvPr id="26" name="Text 20"/>
          <p:cNvSpPr txBox="1"/>
          <p:nvPr/>
        </p:nvSpPr>
        <p:spPr>
          <a:xfrm>
            <a:off x="6425032" y="3017520"/>
            <a:ext cx="1239469" cy="822960"/>
          </a:xfrm>
          <a:prstGeom prst="rect">
            <a:avLst/>
          </a:prstGeom>
          <a:noFill/>
          <a:ln/>
        </p:spPr>
        <p:txBody>
          <a:bodyPr wrap="square" lIns="0" tIns="0" rIns="0" bIns="0" rtlCol="0" anchor="t"/>
          <a:lstStyle/>
          <a:p>
            <a:pPr indent="0" marL="0">
              <a:buNone/>
            </a:pPr>
            <a:r>
              <a:rPr lang="en-US" sz="1200" dirty="0">
                <a:solidFill>
                  <a:schemeClr val="bg1"/>
                </a:solidFill>
              </a:rPr>
              <a:t>PI Vision dashboards, SPC, rolling medians</a:t>
            </a:r>
            <a:endParaRPr lang="en-US" sz="1200" dirty="0"/>
          </a:p>
        </p:txBody>
      </p:sp>
      <p:sp>
        <p:nvSpPr>
          <p:cNvPr id="27" name="Shape 21"/>
          <p:cNvSpPr/>
          <p:nvPr/>
        </p:nvSpPr>
        <p:spPr>
          <a:xfrm>
            <a:off x="7920533" y="2729484"/>
            <a:ext cx="164592" cy="256032"/>
          </a:xfrm>
          <a:prstGeom prst="chevron">
            <a:avLst/>
          </a:prstGeom>
          <a:solidFill>
            <a:schemeClr val="accent6"/>
          </a:solidFill>
          <a:ln/>
        </p:spPr>
      </p:sp>
      <p:sp>
        <p:nvSpPr>
          <p:cNvPr id="28" name="Shape 22"/>
          <p:cNvSpPr/>
          <p:nvPr/>
        </p:nvSpPr>
        <p:spPr>
          <a:xfrm>
            <a:off x="8139989" y="1783080"/>
            <a:ext cx="1605229" cy="2148840"/>
          </a:xfrm>
          <a:prstGeom prst="roundRect">
            <a:avLst>
              <a:gd name="adj" fmla="val 6836"/>
            </a:avLst>
          </a:prstGeom>
          <a:solidFill>
            <a:schemeClr val="accent1"/>
          </a:solidFill>
          <a:ln/>
        </p:spPr>
      </p:sp>
      <p:sp>
        <p:nvSpPr>
          <p:cNvPr id="29" name="Shape 23"/>
          <p:cNvSpPr/>
          <p:nvPr/>
        </p:nvSpPr>
        <p:spPr>
          <a:xfrm>
            <a:off x="8322869" y="1965960"/>
            <a:ext cx="548640" cy="548640"/>
          </a:xfrm>
          <a:prstGeom prst="ellipse">
            <a:avLst/>
          </a:prstGeom>
          <a:solidFill>
            <a:schemeClr val="tx2"/>
          </a:solidFill>
          <a:ln/>
        </p:spPr>
      </p:sp>
      <p:pic>
        <p:nvPicPr>
          <p:cNvPr id="30" name="Image 4" descr="preencoded.png">    </p:cNvPr>
          <p:cNvPicPr>
            <a:picLocks noChangeAspect="1"/>
          </p:cNvPicPr>
          <p:nvPr/>
        </p:nvPicPr>
        <p:blipFill>
          <a:blip r:embed="rId5"/>
          <a:stretch>
            <a:fillRect/>
          </a:stretch>
        </p:blipFill>
        <p:spPr>
          <a:xfrm>
            <a:off x="8460029" y="2103120"/>
            <a:ext cx="274320" cy="274320"/>
          </a:xfrm>
          <a:prstGeom prst="rect">
            <a:avLst/>
          </a:prstGeom>
        </p:spPr>
      </p:pic>
      <p:sp>
        <p:nvSpPr>
          <p:cNvPr id="31" name="Text 24"/>
          <p:cNvSpPr txBox="1"/>
          <p:nvPr/>
        </p:nvSpPr>
        <p:spPr>
          <a:xfrm>
            <a:off x="8322869" y="2651760"/>
            <a:ext cx="1239469" cy="365760"/>
          </a:xfrm>
          <a:prstGeom prst="rect">
            <a:avLst/>
          </a:prstGeom>
          <a:noFill/>
          <a:ln/>
        </p:spPr>
        <p:txBody>
          <a:bodyPr wrap="square" lIns="0" tIns="0" rIns="0" bIns="0" rtlCol="0" anchor="ctr"/>
          <a:lstStyle/>
          <a:p>
            <a:pPr indent="0" marL="0">
              <a:buNone/>
            </a:pPr>
            <a:r>
              <a:rPr lang="en-US" sz="1400" b="1" dirty="0">
                <a:solidFill>
                  <a:schemeClr val="bg1"/>
                </a:solidFill>
              </a:rPr>
              <a:t>Decision</a:t>
            </a:r>
            <a:endParaRPr lang="en-US" sz="1400" dirty="0"/>
          </a:p>
        </p:txBody>
      </p:sp>
      <p:sp>
        <p:nvSpPr>
          <p:cNvPr id="32" name="Text 25"/>
          <p:cNvSpPr txBox="1"/>
          <p:nvPr/>
        </p:nvSpPr>
        <p:spPr>
          <a:xfrm>
            <a:off x="8322869" y="3017520"/>
            <a:ext cx="1239469" cy="822960"/>
          </a:xfrm>
          <a:prstGeom prst="rect">
            <a:avLst/>
          </a:prstGeom>
          <a:noFill/>
          <a:ln/>
        </p:spPr>
        <p:txBody>
          <a:bodyPr wrap="square" lIns="0" tIns="0" rIns="0" bIns="0" rtlCol="0" anchor="t"/>
          <a:lstStyle/>
          <a:p>
            <a:pPr indent="0" marL="0">
              <a:buNone/>
            </a:pPr>
            <a:r>
              <a:rPr lang="en-US" sz="1200" dirty="0">
                <a:solidFill>
                  <a:schemeClr val="bg1"/>
                </a:solidFill>
              </a:rPr>
              <a:t>R4P rules engine</a:t>
            </a:r>
            <a:endParaRPr lang="en-US" sz="1200" dirty="0"/>
          </a:p>
        </p:txBody>
      </p:sp>
      <p:sp>
        <p:nvSpPr>
          <p:cNvPr id="33" name="Shape 26"/>
          <p:cNvSpPr/>
          <p:nvPr/>
        </p:nvSpPr>
        <p:spPr>
          <a:xfrm>
            <a:off x="9818370" y="2729484"/>
            <a:ext cx="164592" cy="256032"/>
          </a:xfrm>
          <a:prstGeom prst="chevron">
            <a:avLst/>
          </a:prstGeom>
          <a:solidFill>
            <a:schemeClr val="accent6"/>
          </a:solidFill>
          <a:ln/>
        </p:spPr>
      </p:sp>
      <p:sp>
        <p:nvSpPr>
          <p:cNvPr id="34" name="Shape 27"/>
          <p:cNvSpPr/>
          <p:nvPr/>
        </p:nvSpPr>
        <p:spPr>
          <a:xfrm>
            <a:off x="10037826" y="1783080"/>
            <a:ext cx="1605229" cy="2148840"/>
          </a:xfrm>
          <a:prstGeom prst="roundRect">
            <a:avLst>
              <a:gd name="adj" fmla="val 6836"/>
            </a:avLst>
          </a:prstGeom>
          <a:solidFill>
            <a:schemeClr val="accent1"/>
          </a:solidFill>
          <a:ln/>
        </p:spPr>
      </p:sp>
      <p:sp>
        <p:nvSpPr>
          <p:cNvPr id="35" name="Shape 28"/>
          <p:cNvSpPr/>
          <p:nvPr/>
        </p:nvSpPr>
        <p:spPr>
          <a:xfrm>
            <a:off x="10220706" y="1965960"/>
            <a:ext cx="548640" cy="548640"/>
          </a:xfrm>
          <a:prstGeom prst="ellipse">
            <a:avLst/>
          </a:prstGeom>
          <a:solidFill>
            <a:schemeClr val="tx2"/>
          </a:solidFill>
          <a:ln/>
        </p:spPr>
      </p:sp>
      <p:pic>
        <p:nvPicPr>
          <p:cNvPr id="36" name="Image 5" descr="preencoded.png">    </p:cNvPr>
          <p:cNvPicPr>
            <a:picLocks noChangeAspect="1"/>
          </p:cNvPicPr>
          <p:nvPr/>
        </p:nvPicPr>
        <p:blipFill>
          <a:blip r:embed="rId6"/>
          <a:stretch>
            <a:fillRect/>
          </a:stretch>
        </p:blipFill>
        <p:spPr>
          <a:xfrm>
            <a:off x="10357866" y="2103120"/>
            <a:ext cx="274320" cy="274320"/>
          </a:xfrm>
          <a:prstGeom prst="rect">
            <a:avLst/>
          </a:prstGeom>
        </p:spPr>
      </p:pic>
      <p:sp>
        <p:nvSpPr>
          <p:cNvPr id="37" name="Text 29"/>
          <p:cNvSpPr txBox="1"/>
          <p:nvPr/>
        </p:nvSpPr>
        <p:spPr>
          <a:xfrm>
            <a:off x="10220706" y="2651760"/>
            <a:ext cx="1239469" cy="365760"/>
          </a:xfrm>
          <a:prstGeom prst="rect">
            <a:avLst/>
          </a:prstGeom>
          <a:noFill/>
          <a:ln/>
        </p:spPr>
        <p:txBody>
          <a:bodyPr wrap="square" lIns="0" tIns="0" rIns="0" bIns="0" rtlCol="0" anchor="ctr"/>
          <a:lstStyle/>
          <a:p>
            <a:pPr indent="0" marL="0">
              <a:buNone/>
            </a:pPr>
            <a:r>
              <a:rPr lang="en-US" sz="1400" b="1" dirty="0">
                <a:solidFill>
                  <a:schemeClr val="bg1"/>
                </a:solidFill>
              </a:rPr>
              <a:t>Action</a:t>
            </a:r>
            <a:endParaRPr lang="en-US" sz="1400" dirty="0"/>
          </a:p>
        </p:txBody>
      </p:sp>
      <p:sp>
        <p:nvSpPr>
          <p:cNvPr id="38" name="Text 30"/>
          <p:cNvSpPr txBox="1"/>
          <p:nvPr/>
        </p:nvSpPr>
        <p:spPr>
          <a:xfrm>
            <a:off x="10220706" y="3017520"/>
            <a:ext cx="1239469" cy="822960"/>
          </a:xfrm>
          <a:prstGeom prst="rect">
            <a:avLst/>
          </a:prstGeom>
          <a:noFill/>
          <a:ln/>
        </p:spPr>
        <p:txBody>
          <a:bodyPr wrap="square" lIns="0" tIns="0" rIns="0" bIns="0" rtlCol="0" anchor="t"/>
          <a:lstStyle/>
          <a:p>
            <a:pPr indent="0" marL="0">
              <a:buNone/>
            </a:pPr>
            <a:r>
              <a:rPr lang="en-US" sz="1200" dirty="0">
                <a:solidFill>
                  <a:schemeClr val="bg1"/>
                </a:solidFill>
              </a:rPr>
              <a:t>Adjust, block, segregate, alert</a:t>
            </a:r>
            <a:endParaRPr lang="en-US" sz="1200" dirty="0"/>
          </a:p>
        </p:txBody>
      </p:sp>
      <p:pic>
        <p:nvPicPr>
          <p:cNvPr id="39" name="Image 6" descr="/tmp/claude-0/-home-user-blank-app/7493bec7-5fc4-598a-95c5-e4a4b47f4a0e/scratchpad/img/arch.jpg">    </p:cNvPr>
          <p:cNvPicPr>
            <a:picLocks noChangeAspect="1"/>
          </p:cNvPicPr>
          <p:nvPr/>
        </p:nvPicPr>
        <p:blipFill>
          <a:blip r:embed="rId7"/>
          <a:stretch>
            <a:fillRect/>
          </a:stretch>
        </p:blipFill>
        <p:spPr>
          <a:xfrm>
            <a:off x="1483305" y="4206240"/>
            <a:ext cx="3617071" cy="2011680"/>
          </a:xfrm>
          <a:prstGeom prst="rect">
            <a:avLst/>
          </a:prstGeom>
          <a:effectLst>
            <a:outerShdw sx="100000" sy="100000" kx="0" ky="0" algn="bl" rotWithShape="0" blurRad="101600" dist="38100" dir="5400000">
              <a:srgbClr val="000000">
                <a:alpha val="18000"/>
              </a:srgbClr>
            </a:outerShdw>
          </a:effectLst>
        </p:spPr>
      </p:pic>
      <p:sp>
        <p:nvSpPr>
          <p:cNvPr id="40" name="Text 31"/>
          <p:cNvSpPr txBox="1"/>
          <p:nvPr/>
        </p:nvSpPr>
        <p:spPr>
          <a:xfrm>
            <a:off x="6400800" y="4343400"/>
            <a:ext cx="5242255" cy="1737360"/>
          </a:xfrm>
          <a:prstGeom prst="rect">
            <a:avLst/>
          </a:prstGeom>
          <a:noFill/>
          <a:ln/>
        </p:spPr>
        <p:txBody>
          <a:bodyPr wrap="square" lIns="0" tIns="0" rIns="0" bIns="0" rtlCol="0" anchor="t"/>
          <a:lstStyle/>
          <a:p>
            <a:pPr indent="0" marL="0">
              <a:buNone/>
            </a:pPr>
            <a:r>
              <a:rPr lang="en-US" sz="1600" b="1" dirty="0">
                <a:solidFill>
                  <a:schemeClr val="tx2"/>
                </a:solidFill>
              </a:rPr>
              <a:t>One architecture, many lines. </a:t>
            </a:r>
            <a:pPr indent="0" marL="0">
              <a:buNone/>
            </a:pPr>
            <a:r>
              <a:rPr lang="en-US" sz="1600" dirty="0">
                <a:solidFill>
                  <a:schemeClr val="tx1"/>
                </a:solidFill>
              </a:rPr>
              <a:t>The same data chain runs on the MAC machines and on the BNS line, and can be replicated on any machine in the network.</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ctr"/>
          <a:lstStyle/>
          <a:p>
            <a:pPr algn="l" indent="0" marL="0">
              <a:buNone/>
            </a:pPr>
            <a:r>
              <a:rPr lang="en-US" sz="3000" b="1" dirty="0">
                <a:solidFill>
                  <a:schemeClr val="bg1"/>
                </a:solidFill>
              </a:rPr>
              <a:t>Every tire gets a digital fingerprint</a:t>
            </a:r>
            <a:endParaRPr lang="en-US" sz="3000" dirty="0"/>
          </a:p>
        </p:txBody>
      </p:sp>
      <p:sp>
        <p:nvSpPr>
          <p:cNvPr id="3" name="Text 0"/>
          <p:cNvSpPr/>
          <p:nvPr>
            <p:ph idx="101" type="body" hasCustomPrompt="1"/>
          </p:nvPr>
        </p:nvSpPr>
        <p:spPr>
          <a:xfrm>
            <a:off x="548640" y="987552"/>
            <a:ext cx="11094415" cy="411480"/>
          </a:xfrm>
          <a:prstGeom prst="rect">
            <a:avLst/>
          </a:prstGeom>
          <a:noFill/>
          <a:ln/>
        </p:spPr>
        <p:txBody>
          <a:bodyPr wrap="square" lIns="0" tIns="0" rIns="0" bIns="0" rtlCol="0" anchor="t"/>
          <a:lstStyle/>
          <a:p>
            <a:pPr indent="0" marL="0">
              <a:buNone/>
            </a:pPr>
            <a:r>
              <a:rPr lang="en-US" sz="1600" dirty="0">
                <a:solidFill>
                  <a:schemeClr val="accent2"/>
                </a:solidFill>
              </a:rPr>
              <a:t>3D laser profiling turns each component into millions of data points</a:t>
            </a:r>
            <a:endParaRPr lang="en-US" sz="1600" dirty="0"/>
          </a:p>
        </p:txBody>
      </p:sp>
      <p:pic>
        <p:nvPicPr>
          <p:cNvPr id="4" name="Image 0" descr="/tmp/claude-0/-home-user-blank-app/7493bec7-5fc4-598a-95c5-e4a4b47f4a0e/scratchpad/img/gocator.png">    </p:cNvPr>
          <p:cNvPicPr>
            <a:picLocks noChangeAspect="1"/>
          </p:cNvPicPr>
          <p:nvPr/>
        </p:nvPicPr>
        <p:blipFill>
          <a:blip r:embed="rId1"/>
          <a:stretch>
            <a:fillRect/>
          </a:stretch>
        </p:blipFill>
        <p:spPr>
          <a:xfrm>
            <a:off x="548640" y="1810595"/>
            <a:ext cx="3291840" cy="2048090"/>
          </a:xfrm>
          <a:prstGeom prst="rect">
            <a:avLst/>
          </a:prstGeom>
        </p:spPr>
      </p:pic>
      <p:sp>
        <p:nvSpPr>
          <p:cNvPr id="5" name="Text 2"/>
          <p:cNvSpPr txBox="1"/>
          <p:nvPr/>
        </p:nvSpPr>
        <p:spPr>
          <a:xfrm>
            <a:off x="548640" y="4069080"/>
            <a:ext cx="3291840" cy="1371600"/>
          </a:xfrm>
          <a:prstGeom prst="rect">
            <a:avLst/>
          </a:prstGeom>
          <a:noFill/>
          <a:ln/>
        </p:spPr>
        <p:txBody>
          <a:bodyPr wrap="square" lIns="0" tIns="0" rIns="0" bIns="0" rtlCol="0" anchor="t"/>
          <a:lstStyle/>
          <a:p>
            <a:pPr indent="0" marL="0">
              <a:buNone/>
            </a:pPr>
            <a:r>
              <a:rPr lang="en-US" sz="1400" b="1" dirty="0">
                <a:solidFill>
                  <a:srgbClr val="FFFFFF"/>
                </a:solidFill>
              </a:rPr>
              <a:t>Gocator 3D laser profilers (LMI)</a:t>
            </a:r>
            <a:endParaRPr lang="en-US" sz="1400" dirty="0"/>
          </a:p>
          <a:p>
            <a:pPr indent="0" marL="0">
              <a:buNone/>
            </a:pPr>
            <a:r>
              <a:rPr lang="en-US" sz="1400" dirty="0">
                <a:solidFill>
                  <a:srgbClr val="DCE4F2"/>
                </a:solidFill>
              </a:rPr>
              <a:t>Up to 5,000 profiles per second, micron-level repeatability, no contact with the product.</a:t>
            </a:r>
            <a:endParaRPr lang="en-US" sz="1400" dirty="0"/>
          </a:p>
        </p:txBody>
      </p:sp>
      <p:pic>
        <p:nvPicPr>
          <p:cNvPr id="6" name="Image 1" descr="/tmp/claude-0/-home-user-blank-app/7493bec7-5fc4-598a-95c5-e4a4b47f4a0e/scratchpad/img/d1.jpg">    </p:cNvPr>
          <p:cNvPicPr>
            <a:picLocks noChangeAspect="1"/>
          </p:cNvPicPr>
          <p:nvPr/>
        </p:nvPicPr>
        <p:blipFill>
          <a:blip r:embed="rId2"/>
          <a:srcRect l="0" r="0" t="0" b="0"/>
          <a:stretch/>
        </p:blipFill>
        <p:spPr>
          <a:xfrm>
            <a:off x="4114800" y="1737360"/>
            <a:ext cx="2326538" cy="3291840"/>
          </a:xfrm>
          <a:prstGeom prst="rect">
            <a:avLst/>
          </a:prstGeom>
        </p:spPr>
      </p:pic>
      <p:sp>
        <p:nvSpPr>
          <p:cNvPr id="7" name="Text 3"/>
          <p:cNvSpPr txBox="1"/>
          <p:nvPr/>
        </p:nvSpPr>
        <p:spPr>
          <a:xfrm>
            <a:off x="4114800" y="5166360"/>
            <a:ext cx="2326538" cy="365760"/>
          </a:xfrm>
          <a:prstGeom prst="rect">
            <a:avLst/>
          </a:prstGeom>
          <a:noFill/>
          <a:ln/>
        </p:spPr>
        <p:txBody>
          <a:bodyPr wrap="square" lIns="0" tIns="0" rIns="0" bIns="0" rtlCol="0" anchor="ctr"/>
          <a:lstStyle/>
          <a:p>
            <a:pPr indent="0" marL="0">
              <a:buNone/>
            </a:pPr>
            <a:r>
              <a:rPr lang="en-US" sz="1400" b="1" dirty="0">
                <a:solidFill>
                  <a:schemeClr val="bg1"/>
                </a:solidFill>
              </a:rPr>
              <a:t>3D relief of a component</a:t>
            </a:r>
            <a:endParaRPr lang="en-US" sz="1400" dirty="0"/>
          </a:p>
        </p:txBody>
      </p:sp>
      <p:pic>
        <p:nvPicPr>
          <p:cNvPr id="8" name="Image 2" descr="/tmp/claude-0/-home-user-blank-app/7493bec7-5fc4-598a-95c5-e4a4b47f4a0e/scratchpad/img/d2.jpg">    </p:cNvPr>
          <p:cNvPicPr>
            <a:picLocks noChangeAspect="1"/>
          </p:cNvPicPr>
          <p:nvPr/>
        </p:nvPicPr>
        <p:blipFill>
          <a:blip r:embed="rId3"/>
          <a:srcRect l="0" r="0" t="0" b="0"/>
          <a:stretch/>
        </p:blipFill>
        <p:spPr>
          <a:xfrm>
            <a:off x="6715658" y="1737360"/>
            <a:ext cx="2326538" cy="3291840"/>
          </a:xfrm>
          <a:prstGeom prst="rect">
            <a:avLst/>
          </a:prstGeom>
        </p:spPr>
      </p:pic>
      <p:sp>
        <p:nvSpPr>
          <p:cNvPr id="9" name="Text 4"/>
          <p:cNvSpPr txBox="1"/>
          <p:nvPr/>
        </p:nvSpPr>
        <p:spPr>
          <a:xfrm>
            <a:off x="6715658" y="5166360"/>
            <a:ext cx="2326538" cy="365760"/>
          </a:xfrm>
          <a:prstGeom prst="rect">
            <a:avLst/>
          </a:prstGeom>
          <a:noFill/>
          <a:ln/>
        </p:spPr>
        <p:txBody>
          <a:bodyPr wrap="square" lIns="0" tIns="0" rIns="0" bIns="0" rtlCol="0" anchor="ctr"/>
          <a:lstStyle/>
          <a:p>
            <a:pPr indent="0" marL="0">
              <a:buNone/>
            </a:pPr>
            <a:r>
              <a:rPr lang="en-US" sz="1400" b="1" dirty="0">
                <a:solidFill>
                  <a:schemeClr val="bg1"/>
                </a:solidFill>
              </a:rPr>
              <a:t>Shape irregularity detected</a:t>
            </a:r>
            <a:endParaRPr lang="en-US" sz="1400" dirty="0"/>
          </a:p>
        </p:txBody>
      </p:sp>
      <p:pic>
        <p:nvPicPr>
          <p:cNvPr id="10" name="Image 3" descr="/tmp/claude-0/-home-user-blank-app/7493bec7-5fc4-598a-95c5-e4a4b47f4a0e/scratchpad/img/d3.jpg">    </p:cNvPr>
          <p:cNvPicPr>
            <a:picLocks noChangeAspect="1"/>
          </p:cNvPicPr>
          <p:nvPr/>
        </p:nvPicPr>
        <p:blipFill>
          <a:blip r:embed="rId4"/>
          <a:srcRect l="0" r="0" t="0" b="0"/>
          <a:stretch/>
        </p:blipFill>
        <p:spPr>
          <a:xfrm>
            <a:off x="9316517" y="1737360"/>
            <a:ext cx="2326538" cy="3291840"/>
          </a:xfrm>
          <a:prstGeom prst="rect">
            <a:avLst/>
          </a:prstGeom>
        </p:spPr>
      </p:pic>
      <p:sp>
        <p:nvSpPr>
          <p:cNvPr id="11" name="Text 5"/>
          <p:cNvSpPr txBox="1"/>
          <p:nvPr/>
        </p:nvSpPr>
        <p:spPr>
          <a:xfrm>
            <a:off x="9316517" y="5166360"/>
            <a:ext cx="2326538" cy="365760"/>
          </a:xfrm>
          <a:prstGeom prst="rect">
            <a:avLst/>
          </a:prstGeom>
          <a:noFill/>
          <a:ln/>
        </p:spPr>
        <p:txBody>
          <a:bodyPr wrap="square" lIns="0" tIns="0" rIns="0" bIns="0" rtlCol="0" anchor="ctr"/>
          <a:lstStyle/>
          <a:p>
            <a:pPr indent="0" marL="0">
              <a:buNone/>
            </a:pPr>
            <a:r>
              <a:rPr lang="en-US" sz="1400" b="1" dirty="0">
                <a:solidFill>
                  <a:schemeClr val="bg1"/>
                </a:solidFill>
              </a:rPr>
              <a:t>Splice and overlap control</a:t>
            </a:r>
            <a:endParaRPr lang="en-US" sz="1400" dirty="0"/>
          </a:p>
        </p:txBody>
      </p:sp>
      <p:sp>
        <p:nvSpPr>
          <p:cNvPr id="12" name="Text 6"/>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b="1" dirty="0">
                <a:solidFill>
                  <a:schemeClr val="accent2"/>
                </a:solidFill>
              </a:rPr>
              <a:t>Each colour is a height: anomalies the human eye cannot see stand out immediately.</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Advanced analytics in real time</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Statistical process control on every measurement, visible to everyone</a:t>
            </a:r>
            <a:endParaRPr lang="en-US" sz="1600" dirty="0"/>
          </a:p>
        </p:txBody>
      </p:sp>
      <p:pic>
        <p:nvPicPr>
          <p:cNvPr id="4" name="Image 0" descr="/tmp/claude-0/-home-user-blank-app/7493bec7-5fc4-598a-95c5-e4a4b47f4a0e/scratchpad/img/dash.png">    </p:cNvPr>
          <p:cNvPicPr>
            <a:picLocks noChangeAspect="1"/>
          </p:cNvPicPr>
          <p:nvPr/>
        </p:nvPicPr>
        <p:blipFill>
          <a:blip r:embed="rId1"/>
          <a:stretch>
            <a:fillRect/>
          </a:stretch>
        </p:blipFill>
        <p:spPr>
          <a:xfrm>
            <a:off x="548640" y="2032305"/>
            <a:ext cx="7589520" cy="3524910"/>
          </a:xfrm>
          <a:prstGeom prst="rect">
            <a:avLst/>
          </a:prstGeom>
          <a:effectLst>
            <a:outerShdw sx="100000" sy="100000" kx="0" ky="0" algn="bl" rotWithShape="0" blurRad="101600" dist="38100" dir="5400000">
              <a:srgbClr val="000000">
                <a:alpha val="18000"/>
              </a:srgbClr>
            </a:outerShdw>
          </a:effectLst>
        </p:spPr>
      </p:pic>
      <p:sp>
        <p:nvSpPr>
          <p:cNvPr id="5" name="Text 2"/>
          <p:cNvSpPr txBox="1"/>
          <p:nvPr/>
        </p:nvSpPr>
        <p:spPr>
          <a:xfrm>
            <a:off x="548640" y="6035040"/>
            <a:ext cx="7589520" cy="274320"/>
          </a:xfrm>
          <a:prstGeom prst="rect">
            <a:avLst/>
          </a:prstGeom>
          <a:noFill/>
          <a:ln/>
        </p:spPr>
        <p:txBody>
          <a:bodyPr wrap="square" lIns="0" tIns="0" rIns="0" bIns="0" rtlCol="0" anchor="ctr"/>
          <a:lstStyle/>
          <a:p>
            <a:pPr indent="0" marL="0">
              <a:buNone/>
            </a:pPr>
            <a:r>
              <a:rPr lang="en-US" sz="1100" i="1" dirty="0">
                <a:solidFill>
                  <a:schemeClr val="accent6"/>
                </a:solidFill>
              </a:rPr>
              <a:t>PI Vision dashboard · MAC3 · P14: width and edge position vs target</a:t>
            </a:r>
            <a:endParaRPr lang="en-US" sz="1100" dirty="0"/>
          </a:p>
        </p:txBody>
      </p:sp>
      <p:sp>
        <p:nvSpPr>
          <p:cNvPr id="6" name="Text 3"/>
          <p:cNvSpPr txBox="1"/>
          <p:nvPr/>
        </p:nvSpPr>
        <p:spPr>
          <a:xfrm>
            <a:off x="8503920" y="1828800"/>
            <a:ext cx="3139135" cy="40233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0B1F4B"/>
                </a:solidFill>
              </a:rPr>
              <a:t>Individual value </a:t>
            </a:r>
            <a:pPr indent="0" marL="0">
              <a:spcAft>
                <a:spcPts val="1000"/>
              </a:spcAft>
              <a:buNone/>
            </a:pPr>
            <a:r>
              <a:rPr lang="en-US" sz="1500" dirty="0">
                <a:solidFill>
                  <a:schemeClr val="tx1"/>
                </a:solidFill>
              </a:rPr>
              <a:t>for every single tire</a:t>
            </a:r>
            <a:endParaRPr lang="en-US" sz="1500" dirty="0"/>
          </a:p>
          <a:p>
            <a:pPr marL="342900" indent="-342900">
              <a:spcAft>
                <a:spcPts val="1000"/>
              </a:spcAft>
              <a:buSzPct val="100000"/>
              <a:buChar char="■"/>
            </a:pPr>
            <a:r>
              <a:rPr lang="en-US" sz="1500" b="1" dirty="0">
                <a:solidFill>
                  <a:srgbClr val="0B1F4B"/>
                </a:solidFill>
              </a:rPr>
              <a:t>Rolling median of the last 20 </a:t>
            </a:r>
            <a:pPr indent="0" marL="0">
              <a:spcAft>
                <a:spcPts val="1000"/>
              </a:spcAft>
              <a:buNone/>
            </a:pPr>
            <a:r>
              <a:rPr lang="en-US" sz="1500" dirty="0">
                <a:solidFill>
                  <a:schemeClr val="tx1"/>
                </a:solidFill>
              </a:rPr>
              <a:t>to reveal drift early</a:t>
            </a:r>
            <a:endParaRPr lang="en-US" sz="1500" dirty="0"/>
          </a:p>
          <a:p>
            <a:pPr marL="342900" indent="-342900">
              <a:spcAft>
                <a:spcPts val="1000"/>
              </a:spcAft>
              <a:buSzPct val="100000"/>
              <a:buChar char="■"/>
            </a:pPr>
            <a:r>
              <a:rPr lang="en-US" sz="1500" b="1" dirty="0">
                <a:solidFill>
                  <a:srgbClr val="0B1F4B"/>
                </a:solidFill>
              </a:rPr>
              <a:t>Upper and lower limits </a:t>
            </a:r>
            <a:pPr indent="0" marL="0">
              <a:spcAft>
                <a:spcPts val="1000"/>
              </a:spcAft>
              <a:buNone/>
            </a:pPr>
            <a:r>
              <a:rPr lang="en-US" sz="1500" dirty="0">
                <a:solidFill>
                  <a:schemeClr val="tx1"/>
                </a:solidFill>
              </a:rPr>
              <a:t>always on screen</a:t>
            </a:r>
            <a:endParaRPr lang="en-US" sz="1500" dirty="0"/>
          </a:p>
          <a:p>
            <a:pPr marL="342900" indent="-342900">
              <a:spcAft>
                <a:spcPts val="1000"/>
              </a:spcAft>
              <a:buSzPct val="100000"/>
              <a:buChar char="■"/>
            </a:pPr>
            <a:r>
              <a:rPr lang="en-US" sz="1500" b="1" dirty="0">
                <a:solidFill>
                  <a:srgbClr val="0B1F4B"/>
                </a:solidFill>
              </a:rPr>
              <a:t>One source of truth </a:t>
            </a:r>
            <a:pPr indent="0" marL="0">
              <a:spcAft>
                <a:spcPts val="1000"/>
              </a:spcAft>
              <a:buNone/>
            </a:pPr>
            <a:r>
              <a:rPr lang="en-US" sz="1500" dirty="0">
                <a:solidFill>
                  <a:schemeClr val="tx1"/>
                </a:solidFill>
              </a:rPr>
              <a:t>for operators, quality and engineering</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Smart alerts before a defect exists</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The right person is notified instantly, on screen and on mobile</a:t>
            </a:r>
            <a:endParaRPr lang="en-US" sz="1600" dirty="0"/>
          </a:p>
        </p:txBody>
      </p:sp>
      <p:pic>
        <p:nvPicPr>
          <p:cNvPr id="4" name="Image 0" descr="/tmp/claude-0/-home-user-blank-app/7493bec7-5fc4-598a-95c5-e4a4b47f4a0e/scratchpad/img/alert.png">    </p:cNvPr>
          <p:cNvPicPr>
            <a:picLocks noChangeAspect="1"/>
          </p:cNvPicPr>
          <p:nvPr/>
        </p:nvPicPr>
        <p:blipFill>
          <a:blip r:embed="rId1"/>
          <a:stretch>
            <a:fillRect/>
          </a:stretch>
        </p:blipFill>
        <p:spPr>
          <a:xfrm>
            <a:off x="548640" y="2032305"/>
            <a:ext cx="7589520" cy="3524910"/>
          </a:xfrm>
          <a:prstGeom prst="rect">
            <a:avLst/>
          </a:prstGeom>
          <a:effectLst>
            <a:outerShdw sx="100000" sy="100000" kx="0" ky="0" algn="bl" rotWithShape="0" blurRad="101600" dist="38100" dir="5400000">
              <a:srgbClr val="000000">
                <a:alpha val="18000"/>
              </a:srgbClr>
            </a:outerShdw>
          </a:effectLst>
        </p:spPr>
      </p:pic>
      <p:sp>
        <p:nvSpPr>
          <p:cNvPr id="5" name="Shape 2"/>
          <p:cNvSpPr/>
          <p:nvPr/>
        </p:nvSpPr>
        <p:spPr>
          <a:xfrm>
            <a:off x="8503920" y="1737360"/>
            <a:ext cx="548640" cy="548640"/>
          </a:xfrm>
          <a:prstGeom prst="ellipse">
            <a:avLst/>
          </a:prstGeom>
          <a:solidFill>
            <a:schemeClr val="accent4"/>
          </a:solidFill>
          <a:ln/>
        </p:spPr>
      </p:sp>
      <p:pic>
        <p:nvPicPr>
          <p:cNvPr id="6" name="Image 1" descr="preencoded.png">    </p:cNvPr>
          <p:cNvPicPr>
            <a:picLocks noChangeAspect="1"/>
          </p:cNvPicPr>
          <p:nvPr/>
        </p:nvPicPr>
        <p:blipFill>
          <a:blip r:embed="rId2"/>
          <a:stretch>
            <a:fillRect/>
          </a:stretch>
        </p:blipFill>
        <p:spPr>
          <a:xfrm>
            <a:off x="8641080" y="1874520"/>
            <a:ext cx="274320" cy="274320"/>
          </a:xfrm>
          <a:prstGeom prst="rect">
            <a:avLst/>
          </a:prstGeom>
        </p:spPr>
      </p:pic>
      <p:sp>
        <p:nvSpPr>
          <p:cNvPr id="7" name="Text 3"/>
          <p:cNvSpPr txBox="1"/>
          <p:nvPr/>
        </p:nvSpPr>
        <p:spPr>
          <a:xfrm>
            <a:off x="9235440" y="1719072"/>
            <a:ext cx="2407615" cy="365760"/>
          </a:xfrm>
          <a:prstGeom prst="rect">
            <a:avLst/>
          </a:prstGeom>
          <a:noFill/>
          <a:ln/>
        </p:spPr>
        <p:txBody>
          <a:bodyPr wrap="square" lIns="0" tIns="0" rIns="0" bIns="0" rtlCol="0" anchor="ctr"/>
          <a:lstStyle/>
          <a:p>
            <a:pPr indent="0" marL="0">
              <a:buNone/>
            </a:pPr>
            <a:r>
              <a:rPr lang="en-US" sz="1700" b="1" dirty="0">
                <a:solidFill>
                  <a:schemeClr val="tx2"/>
                </a:solidFill>
              </a:rPr>
              <a:t>Alert raised</a:t>
            </a:r>
            <a:endParaRPr lang="en-US" sz="1700" dirty="0"/>
          </a:p>
        </p:txBody>
      </p:sp>
      <p:sp>
        <p:nvSpPr>
          <p:cNvPr id="8" name="Text 4"/>
          <p:cNvSpPr txBox="1"/>
          <p:nvPr/>
        </p:nvSpPr>
        <p:spPr>
          <a:xfrm>
            <a:off x="9235440" y="2103120"/>
            <a:ext cx="2407615" cy="731520"/>
          </a:xfrm>
          <a:prstGeom prst="rect">
            <a:avLst/>
          </a:prstGeom>
          <a:noFill/>
          <a:ln/>
        </p:spPr>
        <p:txBody>
          <a:bodyPr wrap="square" lIns="0" tIns="0" rIns="0" bIns="0" rtlCol="0" anchor="t"/>
          <a:lstStyle/>
          <a:p>
            <a:pPr indent="0" marL="0">
              <a:buNone/>
            </a:pPr>
            <a:r>
              <a:rPr lang="en-US" sz="1400" dirty="0">
                <a:solidFill>
                  <a:schemeClr val="tx1"/>
                </a:solidFill>
              </a:rPr>
              <a:t>The trend crosses the defined threshold.</a:t>
            </a:r>
            <a:endParaRPr lang="en-US" sz="1400" dirty="0"/>
          </a:p>
        </p:txBody>
      </p:sp>
      <p:sp>
        <p:nvSpPr>
          <p:cNvPr id="9" name="Shape 5"/>
          <p:cNvSpPr/>
          <p:nvPr/>
        </p:nvSpPr>
        <p:spPr>
          <a:xfrm>
            <a:off x="8503920" y="3108960"/>
            <a:ext cx="548640" cy="548640"/>
          </a:xfrm>
          <a:prstGeom prst="ellipse">
            <a:avLst/>
          </a:prstGeom>
          <a:solidFill>
            <a:schemeClr val="accent1"/>
          </a:solidFill>
          <a:ln/>
        </p:spPr>
      </p:sp>
      <p:pic>
        <p:nvPicPr>
          <p:cNvPr id="10" name="Image 2" descr="preencoded.png">    </p:cNvPr>
          <p:cNvPicPr>
            <a:picLocks noChangeAspect="1"/>
          </p:cNvPicPr>
          <p:nvPr/>
        </p:nvPicPr>
        <p:blipFill>
          <a:blip r:embed="rId3"/>
          <a:stretch>
            <a:fillRect/>
          </a:stretch>
        </p:blipFill>
        <p:spPr>
          <a:xfrm>
            <a:off x="8641080" y="3246120"/>
            <a:ext cx="274320" cy="274320"/>
          </a:xfrm>
          <a:prstGeom prst="rect">
            <a:avLst/>
          </a:prstGeom>
        </p:spPr>
      </p:pic>
      <p:sp>
        <p:nvSpPr>
          <p:cNvPr id="11" name="Text 6"/>
          <p:cNvSpPr txBox="1"/>
          <p:nvPr/>
        </p:nvSpPr>
        <p:spPr>
          <a:xfrm>
            <a:off x="9235440" y="3090672"/>
            <a:ext cx="2407615" cy="365760"/>
          </a:xfrm>
          <a:prstGeom prst="rect">
            <a:avLst/>
          </a:prstGeom>
          <a:noFill/>
          <a:ln/>
        </p:spPr>
        <p:txBody>
          <a:bodyPr wrap="square" lIns="0" tIns="0" rIns="0" bIns="0" rtlCol="0" anchor="ctr"/>
          <a:lstStyle/>
          <a:p>
            <a:pPr indent="0" marL="0">
              <a:buNone/>
            </a:pPr>
            <a:r>
              <a:rPr lang="en-US" sz="1700" b="1" dirty="0">
                <a:solidFill>
                  <a:schemeClr val="tx2"/>
                </a:solidFill>
              </a:rPr>
              <a:t>Instant notification</a:t>
            </a:r>
            <a:endParaRPr lang="en-US" sz="1700" dirty="0"/>
          </a:p>
        </p:txBody>
      </p:sp>
      <p:sp>
        <p:nvSpPr>
          <p:cNvPr id="12" name="Text 7"/>
          <p:cNvSpPr txBox="1"/>
          <p:nvPr/>
        </p:nvSpPr>
        <p:spPr>
          <a:xfrm>
            <a:off x="9235440" y="3474720"/>
            <a:ext cx="2407615" cy="731520"/>
          </a:xfrm>
          <a:prstGeom prst="rect">
            <a:avLst/>
          </a:prstGeom>
          <a:noFill/>
          <a:ln/>
        </p:spPr>
        <p:txBody>
          <a:bodyPr wrap="square" lIns="0" tIns="0" rIns="0" bIns="0" rtlCol="0" anchor="t"/>
          <a:lstStyle/>
          <a:p>
            <a:pPr indent="0" marL="0">
              <a:buNone/>
            </a:pPr>
            <a:r>
              <a:rPr lang="en-US" sz="1400" dirty="0">
                <a:solidFill>
                  <a:schemeClr val="tx1"/>
                </a:solidFill>
              </a:rPr>
              <a:t>On the dashboard and on the owner's phone.</a:t>
            </a:r>
            <a:endParaRPr lang="en-US" sz="1400" dirty="0"/>
          </a:p>
        </p:txBody>
      </p:sp>
      <p:sp>
        <p:nvSpPr>
          <p:cNvPr id="13" name="Shape 8"/>
          <p:cNvSpPr/>
          <p:nvPr/>
        </p:nvSpPr>
        <p:spPr>
          <a:xfrm>
            <a:off x="8503920" y="4480560"/>
            <a:ext cx="548640" cy="548640"/>
          </a:xfrm>
          <a:prstGeom prst="ellipse">
            <a:avLst/>
          </a:prstGeom>
          <a:solidFill>
            <a:schemeClr val="accent3"/>
          </a:solidFill>
          <a:ln/>
        </p:spPr>
      </p:sp>
      <p:pic>
        <p:nvPicPr>
          <p:cNvPr id="14" name="Image 3" descr="preencoded.png">    </p:cNvPr>
          <p:cNvPicPr>
            <a:picLocks noChangeAspect="1"/>
          </p:cNvPicPr>
          <p:nvPr/>
        </p:nvPicPr>
        <p:blipFill>
          <a:blip r:embed="rId4"/>
          <a:stretch>
            <a:fillRect/>
          </a:stretch>
        </p:blipFill>
        <p:spPr>
          <a:xfrm>
            <a:off x="8641080" y="4617720"/>
            <a:ext cx="274320" cy="274320"/>
          </a:xfrm>
          <a:prstGeom prst="rect">
            <a:avLst/>
          </a:prstGeom>
        </p:spPr>
      </p:pic>
      <p:sp>
        <p:nvSpPr>
          <p:cNvPr id="15" name="Text 9"/>
          <p:cNvSpPr txBox="1"/>
          <p:nvPr/>
        </p:nvSpPr>
        <p:spPr>
          <a:xfrm>
            <a:off x="9235440" y="4462272"/>
            <a:ext cx="2407615" cy="365760"/>
          </a:xfrm>
          <a:prstGeom prst="rect">
            <a:avLst/>
          </a:prstGeom>
          <a:noFill/>
          <a:ln/>
        </p:spPr>
        <p:txBody>
          <a:bodyPr wrap="square" lIns="0" tIns="0" rIns="0" bIns="0" rtlCol="0" anchor="ctr"/>
          <a:lstStyle/>
          <a:p>
            <a:pPr indent="0" marL="0">
              <a:buNone/>
            </a:pPr>
            <a:r>
              <a:rPr lang="en-US" sz="1700" b="1" dirty="0">
                <a:solidFill>
                  <a:schemeClr val="tx2"/>
                </a:solidFill>
              </a:rPr>
              <a:t>Alert cleared</a:t>
            </a:r>
            <a:endParaRPr lang="en-US" sz="1700" dirty="0"/>
          </a:p>
        </p:txBody>
      </p:sp>
      <p:sp>
        <p:nvSpPr>
          <p:cNvPr id="16" name="Text 10"/>
          <p:cNvSpPr txBox="1"/>
          <p:nvPr/>
        </p:nvSpPr>
        <p:spPr>
          <a:xfrm>
            <a:off x="9235440" y="4846320"/>
            <a:ext cx="2407615" cy="731520"/>
          </a:xfrm>
          <a:prstGeom prst="rect">
            <a:avLst/>
          </a:prstGeom>
          <a:noFill/>
          <a:ln/>
        </p:spPr>
        <p:txBody>
          <a:bodyPr wrap="square" lIns="0" tIns="0" rIns="0" bIns="0" rtlCol="0" anchor="t"/>
          <a:lstStyle/>
          <a:p>
            <a:pPr indent="0" marL="0">
              <a:buNone/>
            </a:pPr>
            <a:r>
              <a:rPr lang="en-US" sz="1400" dirty="0">
                <a:solidFill>
                  <a:schemeClr val="tx1"/>
                </a:solidFill>
              </a:rPr>
              <a:t>The value returns to target; the event is logged.</a:t>
            </a:r>
            <a:endParaRPr lang="en-US" sz="14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Closed-loop control: the line corrects itself</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R4P rules engine: from measurement to action without waiting for anyone</a:t>
            </a:r>
            <a:endParaRPr lang="en-US" sz="1600" dirty="0"/>
          </a:p>
        </p:txBody>
      </p:sp>
      <p:pic>
        <p:nvPicPr>
          <p:cNvPr id="4" name="Image 0" descr="/tmp/claude-0/-home-user-blank-app/7493bec7-5fc4-598a-95c5-e4a4b47f4a0e/scratchpad/img/r4p.png">    </p:cNvPr>
          <p:cNvPicPr>
            <a:picLocks noChangeAspect="1"/>
          </p:cNvPicPr>
          <p:nvPr/>
        </p:nvPicPr>
        <p:blipFill>
          <a:blip r:embed="rId1"/>
          <a:stretch>
            <a:fillRect/>
          </a:stretch>
        </p:blipFill>
        <p:spPr>
          <a:xfrm>
            <a:off x="559919" y="1691640"/>
            <a:ext cx="6744002" cy="3017520"/>
          </a:xfrm>
          <a:prstGeom prst="rect">
            <a:avLst/>
          </a:prstGeom>
        </p:spPr>
      </p:pic>
      <p:sp>
        <p:nvSpPr>
          <p:cNvPr id="5" name="Shape 2"/>
          <p:cNvSpPr/>
          <p:nvPr/>
        </p:nvSpPr>
        <p:spPr>
          <a:xfrm>
            <a:off x="548640" y="4892040"/>
            <a:ext cx="2133600" cy="1234440"/>
          </a:xfrm>
          <a:prstGeom prst="roundRect">
            <a:avLst>
              <a:gd name="adj" fmla="val 7407"/>
            </a:avLst>
          </a:prstGeom>
          <a:solidFill>
            <a:schemeClr val="bg2"/>
          </a:solidFill>
          <a:ln/>
        </p:spPr>
      </p:sp>
      <p:sp>
        <p:nvSpPr>
          <p:cNvPr id="6" name="Text 3"/>
          <p:cNvSpPr txBox="1"/>
          <p:nvPr/>
        </p:nvSpPr>
        <p:spPr>
          <a:xfrm>
            <a:off x="731520" y="4983480"/>
            <a:ext cx="1767840" cy="365760"/>
          </a:xfrm>
          <a:prstGeom prst="rect">
            <a:avLst/>
          </a:prstGeom>
          <a:noFill/>
          <a:ln/>
        </p:spPr>
        <p:txBody>
          <a:bodyPr wrap="square" lIns="0" tIns="0" rIns="0" bIns="0" rtlCol="0" anchor="ctr"/>
          <a:lstStyle/>
          <a:p>
            <a:pPr indent="0" marL="0">
              <a:buNone/>
            </a:pPr>
            <a:r>
              <a:rPr lang="en-US" sz="1700" b="1" dirty="0">
                <a:solidFill>
                  <a:schemeClr val="accent1"/>
                </a:solidFill>
              </a:rPr>
              <a:t>Measure</a:t>
            </a:r>
            <a:endParaRPr lang="en-US" sz="1700" dirty="0"/>
          </a:p>
        </p:txBody>
      </p:sp>
      <p:sp>
        <p:nvSpPr>
          <p:cNvPr id="7" name="Text 4"/>
          <p:cNvSpPr txBox="1"/>
          <p:nvPr/>
        </p:nvSpPr>
        <p:spPr>
          <a:xfrm>
            <a:off x="731520" y="5349240"/>
            <a:ext cx="1767840" cy="731520"/>
          </a:xfrm>
          <a:prstGeom prst="rect">
            <a:avLst/>
          </a:prstGeom>
          <a:noFill/>
          <a:ln/>
        </p:spPr>
        <p:txBody>
          <a:bodyPr wrap="square" lIns="0" tIns="0" rIns="0" bIns="0" rtlCol="0" anchor="t"/>
          <a:lstStyle/>
          <a:p>
            <a:pPr indent="0" marL="0">
              <a:buNone/>
            </a:pPr>
            <a:r>
              <a:rPr lang="en-US" sz="1300" dirty="0">
                <a:solidFill>
                  <a:schemeClr val="tx1"/>
                </a:solidFill>
              </a:rPr>
              <a:t>The sensor measures the component.</a:t>
            </a:r>
            <a:endParaRPr lang="en-US" sz="1300" dirty="0"/>
          </a:p>
        </p:txBody>
      </p:sp>
      <p:sp>
        <p:nvSpPr>
          <p:cNvPr id="8" name="Shape 5"/>
          <p:cNvSpPr/>
          <p:nvPr/>
        </p:nvSpPr>
        <p:spPr>
          <a:xfrm>
            <a:off x="2865120" y="4892040"/>
            <a:ext cx="2133600" cy="1234440"/>
          </a:xfrm>
          <a:prstGeom prst="roundRect">
            <a:avLst>
              <a:gd name="adj" fmla="val 7407"/>
            </a:avLst>
          </a:prstGeom>
          <a:solidFill>
            <a:schemeClr val="bg2"/>
          </a:solidFill>
          <a:ln/>
        </p:spPr>
      </p:sp>
      <p:sp>
        <p:nvSpPr>
          <p:cNvPr id="9" name="Text 6"/>
          <p:cNvSpPr txBox="1"/>
          <p:nvPr/>
        </p:nvSpPr>
        <p:spPr>
          <a:xfrm>
            <a:off x="3048000" y="4983480"/>
            <a:ext cx="1767840" cy="365760"/>
          </a:xfrm>
          <a:prstGeom prst="rect">
            <a:avLst/>
          </a:prstGeom>
          <a:noFill/>
          <a:ln/>
        </p:spPr>
        <p:txBody>
          <a:bodyPr wrap="square" lIns="0" tIns="0" rIns="0" bIns="0" rtlCol="0" anchor="ctr"/>
          <a:lstStyle/>
          <a:p>
            <a:pPr indent="0" marL="0">
              <a:buNone/>
            </a:pPr>
            <a:r>
              <a:rPr lang="en-US" sz="1700" b="1" dirty="0">
                <a:solidFill>
                  <a:schemeClr val="accent1"/>
                </a:solidFill>
              </a:rPr>
              <a:t>Decide</a:t>
            </a:r>
            <a:endParaRPr lang="en-US" sz="1700" dirty="0"/>
          </a:p>
        </p:txBody>
      </p:sp>
      <p:sp>
        <p:nvSpPr>
          <p:cNvPr id="10" name="Text 7"/>
          <p:cNvSpPr txBox="1"/>
          <p:nvPr/>
        </p:nvSpPr>
        <p:spPr>
          <a:xfrm>
            <a:off x="3048000" y="5349240"/>
            <a:ext cx="1767840" cy="731520"/>
          </a:xfrm>
          <a:prstGeom prst="rect">
            <a:avLst/>
          </a:prstGeom>
          <a:noFill/>
          <a:ln/>
        </p:spPr>
        <p:txBody>
          <a:bodyPr wrap="square" lIns="0" tIns="0" rIns="0" bIns="0" rtlCol="0" anchor="t"/>
          <a:lstStyle/>
          <a:p>
            <a:pPr indent="0" marL="0">
              <a:buNone/>
            </a:pPr>
            <a:r>
              <a:rPr lang="en-US" sz="1300" dirty="0">
                <a:solidFill>
                  <a:schemeClr val="tx1"/>
                </a:solidFill>
              </a:rPr>
              <a:t>The rules engine compares it to target.</a:t>
            </a:r>
            <a:endParaRPr lang="en-US" sz="1300" dirty="0"/>
          </a:p>
        </p:txBody>
      </p:sp>
      <p:sp>
        <p:nvSpPr>
          <p:cNvPr id="11" name="Shape 8"/>
          <p:cNvSpPr/>
          <p:nvPr/>
        </p:nvSpPr>
        <p:spPr>
          <a:xfrm>
            <a:off x="5181600" y="4892040"/>
            <a:ext cx="2133600" cy="1234440"/>
          </a:xfrm>
          <a:prstGeom prst="roundRect">
            <a:avLst>
              <a:gd name="adj" fmla="val 7407"/>
            </a:avLst>
          </a:prstGeom>
          <a:solidFill>
            <a:schemeClr val="bg2"/>
          </a:solidFill>
          <a:ln/>
        </p:spPr>
      </p:sp>
      <p:sp>
        <p:nvSpPr>
          <p:cNvPr id="12" name="Text 9"/>
          <p:cNvSpPr txBox="1"/>
          <p:nvPr/>
        </p:nvSpPr>
        <p:spPr>
          <a:xfrm>
            <a:off x="5364480" y="4983480"/>
            <a:ext cx="1767840" cy="365760"/>
          </a:xfrm>
          <a:prstGeom prst="rect">
            <a:avLst/>
          </a:prstGeom>
          <a:noFill/>
          <a:ln/>
        </p:spPr>
        <p:txBody>
          <a:bodyPr wrap="square" lIns="0" tIns="0" rIns="0" bIns="0" rtlCol="0" anchor="ctr"/>
          <a:lstStyle/>
          <a:p>
            <a:pPr indent="0" marL="0">
              <a:buNone/>
            </a:pPr>
            <a:r>
              <a:rPr lang="en-US" sz="1700" b="1" dirty="0">
                <a:solidFill>
                  <a:schemeClr val="accent1"/>
                </a:solidFill>
              </a:rPr>
              <a:t>Act</a:t>
            </a:r>
            <a:endParaRPr lang="en-US" sz="1700" dirty="0"/>
          </a:p>
        </p:txBody>
      </p:sp>
      <p:sp>
        <p:nvSpPr>
          <p:cNvPr id="13" name="Text 10"/>
          <p:cNvSpPr txBox="1"/>
          <p:nvPr/>
        </p:nvSpPr>
        <p:spPr>
          <a:xfrm>
            <a:off x="5364480" y="5349240"/>
            <a:ext cx="1767840" cy="731520"/>
          </a:xfrm>
          <a:prstGeom prst="rect">
            <a:avLst/>
          </a:prstGeom>
          <a:noFill/>
          <a:ln/>
        </p:spPr>
        <p:txBody>
          <a:bodyPr wrap="square" lIns="0" tIns="0" rIns="0" bIns="0" rtlCol="0" anchor="t"/>
          <a:lstStyle/>
          <a:p>
            <a:pPr indent="0" marL="0">
              <a:buNone/>
            </a:pPr>
            <a:r>
              <a:rPr lang="en-US" sz="1300" dirty="0">
                <a:solidFill>
                  <a:schemeClr val="tx1"/>
                </a:solidFill>
              </a:rPr>
              <a:t>Adjust the machine, block it or set the product aside.</a:t>
            </a:r>
            <a:endParaRPr lang="en-US" sz="1300" dirty="0"/>
          </a:p>
        </p:txBody>
      </p:sp>
      <p:sp>
        <p:nvSpPr>
          <p:cNvPr id="14" name="Shape 11"/>
          <p:cNvSpPr/>
          <p:nvPr/>
        </p:nvSpPr>
        <p:spPr>
          <a:xfrm>
            <a:off x="7680960" y="1691640"/>
            <a:ext cx="3962095" cy="4434840"/>
          </a:xfrm>
          <a:prstGeom prst="roundRect">
            <a:avLst>
              <a:gd name="adj" fmla="val 2769"/>
            </a:avLst>
          </a:prstGeom>
          <a:solidFill>
            <a:schemeClr val="tx2"/>
          </a:solidFill>
          <a:ln/>
        </p:spPr>
      </p:sp>
      <p:sp>
        <p:nvSpPr>
          <p:cNvPr id="15" name="Text 12"/>
          <p:cNvSpPr txBox="1"/>
          <p:nvPr/>
        </p:nvSpPr>
        <p:spPr>
          <a:xfrm>
            <a:off x="7955280" y="1874520"/>
            <a:ext cx="3413455" cy="411480"/>
          </a:xfrm>
          <a:prstGeom prst="rect">
            <a:avLst/>
          </a:prstGeom>
          <a:noFill/>
          <a:ln/>
        </p:spPr>
        <p:txBody>
          <a:bodyPr wrap="square" lIns="0" tIns="0" rIns="0" bIns="0" rtlCol="0" anchor="ctr"/>
          <a:lstStyle/>
          <a:p>
            <a:pPr indent="0" marL="0">
              <a:buNone/>
            </a:pPr>
            <a:r>
              <a:rPr lang="en-US" sz="1700" b="1" dirty="0">
                <a:solidFill>
                  <a:schemeClr val="accent2"/>
                </a:solidFill>
              </a:rPr>
              <a:t>Real example on the line</a:t>
            </a:r>
            <a:endParaRPr lang="en-US" sz="1700" dirty="0"/>
          </a:p>
        </p:txBody>
      </p:sp>
      <p:sp>
        <p:nvSpPr>
          <p:cNvPr id="16" name="Text 13"/>
          <p:cNvSpPr txBox="1"/>
          <p:nvPr/>
        </p:nvSpPr>
        <p:spPr>
          <a:xfrm>
            <a:off x="7955280" y="2377440"/>
            <a:ext cx="3413455" cy="3566160"/>
          </a:xfrm>
          <a:prstGeom prst="rect">
            <a:avLst/>
          </a:prstGeom>
          <a:noFill/>
          <a:ln/>
        </p:spPr>
        <p:txBody>
          <a:bodyPr wrap="square" lIns="0" tIns="0" rIns="0" bIns="0" rtlCol="0" anchor="t"/>
          <a:lstStyle/>
          <a:p>
            <a:pPr indent="0" marL="0">
              <a:spcAft>
                <a:spcPts val="1000"/>
              </a:spcAft>
              <a:buNone/>
            </a:pPr>
            <a:r>
              <a:rPr lang="en-US" sz="1500" dirty="0">
                <a:solidFill>
                  <a:schemeClr val="bg1"/>
                </a:solidFill>
              </a:rPr>
              <a:t>1. The edge position drifts to the lower limit.</a:t>
            </a:r>
            <a:endParaRPr lang="en-US" sz="1500" dirty="0"/>
          </a:p>
          <a:p>
            <a:pPr indent="0" marL="0">
              <a:spcAft>
                <a:spcPts val="1000"/>
              </a:spcAft>
              <a:buNone/>
            </a:pPr>
            <a:r>
              <a:rPr lang="en-US" sz="1500" dirty="0">
                <a:solidFill>
                  <a:schemeClr val="bg1"/>
                </a:solidFill>
              </a:rPr>
              <a:t>2. Automatic correction (ODM) is activated.</a:t>
            </a:r>
            <a:endParaRPr lang="en-US" sz="1500" dirty="0"/>
          </a:p>
          <a:p>
            <a:pPr indent="0" marL="0">
              <a:spcAft>
                <a:spcPts val="1000"/>
              </a:spcAft>
              <a:buNone/>
            </a:pPr>
            <a:r>
              <a:rPr lang="en-US" sz="1500" dirty="0">
                <a:solidFill>
                  <a:schemeClr val="bg1"/>
                </a:solidFill>
              </a:rPr>
              <a:t>3. The machine adjusts itself, no operator needed.</a:t>
            </a:r>
            <a:endParaRPr lang="en-US" sz="1500" dirty="0"/>
          </a:p>
          <a:p>
            <a:pPr indent="0" marL="0">
              <a:buNone/>
            </a:pPr>
            <a:r>
              <a:rPr lang="en-US" sz="1500" dirty="0">
                <a:solidFill>
                  <a:schemeClr val="bg1"/>
                </a:solidFill>
              </a:rPr>
              <a:t>4. The value returns to its theoretical target.</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Built once, scaled across lines</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The same digital platform now measures the NST1 and NST2 strips on the BNS line</a:t>
            </a:r>
            <a:endParaRPr lang="en-US" sz="1600" dirty="0"/>
          </a:p>
        </p:txBody>
      </p:sp>
      <p:pic>
        <p:nvPicPr>
          <p:cNvPr id="4" name="Image 0" descr="/tmp/claude-0/-home-user-blank-app/7493bec7-5fc4-598a-95c5-e4a4b47f4a0e/scratchpad/img/bns.png">    </p:cNvPr>
          <p:cNvPicPr>
            <a:picLocks noChangeAspect="1"/>
          </p:cNvPicPr>
          <p:nvPr/>
        </p:nvPicPr>
        <p:blipFill>
          <a:blip r:embed="rId1"/>
          <a:stretch>
            <a:fillRect/>
          </a:stretch>
        </p:blipFill>
        <p:spPr>
          <a:xfrm>
            <a:off x="548640" y="2286952"/>
            <a:ext cx="3566160" cy="2924177"/>
          </a:xfrm>
          <a:prstGeom prst="rect">
            <a:avLst/>
          </a:prstGeom>
          <a:effectLst>
            <a:outerShdw sx="100000" sy="100000" kx="0" ky="0" algn="bl" rotWithShape="0" blurRad="101600" dist="38100" dir="5400000">
              <a:srgbClr val="000000">
                <a:alpha val="18000"/>
              </a:srgbClr>
            </a:outerShdw>
          </a:effectLst>
        </p:spPr>
      </p:pic>
      <p:pic>
        <p:nvPicPr>
          <p:cNvPr id="5" name="Image 1" descr="/tmp/claude-0/-home-user-blank-app/7493bec7-5fc4-598a-95c5-e4a4b47f4a0e/scratchpad/img/nst.jpg">    </p:cNvPr>
          <p:cNvPicPr>
            <a:picLocks noChangeAspect="1"/>
          </p:cNvPicPr>
          <p:nvPr/>
        </p:nvPicPr>
        <p:blipFill>
          <a:blip r:embed="rId2"/>
          <a:stretch>
            <a:fillRect/>
          </a:stretch>
        </p:blipFill>
        <p:spPr>
          <a:xfrm>
            <a:off x="4389120" y="2028797"/>
            <a:ext cx="4846320" cy="3440487"/>
          </a:xfrm>
          <a:prstGeom prst="rect">
            <a:avLst/>
          </a:prstGeom>
          <a:effectLst>
            <a:outerShdw sx="100000" sy="100000" kx="0" ky="0" algn="bl" rotWithShape="0" blurRad="101600" dist="38100" dir="5400000">
              <a:srgbClr val="000000">
                <a:alpha val="18000"/>
              </a:srgbClr>
            </a:outerShdw>
          </a:effectLst>
        </p:spPr>
      </p:pic>
      <p:pic>
        <p:nvPicPr>
          <p:cNvPr id="6" name="Image 2" descr="/tmp/claude-0/-home-user-blank-app/7493bec7-5fc4-598a-95c5-e4a4b47f4a0e/scratchpad/img/nst2.jpg">    </p:cNvPr>
          <p:cNvPicPr>
            <a:picLocks noChangeAspect="1"/>
          </p:cNvPicPr>
          <p:nvPr/>
        </p:nvPicPr>
        <p:blipFill>
          <a:blip r:embed="rId3"/>
          <a:stretch>
            <a:fillRect/>
          </a:stretch>
        </p:blipFill>
        <p:spPr>
          <a:xfrm>
            <a:off x="9509760" y="2500667"/>
            <a:ext cx="2133295" cy="2496745"/>
          </a:xfrm>
          <a:prstGeom prst="rect">
            <a:avLst/>
          </a:prstGeom>
          <a:effectLst>
            <a:outerShdw sx="100000" sy="100000" kx="0" ky="0" algn="bl" rotWithShape="0" blurRad="101600" dist="38100" dir="5400000">
              <a:srgbClr val="000000">
                <a:alpha val="18000"/>
              </a:srgbClr>
            </a:outerShdw>
          </a:effectLst>
        </p:spPr>
      </p:pic>
      <p:sp>
        <p:nvSpPr>
          <p:cNvPr id="7" name="Text 2"/>
          <p:cNvSpPr txBox="1"/>
          <p:nvPr/>
        </p:nvSpPr>
        <p:spPr>
          <a:xfrm>
            <a:off x="548640" y="6035040"/>
            <a:ext cx="9144000" cy="274320"/>
          </a:xfrm>
          <a:prstGeom prst="rect">
            <a:avLst/>
          </a:prstGeom>
          <a:noFill/>
          <a:ln/>
        </p:spPr>
        <p:txBody>
          <a:bodyPr wrap="square" lIns="0" tIns="0" rIns="0" bIns="0" rtlCol="0" anchor="ctr"/>
          <a:lstStyle/>
          <a:p>
            <a:pPr indent="0" marL="0">
              <a:buNone/>
            </a:pPr>
            <a:r>
              <a:rPr lang="en-US" sz="1100" i="1" dirty="0">
                <a:solidFill>
                  <a:schemeClr val="accent6"/>
                </a:solidFill>
              </a:rPr>
              <a:t>Gocator 2650 sensor mounting · 3D strip scan · NST1 &amp; NST2 control view</a:t>
            </a:r>
            <a:endParaRPr lang="en-US" sz="11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Full digital traceability</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Every measurement and every alert stored in the PI System and queryable at any time</a:t>
            </a:r>
            <a:endParaRPr lang="en-US" sz="1600" dirty="0"/>
          </a:p>
        </p:txBody>
      </p:sp>
      <p:pic>
        <p:nvPicPr>
          <p:cNvPr id="4" name="Image 0" descr="/tmp/claude-0/-home-user-blank-app/7493bec7-5fc4-598a-95c5-e4a4b47f4a0e/scratchpad/img/pi.png">    </p:cNvPr>
          <p:cNvPicPr>
            <a:picLocks noChangeAspect="1"/>
          </p:cNvPicPr>
          <p:nvPr/>
        </p:nvPicPr>
        <p:blipFill>
          <a:blip r:embed="rId1"/>
          <a:stretch>
            <a:fillRect/>
          </a:stretch>
        </p:blipFill>
        <p:spPr>
          <a:xfrm>
            <a:off x="548640" y="1729537"/>
            <a:ext cx="6949440" cy="3216046"/>
          </a:xfrm>
          <a:prstGeom prst="rect">
            <a:avLst/>
          </a:prstGeom>
          <a:effectLst>
            <a:outerShdw sx="100000" sy="100000" kx="0" ky="0" algn="bl" rotWithShape="0" blurRad="101600" dist="38100" dir="5400000">
              <a:srgbClr val="000000">
                <a:alpha val="18000"/>
              </a:srgbClr>
            </a:outerShdw>
          </a:effectLst>
        </p:spPr>
      </p:pic>
      <p:pic>
        <p:nvPicPr>
          <p:cNvPr id="5" name="Image 1" descr="/tmp/claude-0/-home-user-blank-app/7493bec7-5fc4-598a-95c5-e4a4b47f4a0e/scratchpad/img/log.png">    </p:cNvPr>
          <p:cNvPicPr>
            <a:picLocks noChangeAspect="1"/>
          </p:cNvPicPr>
          <p:nvPr/>
        </p:nvPicPr>
        <p:blipFill>
          <a:blip r:embed="rId2"/>
          <a:stretch>
            <a:fillRect/>
          </a:stretch>
        </p:blipFill>
        <p:spPr>
          <a:xfrm>
            <a:off x="7772400" y="2424505"/>
            <a:ext cx="3870655" cy="1826110"/>
          </a:xfrm>
          <a:prstGeom prst="rect">
            <a:avLst/>
          </a:prstGeom>
          <a:effectLst>
            <a:outerShdw sx="100000" sy="100000" kx="0" ky="0" algn="bl" rotWithShape="0" blurRad="101600" dist="38100" dir="5400000">
              <a:srgbClr val="000000">
                <a:alpha val="18000"/>
              </a:srgbClr>
            </a:outerShdw>
          </a:effectLst>
        </p:spPr>
      </p:pic>
      <p:sp>
        <p:nvSpPr>
          <p:cNvPr id="6" name="Text 2"/>
          <p:cNvSpPr txBox="1"/>
          <p:nvPr/>
        </p:nvSpPr>
        <p:spPr>
          <a:xfrm>
            <a:off x="548640" y="5257800"/>
            <a:ext cx="3515258" cy="365760"/>
          </a:xfrm>
          <a:prstGeom prst="rect">
            <a:avLst/>
          </a:prstGeom>
          <a:noFill/>
          <a:ln/>
        </p:spPr>
        <p:txBody>
          <a:bodyPr wrap="square" lIns="0" tIns="0" rIns="0" bIns="0" rtlCol="0" anchor="ctr"/>
          <a:lstStyle/>
          <a:p>
            <a:pPr indent="0" marL="0">
              <a:buNone/>
            </a:pPr>
            <a:r>
              <a:rPr lang="en-US" sz="1600" b="1" dirty="0">
                <a:solidFill>
                  <a:schemeClr val="tx2"/>
                </a:solidFill>
              </a:rPr>
              <a:t>By machine and product</a:t>
            </a:r>
            <a:endParaRPr lang="en-US" sz="1600" dirty="0"/>
          </a:p>
        </p:txBody>
      </p:sp>
      <p:sp>
        <p:nvSpPr>
          <p:cNvPr id="7" name="Text 3"/>
          <p:cNvSpPr txBox="1"/>
          <p:nvPr/>
        </p:nvSpPr>
        <p:spPr>
          <a:xfrm>
            <a:off x="548640" y="5623560"/>
            <a:ext cx="3515258" cy="548640"/>
          </a:xfrm>
          <a:prstGeom prst="rect">
            <a:avLst/>
          </a:prstGeom>
          <a:noFill/>
          <a:ln/>
        </p:spPr>
        <p:txBody>
          <a:bodyPr wrap="square" lIns="0" tIns="0" rIns="0" bIns="0" rtlCol="0" anchor="t"/>
          <a:lstStyle/>
          <a:p>
            <a:pPr indent="0" marL="0">
              <a:buNone/>
            </a:pPr>
            <a:r>
              <a:rPr lang="en-US" sz="1300" dirty="0">
                <a:solidFill>
                  <a:schemeClr val="tx1"/>
                </a:solidFill>
              </a:rPr>
              <a:t>Measurements for each machine (MAC, BNS) and each reference.</a:t>
            </a:r>
            <a:endParaRPr lang="en-US" sz="1300" dirty="0"/>
          </a:p>
        </p:txBody>
      </p:sp>
      <p:sp>
        <p:nvSpPr>
          <p:cNvPr id="8" name="Text 4"/>
          <p:cNvSpPr txBox="1"/>
          <p:nvPr/>
        </p:nvSpPr>
        <p:spPr>
          <a:xfrm>
            <a:off x="4338218" y="5257800"/>
            <a:ext cx="3515258" cy="365760"/>
          </a:xfrm>
          <a:prstGeom prst="rect">
            <a:avLst/>
          </a:prstGeom>
          <a:noFill/>
          <a:ln/>
        </p:spPr>
        <p:txBody>
          <a:bodyPr wrap="square" lIns="0" tIns="0" rIns="0" bIns="0" rtlCol="0" anchor="ctr"/>
          <a:lstStyle/>
          <a:p>
            <a:pPr indent="0" marL="0">
              <a:buNone/>
            </a:pPr>
            <a:r>
              <a:rPr lang="en-US" sz="1600" b="1" dirty="0">
                <a:solidFill>
                  <a:schemeClr val="tx2"/>
                </a:solidFill>
              </a:rPr>
              <a:t>Alert history</a:t>
            </a:r>
            <a:endParaRPr lang="en-US" sz="1600" dirty="0"/>
          </a:p>
        </p:txBody>
      </p:sp>
      <p:sp>
        <p:nvSpPr>
          <p:cNvPr id="9" name="Text 5"/>
          <p:cNvSpPr txBox="1"/>
          <p:nvPr/>
        </p:nvSpPr>
        <p:spPr>
          <a:xfrm>
            <a:off x="4338218" y="5623560"/>
            <a:ext cx="3515258" cy="548640"/>
          </a:xfrm>
          <a:prstGeom prst="rect">
            <a:avLst/>
          </a:prstGeom>
          <a:noFill/>
          <a:ln/>
        </p:spPr>
        <p:txBody>
          <a:bodyPr wrap="square" lIns="0" tIns="0" rIns="0" bIns="0" rtlCol="0" anchor="t"/>
          <a:lstStyle/>
          <a:p>
            <a:pPr indent="0" marL="0">
              <a:buNone/>
            </a:pPr>
            <a:r>
              <a:rPr lang="en-US" sz="1300" dirty="0">
                <a:solidFill>
                  <a:schemeClr val="tx1"/>
                </a:solidFill>
              </a:rPr>
              <a:t>When it started, when it ended and what was done.</a:t>
            </a:r>
            <a:endParaRPr lang="en-US" sz="1300" dirty="0"/>
          </a:p>
        </p:txBody>
      </p:sp>
      <p:sp>
        <p:nvSpPr>
          <p:cNvPr id="10" name="Text 6"/>
          <p:cNvSpPr txBox="1"/>
          <p:nvPr/>
        </p:nvSpPr>
        <p:spPr>
          <a:xfrm>
            <a:off x="8127797" y="5257800"/>
            <a:ext cx="3515258" cy="365760"/>
          </a:xfrm>
          <a:prstGeom prst="rect">
            <a:avLst/>
          </a:prstGeom>
          <a:noFill/>
          <a:ln/>
        </p:spPr>
        <p:txBody>
          <a:bodyPr wrap="square" lIns="0" tIns="0" rIns="0" bIns="0" rtlCol="0" anchor="ctr"/>
          <a:lstStyle/>
          <a:p>
            <a:pPr indent="0" marL="0">
              <a:buNone/>
            </a:pPr>
            <a:r>
              <a:rPr lang="en-US" sz="1600" b="1" dirty="0">
                <a:solidFill>
                  <a:schemeClr val="tx2"/>
                </a:solidFill>
              </a:rPr>
              <a:t>Ready for audits</a:t>
            </a:r>
            <a:endParaRPr lang="en-US" sz="1600" dirty="0"/>
          </a:p>
        </p:txBody>
      </p:sp>
      <p:sp>
        <p:nvSpPr>
          <p:cNvPr id="11" name="Text 7"/>
          <p:cNvSpPr txBox="1"/>
          <p:nvPr/>
        </p:nvSpPr>
        <p:spPr>
          <a:xfrm>
            <a:off x="8127797" y="5623560"/>
            <a:ext cx="3515258" cy="548640"/>
          </a:xfrm>
          <a:prstGeom prst="rect">
            <a:avLst/>
          </a:prstGeom>
          <a:noFill/>
          <a:ln/>
        </p:spPr>
        <p:txBody>
          <a:bodyPr wrap="square" lIns="0" tIns="0" rIns="0" bIns="0" rtlCol="0" anchor="t"/>
          <a:lstStyle/>
          <a:p>
            <a:pPr indent="0" marL="0">
              <a:buNone/>
            </a:pPr>
            <a:r>
              <a:rPr lang="en-US" sz="1300" dirty="0">
                <a:solidFill>
                  <a:schemeClr val="tx1"/>
                </a:solidFill>
              </a:rPr>
              <a:t>Objective data to analyse any issue together with you.</a:t>
            </a:r>
            <a:endParaRPr lang="en-US" sz="13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Primacy 5 Energy for the new Tucson 2027</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Developed for your vehicle, built inside this digital ecosystem</a:t>
            </a:r>
            <a:endParaRPr lang="en-US" sz="1600" dirty="0"/>
          </a:p>
        </p:txBody>
      </p:sp>
      <p:sp>
        <p:nvSpPr>
          <p:cNvPr id="4" name="Shape 2"/>
          <p:cNvSpPr/>
          <p:nvPr/>
        </p:nvSpPr>
        <p:spPr>
          <a:xfrm>
            <a:off x="548640" y="1691640"/>
            <a:ext cx="5120640" cy="4480560"/>
          </a:xfrm>
          <a:prstGeom prst="roundRect">
            <a:avLst>
              <a:gd name="adj" fmla="val 3061"/>
            </a:avLst>
          </a:prstGeom>
          <a:solidFill>
            <a:schemeClr val="bg2"/>
          </a:solidFill>
          <a:ln/>
        </p:spPr>
      </p:sp>
      <p:pic>
        <p:nvPicPr>
          <p:cNvPr id="5" name="Image 0" descr="/tmp/claude-0/-home-user-blank-app/7493bec7-5fc4-598a-95c5-e4a4b47f4a0e/scratchpad/img/tire.png">    </p:cNvPr>
          <p:cNvPicPr>
            <a:picLocks noChangeAspect="1"/>
          </p:cNvPicPr>
          <p:nvPr/>
        </p:nvPicPr>
        <p:blipFill>
          <a:blip r:embed="rId1"/>
          <a:stretch>
            <a:fillRect/>
          </a:stretch>
        </p:blipFill>
        <p:spPr>
          <a:xfrm>
            <a:off x="1005840" y="1828800"/>
            <a:ext cx="4206240" cy="4206240"/>
          </a:xfrm>
          <a:prstGeom prst="rect">
            <a:avLst/>
          </a:prstGeom>
        </p:spPr>
      </p:pic>
      <p:sp>
        <p:nvSpPr>
          <p:cNvPr id="6" name="Text 3"/>
          <p:cNvSpPr txBox="1"/>
          <p:nvPr/>
        </p:nvSpPr>
        <p:spPr>
          <a:xfrm>
            <a:off x="6217920" y="1783080"/>
            <a:ext cx="539496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MODEL</a:t>
            </a:r>
            <a:endParaRPr lang="en-US" sz="1100" dirty="0"/>
          </a:p>
        </p:txBody>
      </p:sp>
      <p:sp>
        <p:nvSpPr>
          <p:cNvPr id="7" name="Text 4"/>
          <p:cNvSpPr txBox="1"/>
          <p:nvPr/>
        </p:nvSpPr>
        <p:spPr>
          <a:xfrm>
            <a:off x="6217920" y="2039112"/>
            <a:ext cx="5394960" cy="411480"/>
          </a:xfrm>
          <a:prstGeom prst="rect">
            <a:avLst/>
          </a:prstGeom>
          <a:noFill/>
          <a:ln/>
        </p:spPr>
        <p:txBody>
          <a:bodyPr wrap="square" lIns="0" tIns="0" rIns="0" bIns="0" rtlCol="0" anchor="ctr"/>
          <a:lstStyle/>
          <a:p>
            <a:pPr indent="0" marL="0">
              <a:buNone/>
            </a:pPr>
            <a:r>
              <a:rPr lang="en-US" sz="2200" b="1" dirty="0">
                <a:solidFill>
                  <a:schemeClr val="tx2"/>
                </a:solidFill>
              </a:rPr>
              <a:t>Michelin Primacy 5 Energy</a:t>
            </a:r>
            <a:endParaRPr lang="en-US" sz="2200" dirty="0"/>
          </a:p>
        </p:txBody>
      </p:sp>
      <p:sp>
        <p:nvSpPr>
          <p:cNvPr id="8" name="Text 5"/>
          <p:cNvSpPr txBox="1"/>
          <p:nvPr/>
        </p:nvSpPr>
        <p:spPr>
          <a:xfrm>
            <a:off x="6217920" y="2560320"/>
            <a:ext cx="539496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SIZE</a:t>
            </a:r>
            <a:endParaRPr lang="en-US" sz="1100" dirty="0"/>
          </a:p>
        </p:txBody>
      </p:sp>
      <p:sp>
        <p:nvSpPr>
          <p:cNvPr id="9" name="Text 6"/>
          <p:cNvSpPr txBox="1"/>
          <p:nvPr/>
        </p:nvSpPr>
        <p:spPr>
          <a:xfrm>
            <a:off x="6217920" y="2816352"/>
            <a:ext cx="5394960" cy="411480"/>
          </a:xfrm>
          <a:prstGeom prst="rect">
            <a:avLst/>
          </a:prstGeom>
          <a:noFill/>
          <a:ln/>
        </p:spPr>
        <p:txBody>
          <a:bodyPr wrap="square" lIns="0" tIns="0" rIns="0" bIns="0" rtlCol="0" anchor="ctr"/>
          <a:lstStyle/>
          <a:p>
            <a:pPr indent="0" marL="0">
              <a:buNone/>
            </a:pPr>
            <a:r>
              <a:rPr lang="en-US" sz="2200" b="1" dirty="0">
                <a:solidFill>
                  <a:schemeClr val="tx2"/>
                </a:solidFill>
              </a:rPr>
              <a:t>235/45 R20</a:t>
            </a:r>
            <a:endParaRPr lang="en-US" sz="2200" dirty="0"/>
          </a:p>
        </p:txBody>
      </p:sp>
      <p:sp>
        <p:nvSpPr>
          <p:cNvPr id="10" name="Text 7"/>
          <p:cNvSpPr txBox="1"/>
          <p:nvPr/>
        </p:nvSpPr>
        <p:spPr>
          <a:xfrm>
            <a:off x="6217920" y="3337560"/>
            <a:ext cx="539496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VEHICLE</a:t>
            </a:r>
            <a:endParaRPr lang="en-US" sz="1100" dirty="0"/>
          </a:p>
        </p:txBody>
      </p:sp>
      <p:sp>
        <p:nvSpPr>
          <p:cNvPr id="11" name="Text 8"/>
          <p:cNvSpPr txBox="1"/>
          <p:nvPr/>
        </p:nvSpPr>
        <p:spPr>
          <a:xfrm>
            <a:off x="6217920" y="3593592"/>
            <a:ext cx="5394960" cy="411480"/>
          </a:xfrm>
          <a:prstGeom prst="rect">
            <a:avLst/>
          </a:prstGeom>
          <a:noFill/>
          <a:ln/>
        </p:spPr>
        <p:txBody>
          <a:bodyPr wrap="square" lIns="0" tIns="0" rIns="0" bIns="0" rtlCol="0" anchor="ctr"/>
          <a:lstStyle/>
          <a:p>
            <a:pPr indent="0" marL="0">
              <a:buNone/>
            </a:pPr>
            <a:r>
              <a:rPr lang="en-US" sz="2200" b="1" dirty="0">
                <a:solidFill>
                  <a:schemeClr val="tx2"/>
                </a:solidFill>
              </a:rPr>
              <a:t>Hyundai Tucson 2027</a:t>
            </a:r>
            <a:endParaRPr lang="en-US" sz="2200" dirty="0"/>
          </a:p>
        </p:txBody>
      </p:sp>
      <p:sp>
        <p:nvSpPr>
          <p:cNvPr id="12" name="Text 9"/>
          <p:cNvSpPr txBox="1"/>
          <p:nvPr/>
        </p:nvSpPr>
        <p:spPr>
          <a:xfrm>
            <a:off x="6217920" y="4114800"/>
            <a:ext cx="5394960" cy="274320"/>
          </a:xfrm>
          <a:prstGeom prst="rect">
            <a:avLst/>
          </a:prstGeom>
          <a:noFill/>
          <a:ln/>
        </p:spPr>
        <p:txBody>
          <a:bodyPr wrap="square" lIns="0" tIns="0" rIns="0" bIns="0" rtlCol="0" anchor="ctr"/>
          <a:lstStyle/>
          <a:p>
            <a:pPr indent="0" marL="0">
              <a:buNone/>
            </a:pPr>
            <a:r>
              <a:rPr lang="en-US" sz="1100" b="1" spc="200" kern="0" dirty="0">
                <a:solidFill>
                  <a:schemeClr val="accent6"/>
                </a:solidFill>
              </a:rPr>
              <a:t>CODE</a:t>
            </a:r>
            <a:endParaRPr lang="en-US" sz="1100" dirty="0"/>
          </a:p>
        </p:txBody>
      </p:sp>
      <p:sp>
        <p:nvSpPr>
          <p:cNvPr id="13" name="Text 10"/>
          <p:cNvSpPr txBox="1"/>
          <p:nvPr/>
        </p:nvSpPr>
        <p:spPr>
          <a:xfrm>
            <a:off x="6217920" y="4370832"/>
            <a:ext cx="5394960" cy="411480"/>
          </a:xfrm>
          <a:prstGeom prst="rect">
            <a:avLst/>
          </a:prstGeom>
          <a:noFill/>
          <a:ln/>
        </p:spPr>
        <p:txBody>
          <a:bodyPr wrap="square" lIns="0" tIns="0" rIns="0" bIns="0" rtlCol="0" anchor="ctr"/>
          <a:lstStyle/>
          <a:p>
            <a:pPr indent="0" marL="0">
              <a:buNone/>
            </a:pPr>
            <a:r>
              <a:rPr lang="en-US" sz="2200" b="1" dirty="0">
                <a:solidFill>
                  <a:schemeClr val="tx2"/>
                </a:solidFill>
              </a:rPr>
              <a:t>5759 · CAI 514126A</a:t>
            </a:r>
            <a:endParaRPr lang="en-US" sz="2200" dirty="0"/>
          </a:p>
        </p:txBody>
      </p:sp>
      <p:sp>
        <p:nvSpPr>
          <p:cNvPr id="14" name="Shape 11"/>
          <p:cNvSpPr/>
          <p:nvPr/>
        </p:nvSpPr>
        <p:spPr>
          <a:xfrm>
            <a:off x="6217920" y="4983480"/>
            <a:ext cx="5394960" cy="1188720"/>
          </a:xfrm>
          <a:prstGeom prst="roundRect">
            <a:avLst>
              <a:gd name="adj" fmla="val 7692"/>
            </a:avLst>
          </a:prstGeom>
          <a:solidFill>
            <a:schemeClr val="tx2"/>
          </a:solidFill>
          <a:ln/>
        </p:spPr>
      </p:sp>
      <p:sp>
        <p:nvSpPr>
          <p:cNvPr id="15" name="Text 12"/>
          <p:cNvSpPr txBox="1"/>
          <p:nvPr/>
        </p:nvSpPr>
        <p:spPr>
          <a:xfrm>
            <a:off x="6492240" y="4983480"/>
            <a:ext cx="4846320" cy="1188720"/>
          </a:xfrm>
          <a:prstGeom prst="rect">
            <a:avLst/>
          </a:prstGeom>
          <a:noFill/>
          <a:ln/>
        </p:spPr>
        <p:txBody>
          <a:bodyPr wrap="square" lIns="0" tIns="0" rIns="0" bIns="0" rtlCol="0" anchor="ctr"/>
          <a:lstStyle/>
          <a:p>
            <a:pPr indent="0" marL="0">
              <a:buNone/>
            </a:pPr>
            <a:r>
              <a:rPr lang="en-US" sz="1600" dirty="0">
                <a:solidFill>
                  <a:schemeClr val="bg1"/>
                </a:solidFill>
              </a:rPr>
              <a:t>Every unit you receive is measured and controlled to match the tire you homologated.</a:t>
            </a:r>
            <a:endParaRPr lang="en-US" sz="16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9631375"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means for Hyundai</a:t>
            </a:r>
            <a:endParaRPr lang="en-US" sz="3000" dirty="0"/>
          </a:p>
        </p:txBody>
      </p:sp>
      <p:sp>
        <p:nvSpPr>
          <p:cNvPr id="3" name="Text 0"/>
          <p:cNvSpPr/>
          <p:nvPr>
            <p:ph idx="102" type="body" hasCustomPrompt="1"/>
          </p:nvPr>
        </p:nvSpPr>
        <p:spPr>
          <a:xfrm>
            <a:off x="548640" y="987552"/>
            <a:ext cx="9631375" cy="411480"/>
          </a:xfrm>
          <a:prstGeom prst="rect">
            <a:avLst/>
          </a:prstGeom>
          <a:noFill/>
          <a:ln/>
        </p:spPr>
        <p:txBody>
          <a:bodyPr wrap="square" lIns="0" tIns="0" rIns="0" bIns="0" rtlCol="0" anchor="t"/>
          <a:lstStyle/>
          <a:p>
            <a:pPr indent="0" marL="0">
              <a:buNone/>
            </a:pPr>
            <a:r>
              <a:rPr lang="en-US" sz="1600" dirty="0">
                <a:solidFill>
                  <a:schemeClr val="accent1"/>
                </a:solidFill>
              </a:rPr>
              <a:t>Consistent quality, fewer incidents and a partner ready for the future</a:t>
            </a:r>
            <a:endParaRPr lang="en-US" sz="1600" dirty="0"/>
          </a:p>
        </p:txBody>
      </p:sp>
      <p:sp>
        <p:nvSpPr>
          <p:cNvPr id="4" name="Shape 2"/>
          <p:cNvSpPr/>
          <p:nvPr/>
        </p:nvSpPr>
        <p:spPr>
          <a:xfrm>
            <a:off x="548640" y="1691640"/>
            <a:ext cx="5410048" cy="2057400"/>
          </a:xfrm>
          <a:prstGeom prst="roundRect">
            <a:avLst>
              <a:gd name="adj" fmla="val 5333"/>
            </a:avLst>
          </a:prstGeom>
          <a:solidFill>
            <a:schemeClr val="bg2"/>
          </a:solidFill>
          <a:ln/>
        </p:spPr>
      </p:sp>
      <p:sp>
        <p:nvSpPr>
          <p:cNvPr id="5" name="Shape 3"/>
          <p:cNvSpPr/>
          <p:nvPr/>
        </p:nvSpPr>
        <p:spPr>
          <a:xfrm>
            <a:off x="822960" y="1965960"/>
            <a:ext cx="731520" cy="73152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005840" y="2148840"/>
            <a:ext cx="365760" cy="365760"/>
          </a:xfrm>
          <a:prstGeom prst="rect">
            <a:avLst/>
          </a:prstGeom>
        </p:spPr>
      </p:pic>
      <p:sp>
        <p:nvSpPr>
          <p:cNvPr id="7" name="Text 4"/>
          <p:cNvSpPr txBox="1"/>
          <p:nvPr/>
        </p:nvSpPr>
        <p:spPr>
          <a:xfrm>
            <a:off x="1783080" y="1965960"/>
            <a:ext cx="3901288" cy="411480"/>
          </a:xfrm>
          <a:prstGeom prst="rect">
            <a:avLst/>
          </a:prstGeom>
          <a:noFill/>
          <a:ln/>
        </p:spPr>
        <p:txBody>
          <a:bodyPr wrap="square" lIns="0" tIns="0" rIns="0" bIns="0" rtlCol="0" anchor="ctr"/>
          <a:lstStyle/>
          <a:p>
            <a:pPr indent="0" marL="0">
              <a:buNone/>
            </a:pPr>
            <a:r>
              <a:rPr lang="en-US" sz="1900" b="1" dirty="0">
                <a:solidFill>
                  <a:schemeClr val="tx2"/>
                </a:solidFill>
              </a:rPr>
              <a:t>Consistent quality</a:t>
            </a:r>
            <a:endParaRPr lang="en-US" sz="1900" dirty="0"/>
          </a:p>
        </p:txBody>
      </p:sp>
      <p:sp>
        <p:nvSpPr>
          <p:cNvPr id="8" name="Text 5"/>
          <p:cNvSpPr txBox="1"/>
          <p:nvPr/>
        </p:nvSpPr>
        <p:spPr>
          <a:xfrm>
            <a:off x="1783080" y="2423160"/>
            <a:ext cx="3901288" cy="1143000"/>
          </a:xfrm>
          <a:prstGeom prst="rect">
            <a:avLst/>
          </a:prstGeom>
          <a:noFill/>
          <a:ln/>
        </p:spPr>
        <p:txBody>
          <a:bodyPr wrap="square" lIns="0" tIns="0" rIns="0" bIns="0" rtlCol="0" anchor="t"/>
          <a:lstStyle/>
          <a:p>
            <a:pPr indent="0" marL="0">
              <a:buNone/>
            </a:pPr>
            <a:r>
              <a:rPr lang="en-US" sz="1500" dirty="0">
                <a:solidFill>
                  <a:schemeClr val="tx1"/>
                </a:solidFill>
              </a:rPr>
              <a:t>Every Primacy 5 Energy matches the homologated tire: same geometry, same behaviour on the Tucson.</a:t>
            </a:r>
            <a:endParaRPr lang="en-US" sz="1500" dirty="0"/>
          </a:p>
        </p:txBody>
      </p:sp>
      <p:sp>
        <p:nvSpPr>
          <p:cNvPr id="9" name="Shape 6"/>
          <p:cNvSpPr/>
          <p:nvPr/>
        </p:nvSpPr>
        <p:spPr>
          <a:xfrm>
            <a:off x="6233008" y="1691640"/>
            <a:ext cx="5410048" cy="2057400"/>
          </a:xfrm>
          <a:prstGeom prst="roundRect">
            <a:avLst>
              <a:gd name="adj" fmla="val 5333"/>
            </a:avLst>
          </a:prstGeom>
          <a:solidFill>
            <a:schemeClr val="bg2"/>
          </a:solidFill>
          <a:ln/>
        </p:spPr>
      </p:sp>
      <p:sp>
        <p:nvSpPr>
          <p:cNvPr id="10" name="Shape 7"/>
          <p:cNvSpPr/>
          <p:nvPr/>
        </p:nvSpPr>
        <p:spPr>
          <a:xfrm>
            <a:off x="6507328" y="1965960"/>
            <a:ext cx="731520" cy="73152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6690208" y="2148840"/>
            <a:ext cx="365760" cy="365760"/>
          </a:xfrm>
          <a:prstGeom prst="rect">
            <a:avLst/>
          </a:prstGeom>
        </p:spPr>
      </p:pic>
      <p:sp>
        <p:nvSpPr>
          <p:cNvPr id="12" name="Text 8"/>
          <p:cNvSpPr txBox="1"/>
          <p:nvPr/>
        </p:nvSpPr>
        <p:spPr>
          <a:xfrm>
            <a:off x="7467448" y="1965960"/>
            <a:ext cx="3901288" cy="411480"/>
          </a:xfrm>
          <a:prstGeom prst="rect">
            <a:avLst/>
          </a:prstGeom>
          <a:noFill/>
          <a:ln/>
        </p:spPr>
        <p:txBody>
          <a:bodyPr wrap="square" lIns="0" tIns="0" rIns="0" bIns="0" rtlCol="0" anchor="ctr"/>
          <a:lstStyle/>
          <a:p>
            <a:pPr indent="0" marL="0">
              <a:buNone/>
            </a:pPr>
            <a:r>
              <a:rPr lang="en-US" sz="1900" b="1" dirty="0">
                <a:solidFill>
                  <a:schemeClr val="tx2"/>
                </a:solidFill>
              </a:rPr>
              <a:t>Fewer incidents in your plant</a:t>
            </a:r>
            <a:endParaRPr lang="en-US" sz="1900" dirty="0"/>
          </a:p>
        </p:txBody>
      </p:sp>
      <p:sp>
        <p:nvSpPr>
          <p:cNvPr id="13" name="Text 9"/>
          <p:cNvSpPr txBox="1"/>
          <p:nvPr/>
        </p:nvSpPr>
        <p:spPr>
          <a:xfrm>
            <a:off x="7467448" y="2423160"/>
            <a:ext cx="3901288" cy="1143000"/>
          </a:xfrm>
          <a:prstGeom prst="rect">
            <a:avLst/>
          </a:prstGeom>
          <a:noFill/>
          <a:ln/>
        </p:spPr>
        <p:txBody>
          <a:bodyPr wrap="square" lIns="0" tIns="0" rIns="0" bIns="0" rtlCol="0" anchor="t"/>
          <a:lstStyle/>
          <a:p>
            <a:pPr indent="0" marL="0">
              <a:buNone/>
            </a:pPr>
            <a:r>
              <a:rPr lang="en-US" sz="1500" dirty="0">
                <a:solidFill>
                  <a:schemeClr val="tx1"/>
                </a:solidFill>
              </a:rPr>
              <a:t>Defects are stopped at our machine, not on your assembly line or with the end customer.</a:t>
            </a:r>
            <a:endParaRPr lang="en-US" sz="1500" dirty="0"/>
          </a:p>
        </p:txBody>
      </p:sp>
      <p:sp>
        <p:nvSpPr>
          <p:cNvPr id="14" name="Shape 10"/>
          <p:cNvSpPr/>
          <p:nvPr/>
        </p:nvSpPr>
        <p:spPr>
          <a:xfrm>
            <a:off x="548640" y="4023360"/>
            <a:ext cx="5410048" cy="2057400"/>
          </a:xfrm>
          <a:prstGeom prst="roundRect">
            <a:avLst>
              <a:gd name="adj" fmla="val 5333"/>
            </a:avLst>
          </a:prstGeom>
          <a:solidFill>
            <a:schemeClr val="bg2"/>
          </a:solidFill>
          <a:ln/>
        </p:spPr>
      </p:sp>
      <p:sp>
        <p:nvSpPr>
          <p:cNvPr id="15" name="Shape 11"/>
          <p:cNvSpPr/>
          <p:nvPr/>
        </p:nvSpPr>
        <p:spPr>
          <a:xfrm>
            <a:off x="822960" y="4297680"/>
            <a:ext cx="731520" cy="731520"/>
          </a:xfrm>
          <a:prstGeom prst="ellipse">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1005840" y="4480560"/>
            <a:ext cx="365760" cy="365760"/>
          </a:xfrm>
          <a:prstGeom prst="rect">
            <a:avLst/>
          </a:prstGeom>
        </p:spPr>
      </p:pic>
      <p:sp>
        <p:nvSpPr>
          <p:cNvPr id="17" name="Text 12"/>
          <p:cNvSpPr txBox="1"/>
          <p:nvPr/>
        </p:nvSpPr>
        <p:spPr>
          <a:xfrm>
            <a:off x="1783080" y="4297680"/>
            <a:ext cx="3901288" cy="411480"/>
          </a:xfrm>
          <a:prstGeom prst="rect">
            <a:avLst/>
          </a:prstGeom>
          <a:noFill/>
          <a:ln/>
        </p:spPr>
        <p:txBody>
          <a:bodyPr wrap="square" lIns="0" tIns="0" rIns="0" bIns="0" rtlCol="0" anchor="ctr"/>
          <a:lstStyle/>
          <a:p>
            <a:pPr indent="0" marL="0">
              <a:buNone/>
            </a:pPr>
            <a:r>
              <a:rPr lang="en-US" sz="1900" b="1" dirty="0">
                <a:solidFill>
                  <a:schemeClr val="tx2"/>
                </a:solidFill>
              </a:rPr>
              <a:t>Data transparency</a:t>
            </a:r>
            <a:endParaRPr lang="en-US" sz="1900" dirty="0"/>
          </a:p>
        </p:txBody>
      </p:sp>
      <p:sp>
        <p:nvSpPr>
          <p:cNvPr id="18" name="Text 13"/>
          <p:cNvSpPr txBox="1"/>
          <p:nvPr/>
        </p:nvSpPr>
        <p:spPr>
          <a:xfrm>
            <a:off x="1783080" y="4754880"/>
            <a:ext cx="3901288" cy="1143000"/>
          </a:xfrm>
          <a:prstGeom prst="rect">
            <a:avLst/>
          </a:prstGeom>
          <a:noFill/>
          <a:ln/>
        </p:spPr>
        <p:txBody>
          <a:bodyPr wrap="square" lIns="0" tIns="0" rIns="0" bIns="0" rtlCol="0" anchor="t"/>
          <a:lstStyle/>
          <a:p>
            <a:pPr indent="0" marL="0">
              <a:buNone/>
            </a:pPr>
            <a:r>
              <a:rPr lang="en-US" sz="1500" dirty="0">
                <a:solidFill>
                  <a:schemeClr val="tx1"/>
                </a:solidFill>
              </a:rPr>
              <a:t>Traceable measurements and alerts, ready to review together and share as quality KPIs.</a:t>
            </a:r>
            <a:endParaRPr lang="en-US" sz="1500" dirty="0"/>
          </a:p>
        </p:txBody>
      </p:sp>
      <p:sp>
        <p:nvSpPr>
          <p:cNvPr id="19" name="Shape 14"/>
          <p:cNvSpPr/>
          <p:nvPr/>
        </p:nvSpPr>
        <p:spPr>
          <a:xfrm>
            <a:off x="6233008" y="4023360"/>
            <a:ext cx="5410048" cy="2057400"/>
          </a:xfrm>
          <a:prstGeom prst="roundRect">
            <a:avLst>
              <a:gd name="adj" fmla="val 5333"/>
            </a:avLst>
          </a:prstGeom>
          <a:solidFill>
            <a:schemeClr val="bg2"/>
          </a:solidFill>
          <a:ln/>
        </p:spPr>
      </p:sp>
      <p:sp>
        <p:nvSpPr>
          <p:cNvPr id="20" name="Shape 15"/>
          <p:cNvSpPr/>
          <p:nvPr/>
        </p:nvSpPr>
        <p:spPr>
          <a:xfrm>
            <a:off x="6507328" y="4297680"/>
            <a:ext cx="731520" cy="731520"/>
          </a:xfrm>
          <a:prstGeom prst="ellipse">
            <a:avLst/>
          </a:prstGeom>
          <a:solidFill>
            <a:schemeClr val="accent1"/>
          </a:solidFill>
          <a:ln/>
        </p:spPr>
      </p:sp>
      <p:pic>
        <p:nvPicPr>
          <p:cNvPr id="21" name="Image 3" descr="preencoded.png">    </p:cNvPr>
          <p:cNvPicPr>
            <a:picLocks noChangeAspect="1"/>
          </p:cNvPicPr>
          <p:nvPr/>
        </p:nvPicPr>
        <p:blipFill>
          <a:blip r:embed="rId4"/>
          <a:stretch>
            <a:fillRect/>
          </a:stretch>
        </p:blipFill>
        <p:spPr>
          <a:xfrm>
            <a:off x="6690208" y="4480560"/>
            <a:ext cx="365760" cy="365760"/>
          </a:xfrm>
          <a:prstGeom prst="rect">
            <a:avLst/>
          </a:prstGeom>
        </p:spPr>
      </p:pic>
      <p:sp>
        <p:nvSpPr>
          <p:cNvPr id="22" name="Text 16"/>
          <p:cNvSpPr txBox="1"/>
          <p:nvPr/>
        </p:nvSpPr>
        <p:spPr>
          <a:xfrm>
            <a:off x="7467448" y="4297680"/>
            <a:ext cx="3901288" cy="411480"/>
          </a:xfrm>
          <a:prstGeom prst="rect">
            <a:avLst/>
          </a:prstGeom>
          <a:noFill/>
          <a:ln/>
        </p:spPr>
        <p:txBody>
          <a:bodyPr wrap="square" lIns="0" tIns="0" rIns="0" bIns="0" rtlCol="0" anchor="ctr"/>
          <a:lstStyle/>
          <a:p>
            <a:pPr indent="0" marL="0">
              <a:buNone/>
            </a:pPr>
            <a:r>
              <a:rPr lang="en-US" sz="1900" b="1" dirty="0">
                <a:solidFill>
                  <a:schemeClr val="tx2"/>
                </a:solidFill>
              </a:rPr>
              <a:t>Ready for what comes next</a:t>
            </a:r>
            <a:endParaRPr lang="en-US" sz="1900" dirty="0"/>
          </a:p>
        </p:txBody>
      </p:sp>
      <p:sp>
        <p:nvSpPr>
          <p:cNvPr id="23" name="Text 17"/>
          <p:cNvSpPr txBox="1"/>
          <p:nvPr/>
        </p:nvSpPr>
        <p:spPr>
          <a:xfrm>
            <a:off x="7467448" y="4754880"/>
            <a:ext cx="3901288" cy="1143000"/>
          </a:xfrm>
          <a:prstGeom prst="rect">
            <a:avLst/>
          </a:prstGeom>
          <a:noFill/>
          <a:ln/>
        </p:spPr>
        <p:txBody>
          <a:bodyPr wrap="square" lIns="0" tIns="0" rIns="0" bIns="0" rtlCol="0" anchor="t"/>
          <a:lstStyle/>
          <a:p>
            <a:pPr indent="0" marL="0">
              <a:buNone/>
            </a:pPr>
            <a:r>
              <a:rPr lang="en-US" sz="1500" dirty="0">
                <a:solidFill>
                  <a:schemeClr val="tx1"/>
                </a:solidFill>
              </a:rPr>
              <a:t>The same real-time data culture that drives our joint R&amp;D on EVs and tire monitoring.</a:t>
            </a:r>
            <a:endParaRPr lang="en-US" sz="1500" dirty="0"/>
          </a:p>
        </p:txBody>
      </p:sp>
      <p:sp>
        <p:nvSpPr>
          <p:cNvPr id="25" name="Slide Number Placeholder 0"/>
          <p:cNvSpPr>
            <a:spLocks noGrp="1"/>
          </p:cNvSpPr>
          <p:nvPr>
            <p:ph type="sldNum" sz="quarter" idx="4294967295"/>
          </p:nvPr>
        </p:nvSpPr>
        <p:spPr>
          <a:xfrm>
            <a:off x="11094415" y="6473952"/>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chemeClr val="tx2"/>
        </a:solidFill>
      </p:bgPr>
    </p:bg>
    <p:spTree>
      <p:nvGrpSpPr>
        <p:cNvPr id="1" name=""/>
        <p:cNvGrpSpPr/>
        <p:nvPr/>
      </p:nvGrpSpPr>
      <p:grpSpPr>
        <a:xfrm>
          <a:off x="0" y="0"/>
          <a:ext cx="0" cy="0"/>
          <a:chOff x="0" y="0"/>
          <a:chExt cx="0" cy="0"/>
        </a:xfrm>
      </p:grpSpPr>
      <p:pic>
        <p:nvPicPr>
          <p:cNvPr id="2" name="Image 0" descr="/tmp/claude-0/-home-user-blank-app/7493bec7-5fc4-598a-95c5-e4a4b47f4a0e/scratchpad/img/bib.png">    </p:cNvPr>
          <p:cNvPicPr>
            <a:picLocks noChangeAspect="1"/>
          </p:cNvPicPr>
          <p:nvPr/>
        </p:nvPicPr>
        <p:blipFill>
          <a:blip r:embed="rId1"/>
          <a:stretch>
            <a:fillRect/>
          </a:stretch>
        </p:blipFill>
        <p:spPr>
          <a:xfrm>
            <a:off x="8503920" y="1024003"/>
            <a:ext cx="2926080" cy="4809995"/>
          </a:xfrm>
          <a:prstGeom prst="rect">
            <a:avLst/>
          </a:prstGeom>
        </p:spPr>
      </p:pic>
      <p:sp>
        <p:nvSpPr>
          <p:cNvPr id="3" name="Text 0"/>
          <p:cNvSpPr txBox="1"/>
          <p:nvPr/>
        </p:nvSpPr>
        <p:spPr>
          <a:xfrm>
            <a:off x="548640" y="822960"/>
            <a:ext cx="7315200" cy="457200"/>
          </a:xfrm>
          <a:prstGeom prst="rect">
            <a:avLst/>
          </a:prstGeom>
          <a:noFill/>
          <a:ln/>
        </p:spPr>
        <p:txBody>
          <a:bodyPr wrap="square" lIns="0" tIns="0" rIns="0" bIns="0" rtlCol="0" anchor="ctr"/>
          <a:lstStyle/>
          <a:p>
            <a:pPr indent="0" marL="0">
              <a:buNone/>
            </a:pPr>
            <a:r>
              <a:rPr lang="en-US" sz="1800" b="1" dirty="0">
                <a:solidFill>
                  <a:schemeClr val="accent2"/>
                </a:solidFill>
              </a:rPr>
              <a:t>Next steps</a:t>
            </a:r>
            <a:endParaRPr lang="en-US" sz="1800" dirty="0"/>
          </a:p>
        </p:txBody>
      </p:sp>
      <p:sp>
        <p:nvSpPr>
          <p:cNvPr id="4" name="Text 1"/>
          <p:cNvSpPr txBox="1"/>
          <p:nvPr/>
        </p:nvSpPr>
        <p:spPr>
          <a:xfrm>
            <a:off x="548640" y="1280160"/>
            <a:ext cx="7680960" cy="822960"/>
          </a:xfrm>
          <a:prstGeom prst="rect">
            <a:avLst/>
          </a:prstGeom>
          <a:noFill/>
          <a:ln/>
        </p:spPr>
        <p:txBody>
          <a:bodyPr wrap="square" lIns="0" tIns="0" rIns="0" bIns="0" rtlCol="0" anchor="ctr"/>
          <a:lstStyle/>
          <a:p>
            <a:pPr indent="0" marL="0">
              <a:buNone/>
            </a:pPr>
            <a:r>
              <a:rPr lang="en-US" sz="3600" b="1" dirty="0">
                <a:solidFill>
                  <a:schemeClr val="bg1"/>
                </a:solidFill>
              </a:rPr>
              <a:t>See our digital factory in action</a:t>
            </a:r>
            <a:endParaRPr lang="en-US" sz="3600" dirty="0"/>
          </a:p>
        </p:txBody>
      </p:sp>
      <p:sp>
        <p:nvSpPr>
          <p:cNvPr id="5" name="Shape 2"/>
          <p:cNvSpPr/>
          <p:nvPr/>
        </p:nvSpPr>
        <p:spPr>
          <a:xfrm>
            <a:off x="548640" y="2514600"/>
            <a:ext cx="640080" cy="640080"/>
          </a:xfrm>
          <a:prstGeom prst="ellipse">
            <a:avLst/>
          </a:prstGeom>
          <a:solidFill>
            <a:schemeClr val="accent2"/>
          </a:solidFill>
          <a:ln/>
        </p:spPr>
      </p:sp>
      <p:sp>
        <p:nvSpPr>
          <p:cNvPr id="6" name="Text 3"/>
          <p:cNvSpPr txBox="1"/>
          <p:nvPr/>
        </p:nvSpPr>
        <p:spPr>
          <a:xfrm>
            <a:off x="548640" y="251460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1</a:t>
            </a:r>
            <a:endParaRPr lang="en-US" sz="2000" dirty="0"/>
          </a:p>
        </p:txBody>
      </p:sp>
      <p:sp>
        <p:nvSpPr>
          <p:cNvPr id="7" name="Text 4"/>
          <p:cNvSpPr txBox="1"/>
          <p:nvPr/>
        </p:nvSpPr>
        <p:spPr>
          <a:xfrm>
            <a:off x="1463040" y="2514600"/>
            <a:ext cx="6766560" cy="640080"/>
          </a:xfrm>
          <a:prstGeom prst="rect">
            <a:avLst/>
          </a:prstGeom>
          <a:noFill/>
          <a:ln/>
        </p:spPr>
        <p:txBody>
          <a:bodyPr wrap="square" lIns="0" tIns="0" rIns="0" bIns="0" rtlCol="0" anchor="ctr"/>
          <a:lstStyle/>
          <a:p>
            <a:pPr indent="0" marL="0">
              <a:buNone/>
            </a:pPr>
            <a:r>
              <a:rPr lang="en-US" sz="1700" dirty="0">
                <a:solidFill>
                  <a:schemeClr val="bg1"/>
                </a:solidFill>
              </a:rPr>
              <a:t>Plant visit: MAC and BNS lines with OLM running live.</a:t>
            </a:r>
            <a:endParaRPr lang="en-US" sz="1700" dirty="0"/>
          </a:p>
        </p:txBody>
      </p:sp>
      <p:sp>
        <p:nvSpPr>
          <p:cNvPr id="8" name="Shape 5"/>
          <p:cNvSpPr/>
          <p:nvPr/>
        </p:nvSpPr>
        <p:spPr>
          <a:xfrm>
            <a:off x="548640" y="3474720"/>
            <a:ext cx="640080" cy="640080"/>
          </a:xfrm>
          <a:prstGeom prst="ellipse">
            <a:avLst/>
          </a:prstGeom>
          <a:solidFill>
            <a:schemeClr val="accent2"/>
          </a:solidFill>
          <a:ln/>
        </p:spPr>
      </p:sp>
      <p:sp>
        <p:nvSpPr>
          <p:cNvPr id="9" name="Text 6"/>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2</a:t>
            </a:r>
            <a:endParaRPr lang="en-US" sz="2000" dirty="0"/>
          </a:p>
        </p:txBody>
      </p:sp>
      <p:sp>
        <p:nvSpPr>
          <p:cNvPr id="10" name="Text 7"/>
          <p:cNvSpPr txBox="1"/>
          <p:nvPr/>
        </p:nvSpPr>
        <p:spPr>
          <a:xfrm>
            <a:off x="1463040" y="3474720"/>
            <a:ext cx="6766560" cy="640080"/>
          </a:xfrm>
          <a:prstGeom prst="rect">
            <a:avLst/>
          </a:prstGeom>
          <a:noFill/>
          <a:ln/>
        </p:spPr>
        <p:txBody>
          <a:bodyPr wrap="square" lIns="0" tIns="0" rIns="0" bIns="0" rtlCol="0" anchor="ctr"/>
          <a:lstStyle/>
          <a:p>
            <a:pPr indent="0" marL="0">
              <a:buNone/>
            </a:pPr>
            <a:r>
              <a:rPr lang="en-US" sz="1700" dirty="0">
                <a:solidFill>
                  <a:schemeClr val="bg1"/>
                </a:solidFill>
              </a:rPr>
              <a:t>Workshop with your quality team to define shared digital quality KPIs.</a:t>
            </a:r>
            <a:endParaRPr lang="en-US" sz="1700" dirty="0"/>
          </a:p>
        </p:txBody>
      </p:sp>
      <p:sp>
        <p:nvSpPr>
          <p:cNvPr id="11" name="Shape 8"/>
          <p:cNvSpPr/>
          <p:nvPr/>
        </p:nvSpPr>
        <p:spPr>
          <a:xfrm>
            <a:off x="548640" y="4434840"/>
            <a:ext cx="640080" cy="640080"/>
          </a:xfrm>
          <a:prstGeom prst="ellipse">
            <a:avLst/>
          </a:prstGeom>
          <a:solidFill>
            <a:schemeClr val="accent2"/>
          </a:solidFill>
          <a:ln/>
        </p:spPr>
      </p:sp>
      <p:sp>
        <p:nvSpPr>
          <p:cNvPr id="12" name="Text 9"/>
          <p:cNvSpPr txBox="1"/>
          <p:nvPr/>
        </p:nvSpPr>
        <p:spPr>
          <a:xfrm>
            <a:off x="54864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3" name="Text 10"/>
          <p:cNvSpPr txBox="1"/>
          <p:nvPr/>
        </p:nvSpPr>
        <p:spPr>
          <a:xfrm>
            <a:off x="1463040" y="4434840"/>
            <a:ext cx="6766560" cy="640080"/>
          </a:xfrm>
          <a:prstGeom prst="rect">
            <a:avLst/>
          </a:prstGeom>
          <a:noFill/>
          <a:ln/>
        </p:spPr>
        <p:txBody>
          <a:bodyPr wrap="square" lIns="0" tIns="0" rIns="0" bIns="0" rtlCol="0" anchor="ctr"/>
          <a:lstStyle/>
          <a:p>
            <a:pPr indent="0" marL="0">
              <a:buNone/>
            </a:pPr>
            <a:r>
              <a:rPr lang="en-US" sz="1700" dirty="0">
                <a:solidFill>
                  <a:schemeClr val="bg1"/>
                </a:solidFill>
              </a:rPr>
              <a:t>Joint monitoring of the Primacy 5 Energy during the Tucson 2027 launch.</a:t>
            </a:r>
            <a:endParaRPr lang="en-US" sz="1700" dirty="0"/>
          </a:p>
        </p:txBody>
      </p:sp>
      <p:sp>
        <p:nvSpPr>
          <p:cNvPr id="14" name="Text 11"/>
          <p:cNvSpPr txBox="1"/>
          <p:nvPr/>
        </p:nvSpPr>
        <p:spPr>
          <a:xfrm>
            <a:off x="548640" y="5715000"/>
            <a:ext cx="5486400" cy="457200"/>
          </a:xfrm>
          <a:prstGeom prst="rect">
            <a:avLst/>
          </a:prstGeom>
          <a:noFill/>
          <a:ln/>
        </p:spPr>
        <p:txBody>
          <a:bodyPr wrap="square" lIns="0" tIns="0" rIns="0" bIns="0" rtlCol="0" anchor="ctr"/>
          <a:lstStyle/>
          <a:p>
            <a:pPr indent="0" marL="0">
              <a:buNone/>
            </a:pPr>
            <a:r>
              <a:rPr lang="en-US" sz="2200" b="1" i="1" spc="200" kern="0" dirty="0">
                <a:solidFill>
                  <a:schemeClr val="bg1"/>
                </a:solidFill>
              </a:rPr>
              <a:t>MOTION FOR LIFE</a:t>
            </a:r>
            <a:endParaRPr lang="en-US" sz="2200" dirty="0"/>
          </a:p>
        </p:txBody>
      </p:sp>
    </p:spTree>
  </p:cSld>
  <p:clrMapOvr>
    <a:masterClrMapping/>
  </p:clrMapOvr>
</p:sld>
</file>

<file path=ppt/theme/theme1.xml><?xml version="1.0" encoding="utf-8"?>
<a:theme xmlns:a="http://schemas.openxmlformats.org/drawingml/2006/main" name="Michelin Hyundai">
  <a:themeElements>
    <a:clrScheme name="Michelin Hyundai">
      <a:dk1>
        <a:srgbClr val="1C2333"/>
      </a:dk1>
      <a:lt1>
        <a:srgbClr val="FFFFFF"/>
      </a:lt1>
      <a:dk2>
        <a:srgbClr val="0B1F4B"/>
      </a:dk2>
      <a:lt2>
        <a:srgbClr val="EEF2F8"/>
      </a:lt2>
      <a:accent1>
        <a:srgbClr val="27509B"/>
      </a:accent1>
      <a:accent2>
        <a:srgbClr val="FCE500"/>
      </a:accent2>
      <a:accent3>
        <a:srgbClr val="1E9E5A"/>
      </a:accent3>
      <a:accent4>
        <a:srgbClr val="D6402B"/>
      </a:accent4>
      <a:accent5>
        <a:srgbClr val="7FA3D9"/>
      </a:accent5>
      <a:accent6>
        <a:srgbClr val="5B6475"/>
      </a:accent6>
      <a:hlink>
        <a:srgbClr val="27509B"/>
      </a:hlink>
      <a:folHlink>
        <a:srgbClr val="5B3E96"/>
      </a:folHlink>
    </a:clrScheme>
    <a:fontScheme name="Michelin Hyunda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from data to the perfect tire</dc:title>
  <dc:subject>PptxGenJS Presentation</dc:subject>
  <dc:creator>Michelin</dc:creator>
  <cp:lastModifiedBy>Michelin</cp:lastModifiedBy>
  <cp:revision>1</cp:revision>
  <dcterms:created xsi:type="dcterms:W3CDTF">2026-10-20T21:02:24Z</dcterms:created>
  <dcterms:modified xsi:type="dcterms:W3CDTF">2026-10-20T21:02:24Z</dcterms:modified>
</cp:coreProperties>
</file>