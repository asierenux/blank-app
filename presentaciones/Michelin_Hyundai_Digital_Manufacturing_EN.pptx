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3ad636a-8168-bd17-2a85-c754770f450c}">
          <p14:sldIdLst>
            <p14:sldId id="256"/>
            <p14:sldId id="257"/>
            <p14:sldId id="258"/>
          </p14:sldIdLst>
        </p14:section>
        <p14:section name="Our digital transformation" id="{8ee4154a-9eb4-4dc4-6d35-255cebd16d6f}">
          <p14:sldIdLst>
            <p14:sldId id="259"/>
            <p14:sldId id="260"/>
            <p14:sldId id="261"/>
          </p14:sldIdLst>
        </p14:section>
        <p14:section name="Inside the process" id="{9810b768-5907-280a-5434-01270612e646}">
          <p14:sldIdLst>
            <p14:sldId id="262"/>
            <p14:sldId id="263"/>
            <p14:sldId id="264"/>
            <p14:sldId id="265"/>
            <p14:sldId id="266"/>
            <p14:sldId id="267"/>
            <p14:sldId id="268"/>
          </p14:sldIdLst>
        </p14:section>
        <p14:section name="Value for Hyundai" id="{86c922ce-3bab-8dac-ebdf-d478fc4181b6}">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message: Hyundai is not only buying a tire, it is buying a digitally controlled manufacturing process. Today we show how data, analytics and automation make every tire measured, monitored and corrected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one slide, it is this one. The three steps are the backbone of the whole presentation: digitise, analyse,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sources: 2017 agreement (IONIQ 5), June 2022 MoU (premium EVs, real-time tire monitoring) and a third three-year agreement announced by Hyundai Motor Group / Kia. Confirm the signing date of the third agreement before the meeting. Key link: the real-time monitoring we co-develop for your vehicles is the same philosophy we apply inside our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OLM system we show today sits on steps 3 and 4: real-time analytics and closed-loop control. Michelin's Digital Manufacturing programme has used the PI System since 2017 and is now moving into a second phase based on advanced analytics. The next step is predictive quality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slide: this is not an isolated project but part of Michelin's group-wide digital transformation. The €60M and robot figures are self-reported by Michelin in 2023 press coverage; quote them as such. Update with internal figures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capture, edge computing, the PI data platform, analytics, decision and action. The architecture image is the MAC5 network: 8 stations, 16 sensors, 1 PLC, 4 PCs.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Gocator 2400 series specs from the original technical deck: scan rate up to 5 kHz, repeatability in microns depending on model. Images from the MAC stations: P5 (RFI, GI), P10 (BT) and P15 (BJ). A first demonstrator already flagged incorrectly applied (poorly stitched)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rolling median filters noise and shows the trend, so we act on a drift before any tire is out of tolerance. This is statistical process control running live, not in a weekly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full cycle: the median enters alert, the owner is notified, action is taken, and the median exits the alert. Everything is stored in the alert history. Alerts reach mobile phones (Android, iPhone) and are routed to the right team, e.g. process (CARE) or maintenance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slide for a carmaker: the system does not just warn, it acts. Example from the BJ regulation screen: the edge gauge (trusquin) reaches the lower limit, the ODM correction activates and the value returns to target. If correction is impossible, the rule blocks the machine or segregates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result from the demonstrator (BNS line): the 3D scan of the splice (soldadura) shows a step in the cross-section when the product is poorly stitched (mal plaqué). The system raised the alert; after correction the profile is smooth. This is the concrete proof that the data catches defects the eye does 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message: sensors, data platform, dashboards and rules are standard building blocks, so each new line is faster to digitise. BNS uses a Gocator 2650 class 3R laser profiler, installed at 1,244 mm from the product, beyond the 1,180 mm nominal ocular hazard distance (NOHD): safe for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carmaker, traceability is critical: if a question ever arises on a batch, we have the measurement data from its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product: Hyundai homologates one tire; our digital process makes sure the thousands they receive are identical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technology into buyer and quality benefits. Stress the link with our joint R&amp;D: real-time monitoring is exactly what we develop together for your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ask. Adjust the next steps to the real goal of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tmp/claude-0/-home-user-blank-app/7493bec7-5fc4-598a-95c5-e4a4b47f4a0e/scratchpad/img/logo.png">    </p:cNvPr>
          <p:cNvPicPr>
            <a:picLocks noChangeAspect="1"/>
          </p:cNvPicPr>
          <p:nvPr/>
        </p:nvPicPr>
        <p:blipFill>
          <a:blip r:embed="rId1"/>
          <a:stretch>
            <a:fillRect/>
          </a:stretch>
        </p:blipFill>
        <p:spPr>
          <a:xfrm>
            <a:off x="10500055" y="384048"/>
            <a:ext cx="1143000" cy="500534"/>
          </a:xfrm>
          <a:prstGeom prst="rect">
            <a:avLst/>
          </a:prstGeom>
        </p:spPr>
      </p:pic>
      <p:sp>
        <p:nvSpPr>
          <p:cNvPr id="3" name="Text 0"/>
          <p:cNvSpPr/>
          <p:nvPr>
            <p:ph idx="101" type="title" hasCustomPrompt="1"/>
          </p:nvPr>
        </p:nvSpPr>
        <p:spPr>
          <a:xfrm>
            <a:off x="548640" y="320040"/>
            <a:ext cx="963137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ph idx="102" type="body" hasCustomPrompt="1"/>
          </p:nvPr>
        </p:nvSpPr>
        <p:spPr>
          <a:xfrm>
            <a:off x="548640" y="987552"/>
            <a:ext cx="9631375" cy="41148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
        <p:nvSpPr>
          <p:cNvPr id="5" name="Text 0"/>
          <p:cNvSpPr/>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chemeClr val="accent6"/>
                </a:solidFill>
              </a:rPr>
              <a:t>Michelin · Hyundai Motor Group</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548640" y="987552"/>
            <a:ext cx="11094415" cy="411480"/>
          </a:xfrm>
          <a:prstGeom prst="rect">
            <a:avLst/>
          </a:prstGeom>
          <a:noFill/>
          <a:ln/>
        </p:spPr>
        <p:txBody>
          <a:bodyPr wrap="square" rtlCol="0"/>
          <a:lstStyle>
            <a:lvl1pPr indent="0" marL="0">
              <a:buNone/>
              <a:defRPr lang="en-US" sz="1600" dirty="0">
                <a:solidFill>
                  <a:schemeClr val="accent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jp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2"/>
        </a:solidFill>
      </p:bgPr>
    </p:bg>
    <p:spTree>
      <p:nvGrpSpPr>
        <p:cNvPr id="1" name=""/>
        <p:cNvGrpSpPr/>
        <p:nvPr/>
      </p:nvGrpSpPr>
      <p:grpSpPr>
        <a:xfrm>
          <a:off x="0" y="0"/>
          <a:ext cx="0" cy="0"/>
          <a:chOff x="0" y="0"/>
          <a:chExt cx="0" cy="0"/>
        </a:xfrm>
      </p:grpSpPr>
      <p:pic>
        <p:nvPicPr>
          <p:cNvPr id="2" name="Image 0" descr="/tmp/claude-0/-home-user-blank-app/7493bec7-5fc4-598a-95c5-e4a4b47f4a0e/scratchpad/img/tucson.jpg">    </p:cNvPr>
          <p:cNvPicPr>
            <a:picLocks noChangeAspect="1"/>
          </p:cNvPicPr>
          <p:nvPr/>
        </p:nvPicPr>
        <p:blipFill>
          <a:blip r:embed="rId1"/>
          <a:srcRect l="0" r="0" t="0" b="0"/>
          <a:stretch/>
        </p:blipFill>
        <p:spPr>
          <a:xfrm>
            <a:off x="5120640" y="0"/>
            <a:ext cx="7071055" cy="6858000"/>
          </a:xfrm>
          <a:prstGeom prst="rect">
            <a:avLst/>
          </a:prstGeom>
        </p:spPr>
      </p:pic>
      <p:sp>
        <p:nvSpPr>
          <p:cNvPr id="3" name="Shape 0"/>
          <p:cNvSpPr/>
          <p:nvPr/>
        </p:nvSpPr>
        <p:spPr>
          <a:xfrm>
            <a:off x="0" y="0"/>
            <a:ext cx="5120640" cy="6858000"/>
          </a:xfrm>
          <a:prstGeom prst="rect">
            <a:avLst/>
          </a:prstGeom>
          <a:solidFill>
            <a:schemeClr val="tx2"/>
          </a:solidFill>
          <a:ln/>
        </p:spPr>
      </p:sp>
      <p:sp>
        <p:nvSpPr>
          <p:cNvPr id="4" name="Shape 1"/>
          <p:cNvSpPr/>
          <p:nvPr/>
        </p:nvSpPr>
        <p:spPr>
          <a:xfrm>
            <a:off x="548640" y="548640"/>
            <a:ext cx="1737360" cy="914400"/>
          </a:xfrm>
          <a:prstGeom prst="roundRect">
            <a:avLst>
              <a:gd name="adj" fmla="val 8000"/>
            </a:avLst>
          </a:prstGeom>
          <a:solidFill>
            <a:schemeClr val="bg1"/>
          </a:solidFill>
          <a:ln/>
        </p:spPr>
      </p:sp>
      <p:pic>
        <p:nvPicPr>
          <p:cNvPr id="5" name="Image 1" descr="/tmp/claude-0/-home-user-blank-app/7493bec7-5fc4-598a-95c5-e4a4b47f4a0e/scratchpad/img/logo.png">    </p:cNvPr>
          <p:cNvPicPr>
            <a:picLocks noChangeAspect="1"/>
          </p:cNvPicPr>
          <p:nvPr/>
        </p:nvPicPr>
        <p:blipFill>
          <a:blip r:embed="rId2"/>
          <a:stretch>
            <a:fillRect/>
          </a:stretch>
        </p:blipFill>
        <p:spPr>
          <a:xfrm>
            <a:off x="685800" y="685498"/>
            <a:ext cx="1463040" cy="640684"/>
          </a:xfrm>
          <a:prstGeom prst="rect">
            <a:avLst/>
          </a:prstGeom>
        </p:spPr>
      </p:pic>
      <p:sp>
        <p:nvSpPr>
          <p:cNvPr id="6" name="Text 2"/>
          <p:cNvSpPr txBox="1"/>
          <p:nvPr/>
        </p:nvSpPr>
        <p:spPr>
          <a:xfrm>
            <a:off x="548640" y="1920240"/>
            <a:ext cx="4389120" cy="457200"/>
          </a:xfrm>
          <a:prstGeom prst="rect">
            <a:avLst/>
          </a:prstGeom>
          <a:noFill/>
          <a:ln/>
        </p:spPr>
        <p:txBody>
          <a:bodyPr wrap="square" lIns="0" tIns="0" rIns="0" bIns="0" rtlCol="0" anchor="ctr"/>
          <a:lstStyle/>
          <a:p>
            <a:pPr indent="0" marL="0">
              <a:buNone/>
            </a:pPr>
            <a:r>
              <a:rPr lang="en-US" sz="1800" b="1" dirty="0">
                <a:solidFill>
                  <a:schemeClr val="accent2"/>
                </a:solidFill>
              </a:rPr>
              <a:t>Hyundai &amp; Michelin</a:t>
            </a:r>
            <a:endParaRPr lang="en-US" sz="1800" dirty="0"/>
          </a:p>
        </p:txBody>
      </p:sp>
      <p:sp>
        <p:nvSpPr>
          <p:cNvPr id="7" name="Text 3"/>
          <p:cNvSpPr txBox="1"/>
          <p:nvPr/>
        </p:nvSpPr>
        <p:spPr>
          <a:xfrm>
            <a:off x="548640" y="2377440"/>
            <a:ext cx="4389120" cy="1554480"/>
          </a:xfrm>
          <a:prstGeom prst="rect">
            <a:avLst/>
          </a:prstGeom>
          <a:noFill/>
          <a:ln/>
        </p:spPr>
        <p:txBody>
          <a:bodyPr wrap="square" lIns="0" tIns="0" rIns="0" bIns="0" rtlCol="0" anchor="t"/>
          <a:lstStyle/>
          <a:p>
            <a:pPr indent="0" marL="0">
              <a:buNone/>
            </a:pPr>
            <a:r>
              <a:rPr lang="en-US" sz="3800" b="1" dirty="0">
                <a:solidFill>
                  <a:schemeClr val="bg1"/>
                </a:solidFill>
              </a:rPr>
              <a:t>From data to the perfect tire</a:t>
            </a:r>
            <a:endParaRPr lang="en-US" sz="3800" dirty="0"/>
          </a:p>
        </p:txBody>
      </p:sp>
      <p:sp>
        <p:nvSpPr>
          <p:cNvPr id="8" name="Text 4"/>
          <p:cNvSpPr txBox="1"/>
          <p:nvPr/>
        </p:nvSpPr>
        <p:spPr>
          <a:xfrm>
            <a:off x="548640" y="4114800"/>
            <a:ext cx="4206240" cy="1188720"/>
          </a:xfrm>
          <a:prstGeom prst="rect">
            <a:avLst/>
          </a:prstGeom>
          <a:noFill/>
          <a:ln/>
        </p:spPr>
        <p:txBody>
          <a:bodyPr wrap="square" lIns="0" tIns="0" rIns="0" bIns="0" rtlCol="0" anchor="t"/>
          <a:lstStyle/>
          <a:p>
            <a:pPr indent="0" marL="0">
              <a:buNone/>
            </a:pPr>
            <a:r>
              <a:rPr lang="en-US" sz="1600" dirty="0">
                <a:solidFill>
                  <a:schemeClr val="accent5"/>
                </a:solidFill>
              </a:rPr>
              <a:t>How Michelin's digital manufacturing guarantees the quality of the Primacy 5 Energy for the new Hyundai Tucson 2027</a:t>
            </a:r>
            <a:endParaRPr lang="en-US" sz="1600" dirty="0"/>
          </a:p>
        </p:txBody>
      </p:sp>
      <p:sp>
        <p:nvSpPr>
          <p:cNvPr id="9" name="Text 5"/>
          <p:cNvSpPr txBox="1"/>
          <p:nvPr/>
        </p:nvSpPr>
        <p:spPr>
          <a:xfrm>
            <a:off x="548640" y="6035040"/>
            <a:ext cx="4389120" cy="320040"/>
          </a:xfrm>
          <a:prstGeom prst="rect">
            <a:avLst/>
          </a:prstGeom>
          <a:noFill/>
          <a:ln/>
        </p:spPr>
        <p:txBody>
          <a:bodyPr wrap="square" lIns="0" tIns="0" rIns="0" bIns="0" rtlCol="0" anchor="ctr"/>
          <a:lstStyle/>
          <a:p>
            <a:pPr indent="0" marL="0">
              <a:buNone/>
            </a:pPr>
            <a:r>
              <a:rPr lang="en-US" sz="1200" dirty="0">
                <a:solidFill>
                  <a:schemeClr val="accent5"/>
                </a:solidFill>
              </a:rPr>
              <a:t>Plant visit · On-Line Measurement (OLM) · MAC &amp; BNS lines</a:t>
            </a:r>
            <a:endParaRPr lang="en-US" sz="1200" dirty="0"/>
          </a:p>
        </p:txBody>
      </p:sp>
      <p:pic>
        <p:nvPicPr>
          <p:cNvPr id="10" name="Image 2" descr="/tmp/claude-0/-home-user-blank-app/7493bec7-5fc4-598a-95c5-e4a4b47f4a0e/scratchpad/img/tire.png">    </p:cNvPr>
          <p:cNvPicPr>
            <a:picLocks noChangeAspect="1"/>
          </p:cNvPicPr>
          <p:nvPr/>
        </p:nvPicPr>
        <p:blipFill>
          <a:blip r:embed="rId3"/>
          <a:stretch>
            <a:fillRect/>
          </a:stretch>
        </p:blipFill>
        <p:spPr>
          <a:xfrm>
            <a:off x="8503920" y="3017520"/>
            <a:ext cx="3566160" cy="3566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000" b="1" dirty="0">
                <a:solidFill>
                  <a:schemeClr val="bg1"/>
                </a:solidFill>
              </a:rPr>
              <a:t>Our digital factory in three ideas</a:t>
            </a:r>
            <a:endParaRPr lang="en-US" sz="3000" dirty="0"/>
          </a:p>
        </p:txBody>
      </p:sp>
      <p:sp>
        <p:nvSpPr>
          <p:cNvPr id="3" name="Text 0"/>
          <p:cNvSpPr/>
          <p:nvPr>
            <p:ph idx="101" type="body" hasCustomPrompt="1"/>
          </p:nvPr>
        </p:nvSpPr>
        <p:spPr>
          <a:xfrm>
            <a:off x="548640" y="987552"/>
            <a:ext cx="11094415" cy="411480"/>
          </a:xfrm>
          <a:prstGeom prst="rect">
            <a:avLst/>
          </a:prstGeom>
          <a:noFill/>
          <a:ln/>
        </p:spPr>
        <p:txBody>
          <a:bodyPr wrap="square" lIns="0" tIns="0" rIns="0" bIns="0" rtlCol="0" anchor="t"/>
          <a:lstStyle/>
          <a:p>
            <a:pPr indent="0" marL="0">
              <a:buNone/>
            </a:pPr>
            <a:r>
              <a:rPr lang="en-US" sz="1600" dirty="0">
                <a:solidFill>
                  <a:schemeClr val="accent2"/>
                </a:solidFill>
              </a:rPr>
              <a:t>Every tire reaching your assembly line has been turned into data, analysed and corrected while it was being built</a:t>
            </a:r>
            <a:endParaRPr lang="en-US" sz="1600" dirty="0"/>
          </a:p>
        </p:txBody>
      </p:sp>
      <p:sp>
        <p:nvSpPr>
          <p:cNvPr id="4" name="card 1 · Digitise everything"/>
          <p:cNvSpPr/>
          <p:nvPr/>
        </p:nvSpPr>
        <p:spPr>
          <a:xfrm>
            <a:off x="548640" y="1920240"/>
            <a:ext cx="3515258" cy="3291840"/>
          </a:xfrm>
          <a:prstGeom prst="roundRect">
            <a:avLst>
              <a:gd name="adj" fmla="val 3333"/>
            </a:avLst>
          </a:prstGeom>
          <a:solidFill>
            <a:srgbClr val="13306B"/>
          </a:solidFill>
          <a:ln/>
        </p:spPr>
      </p:sp>
      <p:sp>
        <p:nvSpPr>
          <p:cNvPr id="5" name="Shape 3"/>
          <p:cNvSpPr/>
          <p:nvPr/>
        </p:nvSpPr>
        <p:spPr>
          <a:xfrm>
            <a:off x="822960" y="2194560"/>
            <a:ext cx="640080" cy="6400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60120" y="2331720"/>
            <a:ext cx="365760" cy="365760"/>
          </a:xfrm>
          <a:prstGeom prst="rect">
            <a:avLst/>
          </a:prstGeom>
        </p:spPr>
      </p:pic>
      <p:sp>
        <p:nvSpPr>
          <p:cNvPr id="7" name="Text 4"/>
          <p:cNvSpPr txBox="1"/>
          <p:nvPr/>
        </p:nvSpPr>
        <p:spPr>
          <a:xfrm>
            <a:off x="822960" y="2971800"/>
            <a:ext cx="2966618" cy="457200"/>
          </a:xfrm>
          <a:prstGeom prst="rect">
            <a:avLst/>
          </a:prstGeom>
          <a:noFill/>
          <a:ln/>
        </p:spPr>
        <p:txBody>
          <a:bodyPr wrap="square" lIns="0" tIns="0" rIns="0" bIns="0" rtlCol="0" anchor="t"/>
          <a:lstStyle/>
          <a:p>
            <a:pPr indent="0" marL="0">
              <a:buNone/>
            </a:pPr>
            <a:r>
              <a:rPr lang="en-US" sz="1800" b="1" dirty="0">
                <a:solidFill>
                  <a:schemeClr val="bg1"/>
                </a:solidFill>
              </a:rPr>
              <a:t>1 · Digitise everything</a:t>
            </a:r>
            <a:endParaRPr lang="en-US" sz="1800" dirty="0"/>
          </a:p>
        </p:txBody>
      </p:sp>
      <p:sp>
        <p:nvSpPr>
          <p:cNvPr id="8" name="Text 5"/>
          <p:cNvSpPr txBox="1"/>
          <p:nvPr/>
        </p:nvSpPr>
        <p:spPr>
          <a:xfrm>
            <a:off x="822960" y="3429000"/>
            <a:ext cx="2966618" cy="1600200"/>
          </a:xfrm>
          <a:prstGeom prst="rect">
            <a:avLst/>
          </a:prstGeom>
          <a:noFill/>
          <a:ln/>
        </p:spPr>
        <p:txBody>
          <a:bodyPr wrap="square" lIns="0" tIns="0" rIns="0" bIns="0" rtlCol="0" anchor="t"/>
          <a:lstStyle/>
          <a:p>
            <a:pPr indent="0" marL="0">
              <a:buNone/>
            </a:pPr>
            <a:r>
              <a:rPr lang="en-US" sz="1600" dirty="0">
                <a:solidFill>
                  <a:srgbClr val="DCE4F2"/>
                </a:solidFill>
              </a:rPr>
              <a:t>3D laser sensors turn every tire component into a digital profile. 100% of production, no sampling, no contact.</a:t>
            </a:r>
            <a:endParaRPr lang="en-US" sz="1600" dirty="0"/>
          </a:p>
        </p:txBody>
      </p:sp>
      <p:sp>
        <p:nvSpPr>
          <p:cNvPr id="9" name="card 2 · Analyse in real time"/>
          <p:cNvSpPr/>
          <p:nvPr/>
        </p:nvSpPr>
        <p:spPr>
          <a:xfrm>
            <a:off x="4338218" y="1920240"/>
            <a:ext cx="3515258" cy="3291840"/>
          </a:xfrm>
          <a:prstGeom prst="roundRect">
            <a:avLst>
              <a:gd name="adj" fmla="val 3333"/>
            </a:avLst>
          </a:prstGeom>
          <a:solidFill>
            <a:srgbClr val="13306B"/>
          </a:solidFill>
          <a:ln/>
        </p:spPr>
      </p:sp>
      <p:sp>
        <p:nvSpPr>
          <p:cNvPr id="10" name="Shape 7"/>
          <p:cNvSpPr/>
          <p:nvPr/>
        </p:nvSpPr>
        <p:spPr>
          <a:xfrm>
            <a:off x="4612538" y="2194560"/>
            <a:ext cx="640080" cy="6400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749698" y="2331720"/>
            <a:ext cx="365760" cy="365760"/>
          </a:xfrm>
          <a:prstGeom prst="rect">
            <a:avLst/>
          </a:prstGeom>
        </p:spPr>
      </p:pic>
      <p:sp>
        <p:nvSpPr>
          <p:cNvPr id="12" name="Text 8"/>
          <p:cNvSpPr txBox="1"/>
          <p:nvPr/>
        </p:nvSpPr>
        <p:spPr>
          <a:xfrm>
            <a:off x="4612538" y="2971800"/>
            <a:ext cx="2966618" cy="457200"/>
          </a:xfrm>
          <a:prstGeom prst="rect">
            <a:avLst/>
          </a:prstGeom>
          <a:noFill/>
          <a:ln/>
        </p:spPr>
        <p:txBody>
          <a:bodyPr wrap="square" lIns="0" tIns="0" rIns="0" bIns="0" rtlCol="0" anchor="t"/>
          <a:lstStyle/>
          <a:p>
            <a:pPr indent="0" marL="0">
              <a:buNone/>
            </a:pPr>
            <a:r>
              <a:rPr lang="en-US" sz="1800" b="1" dirty="0">
                <a:solidFill>
                  <a:schemeClr val="bg1"/>
                </a:solidFill>
              </a:rPr>
              <a:t>2 · Analyse in real time</a:t>
            </a:r>
            <a:endParaRPr lang="en-US" sz="1800" dirty="0"/>
          </a:p>
        </p:txBody>
      </p:sp>
      <p:sp>
        <p:nvSpPr>
          <p:cNvPr id="13" name="Text 9"/>
          <p:cNvSpPr txBox="1"/>
          <p:nvPr/>
        </p:nvSpPr>
        <p:spPr>
          <a:xfrm>
            <a:off x="4612538" y="3429000"/>
            <a:ext cx="2966618" cy="1600200"/>
          </a:xfrm>
          <a:prstGeom prst="rect">
            <a:avLst/>
          </a:prstGeom>
          <a:noFill/>
          <a:ln/>
        </p:spPr>
        <p:txBody>
          <a:bodyPr wrap="square" lIns="0" tIns="0" rIns="0" bIns="0" rtlCol="0" anchor="t"/>
          <a:lstStyle/>
          <a:p>
            <a:pPr indent="0" marL="0">
              <a:buNone/>
            </a:pPr>
            <a:r>
              <a:rPr lang="en-US" sz="1600" dirty="0">
                <a:solidFill>
                  <a:srgbClr val="DCE4F2"/>
                </a:solidFill>
              </a:rPr>
              <a:t>Our industrial data platform and advanced analytics detect drifts before they become defects, and alert the right people instantly.</a:t>
            </a:r>
            <a:endParaRPr lang="en-US" sz="1600" dirty="0"/>
          </a:p>
        </p:txBody>
      </p:sp>
      <p:sp>
        <p:nvSpPr>
          <p:cNvPr id="14" name="card 3 · Close the loop"/>
          <p:cNvSpPr/>
          <p:nvPr/>
        </p:nvSpPr>
        <p:spPr>
          <a:xfrm>
            <a:off x="8127797" y="1920240"/>
            <a:ext cx="3515258" cy="3291840"/>
          </a:xfrm>
          <a:prstGeom prst="roundRect">
            <a:avLst>
              <a:gd name="adj" fmla="val 3333"/>
            </a:avLst>
          </a:prstGeom>
          <a:solidFill>
            <a:srgbClr val="13306B"/>
          </a:solidFill>
          <a:ln/>
        </p:spPr>
      </p:sp>
      <p:sp>
        <p:nvSpPr>
          <p:cNvPr id="15" name="Shape 11"/>
          <p:cNvSpPr/>
          <p:nvPr/>
        </p:nvSpPr>
        <p:spPr>
          <a:xfrm>
            <a:off x="8402117" y="2194560"/>
            <a:ext cx="640080" cy="64008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539277" y="2331720"/>
            <a:ext cx="365760" cy="365760"/>
          </a:xfrm>
          <a:prstGeom prst="rect">
            <a:avLst/>
          </a:prstGeom>
        </p:spPr>
      </p:pic>
      <p:sp>
        <p:nvSpPr>
          <p:cNvPr id="17" name="Text 12"/>
          <p:cNvSpPr txBox="1"/>
          <p:nvPr/>
        </p:nvSpPr>
        <p:spPr>
          <a:xfrm>
            <a:off x="8402117" y="2971800"/>
            <a:ext cx="2966618" cy="457200"/>
          </a:xfrm>
          <a:prstGeom prst="rect">
            <a:avLst/>
          </a:prstGeom>
          <a:noFill/>
          <a:ln/>
        </p:spPr>
        <p:txBody>
          <a:bodyPr wrap="square" lIns="0" tIns="0" rIns="0" bIns="0" rtlCol="0" anchor="t"/>
          <a:lstStyle/>
          <a:p>
            <a:pPr indent="0" marL="0">
              <a:buNone/>
            </a:pPr>
            <a:r>
              <a:rPr lang="en-US" sz="1800" b="1" dirty="0">
                <a:solidFill>
                  <a:schemeClr val="bg1"/>
                </a:solidFill>
              </a:rPr>
              <a:t>3 · Close the loop</a:t>
            </a:r>
            <a:endParaRPr lang="en-US" sz="1800" dirty="0"/>
          </a:p>
        </p:txBody>
      </p:sp>
      <p:sp>
        <p:nvSpPr>
          <p:cNvPr id="18" name="Text 13"/>
          <p:cNvSpPr txBox="1"/>
          <p:nvPr/>
        </p:nvSpPr>
        <p:spPr>
          <a:xfrm>
            <a:off x="8402117" y="3429000"/>
            <a:ext cx="2966618" cy="1600200"/>
          </a:xfrm>
          <a:prstGeom prst="rect">
            <a:avLst/>
          </a:prstGeom>
          <a:noFill/>
          <a:ln/>
        </p:spPr>
        <p:txBody>
          <a:bodyPr wrap="square" lIns="0" tIns="0" rIns="0" bIns="0" rtlCol="0" anchor="t"/>
          <a:lstStyle/>
          <a:p>
            <a:pPr indent="0" marL="0">
              <a:buNone/>
            </a:pPr>
            <a:r>
              <a:rPr lang="en-US" sz="1600" dirty="0">
                <a:solidFill>
                  <a:srgbClr val="DCE4F2"/>
                </a:solidFill>
              </a:rPr>
              <a:t>A rules engine acts automatically: it adjusts the machine, stops it or sets the product aside. Quality is built in, not inspected in.</a:t>
            </a:r>
            <a:endParaRPr lang="en-US" sz="1600" dirty="0"/>
          </a:p>
        </p:txBody>
      </p:sp>
      <p:sp>
        <p:nvSpPr>
          <p:cNvPr id="19" name="Text 14"/>
          <p:cNvSpPr txBox="1"/>
          <p:nvPr/>
        </p:nvSpPr>
        <p:spPr>
          <a:xfrm>
            <a:off x="548640" y="5577840"/>
            <a:ext cx="11094415" cy="457200"/>
          </a:xfrm>
          <a:prstGeom prst="rect">
            <a:avLst/>
          </a:prstGeom>
          <a:noFill/>
          <a:ln/>
        </p:spPr>
        <p:txBody>
          <a:bodyPr wrap="square" lIns="0" tIns="0" rIns="0" bIns="0" rtlCol="0" anchor="ctr"/>
          <a:lstStyle/>
          <a:p>
            <a:pPr indent="0" marL="0">
              <a:buNone/>
            </a:pPr>
            <a:r>
              <a:rPr lang="en-US" sz="1800" b="1" dirty="0">
                <a:solidFill>
                  <a:schemeClr val="accent2"/>
                </a:solidFill>
              </a:rPr>
              <a:t>Data → Insight → Action, in seconds, on every tire.</a:t>
            </a:r>
            <a:endParaRPr lang="en-US" sz="18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Partners in innovation since 2017</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Hyundai and Michelin already share a data-driven vision of the tire</a:t>
            </a:r>
            <a:endParaRPr lang="en-US" sz="1600" dirty="0"/>
          </a:p>
        </p:txBody>
      </p:sp>
      <p:sp>
        <p:nvSpPr>
          <p:cNvPr id="4" name="Shape 2"/>
          <p:cNvSpPr/>
          <p:nvPr/>
        </p:nvSpPr>
        <p:spPr>
          <a:xfrm>
            <a:off x="868680" y="2468880"/>
            <a:ext cx="8526551" cy="0"/>
          </a:xfrm>
          <a:prstGeom prst="line">
            <a:avLst/>
          </a:prstGeom>
          <a:noFill/>
          <a:ln w="25400">
            <a:solidFill>
              <a:schemeClr val="accent1"/>
            </a:solidFill>
            <a:prstDash val="solid"/>
          </a:ln>
        </p:spPr>
      </p:sp>
      <p:sp>
        <p:nvSpPr>
          <p:cNvPr id="5" name="Shape 3"/>
          <p:cNvSpPr/>
          <p:nvPr/>
        </p:nvSpPr>
        <p:spPr>
          <a:xfrm>
            <a:off x="548640" y="2148840"/>
            <a:ext cx="640080" cy="640080"/>
          </a:xfrm>
          <a:prstGeom prst="ellipse">
            <a:avLst/>
          </a:prstGeom>
          <a:solidFill>
            <a:schemeClr val="accent1"/>
          </a:solidFill>
          <a:ln w="381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704088" y="2304288"/>
            <a:ext cx="329184" cy="329184"/>
          </a:xfrm>
          <a:prstGeom prst="rect">
            <a:avLst/>
          </a:prstGeom>
        </p:spPr>
      </p:pic>
      <p:sp>
        <p:nvSpPr>
          <p:cNvPr id="7" name="Text 4"/>
          <p:cNvSpPr txBox="1"/>
          <p:nvPr/>
        </p:nvSpPr>
        <p:spPr>
          <a:xfrm>
            <a:off x="548640" y="2971800"/>
            <a:ext cx="2567864" cy="548640"/>
          </a:xfrm>
          <a:prstGeom prst="rect">
            <a:avLst/>
          </a:prstGeom>
          <a:noFill/>
          <a:ln/>
        </p:spPr>
        <p:txBody>
          <a:bodyPr wrap="square" lIns="0" tIns="0" rIns="0" bIns="0" rtlCol="0" anchor="ctr"/>
          <a:lstStyle/>
          <a:p>
            <a:pPr indent="0" marL="0">
              <a:buNone/>
            </a:pPr>
            <a:r>
              <a:rPr lang="en-US" sz="3200" b="1" dirty="0">
                <a:solidFill>
                  <a:schemeClr val="accent1"/>
                </a:solidFill>
              </a:rPr>
              <a:t>2017</a:t>
            </a:r>
            <a:endParaRPr lang="en-US" sz="3200" dirty="0"/>
          </a:p>
        </p:txBody>
      </p:sp>
      <p:sp>
        <p:nvSpPr>
          <p:cNvPr id="8" name="Text 5"/>
          <p:cNvSpPr txBox="1"/>
          <p:nvPr/>
        </p:nvSpPr>
        <p:spPr>
          <a:xfrm>
            <a:off x="548640" y="3520440"/>
            <a:ext cx="2567864" cy="365760"/>
          </a:xfrm>
          <a:prstGeom prst="rect">
            <a:avLst/>
          </a:prstGeom>
          <a:noFill/>
          <a:ln/>
        </p:spPr>
        <p:txBody>
          <a:bodyPr wrap="square" lIns="0" tIns="0" rIns="0" bIns="0" rtlCol="0" anchor="ctr"/>
          <a:lstStyle/>
          <a:p>
            <a:pPr indent="0" marL="0">
              <a:buNone/>
            </a:pPr>
            <a:r>
              <a:rPr lang="en-US" sz="1700" b="1" dirty="0">
                <a:solidFill>
                  <a:schemeClr val="tx2"/>
                </a:solidFill>
              </a:rPr>
              <a:t>First agreement</a:t>
            </a:r>
            <a:endParaRPr lang="en-US" sz="1700" dirty="0"/>
          </a:p>
        </p:txBody>
      </p:sp>
      <p:sp>
        <p:nvSpPr>
          <p:cNvPr id="9" name="Text 6"/>
          <p:cNvSpPr txBox="1"/>
          <p:nvPr/>
        </p:nvSpPr>
        <p:spPr>
          <a:xfrm>
            <a:off x="548640" y="3931920"/>
            <a:ext cx="2567864" cy="1463040"/>
          </a:xfrm>
          <a:prstGeom prst="rect">
            <a:avLst/>
          </a:prstGeom>
          <a:noFill/>
          <a:ln/>
        </p:spPr>
        <p:txBody>
          <a:bodyPr wrap="square" lIns="0" tIns="0" rIns="0" bIns="0" rtlCol="0" anchor="t"/>
          <a:lstStyle/>
          <a:p>
            <a:pPr indent="0" marL="0">
              <a:buNone/>
            </a:pPr>
            <a:r>
              <a:rPr lang="en-US" sz="1400" dirty="0">
                <a:solidFill>
                  <a:schemeClr val="tx1"/>
                </a:solidFill>
              </a:rPr>
              <a:t>5 years. Exclusive co-developed tire for the IONIQ 5, shared testing methods and technology exchange.</a:t>
            </a:r>
            <a:endParaRPr lang="en-US" sz="1400" dirty="0"/>
          </a:p>
        </p:txBody>
      </p:sp>
      <p:sp>
        <p:nvSpPr>
          <p:cNvPr id="10" name="Shape 7"/>
          <p:cNvSpPr/>
          <p:nvPr/>
        </p:nvSpPr>
        <p:spPr>
          <a:xfrm>
            <a:off x="3390824" y="2148840"/>
            <a:ext cx="640080" cy="640080"/>
          </a:xfrm>
          <a:prstGeom prst="ellipse">
            <a:avLst/>
          </a:prstGeom>
          <a:solidFill>
            <a:schemeClr val="accent1"/>
          </a:solidFill>
          <a:ln w="38100">
            <a:solidFill>
              <a:schemeClr val="bg1"/>
            </a:solidFill>
            <a:prstDash val="solid"/>
          </a:ln>
        </p:spPr>
      </p:sp>
      <p:pic>
        <p:nvPicPr>
          <p:cNvPr id="11" name="Image 1" descr="preencoded.png">    </p:cNvPr>
          <p:cNvPicPr>
            <a:picLocks noChangeAspect="1"/>
          </p:cNvPicPr>
          <p:nvPr/>
        </p:nvPicPr>
        <p:blipFill>
          <a:blip r:embed="rId2"/>
          <a:stretch>
            <a:fillRect/>
          </a:stretch>
        </p:blipFill>
        <p:spPr>
          <a:xfrm>
            <a:off x="3546272" y="2304288"/>
            <a:ext cx="329184" cy="329184"/>
          </a:xfrm>
          <a:prstGeom prst="rect">
            <a:avLst/>
          </a:prstGeom>
        </p:spPr>
      </p:pic>
      <p:sp>
        <p:nvSpPr>
          <p:cNvPr id="12" name="Text 8"/>
          <p:cNvSpPr txBox="1"/>
          <p:nvPr/>
        </p:nvSpPr>
        <p:spPr>
          <a:xfrm>
            <a:off x="3390824" y="2971800"/>
            <a:ext cx="2567864" cy="548640"/>
          </a:xfrm>
          <a:prstGeom prst="rect">
            <a:avLst/>
          </a:prstGeom>
          <a:noFill/>
          <a:ln/>
        </p:spPr>
        <p:txBody>
          <a:bodyPr wrap="square" lIns="0" tIns="0" rIns="0" bIns="0" rtlCol="0" anchor="ctr"/>
          <a:lstStyle/>
          <a:p>
            <a:pPr indent="0" marL="0">
              <a:buNone/>
            </a:pPr>
            <a:r>
              <a:rPr lang="en-US" sz="3200" b="1" dirty="0">
                <a:solidFill>
                  <a:schemeClr val="accent1"/>
                </a:solidFill>
              </a:rPr>
              <a:t>2022</a:t>
            </a:r>
            <a:endParaRPr lang="en-US" sz="3200" dirty="0"/>
          </a:p>
        </p:txBody>
      </p:sp>
      <p:sp>
        <p:nvSpPr>
          <p:cNvPr id="13" name="Text 9"/>
          <p:cNvSpPr txBox="1"/>
          <p:nvPr/>
        </p:nvSpPr>
        <p:spPr>
          <a:xfrm>
            <a:off x="3390824" y="3520440"/>
            <a:ext cx="2567864" cy="365760"/>
          </a:xfrm>
          <a:prstGeom prst="rect">
            <a:avLst/>
          </a:prstGeom>
          <a:noFill/>
          <a:ln/>
        </p:spPr>
        <p:txBody>
          <a:bodyPr wrap="square" lIns="0" tIns="0" rIns="0" bIns="0" rtlCol="0" anchor="ctr"/>
          <a:lstStyle/>
          <a:p>
            <a:pPr indent="0" marL="0">
              <a:buNone/>
            </a:pPr>
            <a:r>
              <a:rPr lang="en-US" sz="1700" b="1" dirty="0">
                <a:solidFill>
                  <a:schemeClr val="tx2"/>
                </a:solidFill>
              </a:rPr>
              <a:t>Second agreement</a:t>
            </a:r>
            <a:endParaRPr lang="en-US" sz="1700" dirty="0"/>
          </a:p>
        </p:txBody>
      </p:sp>
      <p:sp>
        <p:nvSpPr>
          <p:cNvPr id="14" name="Text 10"/>
          <p:cNvSpPr txBox="1"/>
          <p:nvPr/>
        </p:nvSpPr>
        <p:spPr>
          <a:xfrm>
            <a:off x="3390824" y="3931920"/>
            <a:ext cx="2567864" cy="1463040"/>
          </a:xfrm>
          <a:prstGeom prst="rect">
            <a:avLst/>
          </a:prstGeom>
          <a:noFill/>
          <a:ln/>
        </p:spPr>
        <p:txBody>
          <a:bodyPr wrap="square" lIns="0" tIns="0" rIns="0" bIns="0" rtlCol="0" anchor="t"/>
          <a:lstStyle/>
          <a:p>
            <a:pPr indent="0" marL="0">
              <a:buNone/>
            </a:pPr>
            <a:r>
              <a:rPr lang="en-US" sz="1400" dirty="0">
                <a:solidFill>
                  <a:schemeClr val="tx1"/>
                </a:solidFill>
              </a:rPr>
              <a:t>3 years. Next-gen EV tires, more sustainable materials and real-time tire monitoring for autonomous driving.</a:t>
            </a:r>
            <a:endParaRPr lang="en-US" sz="1400" dirty="0"/>
          </a:p>
        </p:txBody>
      </p:sp>
      <p:sp>
        <p:nvSpPr>
          <p:cNvPr id="15" name="Shape 11"/>
          <p:cNvSpPr/>
          <p:nvPr/>
        </p:nvSpPr>
        <p:spPr>
          <a:xfrm>
            <a:off x="6233008" y="2148840"/>
            <a:ext cx="640080" cy="640080"/>
          </a:xfrm>
          <a:prstGeom prst="ellipse">
            <a:avLst/>
          </a:prstGeom>
          <a:solidFill>
            <a:schemeClr val="accent1"/>
          </a:solidFill>
          <a:ln w="38100">
            <a:solidFill>
              <a:schemeClr val="bg1"/>
            </a:solidFill>
            <a:prstDash val="solid"/>
          </a:ln>
        </p:spPr>
      </p:sp>
      <p:pic>
        <p:nvPicPr>
          <p:cNvPr id="16" name="Image 2" descr="preencoded.png">    </p:cNvPr>
          <p:cNvPicPr>
            <a:picLocks noChangeAspect="1"/>
          </p:cNvPicPr>
          <p:nvPr/>
        </p:nvPicPr>
        <p:blipFill>
          <a:blip r:embed="rId3"/>
          <a:stretch>
            <a:fillRect/>
          </a:stretch>
        </p:blipFill>
        <p:spPr>
          <a:xfrm>
            <a:off x="6388456" y="2304288"/>
            <a:ext cx="329184" cy="329184"/>
          </a:xfrm>
          <a:prstGeom prst="rect">
            <a:avLst/>
          </a:prstGeom>
        </p:spPr>
      </p:pic>
      <p:sp>
        <p:nvSpPr>
          <p:cNvPr id="17" name="Text 12"/>
          <p:cNvSpPr txBox="1"/>
          <p:nvPr/>
        </p:nvSpPr>
        <p:spPr>
          <a:xfrm>
            <a:off x="6233008" y="2971800"/>
            <a:ext cx="2567864" cy="548640"/>
          </a:xfrm>
          <a:prstGeom prst="rect">
            <a:avLst/>
          </a:prstGeom>
          <a:noFill/>
          <a:ln/>
        </p:spPr>
        <p:txBody>
          <a:bodyPr wrap="square" lIns="0" tIns="0" rIns="0" bIns="0" rtlCol="0" anchor="ctr"/>
          <a:lstStyle/>
          <a:p>
            <a:pPr indent="0" marL="0">
              <a:buNone/>
            </a:pPr>
            <a:r>
              <a:rPr lang="en-US" sz="3200" b="1" dirty="0">
                <a:solidFill>
                  <a:schemeClr val="accent1"/>
                </a:solidFill>
              </a:rPr>
              <a:t>Today</a:t>
            </a:r>
            <a:endParaRPr lang="en-US" sz="3200" dirty="0"/>
          </a:p>
        </p:txBody>
      </p:sp>
      <p:sp>
        <p:nvSpPr>
          <p:cNvPr id="18" name="Text 13"/>
          <p:cNvSpPr txBox="1"/>
          <p:nvPr/>
        </p:nvSpPr>
        <p:spPr>
          <a:xfrm>
            <a:off x="6233008" y="3520440"/>
            <a:ext cx="2567864" cy="365760"/>
          </a:xfrm>
          <a:prstGeom prst="rect">
            <a:avLst/>
          </a:prstGeom>
          <a:noFill/>
          <a:ln/>
        </p:spPr>
        <p:txBody>
          <a:bodyPr wrap="square" lIns="0" tIns="0" rIns="0" bIns="0" rtlCol="0" anchor="ctr"/>
          <a:lstStyle/>
          <a:p>
            <a:pPr indent="0" marL="0">
              <a:buNone/>
            </a:pPr>
            <a:r>
              <a:rPr lang="en-US" sz="1700" b="1" dirty="0">
                <a:solidFill>
                  <a:schemeClr val="tx2"/>
                </a:solidFill>
              </a:rPr>
              <a:t>Third agreement</a:t>
            </a:r>
            <a:endParaRPr lang="en-US" sz="1700" dirty="0"/>
          </a:p>
        </p:txBody>
      </p:sp>
      <p:sp>
        <p:nvSpPr>
          <p:cNvPr id="19" name="Text 14"/>
          <p:cNvSpPr txBox="1"/>
          <p:nvPr/>
        </p:nvSpPr>
        <p:spPr>
          <a:xfrm>
            <a:off x="6233008" y="3931920"/>
            <a:ext cx="2567864" cy="1463040"/>
          </a:xfrm>
          <a:prstGeom prst="rect">
            <a:avLst/>
          </a:prstGeom>
          <a:noFill/>
          <a:ln/>
        </p:spPr>
        <p:txBody>
          <a:bodyPr wrap="square" lIns="0" tIns="0" rIns="0" bIns="0" rtlCol="0" anchor="t"/>
          <a:lstStyle/>
          <a:p>
            <a:pPr indent="0" marL="0">
              <a:buNone/>
            </a:pPr>
            <a:r>
              <a:rPr lang="en-US" sz="1400" dirty="0">
                <a:solidFill>
                  <a:schemeClr val="tx1"/>
                </a:solidFill>
              </a:rPr>
              <a:t>3 years. Low rolling resistance, high performance, virtual tire development and SmartGrip braking technology.</a:t>
            </a:r>
            <a:endParaRPr lang="en-US" sz="1400" dirty="0"/>
          </a:p>
        </p:txBody>
      </p:sp>
      <p:sp>
        <p:nvSpPr>
          <p:cNvPr id="20" name="Shape 15"/>
          <p:cNvSpPr/>
          <p:nvPr/>
        </p:nvSpPr>
        <p:spPr>
          <a:xfrm>
            <a:off x="9075191" y="2148840"/>
            <a:ext cx="640080" cy="640080"/>
          </a:xfrm>
          <a:prstGeom prst="ellipse">
            <a:avLst/>
          </a:prstGeom>
          <a:solidFill>
            <a:schemeClr val="accent2"/>
          </a:solidFill>
          <a:ln w="38100">
            <a:solidFill>
              <a:schemeClr val="bg1"/>
            </a:solidFill>
            <a:prstDash val="solid"/>
          </a:ln>
        </p:spPr>
      </p:sp>
      <p:pic>
        <p:nvPicPr>
          <p:cNvPr id="21" name="Image 3" descr="preencoded.png">    </p:cNvPr>
          <p:cNvPicPr>
            <a:picLocks noChangeAspect="1"/>
          </p:cNvPicPr>
          <p:nvPr/>
        </p:nvPicPr>
        <p:blipFill>
          <a:blip r:embed="rId4"/>
          <a:stretch>
            <a:fillRect/>
          </a:stretch>
        </p:blipFill>
        <p:spPr>
          <a:xfrm>
            <a:off x="9230639" y="2304288"/>
            <a:ext cx="329184" cy="329184"/>
          </a:xfrm>
          <a:prstGeom prst="rect">
            <a:avLst/>
          </a:prstGeom>
        </p:spPr>
      </p:pic>
      <p:sp>
        <p:nvSpPr>
          <p:cNvPr id="22" name="Text 16"/>
          <p:cNvSpPr txBox="1"/>
          <p:nvPr/>
        </p:nvSpPr>
        <p:spPr>
          <a:xfrm>
            <a:off x="9075191" y="2971800"/>
            <a:ext cx="2567864" cy="548640"/>
          </a:xfrm>
          <a:prstGeom prst="rect">
            <a:avLst/>
          </a:prstGeom>
          <a:noFill/>
          <a:ln/>
        </p:spPr>
        <p:txBody>
          <a:bodyPr wrap="square" lIns="0" tIns="0" rIns="0" bIns="0" rtlCol="0" anchor="ctr"/>
          <a:lstStyle/>
          <a:p>
            <a:pPr indent="0" marL="0">
              <a:buNone/>
            </a:pPr>
            <a:r>
              <a:rPr lang="en-US" sz="3200" b="1" dirty="0">
                <a:solidFill>
                  <a:schemeClr val="accent1"/>
                </a:solidFill>
              </a:rPr>
              <a:t>2027</a:t>
            </a:r>
            <a:endParaRPr lang="en-US" sz="3200" dirty="0"/>
          </a:p>
        </p:txBody>
      </p:sp>
      <p:sp>
        <p:nvSpPr>
          <p:cNvPr id="23" name="Text 17"/>
          <p:cNvSpPr txBox="1"/>
          <p:nvPr/>
        </p:nvSpPr>
        <p:spPr>
          <a:xfrm>
            <a:off x="9075191" y="3520440"/>
            <a:ext cx="2567864" cy="365760"/>
          </a:xfrm>
          <a:prstGeom prst="rect">
            <a:avLst/>
          </a:prstGeom>
          <a:noFill/>
          <a:ln/>
        </p:spPr>
        <p:txBody>
          <a:bodyPr wrap="square" lIns="0" tIns="0" rIns="0" bIns="0" rtlCol="0" anchor="ctr"/>
          <a:lstStyle/>
          <a:p>
            <a:pPr indent="0" marL="0">
              <a:buNone/>
            </a:pPr>
            <a:r>
              <a:rPr lang="en-US" sz="1700" b="1" dirty="0">
                <a:solidFill>
                  <a:schemeClr val="tx2"/>
                </a:solidFill>
              </a:rPr>
              <a:t>New Tucson</a:t>
            </a:r>
            <a:endParaRPr lang="en-US" sz="1700" dirty="0"/>
          </a:p>
        </p:txBody>
      </p:sp>
      <p:sp>
        <p:nvSpPr>
          <p:cNvPr id="24" name="Text 18"/>
          <p:cNvSpPr txBox="1"/>
          <p:nvPr/>
        </p:nvSpPr>
        <p:spPr>
          <a:xfrm>
            <a:off x="9075191" y="3931920"/>
            <a:ext cx="2567864" cy="1463040"/>
          </a:xfrm>
          <a:prstGeom prst="rect">
            <a:avLst/>
          </a:prstGeom>
          <a:noFill/>
          <a:ln/>
        </p:spPr>
        <p:txBody>
          <a:bodyPr wrap="square" lIns="0" tIns="0" rIns="0" bIns="0" rtlCol="0" anchor="t"/>
          <a:lstStyle/>
          <a:p>
            <a:pPr indent="0" marL="0">
              <a:buNone/>
            </a:pPr>
            <a:r>
              <a:rPr lang="en-US" sz="1400" dirty="0">
                <a:solidFill>
                  <a:schemeClr val="tx1"/>
                </a:solidFill>
              </a:rPr>
              <a:t>Primacy 5 Energy 235/45 R20 as original equipment on the new Hyundai Tucson 2027.</a:t>
            </a:r>
            <a:endParaRPr lang="en-US" sz="1400" dirty="0"/>
          </a:p>
        </p:txBody>
      </p:sp>
      <p:sp>
        <p:nvSpPr>
          <p:cNvPr id="25" name="Shape 19"/>
          <p:cNvSpPr/>
          <p:nvPr/>
        </p:nvSpPr>
        <p:spPr>
          <a:xfrm>
            <a:off x="548640" y="5486400"/>
            <a:ext cx="11094415" cy="685800"/>
          </a:xfrm>
          <a:prstGeom prst="roundRect">
            <a:avLst>
              <a:gd name="adj" fmla="val 13333"/>
            </a:avLst>
          </a:prstGeom>
          <a:solidFill>
            <a:schemeClr val="bg2"/>
          </a:solidFill>
          <a:ln/>
        </p:spPr>
      </p:sp>
      <p:sp>
        <p:nvSpPr>
          <p:cNvPr id="26" name="Text 20"/>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500" b="1" dirty="0">
                <a:solidFill>
                  <a:schemeClr val="tx2"/>
                </a:solidFill>
              </a:rPr>
              <a:t>Already original equipment on your premium range: </a:t>
            </a:r>
            <a:pPr indent="0" marL="0">
              <a:buNone/>
            </a:pPr>
            <a:r>
              <a:rPr lang="en-US" sz="1500" dirty="0">
                <a:solidFill>
                  <a:schemeClr val="tx1"/>
                </a:solidFill>
              </a:rPr>
              <a:t>HN-marked tires for Hyundai N and GOE-marked tires for Genesis.</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Our digital journey</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From manual sampling to self-correcting production lines</a:t>
            </a:r>
            <a:endParaRPr lang="en-US" sz="1600" dirty="0"/>
          </a:p>
        </p:txBody>
      </p:sp>
      <p:sp>
        <p:nvSpPr>
          <p:cNvPr id="4" name="Shape 2"/>
          <p:cNvSpPr/>
          <p:nvPr/>
        </p:nvSpPr>
        <p:spPr>
          <a:xfrm>
            <a:off x="548640" y="3794760"/>
            <a:ext cx="2072579" cy="2194560"/>
          </a:xfrm>
          <a:prstGeom prst="roundRect">
            <a:avLst>
              <a:gd name="adj" fmla="val 5294"/>
            </a:avLst>
          </a:prstGeom>
          <a:solidFill>
            <a:schemeClr val="bg2"/>
          </a:solidFill>
          <a:ln/>
        </p:spPr>
      </p:sp>
      <p:sp>
        <p:nvSpPr>
          <p:cNvPr id="5" name="Shape 3"/>
          <p:cNvSpPr/>
          <p:nvPr/>
        </p:nvSpPr>
        <p:spPr>
          <a:xfrm>
            <a:off x="777240" y="4023360"/>
            <a:ext cx="594360" cy="59436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25830" y="4171950"/>
            <a:ext cx="297180" cy="297180"/>
          </a:xfrm>
          <a:prstGeom prst="rect">
            <a:avLst/>
          </a:prstGeom>
        </p:spPr>
      </p:pic>
      <p:sp>
        <p:nvSpPr>
          <p:cNvPr id="7" name="Text 4"/>
          <p:cNvSpPr txBox="1"/>
          <p:nvPr/>
        </p:nvSpPr>
        <p:spPr>
          <a:xfrm>
            <a:off x="777240" y="4754880"/>
            <a:ext cx="1615379" cy="548640"/>
          </a:xfrm>
          <a:prstGeom prst="rect">
            <a:avLst/>
          </a:prstGeom>
          <a:noFill/>
          <a:ln/>
        </p:spPr>
        <p:txBody>
          <a:bodyPr wrap="square" lIns="0" tIns="0" rIns="0" bIns="0" rtlCol="0" anchor="t"/>
          <a:lstStyle/>
          <a:p>
            <a:pPr indent="0" marL="0">
              <a:buNone/>
            </a:pPr>
            <a:r>
              <a:rPr lang="en-US" sz="1600" b="1" dirty="0">
                <a:solidFill>
                  <a:schemeClr val="tx2"/>
                </a:solidFill>
              </a:rPr>
              <a:t>Sampling</a:t>
            </a:r>
            <a:endParaRPr lang="en-US" sz="1600" dirty="0"/>
          </a:p>
        </p:txBody>
      </p:sp>
      <p:sp>
        <p:nvSpPr>
          <p:cNvPr id="8" name="Text 5"/>
          <p:cNvSpPr txBox="1"/>
          <p:nvPr/>
        </p:nvSpPr>
        <p:spPr>
          <a:xfrm>
            <a:off x="777240" y="5303520"/>
            <a:ext cx="1615379" cy="594360"/>
          </a:xfrm>
          <a:prstGeom prst="rect">
            <a:avLst/>
          </a:prstGeom>
          <a:noFill/>
          <a:ln/>
        </p:spPr>
        <p:txBody>
          <a:bodyPr wrap="square" lIns="0" tIns="0" rIns="0" bIns="0" rtlCol="0" anchor="t"/>
          <a:lstStyle/>
          <a:p>
            <a:pPr indent="0" marL="0">
              <a:buNone/>
            </a:pPr>
            <a:r>
              <a:rPr lang="en-US" sz="1300" dirty="0">
                <a:solidFill>
                  <a:schemeClr val="tx2"/>
                </a:solidFill>
              </a:rPr>
              <a:t>Manual checks on a few tires per shift. Defects found late.</a:t>
            </a:r>
            <a:endParaRPr lang="en-US" sz="1300" dirty="0"/>
          </a:p>
        </p:txBody>
      </p:sp>
      <p:sp>
        <p:nvSpPr>
          <p:cNvPr id="9" name="Shape 6"/>
          <p:cNvSpPr/>
          <p:nvPr/>
        </p:nvSpPr>
        <p:spPr>
          <a:xfrm>
            <a:off x="2804099" y="3383280"/>
            <a:ext cx="2072579" cy="2606040"/>
          </a:xfrm>
          <a:prstGeom prst="roundRect">
            <a:avLst>
              <a:gd name="adj" fmla="val 5294"/>
            </a:avLst>
          </a:prstGeom>
          <a:solidFill>
            <a:schemeClr val="bg2"/>
          </a:solidFill>
          <a:ln/>
        </p:spPr>
      </p:sp>
      <p:sp>
        <p:nvSpPr>
          <p:cNvPr id="10" name="Shape 7"/>
          <p:cNvSpPr/>
          <p:nvPr/>
        </p:nvSpPr>
        <p:spPr>
          <a:xfrm>
            <a:off x="3032699" y="3611880"/>
            <a:ext cx="594360" cy="59436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181289" y="3760470"/>
            <a:ext cx="297180" cy="297180"/>
          </a:xfrm>
          <a:prstGeom prst="rect">
            <a:avLst/>
          </a:prstGeom>
        </p:spPr>
      </p:pic>
      <p:sp>
        <p:nvSpPr>
          <p:cNvPr id="12" name="Text 8"/>
          <p:cNvSpPr txBox="1"/>
          <p:nvPr/>
        </p:nvSpPr>
        <p:spPr>
          <a:xfrm>
            <a:off x="3032699" y="4343400"/>
            <a:ext cx="1615379" cy="548640"/>
          </a:xfrm>
          <a:prstGeom prst="rect">
            <a:avLst/>
          </a:prstGeom>
          <a:noFill/>
          <a:ln/>
        </p:spPr>
        <p:txBody>
          <a:bodyPr wrap="square" lIns="0" tIns="0" rIns="0" bIns="0" rtlCol="0" anchor="t"/>
          <a:lstStyle/>
          <a:p>
            <a:pPr indent="0" marL="0">
              <a:buNone/>
            </a:pPr>
            <a:r>
              <a:rPr lang="en-US" sz="1600" b="1" dirty="0">
                <a:solidFill>
                  <a:schemeClr val="tx2"/>
                </a:solidFill>
              </a:rPr>
              <a:t>Connected</a:t>
            </a:r>
            <a:endParaRPr lang="en-US" sz="1600" dirty="0"/>
          </a:p>
        </p:txBody>
      </p:sp>
      <p:sp>
        <p:nvSpPr>
          <p:cNvPr id="13" name="Text 9"/>
          <p:cNvSpPr txBox="1"/>
          <p:nvPr/>
        </p:nvSpPr>
        <p:spPr>
          <a:xfrm>
            <a:off x="3032699" y="4892040"/>
            <a:ext cx="1615379" cy="1005840"/>
          </a:xfrm>
          <a:prstGeom prst="rect">
            <a:avLst/>
          </a:prstGeom>
          <a:noFill/>
          <a:ln/>
        </p:spPr>
        <p:txBody>
          <a:bodyPr wrap="square" lIns="0" tIns="0" rIns="0" bIns="0" rtlCol="0" anchor="t"/>
          <a:lstStyle/>
          <a:p>
            <a:pPr indent="0" marL="0">
              <a:buNone/>
            </a:pPr>
            <a:r>
              <a:rPr lang="en-US" sz="1300" dirty="0">
                <a:solidFill>
                  <a:schemeClr val="tx2"/>
                </a:solidFill>
              </a:rPr>
              <a:t>Machines connected to an industrial data platform (PI System, since 2017).</a:t>
            </a:r>
            <a:endParaRPr lang="en-US" sz="1300" dirty="0"/>
          </a:p>
        </p:txBody>
      </p:sp>
      <p:sp>
        <p:nvSpPr>
          <p:cNvPr id="14" name="Shape 10"/>
          <p:cNvSpPr/>
          <p:nvPr/>
        </p:nvSpPr>
        <p:spPr>
          <a:xfrm>
            <a:off x="5059558" y="2971800"/>
            <a:ext cx="2072579" cy="3017520"/>
          </a:xfrm>
          <a:prstGeom prst="roundRect">
            <a:avLst>
              <a:gd name="adj" fmla="val 5294"/>
            </a:avLst>
          </a:prstGeom>
          <a:solidFill>
            <a:schemeClr val="accent1"/>
          </a:solidFill>
          <a:ln/>
        </p:spPr>
      </p:sp>
      <p:sp>
        <p:nvSpPr>
          <p:cNvPr id="15" name="Shape 11"/>
          <p:cNvSpPr/>
          <p:nvPr/>
        </p:nvSpPr>
        <p:spPr>
          <a:xfrm>
            <a:off x="5288158" y="3200400"/>
            <a:ext cx="594360" cy="594360"/>
          </a:xfrm>
          <a:prstGeom prst="ellipse">
            <a:avLst/>
          </a:prstGeom>
          <a:solidFill>
            <a:schemeClr val="tx2"/>
          </a:solidFill>
          <a:ln/>
        </p:spPr>
      </p:sp>
      <p:pic>
        <p:nvPicPr>
          <p:cNvPr id="16" name="Image 2" descr="preencoded.png">    </p:cNvPr>
          <p:cNvPicPr>
            <a:picLocks noChangeAspect="1"/>
          </p:cNvPicPr>
          <p:nvPr/>
        </p:nvPicPr>
        <p:blipFill>
          <a:blip r:embed="rId3"/>
          <a:stretch>
            <a:fillRect/>
          </a:stretch>
        </p:blipFill>
        <p:spPr>
          <a:xfrm>
            <a:off x="5436748" y="3348990"/>
            <a:ext cx="297180" cy="297180"/>
          </a:xfrm>
          <a:prstGeom prst="rect">
            <a:avLst/>
          </a:prstGeom>
        </p:spPr>
      </p:pic>
      <p:sp>
        <p:nvSpPr>
          <p:cNvPr id="17" name="Text 12"/>
          <p:cNvSpPr txBox="1"/>
          <p:nvPr/>
        </p:nvSpPr>
        <p:spPr>
          <a:xfrm>
            <a:off x="5288158" y="3931920"/>
            <a:ext cx="1615379" cy="548640"/>
          </a:xfrm>
          <a:prstGeom prst="rect">
            <a:avLst/>
          </a:prstGeom>
          <a:noFill/>
          <a:ln/>
        </p:spPr>
        <p:txBody>
          <a:bodyPr wrap="square" lIns="0" tIns="0" rIns="0" bIns="0" rtlCol="0" anchor="t"/>
          <a:lstStyle/>
          <a:p>
            <a:pPr indent="0" marL="0">
              <a:buNone/>
            </a:pPr>
            <a:r>
              <a:rPr lang="en-US" sz="1600" b="1" dirty="0">
                <a:solidFill>
                  <a:schemeClr val="bg1"/>
                </a:solidFill>
              </a:rPr>
              <a:t>Real-time analytics</a:t>
            </a:r>
            <a:endParaRPr lang="en-US" sz="1600" dirty="0"/>
          </a:p>
        </p:txBody>
      </p:sp>
      <p:sp>
        <p:nvSpPr>
          <p:cNvPr id="18" name="Text 13"/>
          <p:cNvSpPr txBox="1"/>
          <p:nvPr/>
        </p:nvSpPr>
        <p:spPr>
          <a:xfrm>
            <a:off x="5288158" y="4480560"/>
            <a:ext cx="1615379" cy="1417320"/>
          </a:xfrm>
          <a:prstGeom prst="rect">
            <a:avLst/>
          </a:prstGeom>
          <a:noFill/>
          <a:ln/>
        </p:spPr>
        <p:txBody>
          <a:bodyPr wrap="square" lIns="0" tIns="0" rIns="0" bIns="0" rtlCol="0" anchor="t"/>
          <a:lstStyle/>
          <a:p>
            <a:pPr indent="0" marL="0">
              <a:buNone/>
            </a:pPr>
            <a:r>
              <a:rPr lang="en-US" sz="1300" dirty="0">
                <a:solidFill>
                  <a:schemeClr val="bg1"/>
                </a:solidFill>
              </a:rPr>
              <a:t>Live dashboards, statistical control and smart alerts.</a:t>
            </a:r>
            <a:endParaRPr lang="en-US" sz="1300" dirty="0"/>
          </a:p>
        </p:txBody>
      </p:sp>
      <p:sp>
        <p:nvSpPr>
          <p:cNvPr id="19" name="Shape 14"/>
          <p:cNvSpPr/>
          <p:nvPr/>
        </p:nvSpPr>
        <p:spPr>
          <a:xfrm>
            <a:off x="7315017" y="2560320"/>
            <a:ext cx="2072579" cy="3429000"/>
          </a:xfrm>
          <a:prstGeom prst="roundRect">
            <a:avLst>
              <a:gd name="adj" fmla="val 5294"/>
            </a:avLst>
          </a:prstGeom>
          <a:solidFill>
            <a:schemeClr val="accent1"/>
          </a:solidFill>
          <a:ln/>
        </p:spPr>
      </p:sp>
      <p:sp>
        <p:nvSpPr>
          <p:cNvPr id="20" name="Shape 15"/>
          <p:cNvSpPr/>
          <p:nvPr/>
        </p:nvSpPr>
        <p:spPr>
          <a:xfrm>
            <a:off x="7543617" y="2788920"/>
            <a:ext cx="594360" cy="594360"/>
          </a:xfrm>
          <a:prstGeom prst="ellipse">
            <a:avLst/>
          </a:prstGeom>
          <a:solidFill>
            <a:schemeClr val="tx2"/>
          </a:solidFill>
          <a:ln/>
        </p:spPr>
      </p:sp>
      <p:pic>
        <p:nvPicPr>
          <p:cNvPr id="21" name="Image 3" descr="preencoded.png">    </p:cNvPr>
          <p:cNvPicPr>
            <a:picLocks noChangeAspect="1"/>
          </p:cNvPicPr>
          <p:nvPr/>
        </p:nvPicPr>
        <p:blipFill>
          <a:blip r:embed="rId4"/>
          <a:stretch>
            <a:fillRect/>
          </a:stretch>
        </p:blipFill>
        <p:spPr>
          <a:xfrm>
            <a:off x="7692207" y="2937510"/>
            <a:ext cx="297180" cy="297180"/>
          </a:xfrm>
          <a:prstGeom prst="rect">
            <a:avLst/>
          </a:prstGeom>
        </p:spPr>
      </p:pic>
      <p:sp>
        <p:nvSpPr>
          <p:cNvPr id="22" name="Text 16"/>
          <p:cNvSpPr txBox="1"/>
          <p:nvPr/>
        </p:nvSpPr>
        <p:spPr>
          <a:xfrm>
            <a:off x="7543617" y="3520440"/>
            <a:ext cx="1615379" cy="548640"/>
          </a:xfrm>
          <a:prstGeom prst="rect">
            <a:avLst/>
          </a:prstGeom>
          <a:noFill/>
          <a:ln/>
        </p:spPr>
        <p:txBody>
          <a:bodyPr wrap="square" lIns="0" tIns="0" rIns="0" bIns="0" rtlCol="0" anchor="t"/>
          <a:lstStyle/>
          <a:p>
            <a:pPr indent="0" marL="0">
              <a:buNone/>
            </a:pPr>
            <a:r>
              <a:rPr lang="en-US" sz="1600" b="1" dirty="0">
                <a:solidFill>
                  <a:schemeClr val="bg1"/>
                </a:solidFill>
              </a:rPr>
              <a:t>Closed loop</a:t>
            </a:r>
            <a:endParaRPr lang="en-US" sz="1600" dirty="0"/>
          </a:p>
        </p:txBody>
      </p:sp>
      <p:sp>
        <p:nvSpPr>
          <p:cNvPr id="23" name="Text 17"/>
          <p:cNvSpPr txBox="1"/>
          <p:nvPr/>
        </p:nvSpPr>
        <p:spPr>
          <a:xfrm>
            <a:off x="7543617" y="4069080"/>
            <a:ext cx="1615379" cy="1828800"/>
          </a:xfrm>
          <a:prstGeom prst="rect">
            <a:avLst/>
          </a:prstGeom>
          <a:noFill/>
          <a:ln/>
        </p:spPr>
        <p:txBody>
          <a:bodyPr wrap="square" lIns="0" tIns="0" rIns="0" bIns="0" rtlCol="0" anchor="t"/>
          <a:lstStyle/>
          <a:p>
            <a:pPr indent="0" marL="0">
              <a:buNone/>
            </a:pPr>
            <a:r>
              <a:rPr lang="en-US" sz="1300" dirty="0">
                <a:solidFill>
                  <a:schemeClr val="bg1"/>
                </a:solidFill>
              </a:rPr>
              <a:t>Rules engine corrects the process automatically.</a:t>
            </a:r>
            <a:endParaRPr lang="en-US" sz="1300" dirty="0"/>
          </a:p>
        </p:txBody>
      </p:sp>
      <p:sp>
        <p:nvSpPr>
          <p:cNvPr id="24" name="Shape 18"/>
          <p:cNvSpPr/>
          <p:nvPr/>
        </p:nvSpPr>
        <p:spPr>
          <a:xfrm>
            <a:off x="9570476" y="2148840"/>
            <a:ext cx="2072579" cy="3840480"/>
          </a:xfrm>
          <a:prstGeom prst="roundRect">
            <a:avLst>
              <a:gd name="adj" fmla="val 5294"/>
            </a:avLst>
          </a:prstGeom>
          <a:solidFill>
            <a:schemeClr val="accent2"/>
          </a:solidFill>
          <a:ln/>
        </p:spPr>
      </p:sp>
      <p:sp>
        <p:nvSpPr>
          <p:cNvPr id="25" name="Shape 19"/>
          <p:cNvSpPr/>
          <p:nvPr/>
        </p:nvSpPr>
        <p:spPr>
          <a:xfrm>
            <a:off x="9799076" y="2377440"/>
            <a:ext cx="594360" cy="59436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9947666" y="2526030"/>
            <a:ext cx="297180" cy="297180"/>
          </a:xfrm>
          <a:prstGeom prst="rect">
            <a:avLst/>
          </a:prstGeom>
        </p:spPr>
      </p:pic>
      <p:sp>
        <p:nvSpPr>
          <p:cNvPr id="27" name="Text 20"/>
          <p:cNvSpPr txBox="1"/>
          <p:nvPr/>
        </p:nvSpPr>
        <p:spPr>
          <a:xfrm>
            <a:off x="9799076" y="3108960"/>
            <a:ext cx="1615379" cy="548640"/>
          </a:xfrm>
          <a:prstGeom prst="rect">
            <a:avLst/>
          </a:prstGeom>
          <a:noFill/>
          <a:ln/>
        </p:spPr>
        <p:txBody>
          <a:bodyPr wrap="square" lIns="0" tIns="0" rIns="0" bIns="0" rtlCol="0" anchor="t"/>
          <a:lstStyle/>
          <a:p>
            <a:pPr indent="0" marL="0">
              <a:buNone/>
            </a:pPr>
            <a:r>
              <a:rPr lang="en-US" sz="1600" b="1" dirty="0">
                <a:solidFill>
                  <a:schemeClr val="tx2"/>
                </a:solidFill>
              </a:rPr>
              <a:t>Predictive &amp; AI</a:t>
            </a:r>
            <a:endParaRPr lang="en-US" sz="1600" dirty="0"/>
          </a:p>
        </p:txBody>
      </p:sp>
      <p:sp>
        <p:nvSpPr>
          <p:cNvPr id="28" name="Text 21"/>
          <p:cNvSpPr txBox="1"/>
          <p:nvPr/>
        </p:nvSpPr>
        <p:spPr>
          <a:xfrm>
            <a:off x="9799076" y="3657600"/>
            <a:ext cx="1615379" cy="2240280"/>
          </a:xfrm>
          <a:prstGeom prst="rect">
            <a:avLst/>
          </a:prstGeom>
          <a:noFill/>
          <a:ln/>
        </p:spPr>
        <p:txBody>
          <a:bodyPr wrap="square" lIns="0" tIns="0" rIns="0" bIns="0" rtlCol="0" anchor="t"/>
          <a:lstStyle/>
          <a:p>
            <a:pPr indent="0" marL="0">
              <a:buNone/>
            </a:pPr>
            <a:r>
              <a:rPr lang="en-US" sz="1300" dirty="0">
                <a:solidFill>
                  <a:schemeClr val="tx2"/>
                </a:solidFill>
              </a:rPr>
              <a:t>Advanced analytics, digital twins and AI to anticipate issues.</a:t>
            </a:r>
            <a:endParaRPr lang="en-US" sz="1300" dirty="0"/>
          </a:p>
        </p:txBody>
      </p:sp>
      <p:sp>
        <p:nvSpPr>
          <p:cNvPr id="29" name="Shape 22"/>
          <p:cNvSpPr/>
          <p:nvPr/>
        </p:nvSpPr>
        <p:spPr>
          <a:xfrm>
            <a:off x="548640" y="1673352"/>
            <a:ext cx="182880" cy="182880"/>
          </a:xfrm>
          <a:prstGeom prst="rect">
            <a:avLst/>
          </a:prstGeom>
          <a:solidFill>
            <a:schemeClr val="accent1"/>
          </a:solidFill>
          <a:ln/>
        </p:spPr>
      </p:sp>
      <p:sp>
        <p:nvSpPr>
          <p:cNvPr id="30" name="Text 23"/>
          <p:cNvSpPr txBox="1"/>
          <p:nvPr/>
        </p:nvSpPr>
        <p:spPr>
          <a:xfrm>
            <a:off x="822960" y="1600200"/>
            <a:ext cx="1371600" cy="320040"/>
          </a:xfrm>
          <a:prstGeom prst="rect">
            <a:avLst/>
          </a:prstGeom>
          <a:noFill/>
          <a:ln/>
        </p:spPr>
        <p:txBody>
          <a:bodyPr wrap="square" lIns="0" tIns="0" rIns="0" bIns="0" rtlCol="0" anchor="ctr"/>
          <a:lstStyle/>
          <a:p>
            <a:pPr indent="0" marL="0">
              <a:buNone/>
            </a:pPr>
            <a:r>
              <a:rPr lang="en-US" sz="1300" b="1" dirty="0">
                <a:solidFill>
                  <a:schemeClr val="tx2"/>
                </a:solidFill>
              </a:rPr>
              <a:t>OLM today</a:t>
            </a:r>
            <a:endParaRPr lang="en-US" sz="1300" dirty="0"/>
          </a:p>
        </p:txBody>
      </p:sp>
      <p:sp>
        <p:nvSpPr>
          <p:cNvPr id="31" name="Shape 24"/>
          <p:cNvSpPr/>
          <p:nvPr/>
        </p:nvSpPr>
        <p:spPr>
          <a:xfrm>
            <a:off x="2286000" y="1673352"/>
            <a:ext cx="182880" cy="182880"/>
          </a:xfrm>
          <a:prstGeom prst="rect">
            <a:avLst/>
          </a:prstGeom>
          <a:solidFill>
            <a:schemeClr val="accent2"/>
          </a:solidFill>
          <a:ln/>
        </p:spPr>
      </p:sp>
      <p:sp>
        <p:nvSpPr>
          <p:cNvPr id="32" name="Text 25"/>
          <p:cNvSpPr txBox="1"/>
          <p:nvPr/>
        </p:nvSpPr>
        <p:spPr>
          <a:xfrm>
            <a:off x="2560320" y="1600200"/>
            <a:ext cx="1371600" cy="320040"/>
          </a:xfrm>
          <a:prstGeom prst="rect">
            <a:avLst/>
          </a:prstGeom>
          <a:noFill/>
          <a:ln/>
        </p:spPr>
        <p:txBody>
          <a:bodyPr wrap="square" lIns="0" tIns="0" rIns="0" bIns="0" rtlCol="0" anchor="ctr"/>
          <a:lstStyle/>
          <a:p>
            <a:pPr indent="0" marL="0">
              <a:buNone/>
            </a:pPr>
            <a:r>
              <a:rPr lang="en-US" sz="1300" b="1" dirty="0">
                <a:solidFill>
                  <a:schemeClr val="tx2"/>
                </a:solidFill>
              </a:rPr>
              <a:t>Next phase</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000" b="1" dirty="0">
                <a:solidFill>
                  <a:schemeClr val="bg1"/>
                </a:solidFill>
              </a:rPr>
              <a:t>A group-wide transformation</a:t>
            </a:r>
            <a:endParaRPr lang="en-US" sz="3000" dirty="0"/>
          </a:p>
        </p:txBody>
      </p:sp>
      <p:sp>
        <p:nvSpPr>
          <p:cNvPr id="3" name="Text 0"/>
          <p:cNvSpPr/>
          <p:nvPr>
            <p:ph idx="101" type="body" hasCustomPrompt="1"/>
          </p:nvPr>
        </p:nvSpPr>
        <p:spPr>
          <a:xfrm>
            <a:off x="548640" y="987552"/>
            <a:ext cx="11094415" cy="411480"/>
          </a:xfrm>
          <a:prstGeom prst="rect">
            <a:avLst/>
          </a:prstGeom>
          <a:noFill/>
          <a:ln/>
        </p:spPr>
        <p:txBody>
          <a:bodyPr wrap="square" lIns="0" tIns="0" rIns="0" bIns="0" rtlCol="0" anchor="t"/>
          <a:lstStyle/>
          <a:p>
            <a:pPr indent="0" marL="0">
              <a:buNone/>
            </a:pPr>
            <a:r>
              <a:rPr lang="en-US" sz="1600" dirty="0">
                <a:solidFill>
                  <a:schemeClr val="accent2"/>
                </a:solidFill>
              </a:rPr>
              <a:t>OLM is one piece of Michelin's Plant 4.0 programme, deployed across our factories</a:t>
            </a:r>
            <a:endParaRPr lang="en-US" sz="1600" dirty="0"/>
          </a:p>
        </p:txBody>
      </p:sp>
      <p:sp>
        <p:nvSpPr>
          <p:cNvPr id="4" name="Text 2"/>
          <p:cNvSpPr txBox="1"/>
          <p:nvPr/>
        </p:nvSpPr>
        <p:spPr>
          <a:xfrm>
            <a:off x="548640" y="1737360"/>
            <a:ext cx="3515258" cy="1005840"/>
          </a:xfrm>
          <a:prstGeom prst="rect">
            <a:avLst/>
          </a:prstGeom>
          <a:noFill/>
          <a:ln/>
        </p:spPr>
        <p:txBody>
          <a:bodyPr wrap="square" lIns="0" tIns="0" rIns="0" bIns="0" rtlCol="0" anchor="ctr"/>
          <a:lstStyle/>
          <a:p>
            <a:pPr indent="0" marL="0">
              <a:buNone/>
            </a:pPr>
            <a:r>
              <a:rPr lang="en-US" sz="5400" b="1" dirty="0">
                <a:solidFill>
                  <a:schemeClr val="accent2"/>
                </a:solidFill>
              </a:rPr>
              <a:t>€60M</a:t>
            </a:r>
            <a:endParaRPr lang="en-US" sz="5400" dirty="0"/>
          </a:p>
        </p:txBody>
      </p:sp>
      <p:sp>
        <p:nvSpPr>
          <p:cNvPr id="5" name="Text 3"/>
          <p:cNvSpPr txBox="1"/>
          <p:nvPr/>
        </p:nvSpPr>
        <p:spPr>
          <a:xfrm>
            <a:off x="548640" y="2743200"/>
            <a:ext cx="3332378" cy="822960"/>
          </a:xfrm>
          <a:prstGeom prst="rect">
            <a:avLst/>
          </a:prstGeom>
          <a:noFill/>
          <a:ln/>
        </p:spPr>
        <p:txBody>
          <a:bodyPr wrap="square" lIns="0" tIns="0" rIns="0" bIns="0" rtlCol="0" anchor="t"/>
          <a:lstStyle/>
          <a:p>
            <a:pPr indent="0" marL="0">
              <a:buNone/>
            </a:pPr>
            <a:r>
              <a:rPr lang="en-US" sz="1500" dirty="0">
                <a:solidFill>
                  <a:srgbClr val="DCE4F2"/>
                </a:solidFill>
              </a:rPr>
              <a:t>annual gains reported by Michelin from digitalisation and AI in its plants (2023)</a:t>
            </a:r>
            <a:endParaRPr lang="en-US" sz="1500" dirty="0"/>
          </a:p>
        </p:txBody>
      </p:sp>
      <p:sp>
        <p:nvSpPr>
          <p:cNvPr id="6" name="Text 4"/>
          <p:cNvSpPr txBox="1"/>
          <p:nvPr/>
        </p:nvSpPr>
        <p:spPr>
          <a:xfrm>
            <a:off x="4338218" y="1737360"/>
            <a:ext cx="3515258" cy="1005840"/>
          </a:xfrm>
          <a:prstGeom prst="rect">
            <a:avLst/>
          </a:prstGeom>
          <a:noFill/>
          <a:ln/>
        </p:spPr>
        <p:txBody>
          <a:bodyPr wrap="square" lIns="0" tIns="0" rIns="0" bIns="0" rtlCol="0" anchor="ctr"/>
          <a:lstStyle/>
          <a:p>
            <a:pPr indent="0" marL="0">
              <a:buNone/>
            </a:pPr>
            <a:r>
              <a:rPr lang="en-US" sz="5400" b="1" dirty="0">
                <a:solidFill>
                  <a:schemeClr val="accent2"/>
                </a:solidFill>
              </a:rPr>
              <a:t>2017</a:t>
            </a:r>
            <a:endParaRPr lang="en-US" sz="5400" dirty="0"/>
          </a:p>
        </p:txBody>
      </p:sp>
      <p:sp>
        <p:nvSpPr>
          <p:cNvPr id="7" name="Text 5"/>
          <p:cNvSpPr txBox="1"/>
          <p:nvPr/>
        </p:nvSpPr>
        <p:spPr>
          <a:xfrm>
            <a:off x="4338218" y="2743200"/>
            <a:ext cx="3332378" cy="822960"/>
          </a:xfrm>
          <a:prstGeom prst="rect">
            <a:avLst/>
          </a:prstGeom>
          <a:noFill/>
          <a:ln/>
        </p:spPr>
        <p:txBody>
          <a:bodyPr wrap="square" lIns="0" tIns="0" rIns="0" bIns="0" rtlCol="0" anchor="t"/>
          <a:lstStyle/>
          <a:p>
            <a:pPr indent="0" marL="0">
              <a:buNone/>
            </a:pPr>
            <a:r>
              <a:rPr lang="en-US" sz="1500" dirty="0">
                <a:solidFill>
                  <a:srgbClr val="DCE4F2"/>
                </a:solidFill>
              </a:rPr>
              <a:t>start of our Digital Manufacturing platform built on the PI System</a:t>
            </a:r>
            <a:endParaRPr lang="en-US" sz="1500" dirty="0"/>
          </a:p>
        </p:txBody>
      </p:sp>
      <p:sp>
        <p:nvSpPr>
          <p:cNvPr id="8" name="Text 6"/>
          <p:cNvSpPr txBox="1"/>
          <p:nvPr/>
        </p:nvSpPr>
        <p:spPr>
          <a:xfrm>
            <a:off x="8127797" y="1737360"/>
            <a:ext cx="3515258" cy="1005840"/>
          </a:xfrm>
          <a:prstGeom prst="rect">
            <a:avLst/>
          </a:prstGeom>
          <a:noFill/>
          <a:ln/>
        </p:spPr>
        <p:txBody>
          <a:bodyPr wrap="square" lIns="0" tIns="0" rIns="0" bIns="0" rtlCol="0" anchor="ctr"/>
          <a:lstStyle/>
          <a:p>
            <a:pPr indent="0" marL="0">
              <a:buNone/>
            </a:pPr>
            <a:r>
              <a:rPr lang="en-US" sz="5400" b="1" dirty="0">
                <a:solidFill>
                  <a:schemeClr val="accent2"/>
                </a:solidFill>
              </a:rPr>
              <a:t>3×</a:t>
            </a:r>
            <a:endParaRPr lang="en-US" sz="5400" dirty="0"/>
          </a:p>
        </p:txBody>
      </p:sp>
      <p:sp>
        <p:nvSpPr>
          <p:cNvPr id="9" name="Text 7"/>
          <p:cNvSpPr txBox="1"/>
          <p:nvPr/>
        </p:nvSpPr>
        <p:spPr>
          <a:xfrm>
            <a:off x="8127797" y="2743200"/>
            <a:ext cx="3332378" cy="822960"/>
          </a:xfrm>
          <a:prstGeom prst="rect">
            <a:avLst/>
          </a:prstGeom>
          <a:noFill/>
          <a:ln/>
        </p:spPr>
        <p:txBody>
          <a:bodyPr wrap="square" lIns="0" tIns="0" rIns="0" bIns="0" rtlCol="0" anchor="t"/>
          <a:lstStyle/>
          <a:p>
            <a:pPr indent="0" marL="0">
              <a:buNone/>
            </a:pPr>
            <a:r>
              <a:rPr lang="en-US" sz="1500" dirty="0">
                <a:solidFill>
                  <a:srgbClr val="DCE4F2"/>
                </a:solidFill>
              </a:rPr>
              <a:t>more operating robots targeted by 2025 under Plant 4.0</a:t>
            </a:r>
            <a:endParaRPr lang="en-US" sz="1500" dirty="0"/>
          </a:p>
        </p:txBody>
      </p:sp>
      <p:sp>
        <p:nvSpPr>
          <p:cNvPr id="10" name="Shape 8"/>
          <p:cNvSpPr/>
          <p:nvPr/>
        </p:nvSpPr>
        <p:spPr>
          <a:xfrm>
            <a:off x="548640" y="3977640"/>
            <a:ext cx="2567864" cy="1965960"/>
          </a:xfrm>
          <a:prstGeom prst="roundRect">
            <a:avLst>
              <a:gd name="adj" fmla="val 5581"/>
            </a:avLst>
          </a:prstGeom>
          <a:solidFill>
            <a:srgbClr val="13306B"/>
          </a:solidFill>
          <a:ln/>
        </p:spPr>
      </p:sp>
      <p:sp>
        <p:nvSpPr>
          <p:cNvPr id="11" name="Shape 9"/>
          <p:cNvSpPr/>
          <p:nvPr/>
        </p:nvSpPr>
        <p:spPr>
          <a:xfrm>
            <a:off x="777240" y="4206240"/>
            <a:ext cx="548640" cy="548640"/>
          </a:xfrm>
          <a:prstGeom prst="ellipse">
            <a:avLst/>
          </a:prstGeom>
          <a:solidFill>
            <a:schemeClr val="accent1"/>
          </a:solidFill>
          <a:ln/>
        </p:spPr>
      </p:sp>
      <p:pic>
        <p:nvPicPr>
          <p:cNvPr id="12" name="Image 0" descr="preencoded.png">    </p:cNvPr>
          <p:cNvPicPr>
            <a:picLocks noChangeAspect="1"/>
          </p:cNvPicPr>
          <p:nvPr/>
        </p:nvPicPr>
        <p:blipFill>
          <a:blip r:embed="rId1"/>
          <a:stretch>
            <a:fillRect/>
          </a:stretch>
        </p:blipFill>
        <p:spPr>
          <a:xfrm>
            <a:off x="914400" y="4343400"/>
            <a:ext cx="274320" cy="274320"/>
          </a:xfrm>
          <a:prstGeom prst="rect">
            <a:avLst/>
          </a:prstGeom>
        </p:spPr>
      </p:pic>
      <p:sp>
        <p:nvSpPr>
          <p:cNvPr id="13" name="Text 10"/>
          <p:cNvSpPr txBox="1"/>
          <p:nvPr/>
        </p:nvSpPr>
        <p:spPr>
          <a:xfrm>
            <a:off x="777240" y="4818888"/>
            <a:ext cx="2110664" cy="548640"/>
          </a:xfrm>
          <a:prstGeom prst="rect">
            <a:avLst/>
          </a:prstGeom>
          <a:noFill/>
          <a:ln/>
        </p:spPr>
        <p:txBody>
          <a:bodyPr wrap="square" lIns="0" tIns="0" rIns="0" bIns="0" rtlCol="0" anchor="t"/>
          <a:lstStyle/>
          <a:p>
            <a:pPr indent="0" marL="0">
              <a:buNone/>
            </a:pPr>
            <a:r>
              <a:rPr lang="en-US" sz="1500" b="1" dirty="0">
                <a:solidFill>
                  <a:schemeClr val="bg1"/>
                </a:solidFill>
              </a:rPr>
              <a:t>Digital twins</a:t>
            </a:r>
            <a:endParaRPr lang="en-US" sz="1500" dirty="0"/>
          </a:p>
        </p:txBody>
      </p:sp>
      <p:sp>
        <p:nvSpPr>
          <p:cNvPr id="14" name="Text 11"/>
          <p:cNvSpPr txBox="1"/>
          <p:nvPr/>
        </p:nvSpPr>
        <p:spPr>
          <a:xfrm>
            <a:off x="777240" y="5349240"/>
            <a:ext cx="2110664" cy="548640"/>
          </a:xfrm>
          <a:prstGeom prst="rect">
            <a:avLst/>
          </a:prstGeom>
          <a:noFill/>
          <a:ln/>
        </p:spPr>
        <p:txBody>
          <a:bodyPr wrap="square" lIns="0" tIns="0" rIns="0" bIns="0" rtlCol="0" anchor="t"/>
          <a:lstStyle/>
          <a:p>
            <a:pPr indent="0" marL="0">
              <a:buNone/>
            </a:pPr>
            <a:r>
              <a:rPr lang="en-US" sz="1300" dirty="0">
                <a:solidFill>
                  <a:srgbClr val="DCE4F2"/>
                </a:solidFill>
              </a:rPr>
              <a:t>to simulate and tune processes</a:t>
            </a:r>
            <a:endParaRPr lang="en-US" sz="1300" dirty="0"/>
          </a:p>
        </p:txBody>
      </p:sp>
      <p:sp>
        <p:nvSpPr>
          <p:cNvPr id="15" name="Shape 12"/>
          <p:cNvSpPr/>
          <p:nvPr/>
        </p:nvSpPr>
        <p:spPr>
          <a:xfrm>
            <a:off x="3390824" y="3977640"/>
            <a:ext cx="2567864" cy="1965960"/>
          </a:xfrm>
          <a:prstGeom prst="roundRect">
            <a:avLst>
              <a:gd name="adj" fmla="val 5581"/>
            </a:avLst>
          </a:prstGeom>
          <a:solidFill>
            <a:srgbClr val="13306B"/>
          </a:solidFill>
          <a:ln/>
        </p:spPr>
      </p:sp>
      <p:sp>
        <p:nvSpPr>
          <p:cNvPr id="16" name="Shape 13"/>
          <p:cNvSpPr/>
          <p:nvPr/>
        </p:nvSpPr>
        <p:spPr>
          <a:xfrm>
            <a:off x="3619424" y="4206240"/>
            <a:ext cx="548640" cy="548640"/>
          </a:xfrm>
          <a:prstGeom prst="ellipse">
            <a:avLst/>
          </a:prstGeom>
          <a:solidFill>
            <a:schemeClr val="accent1"/>
          </a:solidFill>
          <a:ln/>
        </p:spPr>
      </p:sp>
      <p:pic>
        <p:nvPicPr>
          <p:cNvPr id="17" name="Image 1" descr="preencoded.png">    </p:cNvPr>
          <p:cNvPicPr>
            <a:picLocks noChangeAspect="1"/>
          </p:cNvPicPr>
          <p:nvPr/>
        </p:nvPicPr>
        <p:blipFill>
          <a:blip r:embed="rId2"/>
          <a:stretch>
            <a:fillRect/>
          </a:stretch>
        </p:blipFill>
        <p:spPr>
          <a:xfrm>
            <a:off x="3756584" y="4343400"/>
            <a:ext cx="274320" cy="274320"/>
          </a:xfrm>
          <a:prstGeom prst="rect">
            <a:avLst/>
          </a:prstGeom>
        </p:spPr>
      </p:pic>
      <p:sp>
        <p:nvSpPr>
          <p:cNvPr id="18" name="Text 14"/>
          <p:cNvSpPr txBox="1"/>
          <p:nvPr/>
        </p:nvSpPr>
        <p:spPr>
          <a:xfrm>
            <a:off x="3619424" y="4818888"/>
            <a:ext cx="2110664" cy="548640"/>
          </a:xfrm>
          <a:prstGeom prst="rect">
            <a:avLst/>
          </a:prstGeom>
          <a:noFill/>
          <a:ln/>
        </p:spPr>
        <p:txBody>
          <a:bodyPr wrap="square" lIns="0" tIns="0" rIns="0" bIns="0" rtlCol="0" anchor="t"/>
          <a:lstStyle/>
          <a:p>
            <a:pPr indent="0" marL="0">
              <a:buNone/>
            </a:pPr>
            <a:r>
              <a:rPr lang="en-US" sz="1500" b="1" dirty="0">
                <a:solidFill>
                  <a:schemeClr val="bg1"/>
                </a:solidFill>
              </a:rPr>
              <a:t>Predictive maintenance</a:t>
            </a:r>
            <a:endParaRPr lang="en-US" sz="1500" dirty="0"/>
          </a:p>
        </p:txBody>
      </p:sp>
      <p:sp>
        <p:nvSpPr>
          <p:cNvPr id="19" name="Text 15"/>
          <p:cNvSpPr txBox="1"/>
          <p:nvPr/>
        </p:nvSpPr>
        <p:spPr>
          <a:xfrm>
            <a:off x="3619424" y="5349240"/>
            <a:ext cx="2110664" cy="548640"/>
          </a:xfrm>
          <a:prstGeom prst="rect">
            <a:avLst/>
          </a:prstGeom>
          <a:noFill/>
          <a:ln/>
        </p:spPr>
        <p:txBody>
          <a:bodyPr wrap="square" lIns="0" tIns="0" rIns="0" bIns="0" rtlCol="0" anchor="t"/>
          <a:lstStyle/>
          <a:p>
            <a:pPr indent="0" marL="0">
              <a:buNone/>
            </a:pPr>
            <a:r>
              <a:rPr lang="en-US" sz="1300" dirty="0">
                <a:solidFill>
                  <a:srgbClr val="DCE4F2"/>
                </a:solidFill>
              </a:rPr>
              <a:t>to avoid unplanned stops</a:t>
            </a:r>
            <a:endParaRPr lang="en-US" sz="1300" dirty="0"/>
          </a:p>
        </p:txBody>
      </p:sp>
      <p:sp>
        <p:nvSpPr>
          <p:cNvPr id="20" name="Shape 16"/>
          <p:cNvSpPr/>
          <p:nvPr/>
        </p:nvSpPr>
        <p:spPr>
          <a:xfrm>
            <a:off x="6233008" y="3977640"/>
            <a:ext cx="2567864" cy="1965960"/>
          </a:xfrm>
          <a:prstGeom prst="roundRect">
            <a:avLst>
              <a:gd name="adj" fmla="val 5581"/>
            </a:avLst>
          </a:prstGeom>
          <a:solidFill>
            <a:srgbClr val="13306B"/>
          </a:solidFill>
          <a:ln/>
        </p:spPr>
      </p:sp>
      <p:sp>
        <p:nvSpPr>
          <p:cNvPr id="21" name="Shape 17"/>
          <p:cNvSpPr/>
          <p:nvPr/>
        </p:nvSpPr>
        <p:spPr>
          <a:xfrm>
            <a:off x="6461608" y="4206240"/>
            <a:ext cx="548640" cy="548640"/>
          </a:xfrm>
          <a:prstGeom prst="ellipse">
            <a:avLst/>
          </a:prstGeom>
          <a:solidFill>
            <a:schemeClr val="accent1"/>
          </a:solidFill>
          <a:ln/>
        </p:spPr>
      </p:sp>
      <p:pic>
        <p:nvPicPr>
          <p:cNvPr id="22" name="Image 2" descr="preencoded.png">    </p:cNvPr>
          <p:cNvPicPr>
            <a:picLocks noChangeAspect="1"/>
          </p:cNvPicPr>
          <p:nvPr/>
        </p:nvPicPr>
        <p:blipFill>
          <a:blip r:embed="rId3"/>
          <a:stretch>
            <a:fillRect/>
          </a:stretch>
        </p:blipFill>
        <p:spPr>
          <a:xfrm>
            <a:off x="6598768" y="4343400"/>
            <a:ext cx="274320" cy="274320"/>
          </a:xfrm>
          <a:prstGeom prst="rect">
            <a:avLst/>
          </a:prstGeom>
        </p:spPr>
      </p:pic>
      <p:sp>
        <p:nvSpPr>
          <p:cNvPr id="23" name="Text 18"/>
          <p:cNvSpPr txBox="1"/>
          <p:nvPr/>
        </p:nvSpPr>
        <p:spPr>
          <a:xfrm>
            <a:off x="6461608" y="4818888"/>
            <a:ext cx="2110664" cy="548640"/>
          </a:xfrm>
          <a:prstGeom prst="rect">
            <a:avLst/>
          </a:prstGeom>
          <a:noFill/>
          <a:ln/>
        </p:spPr>
        <p:txBody>
          <a:bodyPr wrap="square" lIns="0" tIns="0" rIns="0" bIns="0" rtlCol="0" anchor="t"/>
          <a:lstStyle/>
          <a:p>
            <a:pPr indent="0" marL="0">
              <a:buNone/>
            </a:pPr>
            <a:r>
              <a:rPr lang="en-US" sz="1500" b="1" dirty="0">
                <a:solidFill>
                  <a:schemeClr val="bg1"/>
                </a:solidFill>
              </a:rPr>
              <a:t>Computer vision</a:t>
            </a:r>
            <a:endParaRPr lang="en-US" sz="1500" dirty="0"/>
          </a:p>
        </p:txBody>
      </p:sp>
      <p:sp>
        <p:nvSpPr>
          <p:cNvPr id="24" name="Text 19"/>
          <p:cNvSpPr txBox="1"/>
          <p:nvPr/>
        </p:nvSpPr>
        <p:spPr>
          <a:xfrm>
            <a:off x="6461608" y="5349240"/>
            <a:ext cx="2110664" cy="548640"/>
          </a:xfrm>
          <a:prstGeom prst="rect">
            <a:avLst/>
          </a:prstGeom>
          <a:noFill/>
          <a:ln/>
        </p:spPr>
        <p:txBody>
          <a:bodyPr wrap="square" lIns="0" tIns="0" rIns="0" bIns="0" rtlCol="0" anchor="t"/>
          <a:lstStyle/>
          <a:p>
            <a:pPr indent="0" marL="0">
              <a:buNone/>
            </a:pPr>
            <a:r>
              <a:rPr lang="en-US" sz="1300" dirty="0">
                <a:solidFill>
                  <a:srgbClr val="DCE4F2"/>
                </a:solidFill>
              </a:rPr>
              <a:t>for automated quality control</a:t>
            </a:r>
            <a:endParaRPr lang="en-US" sz="1300" dirty="0"/>
          </a:p>
        </p:txBody>
      </p:sp>
      <p:sp>
        <p:nvSpPr>
          <p:cNvPr id="25" name="Shape 20"/>
          <p:cNvSpPr/>
          <p:nvPr/>
        </p:nvSpPr>
        <p:spPr>
          <a:xfrm>
            <a:off x="9075191" y="3977640"/>
            <a:ext cx="2567864" cy="1965960"/>
          </a:xfrm>
          <a:prstGeom prst="roundRect">
            <a:avLst>
              <a:gd name="adj" fmla="val 5581"/>
            </a:avLst>
          </a:prstGeom>
          <a:solidFill>
            <a:srgbClr val="13306B"/>
          </a:solidFill>
          <a:ln/>
        </p:spPr>
      </p:sp>
      <p:sp>
        <p:nvSpPr>
          <p:cNvPr id="26" name="Shape 21"/>
          <p:cNvSpPr/>
          <p:nvPr/>
        </p:nvSpPr>
        <p:spPr>
          <a:xfrm>
            <a:off x="9303791" y="4206240"/>
            <a:ext cx="548640" cy="548640"/>
          </a:xfrm>
          <a:prstGeom prst="ellipse">
            <a:avLst/>
          </a:prstGeom>
          <a:solidFill>
            <a:schemeClr val="accent1"/>
          </a:solidFill>
          <a:ln/>
        </p:spPr>
      </p:sp>
      <p:pic>
        <p:nvPicPr>
          <p:cNvPr id="27" name="Image 3" descr="preencoded.png">    </p:cNvPr>
          <p:cNvPicPr>
            <a:picLocks noChangeAspect="1"/>
          </p:cNvPicPr>
          <p:nvPr/>
        </p:nvPicPr>
        <p:blipFill>
          <a:blip r:embed="rId4"/>
          <a:stretch>
            <a:fillRect/>
          </a:stretch>
        </p:blipFill>
        <p:spPr>
          <a:xfrm>
            <a:off x="9440951" y="4343400"/>
            <a:ext cx="274320" cy="274320"/>
          </a:xfrm>
          <a:prstGeom prst="rect">
            <a:avLst/>
          </a:prstGeom>
        </p:spPr>
      </p:pic>
      <p:sp>
        <p:nvSpPr>
          <p:cNvPr id="28" name="Text 22"/>
          <p:cNvSpPr txBox="1"/>
          <p:nvPr/>
        </p:nvSpPr>
        <p:spPr>
          <a:xfrm>
            <a:off x="9303791" y="4818888"/>
            <a:ext cx="2110664" cy="548640"/>
          </a:xfrm>
          <a:prstGeom prst="rect">
            <a:avLst/>
          </a:prstGeom>
          <a:noFill/>
          <a:ln/>
        </p:spPr>
        <p:txBody>
          <a:bodyPr wrap="square" lIns="0" tIns="0" rIns="0" bIns="0" rtlCol="0" anchor="t"/>
          <a:lstStyle/>
          <a:p>
            <a:pPr indent="0" marL="0">
              <a:buNone/>
            </a:pPr>
            <a:r>
              <a:rPr lang="en-US" sz="1500" b="1" dirty="0">
                <a:solidFill>
                  <a:schemeClr val="bg1"/>
                </a:solidFill>
              </a:rPr>
              <a:t>Robotics + AI</a:t>
            </a:r>
            <a:endParaRPr lang="en-US" sz="1500" dirty="0"/>
          </a:p>
        </p:txBody>
      </p:sp>
      <p:sp>
        <p:nvSpPr>
          <p:cNvPr id="29" name="Text 23"/>
          <p:cNvSpPr txBox="1"/>
          <p:nvPr/>
        </p:nvSpPr>
        <p:spPr>
          <a:xfrm>
            <a:off x="9303791" y="5349240"/>
            <a:ext cx="2110664" cy="548640"/>
          </a:xfrm>
          <a:prstGeom prst="rect">
            <a:avLst/>
          </a:prstGeom>
          <a:noFill/>
          <a:ln/>
        </p:spPr>
        <p:txBody>
          <a:bodyPr wrap="square" lIns="0" tIns="0" rIns="0" bIns="0" rtlCol="0" anchor="t"/>
          <a:lstStyle/>
          <a:p>
            <a:pPr indent="0" marL="0">
              <a:buNone/>
            </a:pPr>
            <a:r>
              <a:rPr lang="en-US" sz="1300" dirty="0">
                <a:solidFill>
                  <a:srgbClr val="DCE4F2"/>
                </a:solidFill>
              </a:rPr>
              <a:t>for safer, more consistent work</a:t>
            </a:r>
            <a:endParaRPr lang="en-US" sz="1300" dirty="0"/>
          </a:p>
        </p:txBody>
      </p:sp>
      <p:sp>
        <p:nvSpPr>
          <p:cNvPr id="30" name="Text 24"/>
          <p:cNvSpPr txBox="1"/>
          <p:nvPr/>
        </p:nvSpPr>
        <p:spPr>
          <a:xfrm>
            <a:off x="548640" y="6172200"/>
            <a:ext cx="8229600" cy="274320"/>
          </a:xfrm>
          <a:prstGeom prst="rect">
            <a:avLst/>
          </a:prstGeom>
          <a:noFill/>
          <a:ln/>
        </p:spPr>
        <p:txBody>
          <a:bodyPr wrap="square" lIns="0" tIns="0" rIns="0" bIns="0" rtlCol="0" anchor="ctr"/>
          <a:lstStyle/>
          <a:p>
            <a:pPr indent="0" marL="0">
              <a:buNone/>
            </a:pPr>
            <a:r>
              <a:rPr lang="en-US" sz="1000" i="1" dirty="0">
                <a:solidFill>
                  <a:schemeClr val="accent5"/>
                </a:solidFill>
              </a:rPr>
              <a:t>Figures as publicly reported by Michelin (European Rubber Journal, AVEVA PI World).</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The digital data chain behind every tire</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From the laser sensor to an automatic decision, in real time</a:t>
            </a:r>
            <a:endParaRPr lang="en-US" sz="1600" dirty="0"/>
          </a:p>
        </p:txBody>
      </p:sp>
      <p:sp>
        <p:nvSpPr>
          <p:cNvPr id="4" name="Shape 2"/>
          <p:cNvSpPr/>
          <p:nvPr/>
        </p:nvSpPr>
        <p:spPr>
          <a:xfrm>
            <a:off x="548640" y="1783080"/>
            <a:ext cx="1605229" cy="2148840"/>
          </a:xfrm>
          <a:prstGeom prst="roundRect">
            <a:avLst>
              <a:gd name="adj" fmla="val 6836"/>
            </a:avLst>
          </a:prstGeom>
          <a:solidFill>
            <a:schemeClr val="bg2"/>
          </a:solidFill>
          <a:ln/>
        </p:spPr>
      </p:sp>
      <p:sp>
        <p:nvSpPr>
          <p:cNvPr id="5" name="Shape 3"/>
          <p:cNvSpPr/>
          <p:nvPr/>
        </p:nvSpPr>
        <p:spPr>
          <a:xfrm>
            <a:off x="731520" y="196596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68680" y="2103120"/>
            <a:ext cx="274320" cy="274320"/>
          </a:xfrm>
          <a:prstGeom prst="rect">
            <a:avLst/>
          </a:prstGeom>
        </p:spPr>
      </p:pic>
      <p:sp>
        <p:nvSpPr>
          <p:cNvPr id="7" name="Text 4"/>
          <p:cNvSpPr txBox="1"/>
          <p:nvPr/>
        </p:nvSpPr>
        <p:spPr>
          <a:xfrm>
            <a:off x="731520" y="2651760"/>
            <a:ext cx="1239469" cy="365760"/>
          </a:xfrm>
          <a:prstGeom prst="rect">
            <a:avLst/>
          </a:prstGeom>
          <a:noFill/>
          <a:ln/>
        </p:spPr>
        <p:txBody>
          <a:bodyPr wrap="square" lIns="0" tIns="0" rIns="0" bIns="0" rtlCol="0" anchor="ctr"/>
          <a:lstStyle/>
          <a:p>
            <a:pPr indent="0" marL="0">
              <a:buNone/>
            </a:pPr>
            <a:r>
              <a:rPr lang="en-US" sz="1400" b="1" dirty="0">
                <a:solidFill>
                  <a:schemeClr val="tx2"/>
                </a:solidFill>
              </a:rPr>
              <a:t>Capture</a:t>
            </a:r>
            <a:endParaRPr lang="en-US" sz="1400" dirty="0"/>
          </a:p>
        </p:txBody>
      </p:sp>
      <p:sp>
        <p:nvSpPr>
          <p:cNvPr id="8" name="Text 5"/>
          <p:cNvSpPr txBox="1"/>
          <p:nvPr/>
        </p:nvSpPr>
        <p:spPr>
          <a:xfrm>
            <a:off x="731520" y="3017520"/>
            <a:ext cx="1239469" cy="822960"/>
          </a:xfrm>
          <a:prstGeom prst="rect">
            <a:avLst/>
          </a:prstGeom>
          <a:noFill/>
          <a:ln/>
        </p:spPr>
        <p:txBody>
          <a:bodyPr wrap="square" lIns="0" tIns="0" rIns="0" bIns="0" rtlCol="0" anchor="t"/>
          <a:lstStyle/>
          <a:p>
            <a:pPr indent="0" marL="0">
              <a:buNone/>
            </a:pPr>
            <a:r>
              <a:rPr lang="en-US" sz="1200" dirty="0">
                <a:solidFill>
                  <a:schemeClr val="tx1"/>
                </a:solidFill>
              </a:rPr>
              <a:t>16 3D laser sensors on 8 stations</a:t>
            </a:r>
            <a:endParaRPr lang="en-US" sz="1200" dirty="0"/>
          </a:p>
        </p:txBody>
      </p:sp>
      <p:sp>
        <p:nvSpPr>
          <p:cNvPr id="9" name="Shape 6"/>
          <p:cNvSpPr/>
          <p:nvPr/>
        </p:nvSpPr>
        <p:spPr>
          <a:xfrm>
            <a:off x="2227021" y="2729484"/>
            <a:ext cx="164592" cy="256032"/>
          </a:xfrm>
          <a:prstGeom prst="chevron">
            <a:avLst/>
          </a:prstGeom>
          <a:solidFill>
            <a:schemeClr val="accent6"/>
          </a:solidFill>
          <a:ln/>
        </p:spPr>
      </p:sp>
      <p:sp>
        <p:nvSpPr>
          <p:cNvPr id="10" name="Shape 7"/>
          <p:cNvSpPr/>
          <p:nvPr/>
        </p:nvSpPr>
        <p:spPr>
          <a:xfrm>
            <a:off x="2446477" y="1783080"/>
            <a:ext cx="1605229" cy="2148840"/>
          </a:xfrm>
          <a:prstGeom prst="roundRect">
            <a:avLst>
              <a:gd name="adj" fmla="val 6836"/>
            </a:avLst>
          </a:prstGeom>
          <a:solidFill>
            <a:schemeClr val="bg2"/>
          </a:solidFill>
          <a:ln/>
        </p:spPr>
      </p:sp>
      <p:sp>
        <p:nvSpPr>
          <p:cNvPr id="11" name="Shape 8"/>
          <p:cNvSpPr/>
          <p:nvPr/>
        </p:nvSpPr>
        <p:spPr>
          <a:xfrm>
            <a:off x="2629357" y="1965960"/>
            <a:ext cx="548640" cy="54864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2766517" y="2103120"/>
            <a:ext cx="274320" cy="274320"/>
          </a:xfrm>
          <a:prstGeom prst="rect">
            <a:avLst/>
          </a:prstGeom>
        </p:spPr>
      </p:pic>
      <p:sp>
        <p:nvSpPr>
          <p:cNvPr id="13" name="Text 9"/>
          <p:cNvSpPr txBox="1"/>
          <p:nvPr/>
        </p:nvSpPr>
        <p:spPr>
          <a:xfrm>
            <a:off x="2629357" y="2651760"/>
            <a:ext cx="1239469" cy="365760"/>
          </a:xfrm>
          <a:prstGeom prst="rect">
            <a:avLst/>
          </a:prstGeom>
          <a:noFill/>
          <a:ln/>
        </p:spPr>
        <p:txBody>
          <a:bodyPr wrap="square" lIns="0" tIns="0" rIns="0" bIns="0" rtlCol="0" anchor="ctr"/>
          <a:lstStyle/>
          <a:p>
            <a:pPr indent="0" marL="0">
              <a:buNone/>
            </a:pPr>
            <a:r>
              <a:rPr lang="en-US" sz="1400" b="1" dirty="0">
                <a:solidFill>
                  <a:schemeClr val="tx2"/>
                </a:solidFill>
              </a:rPr>
              <a:t>Edge</a:t>
            </a:r>
            <a:endParaRPr lang="en-US" sz="1400" dirty="0"/>
          </a:p>
        </p:txBody>
      </p:sp>
      <p:sp>
        <p:nvSpPr>
          <p:cNvPr id="14" name="Text 10"/>
          <p:cNvSpPr txBox="1"/>
          <p:nvPr/>
        </p:nvSpPr>
        <p:spPr>
          <a:xfrm>
            <a:off x="2629357" y="3017520"/>
            <a:ext cx="1239469" cy="822960"/>
          </a:xfrm>
          <a:prstGeom prst="rect">
            <a:avLst/>
          </a:prstGeom>
          <a:noFill/>
          <a:ln/>
        </p:spPr>
        <p:txBody>
          <a:bodyPr wrap="square" lIns="0" tIns="0" rIns="0" bIns="0" rtlCol="0" anchor="t"/>
          <a:lstStyle/>
          <a:p>
            <a:pPr indent="0" marL="0">
              <a:buNone/>
            </a:pPr>
            <a:r>
              <a:rPr lang="en-US" sz="1200" dirty="0">
                <a:solidFill>
                  <a:schemeClr val="tx1"/>
                </a:solidFill>
              </a:rPr>
              <a:t>1 measurement PLC + 4 analysis PCs</a:t>
            </a:r>
            <a:endParaRPr lang="en-US" sz="1200" dirty="0"/>
          </a:p>
        </p:txBody>
      </p:sp>
      <p:sp>
        <p:nvSpPr>
          <p:cNvPr id="15" name="Shape 11"/>
          <p:cNvSpPr/>
          <p:nvPr/>
        </p:nvSpPr>
        <p:spPr>
          <a:xfrm>
            <a:off x="4124858" y="2729484"/>
            <a:ext cx="164592" cy="256032"/>
          </a:xfrm>
          <a:prstGeom prst="chevron">
            <a:avLst/>
          </a:prstGeom>
          <a:solidFill>
            <a:schemeClr val="accent6"/>
          </a:solidFill>
          <a:ln/>
        </p:spPr>
      </p:sp>
      <p:sp>
        <p:nvSpPr>
          <p:cNvPr id="16" name="Shape 12"/>
          <p:cNvSpPr/>
          <p:nvPr/>
        </p:nvSpPr>
        <p:spPr>
          <a:xfrm>
            <a:off x="4344314" y="1783080"/>
            <a:ext cx="1605229" cy="2148840"/>
          </a:xfrm>
          <a:prstGeom prst="roundRect">
            <a:avLst>
              <a:gd name="adj" fmla="val 6836"/>
            </a:avLst>
          </a:prstGeom>
          <a:solidFill>
            <a:schemeClr val="bg2"/>
          </a:solidFill>
          <a:ln/>
        </p:spPr>
      </p:sp>
      <p:sp>
        <p:nvSpPr>
          <p:cNvPr id="17" name="Shape 13"/>
          <p:cNvSpPr/>
          <p:nvPr/>
        </p:nvSpPr>
        <p:spPr>
          <a:xfrm>
            <a:off x="4527194" y="1965960"/>
            <a:ext cx="548640" cy="54864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4664354" y="2103120"/>
            <a:ext cx="274320" cy="274320"/>
          </a:xfrm>
          <a:prstGeom prst="rect">
            <a:avLst/>
          </a:prstGeom>
        </p:spPr>
      </p:pic>
      <p:sp>
        <p:nvSpPr>
          <p:cNvPr id="19" name="Text 14"/>
          <p:cNvSpPr txBox="1"/>
          <p:nvPr/>
        </p:nvSpPr>
        <p:spPr>
          <a:xfrm>
            <a:off x="4527194" y="2651760"/>
            <a:ext cx="1239469" cy="365760"/>
          </a:xfrm>
          <a:prstGeom prst="rect">
            <a:avLst/>
          </a:prstGeom>
          <a:noFill/>
          <a:ln/>
        </p:spPr>
        <p:txBody>
          <a:bodyPr wrap="square" lIns="0" tIns="0" rIns="0" bIns="0" rtlCol="0" anchor="ctr"/>
          <a:lstStyle/>
          <a:p>
            <a:pPr indent="0" marL="0">
              <a:buNone/>
            </a:pPr>
            <a:r>
              <a:rPr lang="en-US" sz="1400" b="1" dirty="0">
                <a:solidFill>
                  <a:schemeClr val="tx2"/>
                </a:solidFill>
              </a:rPr>
              <a:t>Data platform</a:t>
            </a:r>
            <a:endParaRPr lang="en-US" sz="1400" dirty="0"/>
          </a:p>
        </p:txBody>
      </p:sp>
      <p:sp>
        <p:nvSpPr>
          <p:cNvPr id="20" name="Text 15"/>
          <p:cNvSpPr txBox="1"/>
          <p:nvPr/>
        </p:nvSpPr>
        <p:spPr>
          <a:xfrm>
            <a:off x="4527194" y="3017520"/>
            <a:ext cx="1239469" cy="822960"/>
          </a:xfrm>
          <a:prstGeom prst="rect">
            <a:avLst/>
          </a:prstGeom>
          <a:noFill/>
          <a:ln/>
        </p:spPr>
        <p:txBody>
          <a:bodyPr wrap="square" lIns="0" tIns="0" rIns="0" bIns="0" rtlCol="0" anchor="t"/>
          <a:lstStyle/>
          <a:p>
            <a:pPr indent="0" marL="0">
              <a:buNone/>
            </a:pPr>
            <a:r>
              <a:rPr lang="en-US" sz="1200" dirty="0">
                <a:solidFill>
                  <a:schemeClr val="tx1"/>
                </a:solidFill>
              </a:rPr>
              <a:t>PI System: every value stored and time-stamped</a:t>
            </a:r>
            <a:endParaRPr lang="en-US" sz="1200" dirty="0"/>
          </a:p>
        </p:txBody>
      </p:sp>
      <p:sp>
        <p:nvSpPr>
          <p:cNvPr id="21" name="Shape 16"/>
          <p:cNvSpPr/>
          <p:nvPr/>
        </p:nvSpPr>
        <p:spPr>
          <a:xfrm>
            <a:off x="6022696" y="2729484"/>
            <a:ext cx="164592" cy="256032"/>
          </a:xfrm>
          <a:prstGeom prst="chevron">
            <a:avLst/>
          </a:prstGeom>
          <a:solidFill>
            <a:schemeClr val="accent6"/>
          </a:solidFill>
          <a:ln/>
        </p:spPr>
      </p:sp>
      <p:sp>
        <p:nvSpPr>
          <p:cNvPr id="22" name="Shape 17"/>
          <p:cNvSpPr/>
          <p:nvPr/>
        </p:nvSpPr>
        <p:spPr>
          <a:xfrm>
            <a:off x="6242152" y="1783080"/>
            <a:ext cx="1605229" cy="2148840"/>
          </a:xfrm>
          <a:prstGeom prst="roundRect">
            <a:avLst>
              <a:gd name="adj" fmla="val 6836"/>
            </a:avLst>
          </a:prstGeom>
          <a:solidFill>
            <a:schemeClr val="accent1"/>
          </a:solidFill>
          <a:ln/>
        </p:spPr>
      </p:sp>
      <p:sp>
        <p:nvSpPr>
          <p:cNvPr id="23" name="Shape 18"/>
          <p:cNvSpPr/>
          <p:nvPr/>
        </p:nvSpPr>
        <p:spPr>
          <a:xfrm>
            <a:off x="6425032" y="1965960"/>
            <a:ext cx="548640" cy="548640"/>
          </a:xfrm>
          <a:prstGeom prst="ellipse">
            <a:avLst/>
          </a:prstGeom>
          <a:solidFill>
            <a:schemeClr val="tx2"/>
          </a:solidFill>
          <a:ln/>
        </p:spPr>
      </p:sp>
      <p:pic>
        <p:nvPicPr>
          <p:cNvPr id="24" name="Image 3" descr="preencoded.png">    </p:cNvPr>
          <p:cNvPicPr>
            <a:picLocks noChangeAspect="1"/>
          </p:cNvPicPr>
          <p:nvPr/>
        </p:nvPicPr>
        <p:blipFill>
          <a:blip r:embed="rId4"/>
          <a:stretch>
            <a:fillRect/>
          </a:stretch>
        </p:blipFill>
        <p:spPr>
          <a:xfrm>
            <a:off x="6562192" y="2103120"/>
            <a:ext cx="274320" cy="274320"/>
          </a:xfrm>
          <a:prstGeom prst="rect">
            <a:avLst/>
          </a:prstGeom>
        </p:spPr>
      </p:pic>
      <p:sp>
        <p:nvSpPr>
          <p:cNvPr id="25" name="Text 19"/>
          <p:cNvSpPr txBox="1"/>
          <p:nvPr/>
        </p:nvSpPr>
        <p:spPr>
          <a:xfrm>
            <a:off x="6425032" y="2651760"/>
            <a:ext cx="1239469" cy="365760"/>
          </a:xfrm>
          <a:prstGeom prst="rect">
            <a:avLst/>
          </a:prstGeom>
          <a:noFill/>
          <a:ln/>
        </p:spPr>
        <p:txBody>
          <a:bodyPr wrap="square" lIns="0" tIns="0" rIns="0" bIns="0" rtlCol="0" anchor="ctr"/>
          <a:lstStyle/>
          <a:p>
            <a:pPr indent="0" marL="0">
              <a:buNone/>
            </a:pPr>
            <a:r>
              <a:rPr lang="en-US" sz="1400" b="1" dirty="0">
                <a:solidFill>
                  <a:schemeClr val="bg1"/>
                </a:solidFill>
              </a:rPr>
              <a:t>Analytics</a:t>
            </a:r>
            <a:endParaRPr lang="en-US" sz="1400" dirty="0"/>
          </a:p>
        </p:txBody>
      </p:sp>
      <p:sp>
        <p:nvSpPr>
          <p:cNvPr id="26" name="Text 20"/>
          <p:cNvSpPr txBox="1"/>
          <p:nvPr/>
        </p:nvSpPr>
        <p:spPr>
          <a:xfrm>
            <a:off x="6425032" y="3017520"/>
            <a:ext cx="1239469" cy="822960"/>
          </a:xfrm>
          <a:prstGeom prst="rect">
            <a:avLst/>
          </a:prstGeom>
          <a:noFill/>
          <a:ln/>
        </p:spPr>
        <p:txBody>
          <a:bodyPr wrap="square" lIns="0" tIns="0" rIns="0" bIns="0" rtlCol="0" anchor="t"/>
          <a:lstStyle/>
          <a:p>
            <a:pPr indent="0" marL="0">
              <a:buNone/>
            </a:pPr>
            <a:r>
              <a:rPr lang="en-US" sz="1200" dirty="0">
                <a:solidFill>
                  <a:schemeClr val="bg1"/>
                </a:solidFill>
              </a:rPr>
              <a:t>PI Vision dashboards, SPC, rolling medians</a:t>
            </a:r>
            <a:endParaRPr lang="en-US" sz="1200" dirty="0"/>
          </a:p>
        </p:txBody>
      </p:sp>
      <p:sp>
        <p:nvSpPr>
          <p:cNvPr id="27" name="Shape 21"/>
          <p:cNvSpPr/>
          <p:nvPr/>
        </p:nvSpPr>
        <p:spPr>
          <a:xfrm>
            <a:off x="7920533" y="2729484"/>
            <a:ext cx="164592" cy="256032"/>
          </a:xfrm>
          <a:prstGeom prst="chevron">
            <a:avLst/>
          </a:prstGeom>
          <a:solidFill>
            <a:schemeClr val="accent6"/>
          </a:solidFill>
          <a:ln/>
        </p:spPr>
      </p:sp>
      <p:sp>
        <p:nvSpPr>
          <p:cNvPr id="28" name="Shape 22"/>
          <p:cNvSpPr/>
          <p:nvPr/>
        </p:nvSpPr>
        <p:spPr>
          <a:xfrm>
            <a:off x="8139989" y="1783080"/>
            <a:ext cx="1605229" cy="2148840"/>
          </a:xfrm>
          <a:prstGeom prst="roundRect">
            <a:avLst>
              <a:gd name="adj" fmla="val 6836"/>
            </a:avLst>
          </a:prstGeom>
          <a:solidFill>
            <a:schemeClr val="accent1"/>
          </a:solidFill>
          <a:ln/>
        </p:spPr>
      </p:sp>
      <p:sp>
        <p:nvSpPr>
          <p:cNvPr id="29" name="Shape 23"/>
          <p:cNvSpPr/>
          <p:nvPr/>
        </p:nvSpPr>
        <p:spPr>
          <a:xfrm>
            <a:off x="8322869" y="1965960"/>
            <a:ext cx="548640" cy="548640"/>
          </a:xfrm>
          <a:prstGeom prst="ellipse">
            <a:avLst/>
          </a:prstGeom>
          <a:solidFill>
            <a:schemeClr val="tx2"/>
          </a:solidFill>
          <a:ln/>
        </p:spPr>
      </p:sp>
      <p:pic>
        <p:nvPicPr>
          <p:cNvPr id="30" name="Image 4" descr="preencoded.png">    </p:cNvPr>
          <p:cNvPicPr>
            <a:picLocks noChangeAspect="1"/>
          </p:cNvPicPr>
          <p:nvPr/>
        </p:nvPicPr>
        <p:blipFill>
          <a:blip r:embed="rId5"/>
          <a:stretch>
            <a:fillRect/>
          </a:stretch>
        </p:blipFill>
        <p:spPr>
          <a:xfrm>
            <a:off x="8460029" y="2103120"/>
            <a:ext cx="274320" cy="274320"/>
          </a:xfrm>
          <a:prstGeom prst="rect">
            <a:avLst/>
          </a:prstGeom>
        </p:spPr>
      </p:pic>
      <p:sp>
        <p:nvSpPr>
          <p:cNvPr id="31" name="Text 24"/>
          <p:cNvSpPr txBox="1"/>
          <p:nvPr/>
        </p:nvSpPr>
        <p:spPr>
          <a:xfrm>
            <a:off x="8322869" y="2651760"/>
            <a:ext cx="1239469" cy="365760"/>
          </a:xfrm>
          <a:prstGeom prst="rect">
            <a:avLst/>
          </a:prstGeom>
          <a:noFill/>
          <a:ln/>
        </p:spPr>
        <p:txBody>
          <a:bodyPr wrap="square" lIns="0" tIns="0" rIns="0" bIns="0" rtlCol="0" anchor="ctr"/>
          <a:lstStyle/>
          <a:p>
            <a:pPr indent="0" marL="0">
              <a:buNone/>
            </a:pPr>
            <a:r>
              <a:rPr lang="en-US" sz="1400" b="1" dirty="0">
                <a:solidFill>
                  <a:schemeClr val="bg1"/>
                </a:solidFill>
              </a:rPr>
              <a:t>Decision</a:t>
            </a:r>
            <a:endParaRPr lang="en-US" sz="1400" dirty="0"/>
          </a:p>
        </p:txBody>
      </p:sp>
      <p:sp>
        <p:nvSpPr>
          <p:cNvPr id="32" name="Text 25"/>
          <p:cNvSpPr txBox="1"/>
          <p:nvPr/>
        </p:nvSpPr>
        <p:spPr>
          <a:xfrm>
            <a:off x="8322869" y="3017520"/>
            <a:ext cx="1239469" cy="822960"/>
          </a:xfrm>
          <a:prstGeom prst="rect">
            <a:avLst/>
          </a:prstGeom>
          <a:noFill/>
          <a:ln/>
        </p:spPr>
        <p:txBody>
          <a:bodyPr wrap="square" lIns="0" tIns="0" rIns="0" bIns="0" rtlCol="0" anchor="t"/>
          <a:lstStyle/>
          <a:p>
            <a:pPr indent="0" marL="0">
              <a:buNone/>
            </a:pPr>
            <a:r>
              <a:rPr lang="en-US" sz="1200" dirty="0">
                <a:solidFill>
                  <a:schemeClr val="bg1"/>
                </a:solidFill>
              </a:rPr>
              <a:t>R4P rules engine</a:t>
            </a:r>
            <a:endParaRPr lang="en-US" sz="1200" dirty="0"/>
          </a:p>
        </p:txBody>
      </p:sp>
      <p:sp>
        <p:nvSpPr>
          <p:cNvPr id="33" name="Shape 26"/>
          <p:cNvSpPr/>
          <p:nvPr/>
        </p:nvSpPr>
        <p:spPr>
          <a:xfrm>
            <a:off x="9818370" y="2729484"/>
            <a:ext cx="164592" cy="256032"/>
          </a:xfrm>
          <a:prstGeom prst="chevron">
            <a:avLst/>
          </a:prstGeom>
          <a:solidFill>
            <a:schemeClr val="accent6"/>
          </a:solidFill>
          <a:ln/>
        </p:spPr>
      </p:sp>
      <p:sp>
        <p:nvSpPr>
          <p:cNvPr id="34" name="Shape 27"/>
          <p:cNvSpPr/>
          <p:nvPr/>
        </p:nvSpPr>
        <p:spPr>
          <a:xfrm>
            <a:off x="10037826" y="1783080"/>
            <a:ext cx="1605229" cy="2148840"/>
          </a:xfrm>
          <a:prstGeom prst="roundRect">
            <a:avLst>
              <a:gd name="adj" fmla="val 6836"/>
            </a:avLst>
          </a:prstGeom>
          <a:solidFill>
            <a:schemeClr val="accent1"/>
          </a:solidFill>
          <a:ln/>
        </p:spPr>
      </p:sp>
      <p:sp>
        <p:nvSpPr>
          <p:cNvPr id="35" name="Shape 28"/>
          <p:cNvSpPr/>
          <p:nvPr/>
        </p:nvSpPr>
        <p:spPr>
          <a:xfrm>
            <a:off x="10220706" y="1965960"/>
            <a:ext cx="548640" cy="548640"/>
          </a:xfrm>
          <a:prstGeom prst="ellipse">
            <a:avLst/>
          </a:prstGeom>
          <a:solidFill>
            <a:schemeClr val="tx2"/>
          </a:solidFill>
          <a:ln/>
        </p:spPr>
      </p:sp>
      <p:pic>
        <p:nvPicPr>
          <p:cNvPr id="36" name="Image 5" descr="preencoded.png">    </p:cNvPr>
          <p:cNvPicPr>
            <a:picLocks noChangeAspect="1"/>
          </p:cNvPicPr>
          <p:nvPr/>
        </p:nvPicPr>
        <p:blipFill>
          <a:blip r:embed="rId6"/>
          <a:stretch>
            <a:fillRect/>
          </a:stretch>
        </p:blipFill>
        <p:spPr>
          <a:xfrm>
            <a:off x="10357866" y="2103120"/>
            <a:ext cx="274320" cy="274320"/>
          </a:xfrm>
          <a:prstGeom prst="rect">
            <a:avLst/>
          </a:prstGeom>
        </p:spPr>
      </p:pic>
      <p:sp>
        <p:nvSpPr>
          <p:cNvPr id="37" name="Text 29"/>
          <p:cNvSpPr txBox="1"/>
          <p:nvPr/>
        </p:nvSpPr>
        <p:spPr>
          <a:xfrm>
            <a:off x="10220706" y="2651760"/>
            <a:ext cx="1239469" cy="365760"/>
          </a:xfrm>
          <a:prstGeom prst="rect">
            <a:avLst/>
          </a:prstGeom>
          <a:noFill/>
          <a:ln/>
        </p:spPr>
        <p:txBody>
          <a:bodyPr wrap="square" lIns="0" tIns="0" rIns="0" bIns="0" rtlCol="0" anchor="ctr"/>
          <a:lstStyle/>
          <a:p>
            <a:pPr indent="0" marL="0">
              <a:buNone/>
            </a:pPr>
            <a:r>
              <a:rPr lang="en-US" sz="1400" b="1" dirty="0">
                <a:solidFill>
                  <a:schemeClr val="bg1"/>
                </a:solidFill>
              </a:rPr>
              <a:t>Action</a:t>
            </a:r>
            <a:endParaRPr lang="en-US" sz="1400" dirty="0"/>
          </a:p>
        </p:txBody>
      </p:sp>
      <p:sp>
        <p:nvSpPr>
          <p:cNvPr id="38" name="Text 30"/>
          <p:cNvSpPr txBox="1"/>
          <p:nvPr/>
        </p:nvSpPr>
        <p:spPr>
          <a:xfrm>
            <a:off x="10220706" y="3017520"/>
            <a:ext cx="1239469" cy="822960"/>
          </a:xfrm>
          <a:prstGeom prst="rect">
            <a:avLst/>
          </a:prstGeom>
          <a:noFill/>
          <a:ln/>
        </p:spPr>
        <p:txBody>
          <a:bodyPr wrap="square" lIns="0" tIns="0" rIns="0" bIns="0" rtlCol="0" anchor="t"/>
          <a:lstStyle/>
          <a:p>
            <a:pPr indent="0" marL="0">
              <a:buNone/>
            </a:pPr>
            <a:r>
              <a:rPr lang="en-US" sz="1200" dirty="0">
                <a:solidFill>
                  <a:schemeClr val="bg1"/>
                </a:solidFill>
              </a:rPr>
              <a:t>Adjust, block, segregate, alert</a:t>
            </a:r>
            <a:endParaRPr lang="en-US" sz="1200" dirty="0"/>
          </a:p>
        </p:txBody>
      </p:sp>
      <p:pic>
        <p:nvPicPr>
          <p:cNvPr id="39" name="Image 6" descr="/tmp/claude-0/-home-user-blank-app/7493bec7-5fc4-598a-95c5-e4a4b47f4a0e/scratchpad/img/arch.jpg">    </p:cNvPr>
          <p:cNvPicPr>
            <a:picLocks noChangeAspect="1"/>
          </p:cNvPicPr>
          <p:nvPr/>
        </p:nvPicPr>
        <p:blipFill>
          <a:blip r:embed="rId7"/>
          <a:stretch>
            <a:fillRect/>
          </a:stretch>
        </p:blipFill>
        <p:spPr>
          <a:xfrm>
            <a:off x="1483305" y="4206240"/>
            <a:ext cx="3617071" cy="2011680"/>
          </a:xfrm>
          <a:prstGeom prst="rect">
            <a:avLst/>
          </a:prstGeom>
          <a:effectLst>
            <a:outerShdw sx="100000" sy="100000" kx="0" ky="0" algn="bl" rotWithShape="0" blurRad="101600" dist="38100" dir="5400000">
              <a:srgbClr val="000000">
                <a:alpha val="18000"/>
              </a:srgbClr>
            </a:outerShdw>
          </a:effectLst>
        </p:spPr>
      </p:pic>
      <p:sp>
        <p:nvSpPr>
          <p:cNvPr id="40" name="Text 31"/>
          <p:cNvSpPr txBox="1"/>
          <p:nvPr/>
        </p:nvSpPr>
        <p:spPr>
          <a:xfrm>
            <a:off x="6400800" y="4343400"/>
            <a:ext cx="5242255" cy="1737360"/>
          </a:xfrm>
          <a:prstGeom prst="rect">
            <a:avLst/>
          </a:prstGeom>
          <a:noFill/>
          <a:ln/>
        </p:spPr>
        <p:txBody>
          <a:bodyPr wrap="square" lIns="0" tIns="0" rIns="0" bIns="0" rtlCol="0" anchor="t"/>
          <a:lstStyle/>
          <a:p>
            <a:pPr indent="0" marL="0">
              <a:buNone/>
            </a:pPr>
            <a:r>
              <a:rPr lang="en-US" sz="1600" b="1" dirty="0">
                <a:solidFill>
                  <a:schemeClr val="tx2"/>
                </a:solidFill>
              </a:rPr>
              <a:t>One architecture, many lines. </a:t>
            </a:r>
            <a:pPr indent="0" marL="0">
              <a:buNone/>
            </a:pPr>
            <a:r>
              <a:rPr lang="en-US" sz="1600" dirty="0">
                <a:solidFill>
                  <a:schemeClr val="tx1"/>
                </a:solidFill>
              </a:rPr>
              <a:t>The same data chain runs on the MAC machines and on the BNS line, and can be replicated on any machine in the network.</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000" b="1" dirty="0">
                <a:solidFill>
                  <a:schemeClr val="bg1"/>
                </a:solidFill>
              </a:rPr>
              <a:t>Every tire gets a digital fingerprint</a:t>
            </a:r>
            <a:endParaRPr lang="en-US" sz="3000" dirty="0"/>
          </a:p>
        </p:txBody>
      </p:sp>
      <p:sp>
        <p:nvSpPr>
          <p:cNvPr id="3" name="Text 0"/>
          <p:cNvSpPr/>
          <p:nvPr>
            <p:ph idx="101" type="body" hasCustomPrompt="1"/>
          </p:nvPr>
        </p:nvSpPr>
        <p:spPr>
          <a:xfrm>
            <a:off x="548640" y="987552"/>
            <a:ext cx="11094415" cy="411480"/>
          </a:xfrm>
          <a:prstGeom prst="rect">
            <a:avLst/>
          </a:prstGeom>
          <a:noFill/>
          <a:ln/>
        </p:spPr>
        <p:txBody>
          <a:bodyPr wrap="square" lIns="0" tIns="0" rIns="0" bIns="0" rtlCol="0" anchor="t"/>
          <a:lstStyle/>
          <a:p>
            <a:pPr indent="0" marL="0">
              <a:buNone/>
            </a:pPr>
            <a:r>
              <a:rPr lang="en-US" sz="1600" dirty="0">
                <a:solidFill>
                  <a:schemeClr val="accent2"/>
                </a:solidFill>
              </a:rPr>
              <a:t>3D laser profiling turns each component into millions of data points</a:t>
            </a:r>
            <a:endParaRPr lang="en-US" sz="1600" dirty="0"/>
          </a:p>
        </p:txBody>
      </p:sp>
      <p:pic>
        <p:nvPicPr>
          <p:cNvPr id="4" name="Image 0" descr="/tmp/claude-0/-home-user-blank-app/7493bec7-5fc4-598a-95c5-e4a4b47f4a0e/scratchpad/img/gocator.png">    </p:cNvPr>
          <p:cNvPicPr>
            <a:picLocks noChangeAspect="1"/>
          </p:cNvPicPr>
          <p:nvPr/>
        </p:nvPicPr>
        <p:blipFill>
          <a:blip r:embed="rId1"/>
          <a:stretch>
            <a:fillRect/>
          </a:stretch>
        </p:blipFill>
        <p:spPr>
          <a:xfrm>
            <a:off x="548640" y="1810595"/>
            <a:ext cx="3291840" cy="2048090"/>
          </a:xfrm>
          <a:prstGeom prst="rect">
            <a:avLst/>
          </a:prstGeom>
        </p:spPr>
      </p:pic>
      <p:sp>
        <p:nvSpPr>
          <p:cNvPr id="5" name="Text 2"/>
          <p:cNvSpPr txBox="1"/>
          <p:nvPr/>
        </p:nvSpPr>
        <p:spPr>
          <a:xfrm>
            <a:off x="548640" y="4069080"/>
            <a:ext cx="3291840" cy="1371600"/>
          </a:xfrm>
          <a:prstGeom prst="rect">
            <a:avLst/>
          </a:prstGeom>
          <a:noFill/>
          <a:ln/>
        </p:spPr>
        <p:txBody>
          <a:bodyPr wrap="square" lIns="0" tIns="0" rIns="0" bIns="0" rtlCol="0" anchor="t"/>
          <a:lstStyle/>
          <a:p>
            <a:pPr indent="0" marL="0">
              <a:buNone/>
            </a:pPr>
            <a:r>
              <a:rPr lang="en-US" sz="1400" b="1" dirty="0">
                <a:solidFill>
                  <a:srgbClr val="FFFFFF"/>
                </a:solidFill>
              </a:rPr>
              <a:t>Gocator 3D laser profilers (LMI)</a:t>
            </a:r>
            <a:endParaRPr lang="en-US" sz="1400" dirty="0"/>
          </a:p>
          <a:p>
            <a:pPr indent="0" marL="0">
              <a:buNone/>
            </a:pPr>
            <a:r>
              <a:rPr lang="en-US" sz="1400" dirty="0">
                <a:solidFill>
                  <a:srgbClr val="DCE4F2"/>
                </a:solidFill>
              </a:rPr>
              <a:t>Up to 5,000 profiles per second, micron-level repeatability, no contact with the product.</a:t>
            </a:r>
            <a:endParaRPr lang="en-US" sz="1400" dirty="0"/>
          </a:p>
        </p:txBody>
      </p:sp>
      <p:pic>
        <p:nvPicPr>
          <p:cNvPr id="6" name="Image 1" descr="/tmp/claude-0/-home-user-blank-app/7493bec7-5fc4-598a-95c5-e4a4b47f4a0e/scratchpad/img/d1.jpg">    </p:cNvPr>
          <p:cNvPicPr>
            <a:picLocks noChangeAspect="1"/>
          </p:cNvPicPr>
          <p:nvPr/>
        </p:nvPicPr>
        <p:blipFill>
          <a:blip r:embed="rId2"/>
          <a:srcRect l="0" r="0" t="0" b="0"/>
          <a:stretch/>
        </p:blipFill>
        <p:spPr>
          <a:xfrm>
            <a:off x="4114800" y="1737360"/>
            <a:ext cx="2326538" cy="3291840"/>
          </a:xfrm>
          <a:prstGeom prst="rect">
            <a:avLst/>
          </a:prstGeom>
        </p:spPr>
      </p:pic>
      <p:sp>
        <p:nvSpPr>
          <p:cNvPr id="7" name="Text 3"/>
          <p:cNvSpPr txBox="1"/>
          <p:nvPr/>
        </p:nvSpPr>
        <p:spPr>
          <a:xfrm>
            <a:off x="4114800" y="5166360"/>
            <a:ext cx="2326538" cy="365760"/>
          </a:xfrm>
          <a:prstGeom prst="rect">
            <a:avLst/>
          </a:prstGeom>
          <a:noFill/>
          <a:ln/>
        </p:spPr>
        <p:txBody>
          <a:bodyPr wrap="square" lIns="0" tIns="0" rIns="0" bIns="0" rtlCol="0" anchor="ctr"/>
          <a:lstStyle/>
          <a:p>
            <a:pPr indent="0" marL="0">
              <a:buNone/>
            </a:pPr>
            <a:r>
              <a:rPr lang="en-US" sz="1400" b="1" dirty="0">
                <a:solidFill>
                  <a:schemeClr val="bg1"/>
                </a:solidFill>
              </a:rPr>
              <a:t>3D relief of a component</a:t>
            </a:r>
            <a:endParaRPr lang="en-US" sz="1400" dirty="0"/>
          </a:p>
        </p:txBody>
      </p:sp>
      <p:pic>
        <p:nvPicPr>
          <p:cNvPr id="8" name="Image 2" descr="/tmp/claude-0/-home-user-blank-app/7493bec7-5fc4-598a-95c5-e4a4b47f4a0e/scratchpad/img/d2.jpg">    </p:cNvPr>
          <p:cNvPicPr>
            <a:picLocks noChangeAspect="1"/>
          </p:cNvPicPr>
          <p:nvPr/>
        </p:nvPicPr>
        <p:blipFill>
          <a:blip r:embed="rId3"/>
          <a:srcRect l="0" r="0" t="0" b="0"/>
          <a:stretch/>
        </p:blipFill>
        <p:spPr>
          <a:xfrm>
            <a:off x="6715658" y="1737360"/>
            <a:ext cx="2326538" cy="3291840"/>
          </a:xfrm>
          <a:prstGeom prst="rect">
            <a:avLst/>
          </a:prstGeom>
        </p:spPr>
      </p:pic>
      <p:sp>
        <p:nvSpPr>
          <p:cNvPr id="9" name="Text 4"/>
          <p:cNvSpPr txBox="1"/>
          <p:nvPr/>
        </p:nvSpPr>
        <p:spPr>
          <a:xfrm>
            <a:off x="6715658" y="5166360"/>
            <a:ext cx="2326538" cy="365760"/>
          </a:xfrm>
          <a:prstGeom prst="rect">
            <a:avLst/>
          </a:prstGeom>
          <a:noFill/>
          <a:ln/>
        </p:spPr>
        <p:txBody>
          <a:bodyPr wrap="square" lIns="0" tIns="0" rIns="0" bIns="0" rtlCol="0" anchor="ctr"/>
          <a:lstStyle/>
          <a:p>
            <a:pPr indent="0" marL="0">
              <a:buNone/>
            </a:pPr>
            <a:r>
              <a:rPr lang="en-US" sz="1400" b="1" dirty="0">
                <a:solidFill>
                  <a:schemeClr val="bg1"/>
                </a:solidFill>
              </a:rPr>
              <a:t>Shape irregularity detected</a:t>
            </a:r>
            <a:endParaRPr lang="en-US" sz="1400" dirty="0"/>
          </a:p>
        </p:txBody>
      </p:sp>
      <p:pic>
        <p:nvPicPr>
          <p:cNvPr id="10" name="Image 3" descr="/tmp/claude-0/-home-user-blank-app/7493bec7-5fc4-598a-95c5-e4a4b47f4a0e/scratchpad/img/d3.jpg">    </p:cNvPr>
          <p:cNvPicPr>
            <a:picLocks noChangeAspect="1"/>
          </p:cNvPicPr>
          <p:nvPr/>
        </p:nvPicPr>
        <p:blipFill>
          <a:blip r:embed="rId4"/>
          <a:srcRect l="0" r="0" t="0" b="0"/>
          <a:stretch/>
        </p:blipFill>
        <p:spPr>
          <a:xfrm>
            <a:off x="9316517" y="1737360"/>
            <a:ext cx="2326538" cy="3291840"/>
          </a:xfrm>
          <a:prstGeom prst="rect">
            <a:avLst/>
          </a:prstGeom>
        </p:spPr>
      </p:pic>
      <p:sp>
        <p:nvSpPr>
          <p:cNvPr id="11" name="Text 5"/>
          <p:cNvSpPr txBox="1"/>
          <p:nvPr/>
        </p:nvSpPr>
        <p:spPr>
          <a:xfrm>
            <a:off x="9316517" y="5166360"/>
            <a:ext cx="2326538" cy="365760"/>
          </a:xfrm>
          <a:prstGeom prst="rect">
            <a:avLst/>
          </a:prstGeom>
          <a:noFill/>
          <a:ln/>
        </p:spPr>
        <p:txBody>
          <a:bodyPr wrap="square" lIns="0" tIns="0" rIns="0" bIns="0" rtlCol="0" anchor="ctr"/>
          <a:lstStyle/>
          <a:p>
            <a:pPr indent="0" marL="0">
              <a:buNone/>
            </a:pPr>
            <a:r>
              <a:rPr lang="en-US" sz="1400" b="1" dirty="0">
                <a:solidFill>
                  <a:schemeClr val="bg1"/>
                </a:solidFill>
              </a:rPr>
              <a:t>Splice and overlap control</a:t>
            </a:r>
            <a:endParaRPr lang="en-US" sz="1400" dirty="0"/>
          </a:p>
        </p:txBody>
      </p:sp>
      <p:sp>
        <p:nvSpPr>
          <p:cNvPr id="12" name="Text 6"/>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b="1" dirty="0">
                <a:solidFill>
                  <a:schemeClr val="accent2"/>
                </a:solidFill>
              </a:rPr>
              <a:t>Each colour is a height: anomalies the human eye cannot see stand out immediately.</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Advanced analytics in real time</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Statistical process control on every measurement, visible to everyone</a:t>
            </a:r>
            <a:endParaRPr lang="en-US" sz="1600" dirty="0"/>
          </a:p>
        </p:txBody>
      </p:sp>
      <p:pic>
        <p:nvPicPr>
          <p:cNvPr id="4" name="Image 0" descr="/tmp/claude-0/-home-user-blank-app/7493bec7-5fc4-598a-95c5-e4a4b47f4a0e/scratchpad/img/dash.png">    </p:cNvPr>
          <p:cNvPicPr>
            <a:picLocks noChangeAspect="1"/>
          </p:cNvPicPr>
          <p:nvPr/>
        </p:nvPicPr>
        <p:blipFill>
          <a:blip r:embed="rId1"/>
          <a:stretch>
            <a:fillRect/>
          </a:stretch>
        </p:blipFill>
        <p:spPr>
          <a:xfrm>
            <a:off x="548640" y="2032305"/>
            <a:ext cx="7589520" cy="3524910"/>
          </a:xfrm>
          <a:prstGeom prst="rect">
            <a:avLst/>
          </a:prstGeom>
          <a:effectLst>
            <a:outerShdw sx="100000" sy="100000" kx="0" ky="0" algn="bl" rotWithShape="0" blurRad="101600" dist="38100" dir="5400000">
              <a:srgbClr val="000000">
                <a:alpha val="18000"/>
              </a:srgbClr>
            </a:outerShdw>
          </a:effectLst>
        </p:spPr>
      </p:pic>
      <p:sp>
        <p:nvSpPr>
          <p:cNvPr id="5" name="Text 2"/>
          <p:cNvSpPr txBox="1"/>
          <p:nvPr/>
        </p:nvSpPr>
        <p:spPr>
          <a:xfrm>
            <a:off x="548640" y="6035040"/>
            <a:ext cx="7589520" cy="274320"/>
          </a:xfrm>
          <a:prstGeom prst="rect">
            <a:avLst/>
          </a:prstGeom>
          <a:noFill/>
          <a:ln/>
        </p:spPr>
        <p:txBody>
          <a:bodyPr wrap="square" lIns="0" tIns="0" rIns="0" bIns="0" rtlCol="0" anchor="ctr"/>
          <a:lstStyle/>
          <a:p>
            <a:pPr indent="0" marL="0">
              <a:buNone/>
            </a:pPr>
            <a:r>
              <a:rPr lang="en-US" sz="1100" i="1" dirty="0">
                <a:solidFill>
                  <a:schemeClr val="accent6"/>
                </a:solidFill>
              </a:rPr>
              <a:t>PI Vision dashboard · MAC3 · P14: width and edge position vs target</a:t>
            </a:r>
            <a:endParaRPr lang="en-US" sz="1100" dirty="0"/>
          </a:p>
        </p:txBody>
      </p:sp>
      <p:sp>
        <p:nvSpPr>
          <p:cNvPr id="6" name="Text 3"/>
          <p:cNvSpPr txBox="1"/>
          <p:nvPr/>
        </p:nvSpPr>
        <p:spPr>
          <a:xfrm>
            <a:off x="8503920" y="1828800"/>
            <a:ext cx="3139135" cy="402336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rgbClr val="0B1F4B"/>
                </a:solidFill>
              </a:rPr>
              <a:t>Individual value </a:t>
            </a:r>
            <a:pPr indent="0" marL="0">
              <a:spcAft>
                <a:spcPts val="1000"/>
              </a:spcAft>
              <a:buNone/>
            </a:pPr>
            <a:r>
              <a:rPr lang="en-US" sz="1500" dirty="0">
                <a:solidFill>
                  <a:schemeClr val="tx1"/>
                </a:solidFill>
              </a:rPr>
              <a:t>for every single tire</a:t>
            </a:r>
            <a:endParaRPr lang="en-US" sz="1500" dirty="0"/>
          </a:p>
          <a:p>
            <a:pPr marL="342900" indent="-342900">
              <a:spcAft>
                <a:spcPts val="1000"/>
              </a:spcAft>
              <a:buSzPct val="100000"/>
              <a:buChar char="■"/>
            </a:pPr>
            <a:r>
              <a:rPr lang="en-US" sz="1500" b="1" dirty="0">
                <a:solidFill>
                  <a:srgbClr val="0B1F4B"/>
                </a:solidFill>
              </a:rPr>
              <a:t>Rolling median of the last 20 </a:t>
            </a:r>
            <a:pPr indent="0" marL="0">
              <a:spcAft>
                <a:spcPts val="1000"/>
              </a:spcAft>
              <a:buNone/>
            </a:pPr>
            <a:r>
              <a:rPr lang="en-US" sz="1500" dirty="0">
                <a:solidFill>
                  <a:schemeClr val="tx1"/>
                </a:solidFill>
              </a:rPr>
              <a:t>to reveal drift early</a:t>
            </a:r>
            <a:endParaRPr lang="en-US" sz="1500" dirty="0"/>
          </a:p>
          <a:p>
            <a:pPr marL="342900" indent="-342900">
              <a:spcAft>
                <a:spcPts val="1000"/>
              </a:spcAft>
              <a:buSzPct val="100000"/>
              <a:buChar char="■"/>
            </a:pPr>
            <a:r>
              <a:rPr lang="en-US" sz="1500" b="1" dirty="0">
                <a:solidFill>
                  <a:srgbClr val="0B1F4B"/>
                </a:solidFill>
              </a:rPr>
              <a:t>Upper and lower limits </a:t>
            </a:r>
            <a:pPr indent="0" marL="0">
              <a:spcAft>
                <a:spcPts val="1000"/>
              </a:spcAft>
              <a:buNone/>
            </a:pPr>
            <a:r>
              <a:rPr lang="en-US" sz="1500" dirty="0">
                <a:solidFill>
                  <a:schemeClr val="tx1"/>
                </a:solidFill>
              </a:rPr>
              <a:t>always on screen</a:t>
            </a:r>
            <a:endParaRPr lang="en-US" sz="1500" dirty="0"/>
          </a:p>
          <a:p>
            <a:pPr marL="342900" indent="-342900">
              <a:spcAft>
                <a:spcPts val="1000"/>
              </a:spcAft>
              <a:buSzPct val="100000"/>
              <a:buChar char="■"/>
            </a:pPr>
            <a:r>
              <a:rPr lang="en-US" sz="1500" b="1" dirty="0">
                <a:solidFill>
                  <a:srgbClr val="0B1F4B"/>
                </a:solidFill>
              </a:rPr>
              <a:t>One source of truth </a:t>
            </a:r>
            <a:pPr indent="0" marL="0">
              <a:spcAft>
                <a:spcPts val="1000"/>
              </a:spcAft>
              <a:buNone/>
            </a:pPr>
            <a:r>
              <a:rPr lang="en-US" sz="1500" dirty="0">
                <a:solidFill>
                  <a:schemeClr val="tx1"/>
                </a:solidFill>
              </a:rPr>
              <a:t>for operators, quality and engineering</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Smart alerts before a defect exists</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The right person is notified instantly, on screen and on mobile</a:t>
            </a:r>
            <a:endParaRPr lang="en-US" sz="1600" dirty="0"/>
          </a:p>
        </p:txBody>
      </p:sp>
      <p:pic>
        <p:nvPicPr>
          <p:cNvPr id="4" name="Image 0" descr="/tmp/claude-0/-home-user-blank-app/7493bec7-5fc4-598a-95c5-e4a4b47f4a0e/scratchpad/img/alert.png">    </p:cNvPr>
          <p:cNvPicPr>
            <a:picLocks noChangeAspect="1"/>
          </p:cNvPicPr>
          <p:nvPr/>
        </p:nvPicPr>
        <p:blipFill>
          <a:blip r:embed="rId1"/>
          <a:stretch>
            <a:fillRect/>
          </a:stretch>
        </p:blipFill>
        <p:spPr>
          <a:xfrm>
            <a:off x="548640" y="2032305"/>
            <a:ext cx="7589520" cy="3524910"/>
          </a:xfrm>
          <a:prstGeom prst="rect">
            <a:avLst/>
          </a:prstGeom>
          <a:effectLst>
            <a:outerShdw sx="100000" sy="100000" kx="0" ky="0" algn="bl" rotWithShape="0" blurRad="101600" dist="38100" dir="5400000">
              <a:srgbClr val="000000">
                <a:alpha val="18000"/>
              </a:srgbClr>
            </a:outerShdw>
          </a:effectLst>
        </p:spPr>
      </p:pic>
      <p:sp>
        <p:nvSpPr>
          <p:cNvPr id="5" name="Shape 2"/>
          <p:cNvSpPr/>
          <p:nvPr/>
        </p:nvSpPr>
        <p:spPr>
          <a:xfrm>
            <a:off x="8503920" y="1737360"/>
            <a:ext cx="548640" cy="548640"/>
          </a:xfrm>
          <a:prstGeom prst="ellipse">
            <a:avLst/>
          </a:prstGeom>
          <a:solidFill>
            <a:schemeClr val="accent4"/>
          </a:solidFill>
          <a:ln/>
        </p:spPr>
      </p:sp>
      <p:pic>
        <p:nvPicPr>
          <p:cNvPr id="6" name="Image 1" descr="preencoded.png">    </p:cNvPr>
          <p:cNvPicPr>
            <a:picLocks noChangeAspect="1"/>
          </p:cNvPicPr>
          <p:nvPr/>
        </p:nvPicPr>
        <p:blipFill>
          <a:blip r:embed="rId2"/>
          <a:stretch>
            <a:fillRect/>
          </a:stretch>
        </p:blipFill>
        <p:spPr>
          <a:xfrm>
            <a:off x="8641080" y="1874520"/>
            <a:ext cx="274320" cy="274320"/>
          </a:xfrm>
          <a:prstGeom prst="rect">
            <a:avLst/>
          </a:prstGeom>
        </p:spPr>
      </p:pic>
      <p:sp>
        <p:nvSpPr>
          <p:cNvPr id="7" name="Text 3"/>
          <p:cNvSpPr txBox="1"/>
          <p:nvPr/>
        </p:nvSpPr>
        <p:spPr>
          <a:xfrm>
            <a:off x="9235440" y="1719072"/>
            <a:ext cx="2407615" cy="365760"/>
          </a:xfrm>
          <a:prstGeom prst="rect">
            <a:avLst/>
          </a:prstGeom>
          <a:noFill/>
          <a:ln/>
        </p:spPr>
        <p:txBody>
          <a:bodyPr wrap="square" lIns="0" tIns="0" rIns="0" bIns="0" rtlCol="0" anchor="ctr"/>
          <a:lstStyle/>
          <a:p>
            <a:pPr indent="0" marL="0">
              <a:buNone/>
            </a:pPr>
            <a:r>
              <a:rPr lang="en-US" sz="1700" b="1" dirty="0">
                <a:solidFill>
                  <a:schemeClr val="tx2"/>
                </a:solidFill>
              </a:rPr>
              <a:t>Alert raised</a:t>
            </a:r>
            <a:endParaRPr lang="en-US" sz="1700" dirty="0"/>
          </a:p>
        </p:txBody>
      </p:sp>
      <p:sp>
        <p:nvSpPr>
          <p:cNvPr id="8" name="Text 4"/>
          <p:cNvSpPr txBox="1"/>
          <p:nvPr/>
        </p:nvSpPr>
        <p:spPr>
          <a:xfrm>
            <a:off x="9235440" y="2103120"/>
            <a:ext cx="2407615" cy="731520"/>
          </a:xfrm>
          <a:prstGeom prst="rect">
            <a:avLst/>
          </a:prstGeom>
          <a:noFill/>
          <a:ln/>
        </p:spPr>
        <p:txBody>
          <a:bodyPr wrap="square" lIns="0" tIns="0" rIns="0" bIns="0" rtlCol="0" anchor="t"/>
          <a:lstStyle/>
          <a:p>
            <a:pPr indent="0" marL="0">
              <a:buNone/>
            </a:pPr>
            <a:r>
              <a:rPr lang="en-US" sz="1400" dirty="0">
                <a:solidFill>
                  <a:schemeClr val="tx1"/>
                </a:solidFill>
              </a:rPr>
              <a:t>The trend crosses the defined threshold.</a:t>
            </a:r>
            <a:endParaRPr lang="en-US" sz="1400" dirty="0"/>
          </a:p>
        </p:txBody>
      </p:sp>
      <p:sp>
        <p:nvSpPr>
          <p:cNvPr id="9" name="Shape 5"/>
          <p:cNvSpPr/>
          <p:nvPr/>
        </p:nvSpPr>
        <p:spPr>
          <a:xfrm>
            <a:off x="8503920" y="3108960"/>
            <a:ext cx="548640" cy="54864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8641080" y="3246120"/>
            <a:ext cx="274320" cy="274320"/>
          </a:xfrm>
          <a:prstGeom prst="rect">
            <a:avLst/>
          </a:prstGeom>
        </p:spPr>
      </p:pic>
      <p:sp>
        <p:nvSpPr>
          <p:cNvPr id="11" name="Text 6"/>
          <p:cNvSpPr txBox="1"/>
          <p:nvPr/>
        </p:nvSpPr>
        <p:spPr>
          <a:xfrm>
            <a:off x="9235440" y="3090672"/>
            <a:ext cx="2407615" cy="365760"/>
          </a:xfrm>
          <a:prstGeom prst="rect">
            <a:avLst/>
          </a:prstGeom>
          <a:noFill/>
          <a:ln/>
        </p:spPr>
        <p:txBody>
          <a:bodyPr wrap="square" lIns="0" tIns="0" rIns="0" bIns="0" rtlCol="0" anchor="ctr"/>
          <a:lstStyle/>
          <a:p>
            <a:pPr indent="0" marL="0">
              <a:buNone/>
            </a:pPr>
            <a:r>
              <a:rPr lang="en-US" sz="1700" b="1" dirty="0">
                <a:solidFill>
                  <a:schemeClr val="tx2"/>
                </a:solidFill>
              </a:rPr>
              <a:t>Instant notification</a:t>
            </a:r>
            <a:endParaRPr lang="en-US" sz="1700" dirty="0"/>
          </a:p>
        </p:txBody>
      </p:sp>
      <p:sp>
        <p:nvSpPr>
          <p:cNvPr id="12" name="Text 7"/>
          <p:cNvSpPr txBox="1"/>
          <p:nvPr/>
        </p:nvSpPr>
        <p:spPr>
          <a:xfrm>
            <a:off x="9235440" y="3474720"/>
            <a:ext cx="2407615" cy="731520"/>
          </a:xfrm>
          <a:prstGeom prst="rect">
            <a:avLst/>
          </a:prstGeom>
          <a:noFill/>
          <a:ln/>
        </p:spPr>
        <p:txBody>
          <a:bodyPr wrap="square" lIns="0" tIns="0" rIns="0" bIns="0" rtlCol="0" anchor="t"/>
          <a:lstStyle/>
          <a:p>
            <a:pPr indent="0" marL="0">
              <a:buNone/>
            </a:pPr>
            <a:r>
              <a:rPr lang="en-US" sz="1400" dirty="0">
                <a:solidFill>
                  <a:schemeClr val="tx1"/>
                </a:solidFill>
              </a:rPr>
              <a:t>On the dashboard and on the owner's phone.</a:t>
            </a:r>
            <a:endParaRPr lang="en-US" sz="1400" dirty="0"/>
          </a:p>
        </p:txBody>
      </p:sp>
      <p:sp>
        <p:nvSpPr>
          <p:cNvPr id="13" name="Shape 8"/>
          <p:cNvSpPr/>
          <p:nvPr/>
        </p:nvSpPr>
        <p:spPr>
          <a:xfrm>
            <a:off x="8503920" y="4480560"/>
            <a:ext cx="548640" cy="548640"/>
          </a:xfrm>
          <a:prstGeom prst="ellipse">
            <a:avLst/>
          </a:prstGeom>
          <a:solidFill>
            <a:schemeClr val="accent3"/>
          </a:solidFill>
          <a:ln/>
        </p:spPr>
      </p:sp>
      <p:pic>
        <p:nvPicPr>
          <p:cNvPr id="14" name="Image 3" descr="preencoded.png">    </p:cNvPr>
          <p:cNvPicPr>
            <a:picLocks noChangeAspect="1"/>
          </p:cNvPicPr>
          <p:nvPr/>
        </p:nvPicPr>
        <p:blipFill>
          <a:blip r:embed="rId4"/>
          <a:stretch>
            <a:fillRect/>
          </a:stretch>
        </p:blipFill>
        <p:spPr>
          <a:xfrm>
            <a:off x="8641080" y="4617720"/>
            <a:ext cx="274320" cy="274320"/>
          </a:xfrm>
          <a:prstGeom prst="rect">
            <a:avLst/>
          </a:prstGeom>
        </p:spPr>
      </p:pic>
      <p:sp>
        <p:nvSpPr>
          <p:cNvPr id="15" name="Text 9"/>
          <p:cNvSpPr txBox="1"/>
          <p:nvPr/>
        </p:nvSpPr>
        <p:spPr>
          <a:xfrm>
            <a:off x="9235440" y="4462272"/>
            <a:ext cx="2407615" cy="365760"/>
          </a:xfrm>
          <a:prstGeom prst="rect">
            <a:avLst/>
          </a:prstGeom>
          <a:noFill/>
          <a:ln/>
        </p:spPr>
        <p:txBody>
          <a:bodyPr wrap="square" lIns="0" tIns="0" rIns="0" bIns="0" rtlCol="0" anchor="ctr"/>
          <a:lstStyle/>
          <a:p>
            <a:pPr indent="0" marL="0">
              <a:buNone/>
            </a:pPr>
            <a:r>
              <a:rPr lang="en-US" sz="1700" b="1" dirty="0">
                <a:solidFill>
                  <a:schemeClr val="tx2"/>
                </a:solidFill>
              </a:rPr>
              <a:t>Alert cleared</a:t>
            </a:r>
            <a:endParaRPr lang="en-US" sz="1700" dirty="0"/>
          </a:p>
        </p:txBody>
      </p:sp>
      <p:sp>
        <p:nvSpPr>
          <p:cNvPr id="16" name="Text 10"/>
          <p:cNvSpPr txBox="1"/>
          <p:nvPr/>
        </p:nvSpPr>
        <p:spPr>
          <a:xfrm>
            <a:off x="9235440" y="4846320"/>
            <a:ext cx="2407615" cy="731520"/>
          </a:xfrm>
          <a:prstGeom prst="rect">
            <a:avLst/>
          </a:prstGeom>
          <a:noFill/>
          <a:ln/>
        </p:spPr>
        <p:txBody>
          <a:bodyPr wrap="square" lIns="0" tIns="0" rIns="0" bIns="0" rtlCol="0" anchor="t"/>
          <a:lstStyle/>
          <a:p>
            <a:pPr indent="0" marL="0">
              <a:buNone/>
            </a:pPr>
            <a:r>
              <a:rPr lang="en-US" sz="1400" dirty="0">
                <a:solidFill>
                  <a:schemeClr val="tx1"/>
                </a:solidFill>
              </a:rPr>
              <a:t>The value returns to target; the event is logged.</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Closed-loop control: the line corrects itself</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R4P rules engine: from measurement to action without waiting for anyone</a:t>
            </a:r>
            <a:endParaRPr lang="en-US" sz="1600" dirty="0"/>
          </a:p>
        </p:txBody>
      </p:sp>
      <p:pic>
        <p:nvPicPr>
          <p:cNvPr id="4" name="Image 0" descr="/tmp/claude-0/-home-user-blank-app/7493bec7-5fc4-598a-95c5-e4a4b47f4a0e/scratchpad/img/r4p.png">    </p:cNvPr>
          <p:cNvPicPr>
            <a:picLocks noChangeAspect="1"/>
          </p:cNvPicPr>
          <p:nvPr/>
        </p:nvPicPr>
        <p:blipFill>
          <a:blip r:embed="rId1"/>
          <a:stretch>
            <a:fillRect/>
          </a:stretch>
        </p:blipFill>
        <p:spPr>
          <a:xfrm>
            <a:off x="559919" y="1691640"/>
            <a:ext cx="6744002" cy="3017520"/>
          </a:xfrm>
          <a:prstGeom prst="rect">
            <a:avLst/>
          </a:prstGeom>
        </p:spPr>
      </p:pic>
      <p:sp>
        <p:nvSpPr>
          <p:cNvPr id="5" name="Shape 2"/>
          <p:cNvSpPr/>
          <p:nvPr/>
        </p:nvSpPr>
        <p:spPr>
          <a:xfrm>
            <a:off x="548640" y="4892040"/>
            <a:ext cx="2133600" cy="1234440"/>
          </a:xfrm>
          <a:prstGeom prst="roundRect">
            <a:avLst>
              <a:gd name="adj" fmla="val 7407"/>
            </a:avLst>
          </a:prstGeom>
          <a:solidFill>
            <a:schemeClr val="bg2"/>
          </a:solidFill>
          <a:ln/>
        </p:spPr>
      </p:sp>
      <p:sp>
        <p:nvSpPr>
          <p:cNvPr id="6" name="Text 3"/>
          <p:cNvSpPr txBox="1"/>
          <p:nvPr/>
        </p:nvSpPr>
        <p:spPr>
          <a:xfrm>
            <a:off x="731520" y="4983480"/>
            <a:ext cx="1767840" cy="365760"/>
          </a:xfrm>
          <a:prstGeom prst="rect">
            <a:avLst/>
          </a:prstGeom>
          <a:noFill/>
          <a:ln/>
        </p:spPr>
        <p:txBody>
          <a:bodyPr wrap="square" lIns="0" tIns="0" rIns="0" bIns="0" rtlCol="0" anchor="ctr"/>
          <a:lstStyle/>
          <a:p>
            <a:pPr indent="0" marL="0">
              <a:buNone/>
            </a:pPr>
            <a:r>
              <a:rPr lang="en-US" sz="1700" b="1" dirty="0">
                <a:solidFill>
                  <a:schemeClr val="accent1"/>
                </a:solidFill>
              </a:rPr>
              <a:t>Measure</a:t>
            </a:r>
            <a:endParaRPr lang="en-US" sz="1700" dirty="0"/>
          </a:p>
        </p:txBody>
      </p:sp>
      <p:sp>
        <p:nvSpPr>
          <p:cNvPr id="7" name="Text 4"/>
          <p:cNvSpPr txBox="1"/>
          <p:nvPr/>
        </p:nvSpPr>
        <p:spPr>
          <a:xfrm>
            <a:off x="731520" y="5349240"/>
            <a:ext cx="1767840" cy="731520"/>
          </a:xfrm>
          <a:prstGeom prst="rect">
            <a:avLst/>
          </a:prstGeom>
          <a:noFill/>
          <a:ln/>
        </p:spPr>
        <p:txBody>
          <a:bodyPr wrap="square" lIns="0" tIns="0" rIns="0" bIns="0" rtlCol="0" anchor="t"/>
          <a:lstStyle/>
          <a:p>
            <a:pPr indent="0" marL="0">
              <a:buNone/>
            </a:pPr>
            <a:r>
              <a:rPr lang="en-US" sz="1300" dirty="0">
                <a:solidFill>
                  <a:schemeClr val="tx1"/>
                </a:solidFill>
              </a:rPr>
              <a:t>The sensor measures the component.</a:t>
            </a:r>
            <a:endParaRPr lang="en-US" sz="1300" dirty="0"/>
          </a:p>
        </p:txBody>
      </p:sp>
      <p:sp>
        <p:nvSpPr>
          <p:cNvPr id="8" name="Shape 5"/>
          <p:cNvSpPr/>
          <p:nvPr/>
        </p:nvSpPr>
        <p:spPr>
          <a:xfrm>
            <a:off x="2865120" y="4892040"/>
            <a:ext cx="2133600" cy="1234440"/>
          </a:xfrm>
          <a:prstGeom prst="roundRect">
            <a:avLst>
              <a:gd name="adj" fmla="val 7407"/>
            </a:avLst>
          </a:prstGeom>
          <a:solidFill>
            <a:schemeClr val="bg2"/>
          </a:solidFill>
          <a:ln/>
        </p:spPr>
      </p:sp>
      <p:sp>
        <p:nvSpPr>
          <p:cNvPr id="9" name="Text 6"/>
          <p:cNvSpPr txBox="1"/>
          <p:nvPr/>
        </p:nvSpPr>
        <p:spPr>
          <a:xfrm>
            <a:off x="3048000" y="4983480"/>
            <a:ext cx="1767840" cy="365760"/>
          </a:xfrm>
          <a:prstGeom prst="rect">
            <a:avLst/>
          </a:prstGeom>
          <a:noFill/>
          <a:ln/>
        </p:spPr>
        <p:txBody>
          <a:bodyPr wrap="square" lIns="0" tIns="0" rIns="0" bIns="0" rtlCol="0" anchor="ctr"/>
          <a:lstStyle/>
          <a:p>
            <a:pPr indent="0" marL="0">
              <a:buNone/>
            </a:pPr>
            <a:r>
              <a:rPr lang="en-US" sz="1700" b="1" dirty="0">
                <a:solidFill>
                  <a:schemeClr val="accent1"/>
                </a:solidFill>
              </a:rPr>
              <a:t>Decide</a:t>
            </a:r>
            <a:endParaRPr lang="en-US" sz="1700" dirty="0"/>
          </a:p>
        </p:txBody>
      </p:sp>
      <p:sp>
        <p:nvSpPr>
          <p:cNvPr id="10" name="Text 7"/>
          <p:cNvSpPr txBox="1"/>
          <p:nvPr/>
        </p:nvSpPr>
        <p:spPr>
          <a:xfrm>
            <a:off x="3048000" y="5349240"/>
            <a:ext cx="1767840" cy="731520"/>
          </a:xfrm>
          <a:prstGeom prst="rect">
            <a:avLst/>
          </a:prstGeom>
          <a:noFill/>
          <a:ln/>
        </p:spPr>
        <p:txBody>
          <a:bodyPr wrap="square" lIns="0" tIns="0" rIns="0" bIns="0" rtlCol="0" anchor="t"/>
          <a:lstStyle/>
          <a:p>
            <a:pPr indent="0" marL="0">
              <a:buNone/>
            </a:pPr>
            <a:r>
              <a:rPr lang="en-US" sz="1300" dirty="0">
                <a:solidFill>
                  <a:schemeClr val="tx1"/>
                </a:solidFill>
              </a:rPr>
              <a:t>The rules engine compares it to target.</a:t>
            </a:r>
            <a:endParaRPr lang="en-US" sz="1300" dirty="0"/>
          </a:p>
        </p:txBody>
      </p:sp>
      <p:sp>
        <p:nvSpPr>
          <p:cNvPr id="11" name="Shape 8"/>
          <p:cNvSpPr/>
          <p:nvPr/>
        </p:nvSpPr>
        <p:spPr>
          <a:xfrm>
            <a:off x="5181600" y="4892040"/>
            <a:ext cx="2133600" cy="1234440"/>
          </a:xfrm>
          <a:prstGeom prst="roundRect">
            <a:avLst>
              <a:gd name="adj" fmla="val 7407"/>
            </a:avLst>
          </a:prstGeom>
          <a:solidFill>
            <a:schemeClr val="bg2"/>
          </a:solidFill>
          <a:ln/>
        </p:spPr>
      </p:sp>
      <p:sp>
        <p:nvSpPr>
          <p:cNvPr id="12" name="Text 9"/>
          <p:cNvSpPr txBox="1"/>
          <p:nvPr/>
        </p:nvSpPr>
        <p:spPr>
          <a:xfrm>
            <a:off x="5364480" y="4983480"/>
            <a:ext cx="1767840" cy="365760"/>
          </a:xfrm>
          <a:prstGeom prst="rect">
            <a:avLst/>
          </a:prstGeom>
          <a:noFill/>
          <a:ln/>
        </p:spPr>
        <p:txBody>
          <a:bodyPr wrap="square" lIns="0" tIns="0" rIns="0" bIns="0" rtlCol="0" anchor="ctr"/>
          <a:lstStyle/>
          <a:p>
            <a:pPr indent="0" marL="0">
              <a:buNone/>
            </a:pPr>
            <a:r>
              <a:rPr lang="en-US" sz="1700" b="1" dirty="0">
                <a:solidFill>
                  <a:schemeClr val="accent1"/>
                </a:solidFill>
              </a:rPr>
              <a:t>Act</a:t>
            </a:r>
            <a:endParaRPr lang="en-US" sz="1700" dirty="0"/>
          </a:p>
        </p:txBody>
      </p:sp>
      <p:sp>
        <p:nvSpPr>
          <p:cNvPr id="13" name="Text 10"/>
          <p:cNvSpPr txBox="1"/>
          <p:nvPr/>
        </p:nvSpPr>
        <p:spPr>
          <a:xfrm>
            <a:off x="5364480" y="5349240"/>
            <a:ext cx="1767840" cy="731520"/>
          </a:xfrm>
          <a:prstGeom prst="rect">
            <a:avLst/>
          </a:prstGeom>
          <a:noFill/>
          <a:ln/>
        </p:spPr>
        <p:txBody>
          <a:bodyPr wrap="square" lIns="0" tIns="0" rIns="0" bIns="0" rtlCol="0" anchor="t"/>
          <a:lstStyle/>
          <a:p>
            <a:pPr indent="0" marL="0">
              <a:buNone/>
            </a:pPr>
            <a:r>
              <a:rPr lang="en-US" sz="1300" dirty="0">
                <a:solidFill>
                  <a:schemeClr val="tx1"/>
                </a:solidFill>
              </a:rPr>
              <a:t>Adjust the machine, block it or set the product aside.</a:t>
            </a:r>
            <a:endParaRPr lang="en-US" sz="1300" dirty="0"/>
          </a:p>
        </p:txBody>
      </p:sp>
      <p:sp>
        <p:nvSpPr>
          <p:cNvPr id="14" name="Shape 11"/>
          <p:cNvSpPr/>
          <p:nvPr/>
        </p:nvSpPr>
        <p:spPr>
          <a:xfrm>
            <a:off x="7680960" y="1691640"/>
            <a:ext cx="3962095" cy="4434840"/>
          </a:xfrm>
          <a:prstGeom prst="roundRect">
            <a:avLst>
              <a:gd name="adj" fmla="val 2769"/>
            </a:avLst>
          </a:prstGeom>
          <a:solidFill>
            <a:schemeClr val="tx2"/>
          </a:solidFill>
          <a:ln/>
        </p:spPr>
      </p:sp>
      <p:sp>
        <p:nvSpPr>
          <p:cNvPr id="15" name="Text 12"/>
          <p:cNvSpPr txBox="1"/>
          <p:nvPr/>
        </p:nvSpPr>
        <p:spPr>
          <a:xfrm>
            <a:off x="7955280" y="1874520"/>
            <a:ext cx="3413455" cy="411480"/>
          </a:xfrm>
          <a:prstGeom prst="rect">
            <a:avLst/>
          </a:prstGeom>
          <a:noFill/>
          <a:ln/>
        </p:spPr>
        <p:txBody>
          <a:bodyPr wrap="square" lIns="0" tIns="0" rIns="0" bIns="0" rtlCol="0" anchor="ctr"/>
          <a:lstStyle/>
          <a:p>
            <a:pPr indent="0" marL="0">
              <a:buNone/>
            </a:pPr>
            <a:r>
              <a:rPr lang="en-US" sz="1700" b="1" dirty="0">
                <a:solidFill>
                  <a:schemeClr val="accent2"/>
                </a:solidFill>
              </a:rPr>
              <a:t>Real example on the line</a:t>
            </a:r>
            <a:endParaRPr lang="en-US" sz="1700" dirty="0"/>
          </a:p>
        </p:txBody>
      </p:sp>
      <p:sp>
        <p:nvSpPr>
          <p:cNvPr id="16" name="Text 13"/>
          <p:cNvSpPr txBox="1"/>
          <p:nvPr/>
        </p:nvSpPr>
        <p:spPr>
          <a:xfrm>
            <a:off x="7955280" y="2377440"/>
            <a:ext cx="3413455" cy="3566160"/>
          </a:xfrm>
          <a:prstGeom prst="rect">
            <a:avLst/>
          </a:prstGeom>
          <a:noFill/>
          <a:ln/>
        </p:spPr>
        <p:txBody>
          <a:bodyPr wrap="square" lIns="0" tIns="0" rIns="0" bIns="0" rtlCol="0" anchor="t"/>
          <a:lstStyle/>
          <a:p>
            <a:pPr indent="0" marL="0">
              <a:spcAft>
                <a:spcPts val="1000"/>
              </a:spcAft>
              <a:buNone/>
            </a:pPr>
            <a:r>
              <a:rPr lang="en-US" sz="1500" dirty="0">
                <a:solidFill>
                  <a:schemeClr val="bg1"/>
                </a:solidFill>
              </a:rPr>
              <a:t>1. The edge position drifts to the lower limit.</a:t>
            </a:r>
            <a:endParaRPr lang="en-US" sz="1500" dirty="0"/>
          </a:p>
          <a:p>
            <a:pPr indent="0" marL="0">
              <a:spcAft>
                <a:spcPts val="1000"/>
              </a:spcAft>
              <a:buNone/>
            </a:pPr>
            <a:r>
              <a:rPr lang="en-US" sz="1500" dirty="0">
                <a:solidFill>
                  <a:schemeClr val="bg1"/>
                </a:solidFill>
              </a:rPr>
              <a:t>2. Automatic correction (ODM) is activated.</a:t>
            </a:r>
            <a:endParaRPr lang="en-US" sz="1500" dirty="0"/>
          </a:p>
          <a:p>
            <a:pPr indent="0" marL="0">
              <a:spcAft>
                <a:spcPts val="1000"/>
              </a:spcAft>
              <a:buNone/>
            </a:pPr>
            <a:r>
              <a:rPr lang="en-US" sz="1500" dirty="0">
                <a:solidFill>
                  <a:schemeClr val="bg1"/>
                </a:solidFill>
              </a:rPr>
              <a:t>3. The machine adjusts itself, no operator needed.</a:t>
            </a:r>
            <a:endParaRPr lang="en-US" sz="1500" dirty="0"/>
          </a:p>
          <a:p>
            <a:pPr indent="0" marL="0">
              <a:buNone/>
            </a:pPr>
            <a:r>
              <a:rPr lang="en-US" sz="1500" dirty="0">
                <a:solidFill>
                  <a:schemeClr val="bg1"/>
                </a:solidFill>
              </a:rPr>
              <a:t>4. The value returns to its theoretical target.</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Proof on the line: a bad splice caught by the data</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The OLM demonstrator flagged poorly stitched splices that would otherwise have gone unnoticed</a:t>
            </a:r>
            <a:endParaRPr lang="en-US" sz="1600" dirty="0"/>
          </a:p>
        </p:txBody>
      </p:sp>
      <p:sp>
        <p:nvSpPr>
          <p:cNvPr id="4" name="Shape 2"/>
          <p:cNvSpPr/>
          <p:nvPr/>
        </p:nvSpPr>
        <p:spPr>
          <a:xfrm>
            <a:off x="548640" y="1645920"/>
            <a:ext cx="5364328" cy="457200"/>
          </a:xfrm>
          <a:prstGeom prst="roundRect">
            <a:avLst>
              <a:gd name="adj" fmla="val 16000"/>
            </a:avLst>
          </a:prstGeom>
          <a:solidFill>
            <a:schemeClr val="accent4"/>
          </a:solidFill>
          <a:ln/>
        </p:spPr>
      </p:sp>
      <p:sp>
        <p:nvSpPr>
          <p:cNvPr id="5" name="Text 3"/>
          <p:cNvSpPr txBox="1"/>
          <p:nvPr/>
        </p:nvSpPr>
        <p:spPr>
          <a:xfrm>
            <a:off x="731520" y="1645920"/>
            <a:ext cx="4998568" cy="457200"/>
          </a:xfrm>
          <a:prstGeom prst="rect">
            <a:avLst/>
          </a:prstGeom>
          <a:noFill/>
          <a:ln/>
        </p:spPr>
        <p:txBody>
          <a:bodyPr wrap="square" lIns="0" tIns="0" rIns="0" bIns="0" rtlCol="0" anchor="ctr"/>
          <a:lstStyle/>
          <a:p>
            <a:pPr indent="0" marL="0">
              <a:buNone/>
            </a:pPr>
            <a:r>
              <a:rPr lang="en-US" sz="1600" b="1" dirty="0">
                <a:solidFill>
                  <a:schemeClr val="bg1"/>
                </a:solidFill>
              </a:rPr>
              <a:t>NOK · poorly stitched splice</a:t>
            </a:r>
            <a:endParaRPr lang="en-US" sz="1600" dirty="0"/>
          </a:p>
        </p:txBody>
      </p:sp>
      <p:sp>
        <p:nvSpPr>
          <p:cNvPr id="6" name="Shape 4"/>
          <p:cNvSpPr/>
          <p:nvPr/>
        </p:nvSpPr>
        <p:spPr>
          <a:xfrm>
            <a:off x="548640" y="2240280"/>
            <a:ext cx="5364328" cy="3429000"/>
          </a:xfrm>
          <a:prstGeom prst="rect">
            <a:avLst/>
          </a:prstGeom>
          <a:solidFill>
            <a:srgbClr val="11151F"/>
          </a:solidFill>
          <a:ln/>
        </p:spPr>
      </p:sp>
      <p:pic>
        <p:nvPicPr>
          <p:cNvPr id="7" name="Image 0" descr="/tmp/claude-0/-home-user-blank-app/7493bec7-5fc4-598a-95c5-e4a4b47f4a0e/scratchpad/img/nok_map.jpg">    </p:cNvPr>
          <p:cNvPicPr>
            <a:picLocks noChangeAspect="1"/>
          </p:cNvPicPr>
          <p:nvPr/>
        </p:nvPicPr>
        <p:blipFill>
          <a:blip r:embed="rId1"/>
          <a:stretch>
            <a:fillRect/>
          </a:stretch>
        </p:blipFill>
        <p:spPr>
          <a:xfrm>
            <a:off x="640080" y="2413535"/>
            <a:ext cx="5181448" cy="1848050"/>
          </a:xfrm>
          <a:prstGeom prst="rect">
            <a:avLst/>
          </a:prstGeom>
        </p:spPr>
      </p:pic>
      <p:pic>
        <p:nvPicPr>
          <p:cNvPr id="8" name="Image 1" descr="/tmp/claude-0/-home-user-blank-app/7493bec7-5fc4-598a-95c5-e4a4b47f4a0e/scratchpad/img/nok_sec.jpg">    </p:cNvPr>
          <p:cNvPicPr>
            <a:picLocks noChangeAspect="1"/>
          </p:cNvPicPr>
          <p:nvPr/>
        </p:nvPicPr>
        <p:blipFill>
          <a:blip r:embed="rId2"/>
          <a:stretch>
            <a:fillRect/>
          </a:stretch>
        </p:blipFill>
        <p:spPr>
          <a:xfrm>
            <a:off x="2291811" y="4434840"/>
            <a:ext cx="1877985" cy="1143000"/>
          </a:xfrm>
          <a:prstGeom prst="rect">
            <a:avLst/>
          </a:prstGeom>
        </p:spPr>
      </p:pic>
      <p:sp>
        <p:nvSpPr>
          <p:cNvPr id="9" name="Text 5"/>
          <p:cNvSpPr txBox="1"/>
          <p:nvPr/>
        </p:nvSpPr>
        <p:spPr>
          <a:xfrm>
            <a:off x="548640" y="5760720"/>
            <a:ext cx="5364328" cy="411480"/>
          </a:xfrm>
          <a:prstGeom prst="rect">
            <a:avLst/>
          </a:prstGeom>
          <a:noFill/>
          <a:ln/>
        </p:spPr>
        <p:txBody>
          <a:bodyPr wrap="square" lIns="0" tIns="0" rIns="0" bIns="0" rtlCol="0" anchor="t"/>
          <a:lstStyle/>
          <a:p>
            <a:pPr indent="0" marL="0">
              <a:buNone/>
            </a:pPr>
            <a:r>
              <a:rPr lang="en-US" sz="1400" dirty="0">
                <a:solidFill>
                  <a:schemeClr val="tx1"/>
                </a:solidFill>
              </a:rPr>
              <a:t>The cross-section shows a step at the joint: alert raised.</a:t>
            </a:r>
            <a:endParaRPr lang="en-US" sz="1400" dirty="0"/>
          </a:p>
        </p:txBody>
      </p:sp>
      <p:sp>
        <p:nvSpPr>
          <p:cNvPr id="10" name="Shape 6"/>
          <p:cNvSpPr/>
          <p:nvPr/>
        </p:nvSpPr>
        <p:spPr>
          <a:xfrm>
            <a:off x="6278728" y="1645920"/>
            <a:ext cx="5364328" cy="457200"/>
          </a:xfrm>
          <a:prstGeom prst="roundRect">
            <a:avLst>
              <a:gd name="adj" fmla="val 16000"/>
            </a:avLst>
          </a:prstGeom>
          <a:solidFill>
            <a:schemeClr val="accent3"/>
          </a:solidFill>
          <a:ln/>
        </p:spPr>
      </p:sp>
      <p:sp>
        <p:nvSpPr>
          <p:cNvPr id="11" name="Text 7"/>
          <p:cNvSpPr txBox="1"/>
          <p:nvPr/>
        </p:nvSpPr>
        <p:spPr>
          <a:xfrm>
            <a:off x="6461608" y="1645920"/>
            <a:ext cx="4998568" cy="457200"/>
          </a:xfrm>
          <a:prstGeom prst="rect">
            <a:avLst/>
          </a:prstGeom>
          <a:noFill/>
          <a:ln/>
        </p:spPr>
        <p:txBody>
          <a:bodyPr wrap="square" lIns="0" tIns="0" rIns="0" bIns="0" rtlCol="0" anchor="ctr"/>
          <a:lstStyle/>
          <a:p>
            <a:pPr indent="0" marL="0">
              <a:buNone/>
            </a:pPr>
            <a:r>
              <a:rPr lang="en-US" sz="1600" b="1" dirty="0">
                <a:solidFill>
                  <a:schemeClr val="bg1"/>
                </a:solidFill>
              </a:rPr>
              <a:t>OK · conforming splice</a:t>
            </a:r>
            <a:endParaRPr lang="en-US" sz="1600" dirty="0"/>
          </a:p>
        </p:txBody>
      </p:sp>
      <p:sp>
        <p:nvSpPr>
          <p:cNvPr id="12" name="Shape 8"/>
          <p:cNvSpPr/>
          <p:nvPr/>
        </p:nvSpPr>
        <p:spPr>
          <a:xfrm>
            <a:off x="6278728" y="2240280"/>
            <a:ext cx="5364328" cy="3429000"/>
          </a:xfrm>
          <a:prstGeom prst="rect">
            <a:avLst/>
          </a:prstGeom>
          <a:solidFill>
            <a:srgbClr val="11151F"/>
          </a:solidFill>
          <a:ln/>
        </p:spPr>
      </p:sp>
      <p:pic>
        <p:nvPicPr>
          <p:cNvPr id="13" name="Image 2" descr="/tmp/claude-0/-home-user-blank-app/7493bec7-5fc4-598a-95c5-e4a4b47f4a0e/scratchpad/img/ok_map.jpg">    </p:cNvPr>
          <p:cNvPicPr>
            <a:picLocks noChangeAspect="1"/>
          </p:cNvPicPr>
          <p:nvPr/>
        </p:nvPicPr>
        <p:blipFill>
          <a:blip r:embed="rId3"/>
          <a:stretch>
            <a:fillRect/>
          </a:stretch>
        </p:blipFill>
        <p:spPr>
          <a:xfrm>
            <a:off x="7280036" y="2331720"/>
            <a:ext cx="3361711" cy="2011680"/>
          </a:xfrm>
          <a:prstGeom prst="rect">
            <a:avLst/>
          </a:prstGeom>
        </p:spPr>
      </p:pic>
      <p:pic>
        <p:nvPicPr>
          <p:cNvPr id="14" name="Image 3" descr="/tmp/claude-0/-home-user-blank-app/7493bec7-5fc4-598a-95c5-e4a4b47f4a0e/scratchpad/img/ok_sec.jpg">    </p:cNvPr>
          <p:cNvPicPr>
            <a:picLocks noChangeAspect="1"/>
          </p:cNvPicPr>
          <p:nvPr/>
        </p:nvPicPr>
        <p:blipFill>
          <a:blip r:embed="rId4"/>
          <a:stretch>
            <a:fillRect/>
          </a:stretch>
        </p:blipFill>
        <p:spPr>
          <a:xfrm>
            <a:off x="7302252" y="4434840"/>
            <a:ext cx="3317278" cy="1143000"/>
          </a:xfrm>
          <a:prstGeom prst="rect">
            <a:avLst/>
          </a:prstGeom>
        </p:spPr>
      </p:pic>
      <p:sp>
        <p:nvSpPr>
          <p:cNvPr id="15" name="Text 9"/>
          <p:cNvSpPr txBox="1"/>
          <p:nvPr/>
        </p:nvSpPr>
        <p:spPr>
          <a:xfrm>
            <a:off x="6278728" y="5760720"/>
            <a:ext cx="5364328" cy="411480"/>
          </a:xfrm>
          <a:prstGeom prst="rect">
            <a:avLst/>
          </a:prstGeom>
          <a:noFill/>
          <a:ln/>
        </p:spPr>
        <p:txBody>
          <a:bodyPr wrap="square" lIns="0" tIns="0" rIns="0" bIns="0" rtlCol="0" anchor="t"/>
          <a:lstStyle/>
          <a:p>
            <a:pPr indent="0" marL="0">
              <a:buNone/>
            </a:pPr>
            <a:r>
              <a:rPr lang="en-US" sz="1400" dirty="0">
                <a:solidFill>
                  <a:schemeClr val="tx1"/>
                </a:solidFill>
              </a:rPr>
              <a:t>Smooth cross-section after correction: the product is released.</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Built once, scaled across lines</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The same digital platform now measures the NST1 and NST2 strips on the BNS line</a:t>
            </a:r>
            <a:endParaRPr lang="en-US" sz="1600" dirty="0"/>
          </a:p>
        </p:txBody>
      </p:sp>
      <p:pic>
        <p:nvPicPr>
          <p:cNvPr id="4" name="Image 0" descr="/tmp/claude-0/-home-user-blank-app/7493bec7-5fc4-598a-95c5-e4a4b47f4a0e/scratchpad/img/bns.png">    </p:cNvPr>
          <p:cNvPicPr>
            <a:picLocks noChangeAspect="1"/>
          </p:cNvPicPr>
          <p:nvPr/>
        </p:nvPicPr>
        <p:blipFill>
          <a:blip r:embed="rId1"/>
          <a:stretch>
            <a:fillRect/>
          </a:stretch>
        </p:blipFill>
        <p:spPr>
          <a:xfrm>
            <a:off x="548640" y="2286952"/>
            <a:ext cx="3566160" cy="2924177"/>
          </a:xfrm>
          <a:prstGeom prst="rect">
            <a:avLst/>
          </a:prstGeom>
          <a:effectLst>
            <a:outerShdw sx="100000" sy="100000" kx="0" ky="0" algn="bl" rotWithShape="0" blurRad="101600" dist="38100" dir="5400000">
              <a:srgbClr val="000000">
                <a:alpha val="18000"/>
              </a:srgbClr>
            </a:outerShdw>
          </a:effectLst>
        </p:spPr>
      </p:pic>
      <p:pic>
        <p:nvPicPr>
          <p:cNvPr id="5" name="Image 1" descr="/tmp/claude-0/-home-user-blank-app/7493bec7-5fc4-598a-95c5-e4a4b47f4a0e/scratchpad/img/nst.jpg">    </p:cNvPr>
          <p:cNvPicPr>
            <a:picLocks noChangeAspect="1"/>
          </p:cNvPicPr>
          <p:nvPr/>
        </p:nvPicPr>
        <p:blipFill>
          <a:blip r:embed="rId2"/>
          <a:stretch>
            <a:fillRect/>
          </a:stretch>
        </p:blipFill>
        <p:spPr>
          <a:xfrm>
            <a:off x="4389120" y="2028797"/>
            <a:ext cx="4846320" cy="3440487"/>
          </a:xfrm>
          <a:prstGeom prst="rect">
            <a:avLst/>
          </a:prstGeom>
          <a:effectLst>
            <a:outerShdw sx="100000" sy="100000" kx="0" ky="0" algn="bl" rotWithShape="0" blurRad="101600" dist="38100" dir="5400000">
              <a:srgbClr val="000000">
                <a:alpha val="18000"/>
              </a:srgbClr>
            </a:outerShdw>
          </a:effectLst>
        </p:spPr>
      </p:pic>
      <p:pic>
        <p:nvPicPr>
          <p:cNvPr id="6" name="Image 2" descr="/tmp/claude-0/-home-user-blank-app/7493bec7-5fc4-598a-95c5-e4a4b47f4a0e/scratchpad/img/nst2.jpg">    </p:cNvPr>
          <p:cNvPicPr>
            <a:picLocks noChangeAspect="1"/>
          </p:cNvPicPr>
          <p:nvPr/>
        </p:nvPicPr>
        <p:blipFill>
          <a:blip r:embed="rId3"/>
          <a:stretch>
            <a:fillRect/>
          </a:stretch>
        </p:blipFill>
        <p:spPr>
          <a:xfrm>
            <a:off x="9509760" y="2500667"/>
            <a:ext cx="2133295" cy="2496745"/>
          </a:xfrm>
          <a:prstGeom prst="rect">
            <a:avLst/>
          </a:prstGeom>
          <a:effectLst>
            <a:outerShdw sx="100000" sy="100000" kx="0" ky="0" algn="bl" rotWithShape="0" blurRad="101600" dist="38100" dir="5400000">
              <a:srgbClr val="000000">
                <a:alpha val="18000"/>
              </a:srgbClr>
            </a:outerShdw>
          </a:effectLst>
        </p:spPr>
      </p:pic>
      <p:sp>
        <p:nvSpPr>
          <p:cNvPr id="7" name="Text 2"/>
          <p:cNvSpPr txBox="1"/>
          <p:nvPr/>
        </p:nvSpPr>
        <p:spPr>
          <a:xfrm>
            <a:off x="548640" y="6035040"/>
            <a:ext cx="9144000" cy="274320"/>
          </a:xfrm>
          <a:prstGeom prst="rect">
            <a:avLst/>
          </a:prstGeom>
          <a:noFill/>
          <a:ln/>
        </p:spPr>
        <p:txBody>
          <a:bodyPr wrap="square" lIns="0" tIns="0" rIns="0" bIns="0" rtlCol="0" anchor="ctr"/>
          <a:lstStyle/>
          <a:p>
            <a:pPr indent="0" marL="0">
              <a:buNone/>
            </a:pPr>
            <a:r>
              <a:rPr lang="en-US" sz="1100" i="1" dirty="0">
                <a:solidFill>
                  <a:schemeClr val="accent6"/>
                </a:solidFill>
              </a:rPr>
              <a:t>Gocator 2650 sensor mounting · 3D strip scan · NST1 &amp; NST2 control view</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Full digital traceability</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Every station at a glance, every measurement and alert stored in the PI System</a:t>
            </a:r>
            <a:endParaRPr lang="en-US" sz="1600" dirty="0"/>
          </a:p>
        </p:txBody>
      </p:sp>
      <p:pic>
        <p:nvPicPr>
          <p:cNvPr id="4" name="Image 0" descr="/tmp/claude-0/-home-user-blank-app/7493bec7-5fc4-598a-95c5-e4a4b47f4a0e/scratchpad/img/overview.jpg">    </p:cNvPr>
          <p:cNvPicPr>
            <a:picLocks noChangeAspect="1"/>
          </p:cNvPicPr>
          <p:nvPr/>
        </p:nvPicPr>
        <p:blipFill>
          <a:blip r:embed="rId1"/>
          <a:stretch>
            <a:fillRect/>
          </a:stretch>
        </p:blipFill>
        <p:spPr>
          <a:xfrm>
            <a:off x="1010529" y="1691640"/>
            <a:ext cx="6025662" cy="3291840"/>
          </a:xfrm>
          <a:prstGeom prst="rect">
            <a:avLst/>
          </a:prstGeom>
          <a:effectLst>
            <a:outerShdw sx="100000" sy="100000" kx="0" ky="0" algn="bl" rotWithShape="0" blurRad="101600" dist="38100" dir="5400000">
              <a:srgbClr val="000000">
                <a:alpha val="18000"/>
              </a:srgbClr>
            </a:outerShdw>
          </a:effectLst>
        </p:spPr>
      </p:pic>
      <p:pic>
        <p:nvPicPr>
          <p:cNvPr id="5" name="Image 1" descr="/tmp/claude-0/-home-user-blank-app/7493bec7-5fc4-598a-95c5-e4a4b47f4a0e/scratchpad/img/log.png">    </p:cNvPr>
          <p:cNvPicPr>
            <a:picLocks noChangeAspect="1"/>
          </p:cNvPicPr>
          <p:nvPr/>
        </p:nvPicPr>
        <p:blipFill>
          <a:blip r:embed="rId2"/>
          <a:stretch>
            <a:fillRect/>
          </a:stretch>
        </p:blipFill>
        <p:spPr>
          <a:xfrm>
            <a:off x="7772400" y="2424505"/>
            <a:ext cx="3870655" cy="1826110"/>
          </a:xfrm>
          <a:prstGeom prst="rect">
            <a:avLst/>
          </a:prstGeom>
          <a:effectLst>
            <a:outerShdw sx="100000" sy="100000" kx="0" ky="0" algn="bl" rotWithShape="0" blurRad="101600" dist="38100" dir="5400000">
              <a:srgbClr val="000000">
                <a:alpha val="18000"/>
              </a:srgbClr>
            </a:outerShdw>
          </a:effectLst>
        </p:spPr>
      </p:pic>
      <p:sp>
        <p:nvSpPr>
          <p:cNvPr id="6" name="Text 2"/>
          <p:cNvSpPr txBox="1"/>
          <p:nvPr/>
        </p:nvSpPr>
        <p:spPr>
          <a:xfrm>
            <a:off x="548640" y="5257800"/>
            <a:ext cx="3515258" cy="365760"/>
          </a:xfrm>
          <a:prstGeom prst="rect">
            <a:avLst/>
          </a:prstGeom>
          <a:noFill/>
          <a:ln/>
        </p:spPr>
        <p:txBody>
          <a:bodyPr wrap="square" lIns="0" tIns="0" rIns="0" bIns="0" rtlCol="0" anchor="ctr"/>
          <a:lstStyle/>
          <a:p>
            <a:pPr indent="0" marL="0">
              <a:buNone/>
            </a:pPr>
            <a:r>
              <a:rPr lang="en-US" sz="1600" b="1" dirty="0">
                <a:solidFill>
                  <a:schemeClr val="tx2"/>
                </a:solidFill>
              </a:rPr>
              <a:t>Whole machine on one screen</a:t>
            </a:r>
            <a:endParaRPr lang="en-US" sz="1600" dirty="0"/>
          </a:p>
        </p:txBody>
      </p:sp>
      <p:sp>
        <p:nvSpPr>
          <p:cNvPr id="7" name="Text 3"/>
          <p:cNvSpPr txBox="1"/>
          <p:nvPr/>
        </p:nvSpPr>
        <p:spPr>
          <a:xfrm>
            <a:off x="548640" y="5623560"/>
            <a:ext cx="3515258" cy="548640"/>
          </a:xfrm>
          <a:prstGeom prst="rect">
            <a:avLst/>
          </a:prstGeom>
          <a:noFill/>
          <a:ln/>
        </p:spPr>
        <p:txBody>
          <a:bodyPr wrap="square" lIns="0" tIns="0" rIns="0" bIns="0" rtlCol="0" anchor="t"/>
          <a:lstStyle/>
          <a:p>
            <a:pPr indent="0" marL="0">
              <a:buNone/>
            </a:pPr>
            <a:r>
              <a:rPr lang="en-US" sz="1300" dirty="0">
                <a:solidFill>
                  <a:schemeClr val="tx1"/>
                </a:solidFill>
              </a:rPr>
              <a:t>Each station green when conforming, with its latest values (MAC6 overview).</a:t>
            </a:r>
            <a:endParaRPr lang="en-US" sz="1300" dirty="0"/>
          </a:p>
        </p:txBody>
      </p:sp>
      <p:sp>
        <p:nvSpPr>
          <p:cNvPr id="8" name="Text 4"/>
          <p:cNvSpPr txBox="1"/>
          <p:nvPr/>
        </p:nvSpPr>
        <p:spPr>
          <a:xfrm>
            <a:off x="4338218" y="5257800"/>
            <a:ext cx="3515258" cy="365760"/>
          </a:xfrm>
          <a:prstGeom prst="rect">
            <a:avLst/>
          </a:prstGeom>
          <a:noFill/>
          <a:ln/>
        </p:spPr>
        <p:txBody>
          <a:bodyPr wrap="square" lIns="0" tIns="0" rIns="0" bIns="0" rtlCol="0" anchor="ctr"/>
          <a:lstStyle/>
          <a:p>
            <a:pPr indent="0" marL="0">
              <a:buNone/>
            </a:pPr>
            <a:r>
              <a:rPr lang="en-US" sz="1600" b="1" dirty="0">
                <a:solidFill>
                  <a:schemeClr val="tx2"/>
                </a:solidFill>
              </a:rPr>
              <a:t>Alert history</a:t>
            </a:r>
            <a:endParaRPr lang="en-US" sz="1600" dirty="0"/>
          </a:p>
        </p:txBody>
      </p:sp>
      <p:sp>
        <p:nvSpPr>
          <p:cNvPr id="9" name="Text 5"/>
          <p:cNvSpPr txBox="1"/>
          <p:nvPr/>
        </p:nvSpPr>
        <p:spPr>
          <a:xfrm>
            <a:off x="4338218" y="5623560"/>
            <a:ext cx="3515258" cy="548640"/>
          </a:xfrm>
          <a:prstGeom prst="rect">
            <a:avLst/>
          </a:prstGeom>
          <a:noFill/>
          <a:ln/>
        </p:spPr>
        <p:txBody>
          <a:bodyPr wrap="square" lIns="0" tIns="0" rIns="0" bIns="0" rtlCol="0" anchor="t"/>
          <a:lstStyle/>
          <a:p>
            <a:pPr indent="0" marL="0">
              <a:buNone/>
            </a:pPr>
            <a:r>
              <a:rPr lang="en-US" sz="1300" dirty="0">
                <a:solidFill>
                  <a:schemeClr val="tx1"/>
                </a:solidFill>
              </a:rPr>
              <a:t>When it started, when it ended and what was done.</a:t>
            </a:r>
            <a:endParaRPr lang="en-US" sz="1300" dirty="0"/>
          </a:p>
        </p:txBody>
      </p:sp>
      <p:sp>
        <p:nvSpPr>
          <p:cNvPr id="10" name="Text 6"/>
          <p:cNvSpPr txBox="1"/>
          <p:nvPr/>
        </p:nvSpPr>
        <p:spPr>
          <a:xfrm>
            <a:off x="8127797" y="5257800"/>
            <a:ext cx="3515258" cy="365760"/>
          </a:xfrm>
          <a:prstGeom prst="rect">
            <a:avLst/>
          </a:prstGeom>
          <a:noFill/>
          <a:ln/>
        </p:spPr>
        <p:txBody>
          <a:bodyPr wrap="square" lIns="0" tIns="0" rIns="0" bIns="0" rtlCol="0" anchor="ctr"/>
          <a:lstStyle/>
          <a:p>
            <a:pPr indent="0" marL="0">
              <a:buNone/>
            </a:pPr>
            <a:r>
              <a:rPr lang="en-US" sz="1600" b="1" dirty="0">
                <a:solidFill>
                  <a:schemeClr val="tx2"/>
                </a:solidFill>
              </a:rPr>
              <a:t>Ready for audits</a:t>
            </a:r>
            <a:endParaRPr lang="en-US" sz="1600" dirty="0"/>
          </a:p>
        </p:txBody>
      </p:sp>
      <p:sp>
        <p:nvSpPr>
          <p:cNvPr id="11" name="Text 7"/>
          <p:cNvSpPr txBox="1"/>
          <p:nvPr/>
        </p:nvSpPr>
        <p:spPr>
          <a:xfrm>
            <a:off x="8127797" y="5623560"/>
            <a:ext cx="3515258" cy="548640"/>
          </a:xfrm>
          <a:prstGeom prst="rect">
            <a:avLst/>
          </a:prstGeom>
          <a:noFill/>
          <a:ln/>
        </p:spPr>
        <p:txBody>
          <a:bodyPr wrap="square" lIns="0" tIns="0" rIns="0" bIns="0" rtlCol="0" anchor="t"/>
          <a:lstStyle/>
          <a:p>
            <a:pPr indent="0" marL="0">
              <a:buNone/>
            </a:pPr>
            <a:r>
              <a:rPr lang="en-US" sz="1300" dirty="0">
                <a:solidFill>
                  <a:schemeClr val="tx1"/>
                </a:solidFill>
              </a:rPr>
              <a:t>Objective data to analyse any issue together with you.</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Primacy 5 Energy for the new Tucson 2027</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Developed for your vehicle, built inside this digital ecosystem</a:t>
            </a:r>
            <a:endParaRPr lang="en-US" sz="1600" dirty="0"/>
          </a:p>
        </p:txBody>
      </p:sp>
      <p:sp>
        <p:nvSpPr>
          <p:cNvPr id="4" name="Shape 2"/>
          <p:cNvSpPr/>
          <p:nvPr/>
        </p:nvSpPr>
        <p:spPr>
          <a:xfrm>
            <a:off x="548640" y="1691640"/>
            <a:ext cx="5120640" cy="4480560"/>
          </a:xfrm>
          <a:prstGeom prst="roundRect">
            <a:avLst>
              <a:gd name="adj" fmla="val 3061"/>
            </a:avLst>
          </a:prstGeom>
          <a:solidFill>
            <a:schemeClr val="bg2"/>
          </a:solidFill>
          <a:ln/>
        </p:spPr>
      </p:sp>
      <p:pic>
        <p:nvPicPr>
          <p:cNvPr id="5" name="Image 0" descr="/tmp/claude-0/-home-user-blank-app/7493bec7-5fc4-598a-95c5-e4a4b47f4a0e/scratchpad/img/tire.png">    </p:cNvPr>
          <p:cNvPicPr>
            <a:picLocks noChangeAspect="1"/>
          </p:cNvPicPr>
          <p:nvPr/>
        </p:nvPicPr>
        <p:blipFill>
          <a:blip r:embed="rId1"/>
          <a:stretch>
            <a:fillRect/>
          </a:stretch>
        </p:blipFill>
        <p:spPr>
          <a:xfrm>
            <a:off x="1005840" y="1828800"/>
            <a:ext cx="4206240" cy="4206240"/>
          </a:xfrm>
          <a:prstGeom prst="rect">
            <a:avLst/>
          </a:prstGeom>
        </p:spPr>
      </p:pic>
      <p:sp>
        <p:nvSpPr>
          <p:cNvPr id="6" name="Text 3"/>
          <p:cNvSpPr txBox="1"/>
          <p:nvPr/>
        </p:nvSpPr>
        <p:spPr>
          <a:xfrm>
            <a:off x="6217920" y="1783080"/>
            <a:ext cx="53949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MODEL</a:t>
            </a:r>
            <a:endParaRPr lang="en-US" sz="1100" dirty="0"/>
          </a:p>
        </p:txBody>
      </p:sp>
      <p:sp>
        <p:nvSpPr>
          <p:cNvPr id="7" name="Text 4"/>
          <p:cNvSpPr txBox="1"/>
          <p:nvPr/>
        </p:nvSpPr>
        <p:spPr>
          <a:xfrm>
            <a:off x="6217920" y="2039112"/>
            <a:ext cx="5394960" cy="411480"/>
          </a:xfrm>
          <a:prstGeom prst="rect">
            <a:avLst/>
          </a:prstGeom>
          <a:noFill/>
          <a:ln/>
        </p:spPr>
        <p:txBody>
          <a:bodyPr wrap="square" lIns="0" tIns="0" rIns="0" bIns="0" rtlCol="0" anchor="ctr"/>
          <a:lstStyle/>
          <a:p>
            <a:pPr indent="0" marL="0">
              <a:buNone/>
            </a:pPr>
            <a:r>
              <a:rPr lang="en-US" sz="2200" b="1" dirty="0">
                <a:solidFill>
                  <a:schemeClr val="tx2"/>
                </a:solidFill>
              </a:rPr>
              <a:t>Michelin Primacy 5 Energy</a:t>
            </a:r>
            <a:endParaRPr lang="en-US" sz="2200" dirty="0"/>
          </a:p>
        </p:txBody>
      </p:sp>
      <p:sp>
        <p:nvSpPr>
          <p:cNvPr id="8" name="Text 5"/>
          <p:cNvSpPr txBox="1"/>
          <p:nvPr/>
        </p:nvSpPr>
        <p:spPr>
          <a:xfrm>
            <a:off x="6217920" y="2560320"/>
            <a:ext cx="53949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SIZE</a:t>
            </a:r>
            <a:endParaRPr lang="en-US" sz="1100" dirty="0"/>
          </a:p>
        </p:txBody>
      </p:sp>
      <p:sp>
        <p:nvSpPr>
          <p:cNvPr id="9" name="Text 6"/>
          <p:cNvSpPr txBox="1"/>
          <p:nvPr/>
        </p:nvSpPr>
        <p:spPr>
          <a:xfrm>
            <a:off x="6217920" y="2816352"/>
            <a:ext cx="5394960" cy="411480"/>
          </a:xfrm>
          <a:prstGeom prst="rect">
            <a:avLst/>
          </a:prstGeom>
          <a:noFill/>
          <a:ln/>
        </p:spPr>
        <p:txBody>
          <a:bodyPr wrap="square" lIns="0" tIns="0" rIns="0" bIns="0" rtlCol="0" anchor="ctr"/>
          <a:lstStyle/>
          <a:p>
            <a:pPr indent="0" marL="0">
              <a:buNone/>
            </a:pPr>
            <a:r>
              <a:rPr lang="en-US" sz="2200" b="1" dirty="0">
                <a:solidFill>
                  <a:schemeClr val="tx2"/>
                </a:solidFill>
              </a:rPr>
              <a:t>235/45 R20</a:t>
            </a:r>
            <a:endParaRPr lang="en-US" sz="2200" dirty="0"/>
          </a:p>
        </p:txBody>
      </p:sp>
      <p:sp>
        <p:nvSpPr>
          <p:cNvPr id="10" name="Text 7"/>
          <p:cNvSpPr txBox="1"/>
          <p:nvPr/>
        </p:nvSpPr>
        <p:spPr>
          <a:xfrm>
            <a:off x="6217920" y="3337560"/>
            <a:ext cx="53949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VEHICLE</a:t>
            </a:r>
            <a:endParaRPr lang="en-US" sz="1100" dirty="0"/>
          </a:p>
        </p:txBody>
      </p:sp>
      <p:sp>
        <p:nvSpPr>
          <p:cNvPr id="11" name="Text 8"/>
          <p:cNvSpPr txBox="1"/>
          <p:nvPr/>
        </p:nvSpPr>
        <p:spPr>
          <a:xfrm>
            <a:off x="6217920" y="3593592"/>
            <a:ext cx="5394960" cy="411480"/>
          </a:xfrm>
          <a:prstGeom prst="rect">
            <a:avLst/>
          </a:prstGeom>
          <a:noFill/>
          <a:ln/>
        </p:spPr>
        <p:txBody>
          <a:bodyPr wrap="square" lIns="0" tIns="0" rIns="0" bIns="0" rtlCol="0" anchor="ctr"/>
          <a:lstStyle/>
          <a:p>
            <a:pPr indent="0" marL="0">
              <a:buNone/>
            </a:pPr>
            <a:r>
              <a:rPr lang="en-US" sz="2200" b="1" dirty="0">
                <a:solidFill>
                  <a:schemeClr val="tx2"/>
                </a:solidFill>
              </a:rPr>
              <a:t>Hyundai Tucson 2027</a:t>
            </a:r>
            <a:endParaRPr lang="en-US" sz="2200" dirty="0"/>
          </a:p>
        </p:txBody>
      </p:sp>
      <p:sp>
        <p:nvSpPr>
          <p:cNvPr id="12" name="Text 9"/>
          <p:cNvSpPr txBox="1"/>
          <p:nvPr/>
        </p:nvSpPr>
        <p:spPr>
          <a:xfrm>
            <a:off x="6217920" y="4114800"/>
            <a:ext cx="53949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CODE</a:t>
            </a:r>
            <a:endParaRPr lang="en-US" sz="1100" dirty="0"/>
          </a:p>
        </p:txBody>
      </p:sp>
      <p:sp>
        <p:nvSpPr>
          <p:cNvPr id="13" name="Text 10"/>
          <p:cNvSpPr txBox="1"/>
          <p:nvPr/>
        </p:nvSpPr>
        <p:spPr>
          <a:xfrm>
            <a:off x="6217920" y="4370832"/>
            <a:ext cx="5394960" cy="411480"/>
          </a:xfrm>
          <a:prstGeom prst="rect">
            <a:avLst/>
          </a:prstGeom>
          <a:noFill/>
          <a:ln/>
        </p:spPr>
        <p:txBody>
          <a:bodyPr wrap="square" lIns="0" tIns="0" rIns="0" bIns="0" rtlCol="0" anchor="ctr"/>
          <a:lstStyle/>
          <a:p>
            <a:pPr indent="0" marL="0">
              <a:buNone/>
            </a:pPr>
            <a:r>
              <a:rPr lang="en-US" sz="2200" b="1" dirty="0">
                <a:solidFill>
                  <a:schemeClr val="tx2"/>
                </a:solidFill>
              </a:rPr>
              <a:t>5759 · CAI 514126A</a:t>
            </a:r>
            <a:endParaRPr lang="en-US" sz="2200" dirty="0"/>
          </a:p>
        </p:txBody>
      </p:sp>
      <p:sp>
        <p:nvSpPr>
          <p:cNvPr id="14" name="Shape 11"/>
          <p:cNvSpPr/>
          <p:nvPr/>
        </p:nvSpPr>
        <p:spPr>
          <a:xfrm>
            <a:off x="6217920" y="4983480"/>
            <a:ext cx="5394960" cy="1188720"/>
          </a:xfrm>
          <a:prstGeom prst="roundRect">
            <a:avLst>
              <a:gd name="adj" fmla="val 7692"/>
            </a:avLst>
          </a:prstGeom>
          <a:solidFill>
            <a:schemeClr val="tx2"/>
          </a:solidFill>
          <a:ln/>
        </p:spPr>
      </p:sp>
      <p:sp>
        <p:nvSpPr>
          <p:cNvPr id="15" name="Text 12"/>
          <p:cNvSpPr txBox="1"/>
          <p:nvPr/>
        </p:nvSpPr>
        <p:spPr>
          <a:xfrm>
            <a:off x="6492240" y="4983480"/>
            <a:ext cx="4846320" cy="1188720"/>
          </a:xfrm>
          <a:prstGeom prst="rect">
            <a:avLst/>
          </a:prstGeom>
          <a:noFill/>
          <a:ln/>
        </p:spPr>
        <p:txBody>
          <a:bodyPr wrap="square" lIns="0" tIns="0" rIns="0" bIns="0" rtlCol="0" anchor="ctr"/>
          <a:lstStyle/>
          <a:p>
            <a:pPr indent="0" marL="0">
              <a:buNone/>
            </a:pPr>
            <a:r>
              <a:rPr lang="en-US" sz="1600" dirty="0">
                <a:solidFill>
                  <a:schemeClr val="bg1"/>
                </a:solidFill>
              </a:rPr>
              <a:t>Every unit you receive is measured and controlled to match the tire you homologated.</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631375" cy="685800"/>
          </a:xfrm>
          <a:prstGeom prst="rect">
            <a:avLst/>
          </a:prstGeom>
          <a:noFill/>
          <a:ln/>
        </p:spPr>
        <p:txBody>
          <a:bodyPr wrap="square" lIns="0" tIns="0" rIns="0" bIns="0" rtlCol="0" anchor="ctr"/>
          <a:lstStyle/>
          <a:p>
            <a:pPr algn="l" indent="0" marL="0">
              <a:buNone/>
            </a:pPr>
            <a:r>
              <a:rPr lang="en-US" sz="3000" b="1" dirty="0">
                <a:solidFill>
                  <a:schemeClr val="tx2"/>
                </a:solidFill>
              </a:rPr>
              <a:t>What this means for Hyundai</a:t>
            </a:r>
            <a:endParaRPr lang="en-US" sz="3000" dirty="0"/>
          </a:p>
        </p:txBody>
      </p:sp>
      <p:sp>
        <p:nvSpPr>
          <p:cNvPr id="3" name="Text 0"/>
          <p:cNvSpPr/>
          <p:nvPr>
            <p:ph idx="102" type="body" hasCustomPrompt="1"/>
          </p:nvPr>
        </p:nvSpPr>
        <p:spPr>
          <a:xfrm>
            <a:off x="548640" y="987552"/>
            <a:ext cx="9631375" cy="411480"/>
          </a:xfrm>
          <a:prstGeom prst="rect">
            <a:avLst/>
          </a:prstGeom>
          <a:noFill/>
          <a:ln/>
        </p:spPr>
        <p:txBody>
          <a:bodyPr wrap="square" lIns="0" tIns="0" rIns="0" bIns="0" rtlCol="0" anchor="t"/>
          <a:lstStyle/>
          <a:p>
            <a:pPr indent="0" marL="0">
              <a:buNone/>
            </a:pPr>
            <a:r>
              <a:rPr lang="en-US" sz="1600" dirty="0">
                <a:solidFill>
                  <a:schemeClr val="accent1"/>
                </a:solidFill>
              </a:rPr>
              <a:t>Consistent quality, fewer incidents and a partner ready for the future</a:t>
            </a:r>
            <a:endParaRPr lang="en-US" sz="1600" dirty="0"/>
          </a:p>
        </p:txBody>
      </p:sp>
      <p:sp>
        <p:nvSpPr>
          <p:cNvPr id="4" name="Shape 2"/>
          <p:cNvSpPr/>
          <p:nvPr/>
        </p:nvSpPr>
        <p:spPr>
          <a:xfrm>
            <a:off x="548640" y="1691640"/>
            <a:ext cx="5410048" cy="2057400"/>
          </a:xfrm>
          <a:prstGeom prst="roundRect">
            <a:avLst>
              <a:gd name="adj" fmla="val 5333"/>
            </a:avLst>
          </a:prstGeom>
          <a:solidFill>
            <a:schemeClr val="bg2"/>
          </a:solidFill>
          <a:ln/>
        </p:spPr>
      </p:sp>
      <p:sp>
        <p:nvSpPr>
          <p:cNvPr id="5" name="Shape 3"/>
          <p:cNvSpPr/>
          <p:nvPr/>
        </p:nvSpPr>
        <p:spPr>
          <a:xfrm>
            <a:off x="822960" y="1965960"/>
            <a:ext cx="731520" cy="7315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05840" y="2148840"/>
            <a:ext cx="365760" cy="365760"/>
          </a:xfrm>
          <a:prstGeom prst="rect">
            <a:avLst/>
          </a:prstGeom>
        </p:spPr>
      </p:pic>
      <p:sp>
        <p:nvSpPr>
          <p:cNvPr id="7" name="Text 4"/>
          <p:cNvSpPr txBox="1"/>
          <p:nvPr/>
        </p:nvSpPr>
        <p:spPr>
          <a:xfrm>
            <a:off x="1783080" y="1965960"/>
            <a:ext cx="3901288" cy="411480"/>
          </a:xfrm>
          <a:prstGeom prst="rect">
            <a:avLst/>
          </a:prstGeom>
          <a:noFill/>
          <a:ln/>
        </p:spPr>
        <p:txBody>
          <a:bodyPr wrap="square" lIns="0" tIns="0" rIns="0" bIns="0" rtlCol="0" anchor="ctr"/>
          <a:lstStyle/>
          <a:p>
            <a:pPr indent="0" marL="0">
              <a:buNone/>
            </a:pPr>
            <a:r>
              <a:rPr lang="en-US" sz="1900" b="1" dirty="0">
                <a:solidFill>
                  <a:schemeClr val="tx2"/>
                </a:solidFill>
              </a:rPr>
              <a:t>Consistent quality</a:t>
            </a:r>
            <a:endParaRPr lang="en-US" sz="1900" dirty="0"/>
          </a:p>
        </p:txBody>
      </p:sp>
      <p:sp>
        <p:nvSpPr>
          <p:cNvPr id="8" name="Text 5"/>
          <p:cNvSpPr txBox="1"/>
          <p:nvPr/>
        </p:nvSpPr>
        <p:spPr>
          <a:xfrm>
            <a:off x="1783080" y="2423160"/>
            <a:ext cx="3901288" cy="1143000"/>
          </a:xfrm>
          <a:prstGeom prst="rect">
            <a:avLst/>
          </a:prstGeom>
          <a:noFill/>
          <a:ln/>
        </p:spPr>
        <p:txBody>
          <a:bodyPr wrap="square" lIns="0" tIns="0" rIns="0" bIns="0" rtlCol="0" anchor="t"/>
          <a:lstStyle/>
          <a:p>
            <a:pPr indent="0" marL="0">
              <a:buNone/>
            </a:pPr>
            <a:r>
              <a:rPr lang="en-US" sz="1500" dirty="0">
                <a:solidFill>
                  <a:schemeClr val="tx1"/>
                </a:solidFill>
              </a:rPr>
              <a:t>Every Primacy 5 Energy matches the homologated tire: same geometry, same behaviour on the Tucson.</a:t>
            </a:r>
            <a:endParaRPr lang="en-US" sz="1500" dirty="0"/>
          </a:p>
        </p:txBody>
      </p:sp>
      <p:sp>
        <p:nvSpPr>
          <p:cNvPr id="9" name="Shape 6"/>
          <p:cNvSpPr/>
          <p:nvPr/>
        </p:nvSpPr>
        <p:spPr>
          <a:xfrm>
            <a:off x="6233008" y="1691640"/>
            <a:ext cx="5410048" cy="2057400"/>
          </a:xfrm>
          <a:prstGeom prst="roundRect">
            <a:avLst>
              <a:gd name="adj" fmla="val 5333"/>
            </a:avLst>
          </a:prstGeom>
          <a:solidFill>
            <a:schemeClr val="bg2"/>
          </a:solidFill>
          <a:ln/>
        </p:spPr>
      </p:sp>
      <p:sp>
        <p:nvSpPr>
          <p:cNvPr id="10" name="Shape 7"/>
          <p:cNvSpPr/>
          <p:nvPr/>
        </p:nvSpPr>
        <p:spPr>
          <a:xfrm>
            <a:off x="6507328" y="1965960"/>
            <a:ext cx="731520" cy="73152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690208" y="2148840"/>
            <a:ext cx="365760" cy="365760"/>
          </a:xfrm>
          <a:prstGeom prst="rect">
            <a:avLst/>
          </a:prstGeom>
        </p:spPr>
      </p:pic>
      <p:sp>
        <p:nvSpPr>
          <p:cNvPr id="12" name="Text 8"/>
          <p:cNvSpPr txBox="1"/>
          <p:nvPr/>
        </p:nvSpPr>
        <p:spPr>
          <a:xfrm>
            <a:off x="7467448" y="1965960"/>
            <a:ext cx="3901288" cy="411480"/>
          </a:xfrm>
          <a:prstGeom prst="rect">
            <a:avLst/>
          </a:prstGeom>
          <a:noFill/>
          <a:ln/>
        </p:spPr>
        <p:txBody>
          <a:bodyPr wrap="square" lIns="0" tIns="0" rIns="0" bIns="0" rtlCol="0" anchor="ctr"/>
          <a:lstStyle/>
          <a:p>
            <a:pPr indent="0" marL="0">
              <a:buNone/>
            </a:pPr>
            <a:r>
              <a:rPr lang="en-US" sz="1900" b="1" dirty="0">
                <a:solidFill>
                  <a:schemeClr val="tx2"/>
                </a:solidFill>
              </a:rPr>
              <a:t>Fewer incidents in your plant</a:t>
            </a:r>
            <a:endParaRPr lang="en-US" sz="1900" dirty="0"/>
          </a:p>
        </p:txBody>
      </p:sp>
      <p:sp>
        <p:nvSpPr>
          <p:cNvPr id="13" name="Text 9"/>
          <p:cNvSpPr txBox="1"/>
          <p:nvPr/>
        </p:nvSpPr>
        <p:spPr>
          <a:xfrm>
            <a:off x="7467448" y="2423160"/>
            <a:ext cx="3901288" cy="1143000"/>
          </a:xfrm>
          <a:prstGeom prst="rect">
            <a:avLst/>
          </a:prstGeom>
          <a:noFill/>
          <a:ln/>
        </p:spPr>
        <p:txBody>
          <a:bodyPr wrap="square" lIns="0" tIns="0" rIns="0" bIns="0" rtlCol="0" anchor="t"/>
          <a:lstStyle/>
          <a:p>
            <a:pPr indent="0" marL="0">
              <a:buNone/>
            </a:pPr>
            <a:r>
              <a:rPr lang="en-US" sz="1500" dirty="0">
                <a:solidFill>
                  <a:schemeClr val="tx1"/>
                </a:solidFill>
              </a:rPr>
              <a:t>Defects are stopped at our machine, not on your assembly line or with the end customer.</a:t>
            </a:r>
            <a:endParaRPr lang="en-US" sz="1500" dirty="0"/>
          </a:p>
        </p:txBody>
      </p:sp>
      <p:sp>
        <p:nvSpPr>
          <p:cNvPr id="14" name="Shape 10"/>
          <p:cNvSpPr/>
          <p:nvPr/>
        </p:nvSpPr>
        <p:spPr>
          <a:xfrm>
            <a:off x="548640" y="4023360"/>
            <a:ext cx="5410048" cy="2057400"/>
          </a:xfrm>
          <a:prstGeom prst="roundRect">
            <a:avLst>
              <a:gd name="adj" fmla="val 5333"/>
            </a:avLst>
          </a:prstGeom>
          <a:solidFill>
            <a:schemeClr val="bg2"/>
          </a:solidFill>
          <a:ln/>
        </p:spPr>
      </p:sp>
      <p:sp>
        <p:nvSpPr>
          <p:cNvPr id="15" name="Shape 11"/>
          <p:cNvSpPr/>
          <p:nvPr/>
        </p:nvSpPr>
        <p:spPr>
          <a:xfrm>
            <a:off x="822960" y="4297680"/>
            <a:ext cx="731520" cy="73152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1005840" y="4480560"/>
            <a:ext cx="365760" cy="365760"/>
          </a:xfrm>
          <a:prstGeom prst="rect">
            <a:avLst/>
          </a:prstGeom>
        </p:spPr>
      </p:pic>
      <p:sp>
        <p:nvSpPr>
          <p:cNvPr id="17" name="Text 12"/>
          <p:cNvSpPr txBox="1"/>
          <p:nvPr/>
        </p:nvSpPr>
        <p:spPr>
          <a:xfrm>
            <a:off x="1783080" y="4297680"/>
            <a:ext cx="3901288" cy="411480"/>
          </a:xfrm>
          <a:prstGeom prst="rect">
            <a:avLst/>
          </a:prstGeom>
          <a:noFill/>
          <a:ln/>
        </p:spPr>
        <p:txBody>
          <a:bodyPr wrap="square" lIns="0" tIns="0" rIns="0" bIns="0" rtlCol="0" anchor="ctr"/>
          <a:lstStyle/>
          <a:p>
            <a:pPr indent="0" marL="0">
              <a:buNone/>
            </a:pPr>
            <a:r>
              <a:rPr lang="en-US" sz="1900" b="1" dirty="0">
                <a:solidFill>
                  <a:schemeClr val="tx2"/>
                </a:solidFill>
              </a:rPr>
              <a:t>Data transparency</a:t>
            </a:r>
            <a:endParaRPr lang="en-US" sz="1900" dirty="0"/>
          </a:p>
        </p:txBody>
      </p:sp>
      <p:sp>
        <p:nvSpPr>
          <p:cNvPr id="18" name="Text 13"/>
          <p:cNvSpPr txBox="1"/>
          <p:nvPr/>
        </p:nvSpPr>
        <p:spPr>
          <a:xfrm>
            <a:off x="1783080" y="4754880"/>
            <a:ext cx="3901288" cy="1143000"/>
          </a:xfrm>
          <a:prstGeom prst="rect">
            <a:avLst/>
          </a:prstGeom>
          <a:noFill/>
          <a:ln/>
        </p:spPr>
        <p:txBody>
          <a:bodyPr wrap="square" lIns="0" tIns="0" rIns="0" bIns="0" rtlCol="0" anchor="t"/>
          <a:lstStyle/>
          <a:p>
            <a:pPr indent="0" marL="0">
              <a:buNone/>
            </a:pPr>
            <a:r>
              <a:rPr lang="en-US" sz="1500" dirty="0">
                <a:solidFill>
                  <a:schemeClr val="tx1"/>
                </a:solidFill>
              </a:rPr>
              <a:t>Traceable measurements and alerts, ready to review together and share as quality KPIs.</a:t>
            </a:r>
            <a:endParaRPr lang="en-US" sz="1500" dirty="0"/>
          </a:p>
        </p:txBody>
      </p:sp>
      <p:sp>
        <p:nvSpPr>
          <p:cNvPr id="19" name="Shape 14"/>
          <p:cNvSpPr/>
          <p:nvPr/>
        </p:nvSpPr>
        <p:spPr>
          <a:xfrm>
            <a:off x="6233008" y="4023360"/>
            <a:ext cx="5410048" cy="2057400"/>
          </a:xfrm>
          <a:prstGeom prst="roundRect">
            <a:avLst>
              <a:gd name="adj" fmla="val 5333"/>
            </a:avLst>
          </a:prstGeom>
          <a:solidFill>
            <a:schemeClr val="bg2"/>
          </a:solidFill>
          <a:ln/>
        </p:spPr>
      </p:sp>
      <p:sp>
        <p:nvSpPr>
          <p:cNvPr id="20" name="Shape 15"/>
          <p:cNvSpPr/>
          <p:nvPr/>
        </p:nvSpPr>
        <p:spPr>
          <a:xfrm>
            <a:off x="6507328" y="4297680"/>
            <a:ext cx="731520" cy="73152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6690208" y="4480560"/>
            <a:ext cx="365760" cy="365760"/>
          </a:xfrm>
          <a:prstGeom prst="rect">
            <a:avLst/>
          </a:prstGeom>
        </p:spPr>
      </p:pic>
      <p:sp>
        <p:nvSpPr>
          <p:cNvPr id="22" name="Text 16"/>
          <p:cNvSpPr txBox="1"/>
          <p:nvPr/>
        </p:nvSpPr>
        <p:spPr>
          <a:xfrm>
            <a:off x="7467448" y="4297680"/>
            <a:ext cx="3901288" cy="411480"/>
          </a:xfrm>
          <a:prstGeom prst="rect">
            <a:avLst/>
          </a:prstGeom>
          <a:noFill/>
          <a:ln/>
        </p:spPr>
        <p:txBody>
          <a:bodyPr wrap="square" lIns="0" tIns="0" rIns="0" bIns="0" rtlCol="0" anchor="ctr"/>
          <a:lstStyle/>
          <a:p>
            <a:pPr indent="0" marL="0">
              <a:buNone/>
            </a:pPr>
            <a:r>
              <a:rPr lang="en-US" sz="1900" b="1" dirty="0">
                <a:solidFill>
                  <a:schemeClr val="tx2"/>
                </a:solidFill>
              </a:rPr>
              <a:t>Ready for what comes next</a:t>
            </a:r>
            <a:endParaRPr lang="en-US" sz="1900" dirty="0"/>
          </a:p>
        </p:txBody>
      </p:sp>
      <p:sp>
        <p:nvSpPr>
          <p:cNvPr id="23" name="Text 17"/>
          <p:cNvSpPr txBox="1"/>
          <p:nvPr/>
        </p:nvSpPr>
        <p:spPr>
          <a:xfrm>
            <a:off x="7467448" y="4754880"/>
            <a:ext cx="3901288" cy="1143000"/>
          </a:xfrm>
          <a:prstGeom prst="rect">
            <a:avLst/>
          </a:prstGeom>
          <a:noFill/>
          <a:ln/>
        </p:spPr>
        <p:txBody>
          <a:bodyPr wrap="square" lIns="0" tIns="0" rIns="0" bIns="0" rtlCol="0" anchor="t"/>
          <a:lstStyle/>
          <a:p>
            <a:pPr indent="0" marL="0">
              <a:buNone/>
            </a:pPr>
            <a:r>
              <a:rPr lang="en-US" sz="1500" dirty="0">
                <a:solidFill>
                  <a:schemeClr val="tx1"/>
                </a:solidFill>
              </a:rPr>
              <a:t>The same real-time data culture that drives our joint R&amp;D on EVs and tire monitoring.</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chemeClr val="tx2"/>
        </a:solidFill>
      </p:bgPr>
    </p:bg>
    <p:spTree>
      <p:nvGrpSpPr>
        <p:cNvPr id="1" name=""/>
        <p:cNvGrpSpPr/>
        <p:nvPr/>
      </p:nvGrpSpPr>
      <p:grpSpPr>
        <a:xfrm>
          <a:off x="0" y="0"/>
          <a:ext cx="0" cy="0"/>
          <a:chOff x="0" y="0"/>
          <a:chExt cx="0" cy="0"/>
        </a:xfrm>
      </p:grpSpPr>
      <p:pic>
        <p:nvPicPr>
          <p:cNvPr id="2" name="Image 0" descr="/tmp/claude-0/-home-user-blank-app/7493bec7-5fc4-598a-95c5-e4a4b47f4a0e/scratchpad/img/bib.png">    </p:cNvPr>
          <p:cNvPicPr>
            <a:picLocks noChangeAspect="1"/>
          </p:cNvPicPr>
          <p:nvPr/>
        </p:nvPicPr>
        <p:blipFill>
          <a:blip r:embed="rId1"/>
          <a:stretch>
            <a:fillRect/>
          </a:stretch>
        </p:blipFill>
        <p:spPr>
          <a:xfrm>
            <a:off x="8503920" y="1024003"/>
            <a:ext cx="2926080" cy="4809995"/>
          </a:xfrm>
          <a:prstGeom prst="rect">
            <a:avLst/>
          </a:prstGeom>
        </p:spPr>
      </p:pic>
      <p:sp>
        <p:nvSpPr>
          <p:cNvPr id="3" name="Text 0"/>
          <p:cNvSpPr txBox="1"/>
          <p:nvPr/>
        </p:nvSpPr>
        <p:spPr>
          <a:xfrm>
            <a:off x="548640" y="822960"/>
            <a:ext cx="7315200" cy="457200"/>
          </a:xfrm>
          <a:prstGeom prst="rect">
            <a:avLst/>
          </a:prstGeom>
          <a:noFill/>
          <a:ln/>
        </p:spPr>
        <p:txBody>
          <a:bodyPr wrap="square" lIns="0" tIns="0" rIns="0" bIns="0" rtlCol="0" anchor="ctr"/>
          <a:lstStyle/>
          <a:p>
            <a:pPr indent="0" marL="0">
              <a:buNone/>
            </a:pPr>
            <a:r>
              <a:rPr lang="en-US" sz="1800" b="1" dirty="0">
                <a:solidFill>
                  <a:schemeClr val="accent2"/>
                </a:solidFill>
              </a:rPr>
              <a:t>Next steps</a:t>
            </a:r>
            <a:endParaRPr lang="en-US" sz="1800" dirty="0"/>
          </a:p>
        </p:txBody>
      </p:sp>
      <p:sp>
        <p:nvSpPr>
          <p:cNvPr id="4" name="Text 1"/>
          <p:cNvSpPr txBox="1"/>
          <p:nvPr/>
        </p:nvSpPr>
        <p:spPr>
          <a:xfrm>
            <a:off x="548640" y="1280160"/>
            <a:ext cx="7680960" cy="822960"/>
          </a:xfrm>
          <a:prstGeom prst="rect">
            <a:avLst/>
          </a:prstGeom>
          <a:noFill/>
          <a:ln/>
        </p:spPr>
        <p:txBody>
          <a:bodyPr wrap="square" lIns="0" tIns="0" rIns="0" bIns="0" rtlCol="0" anchor="ctr"/>
          <a:lstStyle/>
          <a:p>
            <a:pPr indent="0" marL="0">
              <a:buNone/>
            </a:pPr>
            <a:r>
              <a:rPr lang="en-US" sz="3600" b="1" dirty="0">
                <a:solidFill>
                  <a:schemeClr val="bg1"/>
                </a:solidFill>
              </a:rPr>
              <a:t>See our digital factory in action</a:t>
            </a:r>
            <a:endParaRPr lang="en-US" sz="3600" dirty="0"/>
          </a:p>
        </p:txBody>
      </p:sp>
      <p:sp>
        <p:nvSpPr>
          <p:cNvPr id="5" name="Shape 2"/>
          <p:cNvSpPr/>
          <p:nvPr/>
        </p:nvSpPr>
        <p:spPr>
          <a:xfrm>
            <a:off x="548640" y="2514600"/>
            <a:ext cx="640080" cy="640080"/>
          </a:xfrm>
          <a:prstGeom prst="ellipse">
            <a:avLst/>
          </a:prstGeom>
          <a:solidFill>
            <a:schemeClr val="accent2"/>
          </a:solidFill>
          <a:ln/>
        </p:spPr>
      </p:sp>
      <p:sp>
        <p:nvSpPr>
          <p:cNvPr id="6" name="Text 3"/>
          <p:cNvSpPr txBox="1"/>
          <p:nvPr/>
        </p:nvSpPr>
        <p:spPr>
          <a:xfrm>
            <a:off x="548640" y="2514600"/>
            <a:ext cx="640080" cy="640080"/>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7" name="Text 4"/>
          <p:cNvSpPr txBox="1"/>
          <p:nvPr/>
        </p:nvSpPr>
        <p:spPr>
          <a:xfrm>
            <a:off x="1463040" y="2514600"/>
            <a:ext cx="6766560" cy="640080"/>
          </a:xfrm>
          <a:prstGeom prst="rect">
            <a:avLst/>
          </a:prstGeom>
          <a:noFill/>
          <a:ln/>
        </p:spPr>
        <p:txBody>
          <a:bodyPr wrap="square" lIns="0" tIns="0" rIns="0" bIns="0" rtlCol="0" anchor="ctr"/>
          <a:lstStyle/>
          <a:p>
            <a:pPr indent="0" marL="0">
              <a:buNone/>
            </a:pPr>
            <a:r>
              <a:rPr lang="en-US" sz="1700" dirty="0">
                <a:solidFill>
                  <a:schemeClr val="bg1"/>
                </a:solidFill>
              </a:rPr>
              <a:t>Plant visit: MAC and BNS lines with OLM running live.</a:t>
            </a:r>
            <a:endParaRPr lang="en-US" sz="1700" dirty="0"/>
          </a:p>
        </p:txBody>
      </p:sp>
      <p:sp>
        <p:nvSpPr>
          <p:cNvPr id="8" name="Shape 5"/>
          <p:cNvSpPr/>
          <p:nvPr/>
        </p:nvSpPr>
        <p:spPr>
          <a:xfrm>
            <a:off x="548640" y="3474720"/>
            <a:ext cx="640080" cy="640080"/>
          </a:xfrm>
          <a:prstGeom prst="ellipse">
            <a:avLst/>
          </a:prstGeom>
          <a:solidFill>
            <a:schemeClr val="accent2"/>
          </a:solidFill>
          <a:ln/>
        </p:spPr>
      </p:sp>
      <p:sp>
        <p:nvSpPr>
          <p:cNvPr id="9" name="Text 6"/>
          <p:cNvSpPr txBox="1"/>
          <p:nvPr/>
        </p:nvSpPr>
        <p:spPr>
          <a:xfrm>
            <a:off x="548640" y="3474720"/>
            <a:ext cx="640080" cy="640080"/>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10" name="Text 7"/>
          <p:cNvSpPr txBox="1"/>
          <p:nvPr/>
        </p:nvSpPr>
        <p:spPr>
          <a:xfrm>
            <a:off x="1463040" y="3474720"/>
            <a:ext cx="6766560" cy="640080"/>
          </a:xfrm>
          <a:prstGeom prst="rect">
            <a:avLst/>
          </a:prstGeom>
          <a:noFill/>
          <a:ln/>
        </p:spPr>
        <p:txBody>
          <a:bodyPr wrap="square" lIns="0" tIns="0" rIns="0" bIns="0" rtlCol="0" anchor="ctr"/>
          <a:lstStyle/>
          <a:p>
            <a:pPr indent="0" marL="0">
              <a:buNone/>
            </a:pPr>
            <a:r>
              <a:rPr lang="en-US" sz="1700" dirty="0">
                <a:solidFill>
                  <a:schemeClr val="bg1"/>
                </a:solidFill>
              </a:rPr>
              <a:t>Workshop with your quality team to define shared digital quality KPIs.</a:t>
            </a:r>
            <a:endParaRPr lang="en-US" sz="1700" dirty="0"/>
          </a:p>
        </p:txBody>
      </p:sp>
      <p:sp>
        <p:nvSpPr>
          <p:cNvPr id="11" name="Shape 8"/>
          <p:cNvSpPr/>
          <p:nvPr/>
        </p:nvSpPr>
        <p:spPr>
          <a:xfrm>
            <a:off x="548640" y="4434840"/>
            <a:ext cx="640080" cy="640080"/>
          </a:xfrm>
          <a:prstGeom prst="ellipse">
            <a:avLst/>
          </a:prstGeom>
          <a:solidFill>
            <a:schemeClr val="accent2"/>
          </a:solidFill>
          <a:ln/>
        </p:spPr>
      </p:sp>
      <p:sp>
        <p:nvSpPr>
          <p:cNvPr id="12" name="Text 9"/>
          <p:cNvSpPr txBox="1"/>
          <p:nvPr/>
        </p:nvSpPr>
        <p:spPr>
          <a:xfrm>
            <a:off x="548640" y="4434840"/>
            <a:ext cx="640080" cy="640080"/>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3" name="Text 10"/>
          <p:cNvSpPr txBox="1"/>
          <p:nvPr/>
        </p:nvSpPr>
        <p:spPr>
          <a:xfrm>
            <a:off x="1463040" y="4434840"/>
            <a:ext cx="6766560" cy="640080"/>
          </a:xfrm>
          <a:prstGeom prst="rect">
            <a:avLst/>
          </a:prstGeom>
          <a:noFill/>
          <a:ln/>
        </p:spPr>
        <p:txBody>
          <a:bodyPr wrap="square" lIns="0" tIns="0" rIns="0" bIns="0" rtlCol="0" anchor="ctr"/>
          <a:lstStyle/>
          <a:p>
            <a:pPr indent="0" marL="0">
              <a:buNone/>
            </a:pPr>
            <a:r>
              <a:rPr lang="en-US" sz="1700" dirty="0">
                <a:solidFill>
                  <a:schemeClr val="bg1"/>
                </a:solidFill>
              </a:rPr>
              <a:t>Joint monitoring of the Primacy 5 Energy during the Tucson 2027 launch.</a:t>
            </a:r>
            <a:endParaRPr lang="en-US" sz="1700" dirty="0"/>
          </a:p>
        </p:txBody>
      </p:sp>
      <p:sp>
        <p:nvSpPr>
          <p:cNvPr id="14" name="Text 11"/>
          <p:cNvSpPr txBox="1"/>
          <p:nvPr/>
        </p:nvSpPr>
        <p:spPr>
          <a:xfrm>
            <a:off x="548640" y="5715000"/>
            <a:ext cx="5486400" cy="457200"/>
          </a:xfrm>
          <a:prstGeom prst="rect">
            <a:avLst/>
          </a:prstGeom>
          <a:noFill/>
          <a:ln/>
        </p:spPr>
        <p:txBody>
          <a:bodyPr wrap="square" lIns="0" tIns="0" rIns="0" bIns="0" rtlCol="0" anchor="ctr"/>
          <a:lstStyle/>
          <a:p>
            <a:pPr indent="0" marL="0">
              <a:buNone/>
            </a:pPr>
            <a:r>
              <a:rPr lang="en-US" sz="2200" b="1" i="1" spc="200" kern="0" dirty="0">
                <a:solidFill>
                  <a:schemeClr val="bg1"/>
                </a:solidFill>
              </a:rPr>
              <a:t>MOTION FOR LIFE</a:t>
            </a:r>
            <a:endParaRPr lang="en-US" sz="2200" dirty="0"/>
          </a:p>
        </p:txBody>
      </p:sp>
    </p:spTree>
  </p:cSld>
  <p:clrMapOvr>
    <a:masterClrMapping/>
  </p:clrMapOvr>
</p:sld>
</file>

<file path=ppt/theme/theme1.xml><?xml version="1.0" encoding="utf-8"?>
<a:theme xmlns:a="http://schemas.openxmlformats.org/drawingml/2006/main" name="Michelin Hyundai">
  <a:themeElements>
    <a:clrScheme name="Michelin Hyundai">
      <a:dk1>
        <a:srgbClr val="1C2333"/>
      </a:dk1>
      <a:lt1>
        <a:srgbClr val="FFFFFF"/>
      </a:lt1>
      <a:dk2>
        <a:srgbClr val="0B1F4B"/>
      </a:dk2>
      <a:lt2>
        <a:srgbClr val="EEF2F8"/>
      </a:lt2>
      <a:accent1>
        <a:srgbClr val="27509B"/>
      </a:accent1>
      <a:accent2>
        <a:srgbClr val="FCE500"/>
      </a:accent2>
      <a:accent3>
        <a:srgbClr val="1E9E5A"/>
      </a:accent3>
      <a:accent4>
        <a:srgbClr val="D6402B"/>
      </a:accent4>
      <a:accent5>
        <a:srgbClr val="7FA3D9"/>
      </a:accent5>
      <a:accent6>
        <a:srgbClr val="5B6475"/>
      </a:accent6>
      <a:hlink>
        <a:srgbClr val="27509B"/>
      </a:hlink>
      <a:folHlink>
        <a:srgbClr val="5B3E96"/>
      </a:folHlink>
    </a:clrScheme>
    <a:fontScheme name="Michelin Hyunda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Hyundai &amp; Michelin: from data to the perfect tire</dc:title>
  <dc:subject>PptxGenJS Presentation</dc:subject>
  <dc:creator>Michelin</dc:creator>
  <cp:lastModifiedBy>Michelin</cp:lastModifiedBy>
  <cp:revision>1</cp:revision>
  <dcterms:created xsi:type="dcterms:W3CDTF">2026-10-20T21:05:06Z</dcterms:created>
  <dcterms:modified xsi:type="dcterms:W3CDTF">2026-10-20T21:05:06Z</dcterms:modified>
</cp:coreProperties>
</file>