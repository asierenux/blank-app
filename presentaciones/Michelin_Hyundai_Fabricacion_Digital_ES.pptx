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6"/>
  </p:notesMasterIdLst>
  <p:handoutMasterIdLst>
    <p:handoutMasterId r:id="rId37"/>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14"/>
    <p:sldId id="278" r:id="rId13"/>
    <p:sldId id="279" r:id="rId12"/>
    <p:sldId id="280" r:id="rId1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309"/>
            <p14:sldId id="310"/>
            <p14:sldId id="972"/>
            <p14:sldId id="1076"/>
            <p14:sldId id="315"/>
            <p14:sldId id="317"/>
            <p14:sldId id="1066"/>
            <p14:sldId id="975"/>
            <p14:sldId id="1077"/>
            <p14:sldId id="1006"/>
            <p14:sldId id="1014"/>
            <p14:sldId id="1088"/>
            <p14:sldId id="1082"/>
            <p14:sldId id="1083"/>
            <p14:sldId id="1086"/>
            <p14:sldId id="1072"/>
            <p14:sldId id="2147475815"/>
            <p14:sldId id="2147475827"/>
            <p14:sldId id="2147475831"/>
            <p14:sldId id="967"/>
            <p14:sldId id="961"/>
            <p14:sldId id="1017"/>
            <p14:sldId id="1087"/>
            <p14:sldId id="1079"/>
            <p14:sldId id="1015"/>
            <p14:sldId id="1074"/>
            <p14:sldId id="1084"/>
            <p14:sldId id="1071"/>
            <p14:sldId id="261"/>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slide" Target="slides/slide25.xml"/><Relationship Id="rId12" Type="http://schemas.openxmlformats.org/officeDocument/2006/relationships/slide" Target="slides/slide24.xml"/><Relationship Id="rId13" Type="http://schemas.openxmlformats.org/officeDocument/2006/relationships/slide" Target="slides/slide23.xml"/><Relationship Id="rId14" Type="http://schemas.openxmlformats.org/officeDocument/2006/relationships/slide" Target="slides/slide22.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commentAuthors" Target="commentAuthors.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20/10/2026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20/10/2026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bloque responde a una preocupación del cliente: reacción lenta, variabilidad entre turnos, dependencia de las personas y falta de pruebas.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Siguiente paso del proyecto: aplicar inteligencia artificial a las imágenes que ya generan nuestros perfilómetros. Un modelo aprende cómo es un producto correcto a partir de miles de imágenes reales y señala automáticamente cualquier anomalía, incluso las que no tienen una regla definida. El propio fabricante de los sensores ya ofrece detección de anomalías con IA sobre datos 3D, lo que confirma que es el camino.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Simpatía y confianza: la gente compra a personas. Mostrar el orgullo del equipo que ha creado y mejora cada día este entorno. Ajustar con los nombres o áreas reales del equipo si se desea.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xml"/><Relationship Id="rId3" Type="http://schemas.openxmlformats.org/officeDocument/2006/relationships/image" Target="../media/image3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0.jpg"/><Relationship Id="rId4" Type="http://schemas.openxmlformats.org/officeDocument/2006/relationships/image" Target="../media/image4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0.xml"/><Relationship Id="rId3"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2.xml"/><Relationship Id="rId3" Type="http://schemas.openxmlformats.org/officeDocument/2006/relationships/image" Target="../media/image4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55.jpg"/><Relationship Id="rId5" Type="http://schemas.openxmlformats.org/officeDocument/2006/relationships/image" Target="../media/image3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3.xml"/><Relationship Id="rId3" Type="http://schemas.openxmlformats.org/officeDocument/2006/relationships/image" Target="../media/image5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sp>
        <p:nvSpPr>
          <p:cNvPr id="4" name="TextBox 3"/>
          <p:cNvSpPr txBox="1"/>
          <p:nvPr/>
        </p:nvSpPr>
        <p:spPr>
          <a:xfrm>
            <a:off x="5120640" y="292608"/>
            <a:ext cx="3657600" cy="274320"/>
          </a:xfrm>
          <a:prstGeom prst="rect">
            <a:avLst/>
          </a:prstGeom>
          <a:noFill/>
        </p:spPr>
        <p:txBody>
          <a:bodyPr wrap="square" lIns="0" rIns="0" tIns="0" bIns="0" anchor="t">
            <a:spAutoFit/>
          </a:bodyPr>
          <a:lstStyle/>
          <a:p>
            <a:pPr algn="r"/>
            <a:r>
              <a:rPr sz="1400" b="1" i="0">
                <a:solidFill>
                  <a:srgbClr val="00205B"/>
                </a:solidFill>
                <a:latin typeface="Michelin"/>
              </a:rPr>
              <a:t>HYUNDAI 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30352" y="3840480"/>
            <a:ext cx="5943600" cy="365760"/>
          </a:xfrm>
          <a:prstGeom prst="rect">
            <a:avLst/>
          </a:prstGeom>
          <a:noFill/>
        </p:spPr>
        <p:txBody>
          <a:bodyPr wrap="square" lIns="0" rIns="0" t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5268" y="1005840"/>
            <a:ext cx="3195624" cy="320040"/>
          </a:xfrm>
          <a:prstGeom prst="rect">
            <a:avLst/>
          </a:prstGeom>
          <a:noFill/>
        </p:spPr>
        <p:txBody>
          <a:bodyPr wrap="square" lIns="0" rIns="0" tIns="0" bIns="0" anchor="t">
            <a:spAutoFit/>
          </a:bodyPr>
          <a:lstStyle/>
          <a:p>
            <a:pPr algn="l"/>
            <a:r>
              <a:rPr sz="1300" b="1" i="0" cap="all">
                <a:solidFill>
                  <a:srgbClr val="6E6E6E"/>
                </a:solidFill>
                <a:latin typeface="Michelin"/>
              </a:rPr>
              <a:t>Control tradicional</a:t>
            </a:r>
          </a:p>
        </p:txBody>
      </p:sp>
      <p:sp>
        <p:nvSpPr>
          <p:cNvPr id="6" name="TextBox 5"/>
          <p:cNvSpPr txBox="1"/>
          <p:nvPr/>
        </p:nvSpPr>
        <p:spPr>
          <a:xfrm>
            <a:off x="855268" y="1554480"/>
            <a:ext cx="1800351" cy="548640"/>
          </a:xfrm>
          <a:prstGeom prst="rect">
            <a:avLst/>
          </a:prstGeom>
          <a:noFill/>
        </p:spPr>
        <p:txBody>
          <a:bodyPr wrap="square" lIns="0" rIns="0" tIns="0" bIns="0" anchor="ctr">
            <a:spAutoFit/>
          </a:bodyPr>
          <a:lstStyle/>
          <a:p>
            <a:pPr algn="l"/>
            <a:r>
              <a:rPr sz="2000" b="1" i="0">
                <a:solidFill>
                  <a:srgbClr val="6E6E6E"/>
                </a:solidFill>
                <a:latin typeface="Michelin"/>
              </a:rPr>
              <a:t>1 muestra</a:t>
            </a:r>
          </a:p>
        </p:txBody>
      </p:sp>
      <p:sp>
        <p:nvSpPr>
          <p:cNvPr id="7" name="TextBox 6"/>
          <p:cNvSpPr txBox="1"/>
          <p:nvPr/>
        </p:nvSpPr>
        <p:spPr>
          <a:xfrm>
            <a:off x="2700629" y="1554480"/>
            <a:ext cx="1440281" cy="548640"/>
          </a:xfrm>
          <a:prstGeom prst="rect">
            <a:avLst/>
          </a:prstGeom>
          <a:noFill/>
        </p:spPr>
        <p:txBody>
          <a:bodyPr wrap="square" lIns="0" rIns="0" t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423160"/>
            <a:ext cx="1800351" cy="548640"/>
          </a:xfrm>
          <a:prstGeom prst="rect">
            <a:avLst/>
          </a:prstGeom>
          <a:noFill/>
        </p:spPr>
        <p:txBody>
          <a:bodyPr wrap="square" lIns="0" rIns="0" tIns="0" bIns="0" anchor="ctr">
            <a:spAutoFit/>
          </a:bodyPr>
          <a:lstStyle/>
          <a:p>
            <a:pPr algn="l"/>
            <a:r>
              <a:rPr sz="2000" b="1" i="0">
                <a:solidFill>
                  <a:srgbClr val="6E6E6E"/>
                </a:solidFill>
                <a:latin typeface="Michelin"/>
              </a:rPr>
              <a:t>Horas</a:t>
            </a:r>
          </a:p>
        </p:txBody>
      </p:sp>
      <p:sp>
        <p:nvSpPr>
          <p:cNvPr id="9" name="TextBox 8"/>
          <p:cNvSpPr txBox="1"/>
          <p:nvPr/>
        </p:nvSpPr>
        <p:spPr>
          <a:xfrm>
            <a:off x="2700629" y="2423160"/>
            <a:ext cx="1440281" cy="548640"/>
          </a:xfrm>
          <a:prstGeom prst="rect">
            <a:avLst/>
          </a:prstGeom>
          <a:noFill/>
        </p:spPr>
        <p:txBody>
          <a:bodyPr wrap="square" lIns="0" rIns="0" tIns="0" bIns="0" anchor="ctr">
            <a:spAutoFit/>
          </a:bodyPr>
          <a:lstStyle/>
          <a:p>
            <a:pPr algn="l"/>
            <a:r>
              <a:rPr sz="1100" b="0" i="0">
                <a:solidFill>
                  <a:srgbClr val="6E6E6E"/>
                </a:solidFill>
                <a:latin typeface="Arial"/>
              </a:rPr>
              <a:t>hasta descubrir una desviación</a:t>
            </a:r>
          </a:p>
        </p:txBody>
      </p:sp>
      <p:sp>
        <p:nvSpPr>
          <p:cNvPr id="10" name="TextBox 9"/>
          <p:cNvSpPr txBox="1"/>
          <p:nvPr/>
        </p:nvSpPr>
        <p:spPr>
          <a:xfrm>
            <a:off x="855268" y="3291839"/>
            <a:ext cx="1800351" cy="548640"/>
          </a:xfrm>
          <a:prstGeom prst="rect">
            <a:avLst/>
          </a:prstGeom>
          <a:noFill/>
        </p:spPr>
        <p:txBody>
          <a:bodyPr wrap="square" lIns="0" rIns="0" tIns="0" bIns="0" anchor="ctr">
            <a:spAutoFit/>
          </a:bodyPr>
          <a:lstStyle/>
          <a:p>
            <a:pPr algn="l"/>
            <a:r>
              <a:rPr sz="2000"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rIns="0" t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21122" y="1005840"/>
            <a:ext cx="3195624" cy="320040"/>
          </a:xfrm>
          <a:prstGeom prst="rect">
            <a:avLst/>
          </a:prstGeom>
          <a:noFill/>
        </p:spPr>
        <p:txBody>
          <a:bodyPr wrap="square" lIns="0" rIns="0" t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554480"/>
            <a:ext cx="1800351" cy="548640"/>
          </a:xfrm>
          <a:prstGeom prst="rect">
            <a:avLst/>
          </a:prstGeom>
          <a:noFill/>
        </p:spPr>
        <p:txBody>
          <a:bodyPr wrap="square" lIns="0" rIns="0" tIns="0" bIns="0" anchor="ctr">
            <a:spAutoFit/>
          </a:bodyPr>
          <a:lstStyle/>
          <a:p>
            <a:pPr algn="l"/>
            <a:r>
              <a:rPr sz="2000" b="1" i="0">
                <a:solidFill>
                  <a:srgbClr val="FCE500"/>
                </a:solidFill>
                <a:latin typeface="Michelin"/>
              </a:rPr>
              <a:t>100 %</a:t>
            </a:r>
          </a:p>
        </p:txBody>
      </p:sp>
      <p:sp>
        <p:nvSpPr>
          <p:cNvPr id="15" name="TextBox 14"/>
          <p:cNvSpPr txBox="1"/>
          <p:nvPr/>
        </p:nvSpPr>
        <p:spPr>
          <a:xfrm>
            <a:off x="7066483" y="1554480"/>
            <a:ext cx="1440281" cy="548640"/>
          </a:xfrm>
          <a:prstGeom prst="rect">
            <a:avLst/>
          </a:prstGeom>
          <a:noFill/>
        </p:spPr>
        <p:txBody>
          <a:bodyPr wrap="square" lIns="0" rIns="0" tIns="0" bIns="0" anchor="ctr">
            <a:spAutoFit/>
          </a:bodyPr>
          <a:lstStyle/>
          <a:p>
            <a:pPr algn="l"/>
            <a:r>
              <a:rPr sz="1100" b="0" i="0">
                <a:solidFill>
                  <a:srgbClr val="FFFFFF"/>
                </a:solidFill>
                <a:latin typeface="Arial"/>
              </a:rPr>
              <a:t>de los neumáticos, de forma automática</a:t>
            </a:r>
          </a:p>
        </p:txBody>
      </p:sp>
      <p:sp>
        <p:nvSpPr>
          <p:cNvPr id="16" name="TextBox 15"/>
          <p:cNvSpPr txBox="1"/>
          <p:nvPr/>
        </p:nvSpPr>
        <p:spPr>
          <a:xfrm>
            <a:off x="5221122" y="2423160"/>
            <a:ext cx="1800351" cy="548640"/>
          </a:xfrm>
          <a:prstGeom prst="rect">
            <a:avLst/>
          </a:prstGeom>
          <a:noFill/>
        </p:spPr>
        <p:txBody>
          <a:bodyPr wrap="square" lIns="0" rIns="0" tIns="0" bIns="0" anchor="ctr">
            <a:spAutoFit/>
          </a:bodyPr>
          <a:lstStyle/>
          <a:p>
            <a:pPr algn="l"/>
            <a:r>
              <a:rPr sz="2000" b="1" i="0">
                <a:solidFill>
                  <a:srgbClr val="FCE500"/>
                </a:solidFill>
                <a:latin typeface="Michelin"/>
              </a:rPr>
              <a:t>Segundos</a:t>
            </a:r>
          </a:p>
        </p:txBody>
      </p:sp>
      <p:sp>
        <p:nvSpPr>
          <p:cNvPr id="17" name="TextBox 16"/>
          <p:cNvSpPr txBox="1"/>
          <p:nvPr/>
        </p:nvSpPr>
        <p:spPr>
          <a:xfrm>
            <a:off x="7066483" y="2423160"/>
            <a:ext cx="1440281" cy="548640"/>
          </a:xfrm>
          <a:prstGeom prst="rect">
            <a:avLst/>
          </a:prstGeom>
          <a:noFill/>
        </p:spPr>
        <p:txBody>
          <a:bodyPr wrap="square" lIns="0" rIns="0" tIns="0" bIns="0" anchor="ctr">
            <a:spAutoFit/>
          </a:bodyPr>
          <a:lstStyle/>
          <a:p>
            <a:pPr algn="l"/>
            <a:r>
              <a:rPr sz="1100" b="0" i="0">
                <a:solidFill>
                  <a:srgbClr val="FFFFFF"/>
                </a:solidFill>
                <a:latin typeface="Arial"/>
              </a:rPr>
              <a:t>para detectar una deriva</a:t>
            </a:r>
          </a:p>
        </p:txBody>
      </p:sp>
      <p:sp>
        <p:nvSpPr>
          <p:cNvPr id="18" name="TextBox 17"/>
          <p:cNvSpPr txBox="1"/>
          <p:nvPr/>
        </p:nvSpPr>
        <p:spPr>
          <a:xfrm>
            <a:off x="5221122" y="3291839"/>
            <a:ext cx="1800351" cy="548640"/>
          </a:xfrm>
          <a:prstGeom prst="rect">
            <a:avLst/>
          </a:prstGeom>
          <a:noFill/>
        </p:spPr>
        <p:txBody>
          <a:bodyPr wrap="square" lIns="0" rIns="0" tIns="0" bIns="0" anchor="ctr">
            <a:spAutoFit/>
          </a:bodyPr>
          <a:lstStyle/>
          <a:p>
            <a:pPr algn="l"/>
            <a:r>
              <a:rPr sz="2000" b="1" i="0">
                <a:solidFill>
                  <a:srgbClr val="FCE500"/>
                </a:solidFill>
                <a:latin typeface="Michelin"/>
              </a:rPr>
              <a:t>Antes</a:t>
            </a:r>
          </a:p>
        </p:txBody>
      </p:sp>
      <p:sp>
        <p:nvSpPr>
          <p:cNvPr id="19" name="TextBox 18"/>
          <p:cNvSpPr txBox="1"/>
          <p:nvPr/>
        </p:nvSpPr>
        <p:spPr>
          <a:xfrm>
            <a:off x="7066483" y="3291839"/>
            <a:ext cx="1440281" cy="548640"/>
          </a:xfrm>
          <a:prstGeom prst="rect">
            <a:avLst/>
          </a:prstGeom>
          <a:noFill/>
        </p:spPr>
        <p:txBody>
          <a:bodyPr wrap="square" lIns="0" rIns="0" t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7672" y="2176272"/>
            <a:ext cx="1133856"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133856"/>
            <a:ext cx="914400" cy="365760"/>
          </a:xfrm>
          <a:prstGeom prst="rect">
            <a:avLst/>
          </a:prstGeom>
          <a:noFill/>
        </p:spPr>
        <p:txBody>
          <a:bodyPr wrap="square" lIns="0" rIns="0" t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rIns="0" t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57400" y="3730752"/>
            <a:ext cx="914400" cy="365760"/>
          </a:xfrm>
          <a:prstGeom prst="rect">
            <a:avLst/>
          </a:prstGeom>
          <a:noFill/>
        </p:spPr>
        <p:txBody>
          <a:bodyPr wrap="square" lIns="0" rIns="0" t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rIns="0" t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rIns="0" t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658368"/>
          </a:xfrm>
          <a:prstGeom prst="rect">
            <a:avLst/>
          </a:prstGeom>
          <a:noFill/>
        </p:spPr>
        <p:txBody>
          <a:bodyPr wrap="square" lIns="0" rIns="0" tIns="0" bIns="0" anchor="t">
            <a:spAutoFit/>
          </a:bodyPr>
          <a:lstStyle/>
          <a:p>
            <a:pPr algn="l"/>
            <a:r>
              <a:rPr sz="1100" b="1" i="0">
                <a:solidFill>
                  <a:srgbClr val="FFFFFF"/>
                </a:solidFill>
                <a:latin typeface="Michelin"/>
              </a:rPr>
              <a:t>VER  </a:t>
            </a:r>
            <a:r>
              <a:rPr sz="1000" b="1" i="0">
                <a:solidFill>
                  <a:srgbClr val="FCE500"/>
                </a:solidFill>
                <a:latin typeface="Arial"/>
              </a:rPr>
              <a:t>Perfilómetros láser 3D</a:t>
            </a:r>
          </a:p>
          <a:p>
            <a:pPr algn="l"/>
            <a:r>
              <a:rPr sz="950" b="0" i="0">
                <a:solidFill>
                  <a:srgbClr val="D6E0F0"/>
                </a:solidFill>
                <a:latin typeface="Arial"/>
              </a:rPr>
              <a:t>Cada componente, medido en 3D en cada neumático.</a:t>
            </a:r>
          </a:p>
        </p:txBody>
      </p:sp>
      <p:sp>
        <p:nvSpPr>
          <p:cNvPr id="22" name="TextBox 21"/>
          <p:cNvSpPr txBox="1"/>
          <p:nvPr/>
        </p:nvSpPr>
        <p:spPr>
          <a:xfrm>
            <a:off x="4572000" y="1719072"/>
            <a:ext cx="411480" cy="365760"/>
          </a:xfrm>
          <a:prstGeom prst="rect">
            <a:avLst/>
          </a:prstGeom>
          <a:noFill/>
        </p:spPr>
        <p:txBody>
          <a:bodyPr wrap="square" lIns="0" rIns="0" t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rIns="0" t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rIns="0" t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rIns="0" t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rIns="0" t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rIns="0" t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01</a:t>
            </a:r>
          </a:p>
          <a:p>
            <a:r>
              <a:t>Ver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Cada neumático, convertido en datos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neumático, no una muestra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rIns="0" t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rIns="0" t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365760"/>
          </a:xfrm>
          <a:prstGeom prst="rect">
            <a:avLst/>
          </a:prstGeom>
          <a:noFill/>
        </p:spPr>
        <p:txBody>
          <a:bodyPr wrap="square" lIns="0" rIns="0" tIns="0" bIns="0" anchor="t">
            <a:spAutoFit/>
          </a:bodyPr>
          <a:lstStyle/>
          <a:p>
            <a:pPr algn="l"/>
            <a:r>
              <a:rPr sz="1150" b="0" i="0">
                <a:solidFill>
                  <a:srgbClr val="262626"/>
                </a:solidFill>
                <a:latin typeface="Arial"/>
              </a:rPr>
              <a:t>de los neumáticos medidos</a:t>
            </a:r>
          </a:p>
        </p:txBody>
      </p:sp>
      <p:sp>
        <p:nvSpPr>
          <p:cNvPr id="17" name="TextBox 16"/>
          <p:cNvSpPr txBox="1"/>
          <p:nvPr/>
        </p:nvSpPr>
        <p:spPr>
          <a:xfrm>
            <a:off x="5851245" y="2148840"/>
            <a:ext cx="2790545" cy="594360"/>
          </a:xfrm>
          <a:prstGeom prst="rect">
            <a:avLst/>
          </a:prstGeom>
          <a:noFill/>
        </p:spPr>
        <p:txBody>
          <a:bodyPr wrap="square" lIns="0" rIns="0" t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rIns="0" t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rIns="0" tIns="0" bIns="0" anchor="t">
            <a:spAutoFit/>
          </a:bodyPr>
          <a:lstStyle/>
          <a:p>
            <a:pPr algn="l"/>
            <a:r>
              <a:rPr sz="3200" b="1" i="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rIns="0" t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0768" y="160934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9325" y="99212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39" y="2514600"/>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4635" y="309067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9456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Código de estado</a:t>
            </a:r>
          </a:p>
          <a:p>
            <a:pPr algn="l"/>
            <a:r>
              <a:rPr sz="950" b="0" i="0">
                <a:solidFill>
                  <a:srgbClr val="D6E0F0"/>
                </a:solidFill>
                <a:latin typeface="Arial"/>
              </a:rPr>
              <a:t>OK · vigilancia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3192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79"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9802" y="15224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8547" y="2239365"/>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8237" y="344728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1245" y="93268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rIns="0" t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1245" y="1554480"/>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rIns="0" t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1245" y="2176272"/>
            <a:ext cx="270052"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rIns="0" t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rIns="0" t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rIns="0" tIns="0" bIns="0" anchor="t">
            <a:spAutoFit/>
          </a:bodyPr>
          <a:lstStyle/>
          <a:p>
            <a:pPr algn="l" marL="182880" indent="-182880">
              <a:spcAft>
                <a:spcPts val="300"/>
              </a:spcAft>
              <a:buClr>
                <a:srgbClr val="FCE500"/>
              </a:buClr>
              <a:buSzPct val="100000"/>
              <a:buFont typeface="Wingdings"/>
              <a:buChar char="§"/>
            </a:pPr>
            <a:r>
              <a:rPr sz="1050" b="0" i="0">
                <a:solidFill>
                  <a:srgbClr val="262626"/>
                </a:solidFill>
                <a:latin typeface="Arial"/>
              </a:rPr>
              <a:t>Superposición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Altura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Offset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Del dato a la tendencia, en tiempo real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5392" y="141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79875" y="139769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69640" y="15161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37672" y="10290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52652" y="11851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8880" y="1568183"/>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0576" y="349300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rIns="0" t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30576" y="4041647"/>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rIns="0" t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rIns="0" t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9543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9543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 y="14248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41063" y="96862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89473" y="25654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rIns="0" t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rIns="0" t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084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rIns="0" t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084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rIns="0" t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rIns="0" t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24/7</a:t>
            </a:r>
          </a:p>
        </p:txBody>
      </p:sp>
      <p:sp>
        <p:nvSpPr>
          <p:cNvPr id="16" name="TextBox 15"/>
          <p:cNvSpPr txBox="1"/>
          <p:nvPr/>
        </p:nvSpPr>
        <p:spPr>
          <a:xfrm>
            <a:off x="2025497"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en todos los turnos</a:t>
            </a:r>
          </a:p>
        </p:txBody>
      </p:sp>
      <p:sp>
        <p:nvSpPr>
          <p:cNvPr id="17" name="TextBox 16"/>
          <p:cNvSpPr txBox="1"/>
          <p:nvPr/>
        </p:nvSpPr>
        <p:spPr>
          <a:xfrm>
            <a:off x="3330752"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100 %</a:t>
            </a:r>
          </a:p>
        </p:txBody>
      </p:sp>
      <p:sp>
        <p:nvSpPr>
          <p:cNvPr id="18" name="TextBox 17"/>
          <p:cNvSpPr txBox="1"/>
          <p:nvPr/>
        </p:nvSpPr>
        <p:spPr>
          <a:xfrm>
            <a:off x="4771034"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Seg.</a:t>
            </a:r>
          </a:p>
        </p:txBody>
      </p:sp>
      <p:sp>
        <p:nvSpPr>
          <p:cNvPr id="20" name="TextBox 19"/>
          <p:cNvSpPr txBox="1"/>
          <p:nvPr/>
        </p:nvSpPr>
        <p:spPr>
          <a:xfrm>
            <a:off x="7516571"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la medida a la acción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251"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_adjust.png"/>
          <p:cNvPicPr>
            <a:picLocks noChangeAspect="1"/>
          </p:cNvPicPr>
          <p:nvPr/>
        </p:nvPicPr>
        <p:blipFill>
          <a:blip r:embed="rId4"/>
          <a:stretch>
            <a:fillRect/>
          </a:stretch>
        </p:blipFill>
        <p:spPr>
          <a:xfrm>
            <a:off x="3131413" y="1115568"/>
            <a:ext cx="938784" cy="1005840"/>
          </a:xfrm>
          <a:prstGeom prst="rect">
            <a:avLst/>
          </a:prstGeom>
        </p:spPr>
      </p:pic>
      <p:sp>
        <p:nvSpPr>
          <p:cNvPr id="24" name="TextBox 23"/>
          <p:cNvSpPr txBox="1"/>
          <p:nvPr/>
        </p:nvSpPr>
        <p:spPr>
          <a:xfrm>
            <a:off x="2835656"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Corrige el parámetro de la máquina (regulación ODM) sin intervención.</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5656"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_block.png"/>
          <p:cNvPicPr>
            <a:picLocks noChangeAspect="1"/>
          </p:cNvPicPr>
          <p:nvPr/>
        </p:nvPicPr>
        <p:blipFill>
          <a:blip r:embed="rId5"/>
          <a:stretch>
            <a:fillRect/>
          </a:stretch>
        </p:blipFill>
        <p:spPr>
          <a:xfrm>
            <a:off x="5262587" y="1115568"/>
            <a:ext cx="817245" cy="1005840"/>
          </a:xfrm>
          <a:prstGeom prst="rect">
            <a:avLst/>
          </a:prstGeom>
        </p:spPr>
      </p:pic>
      <p:sp>
        <p:nvSpPr>
          <p:cNvPr id="32" name="TextBox 31"/>
          <p:cNvSpPr txBox="1"/>
          <p:nvPr/>
        </p:nvSpPr>
        <p:spPr>
          <a:xfrm>
            <a:off x="4906060"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06060"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_segreg.png"/>
          <p:cNvPicPr>
            <a:picLocks noChangeAspect="1"/>
          </p:cNvPicPr>
          <p:nvPr/>
        </p:nvPicPr>
        <p:blipFill>
          <a:blip r:embed="rId6"/>
          <a:stretch>
            <a:fillRect/>
          </a:stretch>
        </p:blipFill>
        <p:spPr>
          <a:xfrm>
            <a:off x="7238695" y="1115568"/>
            <a:ext cx="1005840" cy="1005840"/>
          </a:xfrm>
          <a:prstGeom prst="rect">
            <a:avLst/>
          </a:prstGeom>
        </p:spPr>
      </p:pic>
      <p:sp>
        <p:nvSpPr>
          <p:cNvPr id="40" name="TextBox 39"/>
          <p:cNvSpPr txBox="1"/>
          <p:nvPr/>
        </p:nvSpPr>
        <p:spPr>
          <a:xfrm>
            <a:off x="6976465"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76465" y="4114800"/>
            <a:ext cx="1530299" cy="256032"/>
          </a:xfrm>
          <a:prstGeom prst="rect">
            <a:avLst/>
          </a:prstGeom>
          <a:noFill/>
        </p:spPr>
        <p:txBody>
          <a:bodyPr wrap="square" lIns="0" rIns="0" t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R4P en acción: la línea se corrige sola</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regulación BJ · MAC6 · puesto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563"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3341" y="26243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1573" y="147218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86547"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Lo que significa para cada neumático que reciben</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3960774" cy="16916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5268" y="1115568"/>
            <a:ext cx="3420668" cy="594360"/>
          </a:xfrm>
          <a:prstGeom prst="rect">
            <a:avLst/>
          </a:prstGeom>
          <a:noFill/>
        </p:spPr>
        <p:txBody>
          <a:bodyPr wrap="square" lIns="0" rIns="0" tIns="0" bIns="0" anchor="t">
            <a:spAutoFit/>
          </a:bodyPr>
          <a:lstStyle/>
          <a:p>
            <a:pPr algn="l"/>
            <a:r>
              <a:rPr sz="1600" b="1" i="0">
                <a:solidFill>
                  <a:srgbClr val="FCE500"/>
                </a:solidFill>
                <a:latin typeface="Michelin"/>
              </a:rPr>
              <a:t>Segundos, no horas</a:t>
            </a:r>
          </a:p>
        </p:txBody>
      </p:sp>
      <p:sp>
        <p:nvSpPr>
          <p:cNvPr id="15" name="TextBox 14"/>
          <p:cNvSpPr txBox="1"/>
          <p:nvPr/>
        </p:nvSpPr>
        <p:spPr>
          <a:xfrm>
            <a:off x="855268" y="1828800"/>
            <a:ext cx="3420668" cy="685800"/>
          </a:xfrm>
          <a:prstGeom prst="rect">
            <a:avLst/>
          </a:prstGeom>
          <a:noFill/>
        </p:spPr>
        <p:txBody>
          <a:bodyPr wrap="square" lIns="0" rIns="0" tIns="0" bIns="0" anchor="t">
            <a:spAutoFit/>
          </a:bodyPr>
          <a:lstStyle/>
          <a:p>
            <a:pPr algn="l"/>
            <a:r>
              <a:rPr sz="1150" b="0" i="0">
                <a:solidFill>
                  <a:srgbClr val="FFFFFF"/>
                </a:solidFill>
                <a:latin typeface="Arial"/>
              </a:rPr>
              <a:t>La corrección llega antes de que se fabrique un neumático defectuoso.</a:t>
            </a:r>
          </a:p>
        </p:txBody>
      </p:sp>
      <p:sp>
        <p:nvSpPr>
          <p:cNvPr id="16" name="Rectangle 15"/>
          <p:cNvSpPr/>
          <p:nvPr/>
        </p:nvSpPr>
        <p:spPr>
          <a:xfrm>
            <a:off x="4726025" y="914400"/>
            <a:ext cx="3960774" cy="16916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96078" y="1115568"/>
            <a:ext cx="3420668" cy="594360"/>
          </a:xfrm>
          <a:prstGeom prst="rect">
            <a:avLst/>
          </a:prstGeom>
          <a:noFill/>
        </p:spPr>
        <p:txBody>
          <a:bodyPr wrap="square" lIns="0" rIns="0" tIns="0" bIns="0" anchor="t">
            <a:spAutoFit/>
          </a:bodyPr>
          <a:lstStyle/>
          <a:p>
            <a:pPr algn="l"/>
            <a:r>
              <a:rPr sz="1600" b="1" i="0">
                <a:solidFill>
                  <a:srgbClr val="27509B"/>
                </a:solidFill>
                <a:latin typeface="Michelin"/>
              </a:rPr>
              <a:t>Igual a las 3:00 que a las 15:00</a:t>
            </a:r>
          </a:p>
        </p:txBody>
      </p:sp>
      <p:sp>
        <p:nvSpPr>
          <p:cNvPr id="18" name="TextBox 17"/>
          <p:cNvSpPr txBox="1"/>
          <p:nvPr/>
        </p:nvSpPr>
        <p:spPr>
          <a:xfrm>
            <a:off x="4996078" y="1828800"/>
            <a:ext cx="3420668" cy="685800"/>
          </a:xfrm>
          <a:prstGeom prst="rect">
            <a:avLst/>
          </a:prstGeom>
          <a:noFill/>
        </p:spPr>
        <p:txBody>
          <a:bodyPr wrap="square" lIns="0" rIns="0" tIns="0" bIns="0" anchor="t">
            <a:spAutoFit/>
          </a:bodyPr>
          <a:lstStyle/>
          <a:p>
            <a:pPr algn="l"/>
            <a:r>
              <a:rPr sz="1150" b="0" i="0">
                <a:solidFill>
                  <a:srgbClr val="00205B"/>
                </a:solidFill>
                <a:latin typeface="Arial"/>
              </a:rPr>
              <a:t>Las mismas reglas en todos los turnos: la calidad no depende del momento.</a:t>
            </a:r>
          </a:p>
        </p:txBody>
      </p:sp>
      <p:sp>
        <p:nvSpPr>
          <p:cNvPr id="19" name="Rectangle 18"/>
          <p:cNvSpPr/>
          <p:nvPr/>
        </p:nvSpPr>
        <p:spPr>
          <a:xfrm>
            <a:off x="585216" y="2743200"/>
            <a:ext cx="3960774" cy="16916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5268" y="2944368"/>
            <a:ext cx="3420668" cy="594360"/>
          </a:xfrm>
          <a:prstGeom prst="rect">
            <a:avLst/>
          </a:prstGeom>
          <a:noFill/>
        </p:spPr>
        <p:txBody>
          <a:bodyPr wrap="square" lIns="0" rIns="0" tIns="0" bIns="0" anchor="t">
            <a:spAutoFit/>
          </a:bodyPr>
          <a:lstStyle/>
          <a:p>
            <a:pPr algn="l"/>
            <a:r>
              <a:rPr sz="1600" b="1" i="0">
                <a:solidFill>
                  <a:srgbClr val="27509B"/>
                </a:solidFill>
                <a:latin typeface="Michelin"/>
              </a:rPr>
              <a:t>El conocimiento, convertido en reglas</a:t>
            </a:r>
          </a:p>
        </p:txBody>
      </p:sp>
      <p:sp>
        <p:nvSpPr>
          <p:cNvPr id="21" name="TextBox 20"/>
          <p:cNvSpPr txBox="1"/>
          <p:nvPr/>
        </p:nvSpPr>
        <p:spPr>
          <a:xfrm>
            <a:off x="855268" y="3657600"/>
            <a:ext cx="3420668" cy="685800"/>
          </a:xfrm>
          <a:prstGeom prst="rect">
            <a:avLst/>
          </a:prstGeom>
          <a:noFill/>
        </p:spPr>
        <p:txBody>
          <a:bodyPr wrap="square" lIns="0" rIns="0" tIns="0" bIns="0" anchor="t">
            <a:spAutoFit/>
          </a:bodyPr>
          <a:lstStyle/>
          <a:p>
            <a:pPr algn="l"/>
            <a:r>
              <a:rPr sz="1150" b="0" i="0">
                <a:solidFill>
                  <a:srgbClr val="00205B"/>
                </a:solidFill>
                <a:latin typeface="Arial"/>
              </a:rPr>
              <a:t>La experiencia de nuestros expertos se aplica en cada neumático, siempre.</a:t>
            </a:r>
          </a:p>
        </p:txBody>
      </p:sp>
      <p:sp>
        <p:nvSpPr>
          <p:cNvPr id="22" name="Rectangle 21"/>
          <p:cNvSpPr/>
          <p:nvPr/>
        </p:nvSpPr>
        <p:spPr>
          <a:xfrm>
            <a:off x="4726025" y="2743200"/>
            <a:ext cx="3960774" cy="16916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96078" y="2944368"/>
            <a:ext cx="3420668" cy="594360"/>
          </a:xfrm>
          <a:prstGeom prst="rect">
            <a:avLst/>
          </a:prstGeom>
          <a:noFill/>
        </p:spPr>
        <p:txBody>
          <a:bodyPr wrap="square" lIns="0" rIns="0" tIns="0" bIns="0" anchor="t">
            <a:spAutoFit/>
          </a:bodyPr>
          <a:lstStyle/>
          <a:p>
            <a:pPr algn="l"/>
            <a:r>
              <a:rPr sz="1600" b="1" i="0">
                <a:solidFill>
                  <a:srgbClr val="FCE500"/>
                </a:solidFill>
                <a:latin typeface="Michelin"/>
              </a:rPr>
              <a:t>Cada decisión, registrada</a:t>
            </a:r>
          </a:p>
        </p:txBody>
      </p:sp>
      <p:sp>
        <p:nvSpPr>
          <p:cNvPr id="24" name="TextBox 23"/>
          <p:cNvSpPr txBox="1"/>
          <p:nvPr/>
        </p:nvSpPr>
        <p:spPr>
          <a:xfrm>
            <a:off x="4996078" y="3657600"/>
            <a:ext cx="3420668" cy="685800"/>
          </a:xfrm>
          <a:prstGeom prst="rect">
            <a:avLst/>
          </a:prstGeom>
          <a:noFill/>
        </p:spPr>
        <p:txBody>
          <a:bodyPr wrap="square" lIns="0" rIns="0" tIns="0" bIns="0" anchor="t">
            <a:spAutoFit/>
          </a:bodyPr>
          <a:lstStyle/>
          <a:p>
            <a:pPr algn="l"/>
            <a:r>
              <a:rPr sz="1150" b="0" i="0">
                <a:solidFill>
                  <a:srgbClr val="FFFFFF"/>
                </a:solidFill>
                <a:latin typeface="Arial"/>
              </a:rPr>
              <a:t>Trazabilidad completa en PI System para analizar cualquier caso con datos.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9684"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2085"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4486"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5268" y="2724912"/>
            <a:ext cx="2700528" cy="274320"/>
          </a:xfrm>
          <a:prstGeom prst="rect">
            <a:avLst/>
          </a:prstGeom>
          <a:noFill/>
        </p:spPr>
        <p:txBody>
          <a:bodyPr wrap="square" lIns="0" rIns="0" t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rIns="0" t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rIns="0" t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100" b="0" i="0">
                <a:solidFill>
                  <a:srgbClr val="262626"/>
                </a:solidFill>
                <a:latin typeface="Arial"/>
              </a:rPr>
              <a:t>Qué parámetros se movieron antes</a:t>
            </a:r>
          </a:p>
          <a:p>
            <a:pPr algn="l" marL="182880" indent="-182880">
              <a:spcAft>
                <a:spcPts val="400"/>
              </a:spcAft>
              <a:buClr>
                <a:srgbClr val="FCE500"/>
              </a:buClr>
              <a:buSzPct val="100000"/>
              <a:buFont typeface="Wingdings"/>
              <a:buChar char="§"/>
            </a:pPr>
            <a:r>
              <a:rPr sz="1100" b="0" i="0">
                <a:solidFill>
                  <a:srgbClr val="262626"/>
                </a:solidFill>
                <a:latin typeface="Arial"/>
              </a:rPr>
              <a:t>En qué puestos, turnos o lotes se concentra</a:t>
            </a:r>
          </a:p>
          <a:p>
            <a:pPr algn="l" marL="182880" indent="-182880">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IA sobre nuestras imágenes 3D</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Siguiente paso: que el sistema aprenda a reconocer lo que no es normal</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pic>
        <p:nvPicPr>
          <p:cNvPr id="13" name="Picture 12" descr="d1.jpg"/>
          <p:cNvPicPr>
            <a:picLocks noChangeAspect="1"/>
          </p:cNvPicPr>
          <p:nvPr/>
        </p:nvPicPr>
        <p:blipFill>
          <a:blip r:embed="rId3"/>
          <a:srcRect l="10496" r="10496"/>
          <a:stretch>
            <a:fillRect/>
          </a:stretch>
        </p:blipFill>
        <p:spPr>
          <a:xfrm>
            <a:off x="457200" y="1051560"/>
            <a:ext cx="2240280" cy="1828800"/>
          </a:xfrm>
          <a:prstGeom prst="rect">
            <a:avLst/>
          </a:prstGeom>
        </p:spPr>
      </p:pic>
      <p:sp>
        <p:nvSpPr>
          <p:cNvPr id="14" name="TextBox 13"/>
          <p:cNvSpPr txBox="1"/>
          <p:nvPr/>
        </p:nvSpPr>
        <p:spPr>
          <a:xfrm>
            <a:off x="457200" y="3017520"/>
            <a:ext cx="2240280" cy="274320"/>
          </a:xfrm>
          <a:prstGeom prst="rect">
            <a:avLst/>
          </a:prstGeom>
          <a:noFill/>
        </p:spPr>
        <p:txBody>
          <a:bodyPr wrap="square" lIns="0" rIns="0" tIns="0" bIns="0" anchor="t">
            <a:spAutoFit/>
          </a:bodyPr>
          <a:lstStyle/>
          <a:p>
            <a:pPr algn="l"/>
            <a:r>
              <a:rPr sz="1200" b="1" i="0" cap="all">
                <a:solidFill>
                  <a:srgbClr val="FCE500"/>
                </a:solidFill>
                <a:latin typeface="Michelin"/>
              </a:rPr>
              <a:t>01  Imagen 3D</a:t>
            </a:r>
          </a:p>
        </p:txBody>
      </p:sp>
      <p:sp>
        <p:nvSpPr>
          <p:cNvPr id="15" name="TextBox 14"/>
          <p:cNvSpPr txBox="1"/>
          <p:nvPr/>
        </p:nvSpPr>
        <p:spPr>
          <a:xfrm>
            <a:off x="457200" y="3337560"/>
            <a:ext cx="2240280" cy="548640"/>
          </a:xfrm>
          <a:prstGeom prst="rect">
            <a:avLst/>
          </a:prstGeom>
          <a:noFill/>
        </p:spPr>
        <p:txBody>
          <a:bodyPr wrap="square" lIns="0" rIns="0" tIns="0" bIns="0" anchor="t">
            <a:spAutoFit/>
          </a:bodyPr>
          <a:lstStyle/>
          <a:p>
            <a:pPr algn="l"/>
            <a:r>
              <a:rPr sz="1050" b="0" i="0">
                <a:solidFill>
                  <a:srgbClr val="FFFFFF"/>
                </a:solidFill>
                <a:latin typeface="Arial"/>
              </a:rPr>
              <a:t>Miles de imágenes reales de nuestros perfilómetros</a:t>
            </a:r>
          </a:p>
        </p:txBody>
      </p:sp>
      <p:pic>
        <p:nvPicPr>
          <p:cNvPr id="16" name="Picture 15" descr="d3.jpg"/>
          <p:cNvPicPr>
            <a:picLocks noChangeAspect="1"/>
          </p:cNvPicPr>
          <p:nvPr/>
        </p:nvPicPr>
        <p:blipFill>
          <a:blip r:embed="rId4"/>
          <a:srcRect l="11906" r="11906"/>
          <a:stretch>
            <a:fillRect/>
          </a:stretch>
        </p:blipFill>
        <p:spPr>
          <a:xfrm>
            <a:off x="2926080" y="1051560"/>
            <a:ext cx="2240280" cy="1828800"/>
          </a:xfrm>
          <a:prstGeom prst="rect">
            <a:avLst/>
          </a:prstGeom>
        </p:spPr>
      </p:pic>
      <p:sp>
        <p:nvSpPr>
          <p:cNvPr id="17" name="TextBox 16"/>
          <p:cNvSpPr txBox="1"/>
          <p:nvPr/>
        </p:nvSpPr>
        <p:spPr>
          <a:xfrm>
            <a:off x="2926080" y="3017520"/>
            <a:ext cx="2240280" cy="274320"/>
          </a:xfrm>
          <a:prstGeom prst="rect">
            <a:avLst/>
          </a:prstGeom>
          <a:noFill/>
        </p:spPr>
        <p:txBody>
          <a:bodyPr wrap="square" lIns="0" rIns="0" tIns="0" bIns="0" anchor="t">
            <a:spAutoFit/>
          </a:bodyPr>
          <a:lstStyle/>
          <a:p>
            <a:pPr algn="l"/>
            <a:r>
              <a:rPr sz="1200" b="1" i="0" cap="all">
                <a:solidFill>
                  <a:srgbClr val="FCE500"/>
                </a:solidFill>
                <a:latin typeface="Michelin"/>
              </a:rPr>
              <a:t>02  Aprendizaje</a:t>
            </a:r>
          </a:p>
        </p:txBody>
      </p:sp>
      <p:sp>
        <p:nvSpPr>
          <p:cNvPr id="18" name="TextBox 17"/>
          <p:cNvSpPr txBox="1"/>
          <p:nvPr/>
        </p:nvSpPr>
        <p:spPr>
          <a:xfrm>
            <a:off x="2926080" y="3337560"/>
            <a:ext cx="2240280" cy="548640"/>
          </a:xfrm>
          <a:prstGeom prst="rect">
            <a:avLst/>
          </a:prstGeom>
          <a:noFill/>
        </p:spPr>
        <p:txBody>
          <a:bodyPr wrap="square" lIns="0" rIns="0" tIns="0" bIns="0" anchor="t">
            <a:spAutoFit/>
          </a:bodyPr>
          <a:lstStyle/>
          <a:p>
            <a:pPr algn="l"/>
            <a:r>
              <a:rPr sz="1050" b="0" i="0">
                <a:solidFill>
                  <a:srgbClr val="FFFFFF"/>
                </a:solidFill>
                <a:latin typeface="Arial"/>
              </a:rPr>
              <a:t>La IA aprende cómo es un producto correcto</a:t>
            </a:r>
          </a:p>
        </p:txBody>
      </p:sp>
      <p:pic>
        <p:nvPicPr>
          <p:cNvPr id="19" name="Picture 18" descr="d2.jpg"/>
          <p:cNvPicPr>
            <a:picLocks noChangeAspect="1"/>
          </p:cNvPicPr>
          <p:nvPr/>
        </p:nvPicPr>
        <p:blipFill>
          <a:blip r:embed="rId5"/>
          <a:srcRect l="14403" r="14403"/>
          <a:stretch>
            <a:fillRect/>
          </a:stretch>
        </p:blipFill>
        <p:spPr>
          <a:xfrm>
            <a:off x="5394960" y="1051560"/>
            <a:ext cx="2240280" cy="1828800"/>
          </a:xfrm>
          <a:prstGeom prst="rect">
            <a:avLst/>
          </a:prstGeom>
        </p:spPr>
      </p:pic>
      <p:sp>
        <p:nvSpPr>
          <p:cNvPr id="20" name="Rectangle 19"/>
          <p:cNvSpPr/>
          <p:nvPr/>
        </p:nvSpPr>
        <p:spPr>
          <a:xfrm>
            <a:off x="6080760" y="1600200"/>
            <a:ext cx="1005840" cy="685800"/>
          </a:xfrm>
          <a:prstGeom prst="rect">
            <a:avLst/>
          </a:prstGeom>
          <a:noFill/>
          <a:ln w="31750">
            <a:solidFill>
              <a:srgbClr val="FC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0" y="3017520"/>
            <a:ext cx="2240280" cy="274320"/>
          </a:xfrm>
          <a:prstGeom prst="rect">
            <a:avLst/>
          </a:prstGeom>
          <a:noFill/>
        </p:spPr>
        <p:txBody>
          <a:bodyPr wrap="square" lIns="0" rIns="0" tIns="0" bIns="0" anchor="t">
            <a:spAutoFit/>
          </a:bodyPr>
          <a:lstStyle/>
          <a:p>
            <a:pPr algn="l"/>
            <a:r>
              <a:rPr sz="1200" b="1" i="0" cap="all">
                <a:solidFill>
                  <a:srgbClr val="FCE500"/>
                </a:solidFill>
                <a:latin typeface="Michelin"/>
              </a:rPr>
              <a:t>03  Detección</a:t>
            </a:r>
          </a:p>
        </p:txBody>
      </p:sp>
      <p:sp>
        <p:nvSpPr>
          <p:cNvPr id="22" name="TextBox 21"/>
          <p:cNvSpPr txBox="1"/>
          <p:nvPr/>
        </p:nvSpPr>
        <p:spPr>
          <a:xfrm>
            <a:off x="5394960" y="3337560"/>
            <a:ext cx="2240280" cy="548640"/>
          </a:xfrm>
          <a:prstGeom prst="rect">
            <a:avLst/>
          </a:prstGeom>
          <a:noFill/>
        </p:spPr>
        <p:txBody>
          <a:bodyPr wrap="square" lIns="0" rIns="0" tIns="0" bIns="0" anchor="t">
            <a:spAutoFit/>
          </a:bodyPr>
          <a:lstStyle/>
          <a:p>
            <a:pPr algn="l"/>
            <a:r>
              <a:rPr sz="1050" b="0" i="0">
                <a:solidFill>
                  <a:srgbClr val="FFFFFF"/>
                </a:solidFill>
                <a:latin typeface="Arial"/>
              </a:rPr>
              <a:t>Señala y clasifica cualquier anomalía</a:t>
            </a:r>
          </a:p>
        </p:txBody>
      </p:sp>
      <p:sp>
        <p:nvSpPr>
          <p:cNvPr id="23" name="TextBox 22"/>
          <p:cNvSpPr txBox="1"/>
          <p:nvPr/>
        </p:nvSpPr>
        <p:spPr>
          <a:xfrm>
            <a:off x="457200" y="4069080"/>
            <a:ext cx="6766560" cy="365760"/>
          </a:xfrm>
          <a:prstGeom prst="rect">
            <a:avLst/>
          </a:prstGeom>
          <a:noFill/>
        </p:spPr>
        <p:txBody>
          <a:bodyPr wrap="square" lIns="0" rIns="0" tIns="0" bIns="0" anchor="t">
            <a:spAutoFit/>
          </a:bodyPr>
          <a:lstStyle/>
          <a:p>
            <a:pPr algn="l"/>
            <a:r>
              <a:rPr sz="1100" b="1" i="0">
                <a:solidFill>
                  <a:srgbClr val="FCE500"/>
                </a:solidFill>
                <a:latin typeface="Arial"/>
              </a:rPr>
              <a:t>Objetivo: </a:t>
            </a:r>
            <a:r>
              <a:rPr sz="1100" b="0" i="0">
                <a:solidFill>
                  <a:srgbClr val="FFFFFF"/>
                </a:solidFill>
                <a:latin typeface="Arial"/>
              </a:rPr>
              <a:t>detectar antes, con más precisión y sin depender de que alguien haya previsto el defecto.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7529" y="2130552"/>
            <a:ext cx="1116218"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95550" y="1060704"/>
            <a:ext cx="900175" cy="365760"/>
          </a:xfrm>
          <a:prstGeom prst="rect">
            <a:avLst/>
          </a:prstGeom>
          <a:noFill/>
        </p:spPr>
        <p:txBody>
          <a:bodyPr wrap="square" lIns="0" rIns="0" t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rIns="0" t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80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95550" y="3712464"/>
            <a:ext cx="900175" cy="365760"/>
          </a:xfrm>
          <a:prstGeom prst="rect">
            <a:avLst/>
          </a:prstGeom>
          <a:noFill/>
        </p:spPr>
        <p:txBody>
          <a:bodyPr wrap="square" lIns="0" rIns="0" t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rIns="0" t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029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rIns="0" t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rIns="0" t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rIns="0" t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rIns="0" t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Detrás de cada pantalla, un equipo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Personas a las que les apasiona lo que hacen</a:t>
            </a:r>
          </a:p>
        </p:txBody>
      </p:sp>
      <p:pic>
        <p:nvPicPr>
          <p:cNvPr id="5" name="Picture 4" descr="vision.jpg"/>
          <p:cNvPicPr>
            <a:picLocks noChangeAspect="1"/>
          </p:cNvPicPr>
          <p:nvPr/>
        </p:nvPicPr>
        <p:blipFill>
          <a:blip r:embed="rId3"/>
          <a:srcRect l="6854" r="6854"/>
          <a:stretch>
            <a:fillRect/>
          </a:stretch>
        </p:blipFill>
        <p:spPr>
          <a:xfrm>
            <a:off x="457200" y="1005840"/>
            <a:ext cx="4206240" cy="2743200"/>
          </a:xfrm>
          <a:prstGeom prst="rect">
            <a:avLst/>
          </a:prstGeom>
        </p:spPr>
      </p:pic>
      <p:sp>
        <p:nvSpPr>
          <p:cNvPr id="6" name="TextBox 5"/>
          <p:cNvSpPr txBox="1"/>
          <p:nvPr/>
        </p:nvSpPr>
        <p:spPr>
          <a:xfrm>
            <a:off x="4937760" y="1005840"/>
            <a:ext cx="2377440" cy="868680"/>
          </a:xfrm>
          <a:prstGeom prst="rect">
            <a:avLst/>
          </a:prstGeom>
          <a:noFill/>
        </p:spPr>
        <p:txBody>
          <a:bodyPr wrap="square" lIns="0" rIns="0" tIns="0" bIns="0" anchor="t">
            <a:spAutoFit/>
          </a:bodyPr>
          <a:lstStyle/>
          <a:p>
            <a:pPr algn="l"/>
            <a:r>
              <a:rPr sz="1200" b="1" i="0">
                <a:solidFill>
                  <a:srgbClr val="FCE500"/>
                </a:solidFill>
                <a:latin typeface="Michelin"/>
              </a:rPr>
              <a:t>Lo hemos construido nosotros</a:t>
            </a:r>
          </a:p>
          <a:p>
            <a:pPr algn="l"/>
            <a:r>
              <a:rPr sz="1000" b="0" i="0">
                <a:solidFill>
                  <a:srgbClr val="FFFFFF"/>
                </a:solidFill>
                <a:latin typeface="Arial"/>
              </a:rPr>
              <a:t>Pantallas, reglas y análisis desarrollados y mejorados día a día por nuestros equipos.</a:t>
            </a:r>
          </a:p>
        </p:txBody>
      </p:sp>
      <p:sp>
        <p:nvSpPr>
          <p:cNvPr id="7" name="TextBox 6"/>
          <p:cNvSpPr txBox="1"/>
          <p:nvPr/>
        </p:nvSpPr>
        <p:spPr>
          <a:xfrm>
            <a:off x="4937760" y="1920240"/>
            <a:ext cx="2377440" cy="868680"/>
          </a:xfrm>
          <a:prstGeom prst="rect">
            <a:avLst/>
          </a:prstGeom>
          <a:noFill/>
        </p:spPr>
        <p:txBody>
          <a:bodyPr wrap="square" lIns="0" rIns="0" tIns="0" bIns="0" anchor="t">
            <a:spAutoFit/>
          </a:bodyPr>
          <a:lstStyle/>
          <a:p>
            <a:pPr algn="l"/>
            <a:r>
              <a:rPr sz="1200" b="1" i="0">
                <a:solidFill>
                  <a:srgbClr val="FCE500"/>
                </a:solidFill>
                <a:latin typeface="Michelin"/>
              </a:rPr>
              <a:t>Proceso, calidad y digital, juntos</a:t>
            </a:r>
          </a:p>
          <a:p>
            <a:pPr algn="l"/>
            <a:r>
              <a:rPr sz="1000" b="0" i="0">
                <a:solidFill>
                  <a:srgbClr val="FFFFFF"/>
                </a:solidFill>
                <a:latin typeface="Arial"/>
              </a:rPr>
              <a:t>Cada mejora nace de quien conoce la máquina y de quien domina el dato.</a:t>
            </a:r>
          </a:p>
        </p:txBody>
      </p:sp>
      <p:sp>
        <p:nvSpPr>
          <p:cNvPr id="8" name="TextBox 7"/>
          <p:cNvSpPr txBox="1"/>
          <p:nvPr/>
        </p:nvSpPr>
        <p:spPr>
          <a:xfrm>
            <a:off x="4937760" y="2834640"/>
            <a:ext cx="2377440" cy="868680"/>
          </a:xfrm>
          <a:prstGeom prst="rect">
            <a:avLst/>
          </a:prstGeom>
          <a:noFill/>
        </p:spPr>
        <p:txBody>
          <a:bodyPr wrap="square" lIns="0" rIns="0" tIns="0" bIns="0" anchor="t">
            <a:spAutoFit/>
          </a:bodyPr>
          <a:lstStyle/>
          <a:p>
            <a:pPr algn="l"/>
            <a:r>
              <a:rPr sz="1200" b="1" i="0">
                <a:solidFill>
                  <a:srgbClr val="FCE500"/>
                </a:solidFill>
                <a:latin typeface="Michelin"/>
              </a:rPr>
              <a:t>Con ganas de ir más allá</a:t>
            </a:r>
          </a:p>
          <a:p>
            <a:pPr algn="l"/>
            <a:r>
              <a:rPr sz="1000" b="0" i="0">
                <a:solidFill>
                  <a:srgbClr val="FFFFFF"/>
                </a:solidFill>
                <a:latin typeface="Arial"/>
              </a:rPr>
              <a:t>Cada nueva línea, cada nueva regla y cada nuevo modelo es un reto que nos motiva.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rIns="0" tIns="0" bIns="0" anchor="t">
            <a:spAutoFit/>
          </a:bodyPr>
          <a:lstStyle/>
          <a:p>
            <a:pPr algn="l"/>
            <a:r>
              <a:rPr sz="1600" b="1" i="0">
                <a:solidFill>
                  <a:srgbClr val="FCE500"/>
                </a:solidFill>
                <a:latin typeface="Michelin"/>
              </a:rPr>
              <a:t>Ver  ·  Entender  ·  Decidir  ·  Anticipar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094B55E-88C1-4C38-974C-5A1CAEEDB192}">
  <ds:schemaRefs>
    <ds:schemaRef ds:uri="http://schemas.microsoft.com/sharepoint/v3/contenttype/forms"/>
  </ds:schemaRefs>
</ds:datastoreItem>
</file>

<file path=customXml/itemProps3.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178</Words>
  <Application>Microsoft Office PowerPoint</Application>
  <PresentationFormat>Personalizado</PresentationFormat>
  <Paragraphs>70</Paragraphs>
  <Slides>29</Slides>
  <Notes>16</Notes>
  <HiddenSlides>2</HiddenSlides>
  <MMClips>0</MMClips>
  <ScaleCrop>false</ScaleCrop>
  <HeadingPairs>
    <vt:vector size="6" baseType="variant">
      <vt:variant>
        <vt:lpstr>Fuentes usadas</vt:lpstr>
      </vt:variant>
      <vt:variant>
        <vt:i4>11</vt:i4>
      </vt:variant>
      <vt:variant>
        <vt:lpstr>Tema</vt:lpstr>
      </vt:variant>
      <vt:variant>
        <vt:i4>3</vt:i4>
      </vt:variant>
      <vt:variant>
        <vt:lpstr>Títulos de diapositiva</vt:lpstr>
      </vt:variant>
      <vt:variant>
        <vt:i4>29</vt:i4>
      </vt:variant>
    </vt:vector>
  </HeadingPairs>
  <TitlesOfParts>
    <vt:vector size="43" baseType="lpstr">
      <vt:lpstr>Aptos</vt:lpstr>
      <vt:lpstr>Arial</vt:lpstr>
      <vt:lpstr>Arial Black</vt:lpstr>
      <vt:lpstr>Calibri</vt:lpstr>
      <vt:lpstr>Lucida Grande</vt:lpstr>
      <vt:lpstr>Michelin</vt:lpstr>
      <vt:lpstr>Michelin Black</vt:lpstr>
      <vt:lpstr>Michelin Light</vt:lpstr>
      <vt:lpstr>Michelin SemiBold</vt:lpstr>
      <vt:lpstr>Wingdings</vt:lpstr>
      <vt:lpstr>Wingdings 3</vt:lpstr>
      <vt:lpstr>2_Thème Office</vt:lpstr>
      <vt:lpstr>1_Thème Office</vt:lpstr>
      <vt:lpstr>3_Thème Office</vt:lpstr>
      <vt:lpstr>OLM MAC &amp; BNS Visite Reseau Unif + MTP</vt:lpstr>
      <vt:lpstr>OLM</vt:lpstr>
      <vt:lpstr>Gocator technical information</vt:lpstr>
      <vt:lpstr>Mac5 : architecture</vt:lpstr>
      <vt:lpstr>MAC  RFI &amp; GI</vt:lpstr>
      <vt:lpstr>MAC  BT</vt:lpstr>
      <vt:lpstr>P15 BJ</vt:lpstr>
      <vt:lpstr>Mac : measurments</vt:lpstr>
      <vt:lpstr>Ihm interface</vt:lpstr>
      <vt:lpstr>OLM screens</vt:lpstr>
      <vt:lpstr>Panel general OsiSoft: Detalle medidas</vt:lpstr>
      <vt:lpstr>Panel general OsiSoft: Detalle medidas</vt:lpstr>
      <vt:lpstr>Pi visión.</vt:lpstr>
      <vt:lpstr>Pi visión.</vt:lpstr>
      <vt:lpstr>Alert.</vt:lpstr>
      <vt:lpstr>MAC : explotation</vt:lpstr>
      <vt:lpstr>R4p – Moteur de règles</vt:lpstr>
      <vt:lpstr>r4p</vt:lpstr>
      <vt:lpstr>Explication</vt:lpstr>
      <vt:lpstr>bns</vt:lpstr>
      <vt:lpstr>Acquisitions nst</vt:lpstr>
      <vt:lpstr>Acquisitions nst</vt:lpstr>
      <vt:lpstr>Presentación de PowerPoint</vt:lpstr>
      <vt:lpstr>ihm</vt:lpstr>
      <vt:lpstr>Sold.</vt:lpstr>
      <vt:lpstr>BNS : explotation </vt:lpstr>
      <vt:lpstr>BNS : explotation </vt:lpstr>
      <vt:lpstr>BNS : explotation</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35</cp:revision>
  <dcterms:modified xsi:type="dcterms:W3CDTF">2026-10-20T20:32:06Z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