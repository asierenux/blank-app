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6"/>
  </p:notesMasterIdLst>
  <p:handoutMasterIdLst>
    <p:handoutMasterId r:id="rId37"/>
  </p:handout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14"/>
    <p:sldId id="278" r:id="rId13"/>
    <p:sldId id="279" r:id="rId12"/>
    <p:sldId id="280" r:id="rId1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309"/>
            <p14:sldId id="310"/>
            <p14:sldId id="972"/>
            <p14:sldId id="1076"/>
            <p14:sldId id="315"/>
            <p14:sldId id="317"/>
            <p14:sldId id="1066"/>
            <p14:sldId id="975"/>
            <p14:sldId id="1077"/>
            <p14:sldId id="1006"/>
            <p14:sldId id="1014"/>
            <p14:sldId id="1088"/>
            <p14:sldId id="1082"/>
            <p14:sldId id="1083"/>
            <p14:sldId id="1086"/>
            <p14:sldId id="1072"/>
            <p14:sldId id="2147475815"/>
            <p14:sldId id="2147475827"/>
            <p14:sldId id="2147475831"/>
            <p14:sldId id="967"/>
            <p14:sldId id="961"/>
            <p14:sldId id="1017"/>
            <p14:sldId id="1087"/>
            <p14:sldId id="1079"/>
            <p14:sldId id="1015"/>
            <p14:sldId id="1074"/>
            <p14:sldId id="1084"/>
            <p14:sldId id="1071"/>
            <p14:sldId id="261"/>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11" Type="http://schemas.openxmlformats.org/officeDocument/2006/relationships/slide" Target="slides/slide25.xml"/><Relationship Id="rId12" Type="http://schemas.openxmlformats.org/officeDocument/2006/relationships/slide" Target="slides/slide24.xml"/><Relationship Id="rId13" Type="http://schemas.openxmlformats.org/officeDocument/2006/relationships/slide" Target="slides/slide23.xml"/><Relationship Id="rId14" Type="http://schemas.openxmlformats.org/officeDocument/2006/relationships/slide" Target="slides/slide22.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notesMaster" Target="notesMasters/notesMaster1.xml"/><Relationship Id="rId37" Type="http://schemas.openxmlformats.org/officeDocument/2006/relationships/handoutMaster" Target="handoutMasters/handoutMaster1.xml"/><Relationship Id="rId38" Type="http://schemas.openxmlformats.org/officeDocument/2006/relationships/commentAuthors" Target="commentAuthors.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20/10/2026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20/10/2026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ajustar y bloquear funcionan hoy;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bloque responde a una preocupación del cliente: reacción lenta, variabilidad entre turnos, dependencia de las personas y falta de pruebas.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honesto, en estudio. Hoy el sistema mide lo que le hemos enseñado a medir: reglas y cotas definidas sobre la imagen (izquierda). La IA permitiría tres cosas: 1) Detectar lo imprevisto: un modelo entrenado solo con imágenes de producto correcto señala cualquier zona que se salga de lo normal, aunque no exista una regla para ese defecto (técnicas de detección de anomalías tipo PatchCore). 2) Medidas más robustas: localizar bordes y soldaduras aunque cambien la textura o el contraste de la goma, reduciendo lecturas erróneas ('datos incorrectos') y falsas alertas. 3) Clasificar automáticamente el tipo de anomalía para cruzarlo con los parámetros de proceso en Dataiku y con el IQF. Lo más difícil ya lo tenemos: miles de imágenes reales archivadas en PI, asociadas a sus medidas y alertas. El fabricante de los sensores (LMI) ya ofrece detección de anomalías con IA sobre datos 3D, lo que confirma que es un camino viable.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xml"/><Relationship Id="rId3" Type="http://schemas.openxmlformats.org/officeDocument/2006/relationships/image" Target="../media/image3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0.jpg"/><Relationship Id="rId4" Type="http://schemas.openxmlformats.org/officeDocument/2006/relationships/image" Target="../media/image4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0.xml"/><Relationship Id="rId3" Type="http://schemas.openxmlformats.org/officeDocument/2006/relationships/image" Target="../media/image4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4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2.xml"/><Relationship Id="rId3" Type="http://schemas.openxmlformats.org/officeDocument/2006/relationships/image" Target="../media/image4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5.jpg"/><Relationship Id="rId4" Type="http://schemas.openxmlformats.org/officeDocument/2006/relationships/image" Target="../media/image44.png"/><Relationship Id="rId5" Type="http://schemas.openxmlformats.org/officeDocument/2006/relationships/image" Target="../media/image5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Nuestro entorno digital de fabricación · OLM · PI System · R4P · Dataiku</a:t>
            </a:r>
          </a:p>
        </p:txBody>
      </p:sp>
      <p:sp>
        <p:nvSpPr>
          <p:cNvPr id="3" name="Title 2"/>
          <p:cNvSpPr>
            <a:spLocks noGrp="1"/>
          </p:cNvSpPr>
          <p:nvPr>
            <p:ph type="title"/>
          </p:nvPr>
        </p:nvSpPr>
        <p:spPr/>
        <p:txBody>
          <a:bodyPr/>
          <a:lstStyle/>
          <a:p>
            <a:r>
              <a:t>Calidad que se decide en tiempo real</a:t>
            </a:r>
          </a:p>
        </p:txBody>
      </p:sp>
      <p:sp>
        <p:nvSpPr>
          <p:cNvPr id="4" name="TextBox 3"/>
          <p:cNvSpPr txBox="1"/>
          <p:nvPr/>
        </p:nvSpPr>
        <p:spPr>
          <a:xfrm>
            <a:off x="5120640" y="292608"/>
            <a:ext cx="3657600" cy="274320"/>
          </a:xfrm>
          <a:prstGeom prst="rect">
            <a:avLst/>
          </a:prstGeom>
          <a:noFill/>
        </p:spPr>
        <p:txBody>
          <a:bodyPr wrap="square" lIns="0" rIns="0" tIns="0" bIns="0" anchor="t">
            <a:spAutoFit/>
          </a:bodyPr>
          <a:lstStyle/>
          <a:p>
            <a:pPr algn="r"/>
            <a:r>
              <a:rPr sz="1400" b="1" i="0">
                <a:solidFill>
                  <a:srgbClr val="00205B"/>
                </a:solidFill>
                <a:latin typeface="Michelin"/>
              </a:rPr>
              <a:t>HYUNDAI MOTOR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¿Y si cada neumático pudiera contarnos cómo se fabricó?</a:t>
            </a:r>
          </a:p>
        </p:txBody>
      </p:sp>
      <p:sp>
        <p:nvSpPr>
          <p:cNvPr id="3" name="TextBox 2"/>
          <p:cNvSpPr txBox="1"/>
          <p:nvPr/>
        </p:nvSpPr>
        <p:spPr>
          <a:xfrm>
            <a:off x="530352" y="3840480"/>
            <a:ext cx="5943600" cy="365760"/>
          </a:xfrm>
          <a:prstGeom prst="rect">
            <a:avLst/>
          </a:prstGeom>
          <a:noFill/>
        </p:spPr>
        <p:txBody>
          <a:bodyPr wrap="square" lIns="0" rIns="0" tIns="0" bIns="0" anchor="t">
            <a:spAutoFit/>
          </a:bodyPr>
          <a:lstStyle/>
          <a:p>
            <a:pPr algn="l"/>
            <a:r>
              <a:rPr sz="1400" b="1" i="0">
                <a:solidFill>
                  <a:srgbClr val="FCE500"/>
                </a:solidFill>
                <a:latin typeface="Michelin"/>
              </a:rPr>
              <a:t>Hoy lo hace. Les enseñamos cómo.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5268" y="1005840"/>
            <a:ext cx="3195624" cy="320040"/>
          </a:xfrm>
          <a:prstGeom prst="rect">
            <a:avLst/>
          </a:prstGeom>
          <a:noFill/>
        </p:spPr>
        <p:txBody>
          <a:bodyPr wrap="square" lIns="0" rIns="0" tIns="0" bIns="0" anchor="t">
            <a:spAutoFit/>
          </a:bodyPr>
          <a:lstStyle/>
          <a:p>
            <a:pPr algn="l"/>
            <a:r>
              <a:rPr sz="1300" b="1" i="0" cap="all">
                <a:solidFill>
                  <a:srgbClr val="6E6E6E"/>
                </a:solidFill>
                <a:latin typeface="Michelin"/>
              </a:rPr>
              <a:t>Control tradicional</a:t>
            </a:r>
          </a:p>
        </p:txBody>
      </p:sp>
      <p:sp>
        <p:nvSpPr>
          <p:cNvPr id="6" name="TextBox 5"/>
          <p:cNvSpPr txBox="1"/>
          <p:nvPr/>
        </p:nvSpPr>
        <p:spPr>
          <a:xfrm>
            <a:off x="855268" y="1554480"/>
            <a:ext cx="1800351" cy="548640"/>
          </a:xfrm>
          <a:prstGeom prst="rect">
            <a:avLst/>
          </a:prstGeom>
          <a:noFill/>
        </p:spPr>
        <p:txBody>
          <a:bodyPr wrap="square" lIns="0" rIns="0" tIns="0" bIns="0" anchor="ctr">
            <a:spAutoFit/>
          </a:bodyPr>
          <a:lstStyle/>
          <a:p>
            <a:pPr algn="l"/>
            <a:r>
              <a:rPr sz="2000" b="1" i="0">
                <a:solidFill>
                  <a:srgbClr val="6E6E6E"/>
                </a:solidFill>
                <a:latin typeface="Michelin"/>
              </a:rPr>
              <a:t>1 muestra</a:t>
            </a:r>
          </a:p>
        </p:txBody>
      </p:sp>
      <p:sp>
        <p:nvSpPr>
          <p:cNvPr id="7" name="TextBox 6"/>
          <p:cNvSpPr txBox="1"/>
          <p:nvPr/>
        </p:nvSpPr>
        <p:spPr>
          <a:xfrm>
            <a:off x="2700629" y="1554480"/>
            <a:ext cx="1440281" cy="548640"/>
          </a:xfrm>
          <a:prstGeom prst="rect">
            <a:avLst/>
          </a:prstGeom>
          <a:noFill/>
        </p:spPr>
        <p:txBody>
          <a:bodyPr wrap="square" lIns="0" rIns="0" tIns="0" bIns="0" anchor="ctr">
            <a:spAutoFit/>
          </a:bodyPr>
          <a:lstStyle/>
          <a:p>
            <a:pPr algn="l"/>
            <a:r>
              <a:rPr sz="1100" b="0" i="0">
                <a:solidFill>
                  <a:srgbClr val="6E6E6E"/>
                </a:solidFill>
                <a:latin typeface="Arial"/>
              </a:rPr>
              <a:t>por turno, de forma manual</a:t>
            </a:r>
          </a:p>
        </p:txBody>
      </p:sp>
      <p:sp>
        <p:nvSpPr>
          <p:cNvPr id="8" name="TextBox 7"/>
          <p:cNvSpPr txBox="1"/>
          <p:nvPr/>
        </p:nvSpPr>
        <p:spPr>
          <a:xfrm>
            <a:off x="855268" y="2423160"/>
            <a:ext cx="1800351" cy="548640"/>
          </a:xfrm>
          <a:prstGeom prst="rect">
            <a:avLst/>
          </a:prstGeom>
          <a:noFill/>
        </p:spPr>
        <p:txBody>
          <a:bodyPr wrap="square" lIns="0" rIns="0" tIns="0" bIns="0" anchor="ctr">
            <a:spAutoFit/>
          </a:bodyPr>
          <a:lstStyle/>
          <a:p>
            <a:pPr algn="l"/>
            <a:r>
              <a:rPr sz="2000" b="1" i="0">
                <a:solidFill>
                  <a:srgbClr val="6E6E6E"/>
                </a:solidFill>
                <a:latin typeface="Michelin"/>
              </a:rPr>
              <a:t>Horas</a:t>
            </a:r>
          </a:p>
        </p:txBody>
      </p:sp>
      <p:sp>
        <p:nvSpPr>
          <p:cNvPr id="9" name="TextBox 8"/>
          <p:cNvSpPr txBox="1"/>
          <p:nvPr/>
        </p:nvSpPr>
        <p:spPr>
          <a:xfrm>
            <a:off x="2700629" y="2423160"/>
            <a:ext cx="1440281" cy="548640"/>
          </a:xfrm>
          <a:prstGeom prst="rect">
            <a:avLst/>
          </a:prstGeom>
          <a:noFill/>
        </p:spPr>
        <p:txBody>
          <a:bodyPr wrap="square" lIns="0" rIns="0" tIns="0" bIns="0" anchor="ctr">
            <a:spAutoFit/>
          </a:bodyPr>
          <a:lstStyle/>
          <a:p>
            <a:pPr algn="l"/>
            <a:r>
              <a:rPr sz="1100" b="0" i="0">
                <a:solidFill>
                  <a:srgbClr val="6E6E6E"/>
                </a:solidFill>
                <a:latin typeface="Arial"/>
              </a:rPr>
              <a:t>hasta descubrir una desviación</a:t>
            </a:r>
          </a:p>
        </p:txBody>
      </p:sp>
      <p:sp>
        <p:nvSpPr>
          <p:cNvPr id="10" name="TextBox 9"/>
          <p:cNvSpPr txBox="1"/>
          <p:nvPr/>
        </p:nvSpPr>
        <p:spPr>
          <a:xfrm>
            <a:off x="855268" y="3291839"/>
            <a:ext cx="1800351" cy="548640"/>
          </a:xfrm>
          <a:prstGeom prst="rect">
            <a:avLst/>
          </a:prstGeom>
          <a:noFill/>
        </p:spPr>
        <p:txBody>
          <a:bodyPr wrap="square" lIns="0" rIns="0" tIns="0" bIns="0" anchor="ctr">
            <a:spAutoFit/>
          </a:bodyPr>
          <a:lstStyle/>
          <a:p>
            <a:pPr algn="l"/>
            <a:r>
              <a:rPr sz="2000" b="1" i="0">
                <a:solidFill>
                  <a:srgbClr val="6E6E6E"/>
                </a:solidFill>
                <a:latin typeface="Michelin"/>
              </a:rPr>
              <a:t>Después</a:t>
            </a:r>
          </a:p>
        </p:txBody>
      </p:sp>
      <p:sp>
        <p:nvSpPr>
          <p:cNvPr id="11" name="TextBox 10"/>
          <p:cNvSpPr txBox="1"/>
          <p:nvPr/>
        </p:nvSpPr>
        <p:spPr>
          <a:xfrm>
            <a:off x="2700629" y="3291839"/>
            <a:ext cx="1440281" cy="548640"/>
          </a:xfrm>
          <a:prstGeom prst="rect">
            <a:avLst/>
          </a:prstGeom>
          <a:noFill/>
        </p:spPr>
        <p:txBody>
          <a:bodyPr wrap="square" lIns="0" rIns="0" tIns="0" bIns="0" anchor="ctr">
            <a:spAutoFit/>
          </a:bodyPr>
          <a:lstStyle/>
          <a:p>
            <a:pPr algn="l"/>
            <a:r>
              <a:rPr sz="1100" b="0" i="0">
                <a:solidFill>
                  <a:srgbClr val="6E6E6E"/>
                </a:solidFill>
                <a:latin typeface="Arial"/>
              </a:rPr>
              <a:t>se reacciona cuando el defecto ya existe</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21122" y="1005840"/>
            <a:ext cx="3195624" cy="320040"/>
          </a:xfrm>
          <a:prstGeom prst="rect">
            <a:avLst/>
          </a:prstGeom>
          <a:noFill/>
        </p:spPr>
        <p:txBody>
          <a:bodyPr wrap="square" lIns="0" rIns="0" tIns="0" bIns="0" anchor="t">
            <a:spAutoFit/>
          </a:bodyPr>
          <a:lstStyle/>
          <a:p>
            <a:pPr algn="l"/>
            <a:r>
              <a:rPr sz="1300" b="1" i="0" cap="all">
                <a:solidFill>
                  <a:srgbClr val="FCE500"/>
                </a:solidFill>
                <a:latin typeface="Michelin"/>
              </a:rPr>
              <a:t>Nuestro control digital</a:t>
            </a:r>
          </a:p>
        </p:txBody>
      </p:sp>
      <p:sp>
        <p:nvSpPr>
          <p:cNvPr id="14" name="TextBox 13"/>
          <p:cNvSpPr txBox="1"/>
          <p:nvPr/>
        </p:nvSpPr>
        <p:spPr>
          <a:xfrm>
            <a:off x="5221122" y="1554480"/>
            <a:ext cx="1800351" cy="548640"/>
          </a:xfrm>
          <a:prstGeom prst="rect">
            <a:avLst/>
          </a:prstGeom>
          <a:noFill/>
        </p:spPr>
        <p:txBody>
          <a:bodyPr wrap="square" lIns="0" rIns="0" tIns="0" bIns="0" anchor="ctr">
            <a:spAutoFit/>
          </a:bodyPr>
          <a:lstStyle/>
          <a:p>
            <a:pPr algn="l"/>
            <a:r>
              <a:rPr sz="2000" b="1" i="0">
                <a:solidFill>
                  <a:srgbClr val="FCE500"/>
                </a:solidFill>
                <a:latin typeface="Michelin"/>
              </a:rPr>
              <a:t>100 %</a:t>
            </a:r>
          </a:p>
        </p:txBody>
      </p:sp>
      <p:sp>
        <p:nvSpPr>
          <p:cNvPr id="15" name="TextBox 14"/>
          <p:cNvSpPr txBox="1"/>
          <p:nvPr/>
        </p:nvSpPr>
        <p:spPr>
          <a:xfrm>
            <a:off x="7066483" y="1554480"/>
            <a:ext cx="1440281" cy="548640"/>
          </a:xfrm>
          <a:prstGeom prst="rect">
            <a:avLst/>
          </a:prstGeom>
          <a:noFill/>
        </p:spPr>
        <p:txBody>
          <a:bodyPr wrap="square" lIns="0" rIns="0" tIns="0" bIns="0" anchor="ctr">
            <a:spAutoFit/>
          </a:bodyPr>
          <a:lstStyle/>
          <a:p>
            <a:pPr algn="l"/>
            <a:r>
              <a:rPr sz="1100" b="0" i="0">
                <a:solidFill>
                  <a:srgbClr val="FFFFFF"/>
                </a:solidFill>
                <a:latin typeface="Arial"/>
              </a:rPr>
              <a:t>de los neumáticos, de forma automática</a:t>
            </a:r>
          </a:p>
        </p:txBody>
      </p:sp>
      <p:sp>
        <p:nvSpPr>
          <p:cNvPr id="16" name="TextBox 15"/>
          <p:cNvSpPr txBox="1"/>
          <p:nvPr/>
        </p:nvSpPr>
        <p:spPr>
          <a:xfrm>
            <a:off x="5221122" y="2423160"/>
            <a:ext cx="1800351" cy="548640"/>
          </a:xfrm>
          <a:prstGeom prst="rect">
            <a:avLst/>
          </a:prstGeom>
          <a:noFill/>
        </p:spPr>
        <p:txBody>
          <a:bodyPr wrap="square" lIns="0" rIns="0" tIns="0" bIns="0" anchor="ctr">
            <a:spAutoFit/>
          </a:bodyPr>
          <a:lstStyle/>
          <a:p>
            <a:pPr algn="l"/>
            <a:r>
              <a:rPr sz="2000" b="1" i="0">
                <a:solidFill>
                  <a:srgbClr val="FCE500"/>
                </a:solidFill>
                <a:latin typeface="Michelin"/>
              </a:rPr>
              <a:t>Segundos</a:t>
            </a:r>
          </a:p>
        </p:txBody>
      </p:sp>
      <p:sp>
        <p:nvSpPr>
          <p:cNvPr id="17" name="TextBox 16"/>
          <p:cNvSpPr txBox="1"/>
          <p:nvPr/>
        </p:nvSpPr>
        <p:spPr>
          <a:xfrm>
            <a:off x="7066483" y="2423160"/>
            <a:ext cx="1440281" cy="548640"/>
          </a:xfrm>
          <a:prstGeom prst="rect">
            <a:avLst/>
          </a:prstGeom>
          <a:noFill/>
        </p:spPr>
        <p:txBody>
          <a:bodyPr wrap="square" lIns="0" rIns="0" tIns="0" bIns="0" anchor="ctr">
            <a:spAutoFit/>
          </a:bodyPr>
          <a:lstStyle/>
          <a:p>
            <a:pPr algn="l"/>
            <a:r>
              <a:rPr sz="1100" b="0" i="0">
                <a:solidFill>
                  <a:srgbClr val="FFFFFF"/>
                </a:solidFill>
                <a:latin typeface="Arial"/>
              </a:rPr>
              <a:t>para detectar una deriva</a:t>
            </a:r>
          </a:p>
        </p:txBody>
      </p:sp>
      <p:sp>
        <p:nvSpPr>
          <p:cNvPr id="18" name="TextBox 17"/>
          <p:cNvSpPr txBox="1"/>
          <p:nvPr/>
        </p:nvSpPr>
        <p:spPr>
          <a:xfrm>
            <a:off x="5221122" y="3291839"/>
            <a:ext cx="1800351" cy="548640"/>
          </a:xfrm>
          <a:prstGeom prst="rect">
            <a:avLst/>
          </a:prstGeom>
          <a:noFill/>
        </p:spPr>
        <p:txBody>
          <a:bodyPr wrap="square" lIns="0" rIns="0" tIns="0" bIns="0" anchor="ctr">
            <a:spAutoFit/>
          </a:bodyPr>
          <a:lstStyle/>
          <a:p>
            <a:pPr algn="l"/>
            <a:r>
              <a:rPr sz="2000" b="1" i="0">
                <a:solidFill>
                  <a:srgbClr val="FCE500"/>
                </a:solidFill>
                <a:latin typeface="Michelin"/>
              </a:rPr>
              <a:t>Antes</a:t>
            </a:r>
          </a:p>
        </p:txBody>
      </p:sp>
      <p:sp>
        <p:nvSpPr>
          <p:cNvPr id="19" name="TextBox 18"/>
          <p:cNvSpPr txBox="1"/>
          <p:nvPr/>
        </p:nvSpPr>
        <p:spPr>
          <a:xfrm>
            <a:off x="7066483" y="3291839"/>
            <a:ext cx="1440281" cy="548640"/>
          </a:xfrm>
          <a:prstGeom prst="rect">
            <a:avLst/>
          </a:prstGeom>
          <a:noFill/>
        </p:spPr>
        <p:txBody>
          <a:bodyPr wrap="square" lIns="0" rIns="0" tIns="0" bIns="0" anchor="ctr">
            <a:spAutoFit/>
          </a:bodyPr>
          <a:lstStyle/>
          <a:p>
            <a:pPr algn="l"/>
            <a:r>
              <a:rPr sz="1100" b="0" i="0">
                <a:solidFill>
                  <a:srgbClr val="FFFFFF"/>
                </a:solidFill>
                <a:latin typeface="Arial"/>
              </a:rPr>
              <a:t>se corrige antes de que exista el defecto</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Nuestro sistema en un solo ciclo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Cuatro pasos que giran alrededor del IQF, nuestro indicador de calidad</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47672" y="2176272"/>
            <a:ext cx="1133856"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133856"/>
            <a:ext cx="914400" cy="365760"/>
          </a:xfrm>
          <a:prstGeom prst="rect">
            <a:avLst/>
          </a:prstGeom>
          <a:noFill/>
        </p:spPr>
        <p:txBody>
          <a:bodyPr wrap="square" lIns="0" rIns="0" t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rIns="0" tIns="0" bIns="0" anchor="t">
            <a:spAutoFit/>
          </a:bodyPr>
          <a:lstStyle/>
          <a:p>
            <a:pPr algn="ctr"/>
            <a:r>
              <a:rPr sz="850" b="1" i="0">
                <a:solidFill>
                  <a:srgbClr val="00205B"/>
                </a:solidFill>
                <a:latin typeface="Michelin"/>
              </a:rPr>
              <a:t>VER</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55848"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ENTENDER</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57400" y="3730752"/>
            <a:ext cx="914400" cy="365760"/>
          </a:xfrm>
          <a:prstGeom prst="rect">
            <a:avLst/>
          </a:prstGeom>
          <a:noFill/>
        </p:spPr>
        <p:txBody>
          <a:bodyPr wrap="square" lIns="0" rIns="0" t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rIns="0" tIns="0" bIns="0" anchor="t">
            <a:spAutoFit/>
          </a:bodyPr>
          <a:lstStyle/>
          <a:p>
            <a:pPr algn="ctr"/>
            <a:r>
              <a:rPr sz="850" b="1" i="0">
                <a:solidFill>
                  <a:srgbClr val="00205B"/>
                </a:solidFill>
                <a:latin typeface="Michelin"/>
              </a:rPr>
              <a:t>DECIDIR</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ANTICIPAR</a:t>
            </a:r>
          </a:p>
        </p:txBody>
      </p:sp>
      <p:sp>
        <p:nvSpPr>
          <p:cNvPr id="20" name="TextBox 19"/>
          <p:cNvSpPr txBox="1"/>
          <p:nvPr/>
        </p:nvSpPr>
        <p:spPr>
          <a:xfrm>
            <a:off x="4572000" y="1005840"/>
            <a:ext cx="411480" cy="365760"/>
          </a:xfrm>
          <a:prstGeom prst="rect">
            <a:avLst/>
          </a:prstGeom>
          <a:noFill/>
        </p:spPr>
        <p:txBody>
          <a:bodyPr wrap="square" lIns="0" rIns="0" t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658368"/>
          </a:xfrm>
          <a:prstGeom prst="rect">
            <a:avLst/>
          </a:prstGeom>
          <a:noFill/>
        </p:spPr>
        <p:txBody>
          <a:bodyPr wrap="square" lIns="0" rIns="0" tIns="0" bIns="0" anchor="t">
            <a:spAutoFit/>
          </a:bodyPr>
          <a:lstStyle/>
          <a:p>
            <a:pPr algn="l"/>
            <a:r>
              <a:rPr sz="1100" b="1" i="0">
                <a:solidFill>
                  <a:srgbClr val="FFFFFF"/>
                </a:solidFill>
                <a:latin typeface="Michelin"/>
              </a:rPr>
              <a:t>VER  </a:t>
            </a:r>
            <a:r>
              <a:rPr sz="1000" b="1" i="0">
                <a:solidFill>
                  <a:srgbClr val="FCE500"/>
                </a:solidFill>
                <a:latin typeface="Arial"/>
              </a:rPr>
              <a:t>Perfilómetros láser 3D</a:t>
            </a:r>
          </a:p>
          <a:p>
            <a:pPr algn="l"/>
            <a:r>
              <a:rPr sz="950" b="0" i="0">
                <a:solidFill>
                  <a:srgbClr val="D6E0F0"/>
                </a:solidFill>
                <a:latin typeface="Arial"/>
              </a:rPr>
              <a:t>Cada componente, medido en 3D en cada neumático.</a:t>
            </a:r>
          </a:p>
        </p:txBody>
      </p:sp>
      <p:sp>
        <p:nvSpPr>
          <p:cNvPr id="22" name="TextBox 21"/>
          <p:cNvSpPr txBox="1"/>
          <p:nvPr/>
        </p:nvSpPr>
        <p:spPr>
          <a:xfrm>
            <a:off x="4572000" y="1719072"/>
            <a:ext cx="411480" cy="365760"/>
          </a:xfrm>
          <a:prstGeom prst="rect">
            <a:avLst/>
          </a:prstGeom>
          <a:noFill/>
        </p:spPr>
        <p:txBody>
          <a:bodyPr wrap="square" lIns="0" rIns="0" t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rIns="0" tIns="0" bIns="0" anchor="t">
            <a:spAutoFit/>
          </a:bodyPr>
          <a:lstStyle/>
          <a:p>
            <a:pPr algn="l"/>
            <a:r>
              <a:rPr sz="1100" b="1" i="0">
                <a:solidFill>
                  <a:srgbClr val="FFFFFF"/>
                </a:solidFill>
                <a:latin typeface="Michelin"/>
              </a:rPr>
              <a:t>ENTENDER  </a:t>
            </a:r>
            <a:r>
              <a:rPr sz="1000" b="1" i="0">
                <a:solidFill>
                  <a:srgbClr val="FCE500"/>
                </a:solidFill>
                <a:latin typeface="Arial"/>
              </a:rPr>
              <a:t>PI System · PI Vision</a:t>
            </a:r>
          </a:p>
          <a:p>
            <a:pPr algn="l"/>
            <a:r>
              <a:rPr sz="950" b="0" i="0">
                <a:solidFill>
                  <a:srgbClr val="D6E0F0"/>
                </a:solidFill>
                <a:latin typeface="Arial"/>
              </a:rPr>
              <a:t>Datos e imágenes en tiempo real, con tendencias y alertas.</a:t>
            </a:r>
          </a:p>
        </p:txBody>
      </p:sp>
      <p:sp>
        <p:nvSpPr>
          <p:cNvPr id="24" name="TextBox 23"/>
          <p:cNvSpPr txBox="1"/>
          <p:nvPr/>
        </p:nvSpPr>
        <p:spPr>
          <a:xfrm>
            <a:off x="4572000" y="2432304"/>
            <a:ext cx="411480" cy="365760"/>
          </a:xfrm>
          <a:prstGeom prst="rect">
            <a:avLst/>
          </a:prstGeom>
          <a:noFill/>
        </p:spPr>
        <p:txBody>
          <a:bodyPr wrap="square" lIns="0" rIns="0" t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rIns="0" tIns="0" bIns="0" anchor="t">
            <a:spAutoFit/>
          </a:bodyPr>
          <a:lstStyle/>
          <a:p>
            <a:pPr algn="l"/>
            <a:r>
              <a:rPr sz="1100" b="1" i="0">
                <a:solidFill>
                  <a:srgbClr val="FFFFFF"/>
                </a:solidFill>
                <a:latin typeface="Michelin"/>
              </a:rPr>
              <a:t>DECIDIR  </a:t>
            </a:r>
            <a:r>
              <a:rPr sz="1000" b="1" i="0">
                <a:solidFill>
                  <a:srgbClr val="FCE500"/>
                </a:solidFill>
                <a:latin typeface="Arial"/>
              </a:rPr>
              <a:t>R4P</a:t>
            </a:r>
          </a:p>
          <a:p>
            <a:pPr algn="l"/>
            <a:r>
              <a:rPr sz="950" b="0" i="0">
                <a:solidFill>
                  <a:srgbClr val="D6E0F0"/>
                </a:solidFill>
                <a:latin typeface="Arial"/>
              </a:rPr>
              <a:t>Motor de reglas que corrige el proceso automáticamente.</a:t>
            </a:r>
          </a:p>
        </p:txBody>
      </p:sp>
      <p:sp>
        <p:nvSpPr>
          <p:cNvPr id="26" name="TextBox 25"/>
          <p:cNvSpPr txBox="1"/>
          <p:nvPr/>
        </p:nvSpPr>
        <p:spPr>
          <a:xfrm>
            <a:off x="4572000" y="3145536"/>
            <a:ext cx="411480" cy="365760"/>
          </a:xfrm>
          <a:prstGeom prst="rect">
            <a:avLst/>
          </a:prstGeom>
          <a:noFill/>
        </p:spPr>
        <p:txBody>
          <a:bodyPr wrap="square" lIns="0" rIns="0" t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rIns="0" tIns="0" bIns="0" anchor="t">
            <a:spAutoFit/>
          </a:bodyPr>
          <a:lstStyle/>
          <a:p>
            <a:pPr algn="l"/>
            <a:r>
              <a:rPr sz="1100" b="1" i="0">
                <a:solidFill>
                  <a:srgbClr val="FFFFFF"/>
                </a:solidFill>
                <a:latin typeface="Michelin"/>
              </a:rPr>
              <a:t>ANTICIPAR  </a:t>
            </a:r>
            <a:r>
              <a:rPr sz="1000" b="1" i="0">
                <a:solidFill>
                  <a:srgbClr val="FCE500"/>
                </a:solidFill>
                <a:latin typeface="Arial"/>
              </a:rPr>
              <a:t>Dataiku · IA</a:t>
            </a:r>
          </a:p>
          <a:p>
            <a:pPr algn="l"/>
            <a:r>
              <a:rPr sz="950" b="0" i="0">
                <a:solidFill>
                  <a:srgbClr val="D6E0F0"/>
                </a:solidFill>
                <a:latin typeface="Arial"/>
              </a:rPr>
              <a:t>Analítica avanzada para encontrar patrones y adelantarse.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01</a:t>
            </a:r>
          </a:p>
          <a:p>
            <a:r>
              <a:t>Ver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Cada neumático, convertido en datos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neumático, no una muestra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Perfilómetros láser 3D en cada puesto de la máquina</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rIns="0" tIns="0" bIns="0" anchor="t">
            <a:spAutoFit/>
          </a:bodyPr>
          <a:lstStyle/>
          <a:p>
            <a:pPr algn="l"/>
            <a:r>
              <a:rPr sz="800" b="0" i="0">
                <a:solidFill>
                  <a:srgbClr val="6E6E6E"/>
                </a:solidFill>
                <a:latin typeface="Arial"/>
              </a:rPr>
              <a:t>Escaneo 3D en la MAC: cada color es una altura</a:t>
            </a:r>
          </a:p>
        </p:txBody>
      </p:sp>
      <p:sp>
        <p:nvSpPr>
          <p:cNvPr id="15" name="TextBox 14"/>
          <p:cNvSpPr txBox="1"/>
          <p:nvPr/>
        </p:nvSpPr>
        <p:spPr>
          <a:xfrm>
            <a:off x="5851245" y="960120"/>
            <a:ext cx="2790545" cy="594360"/>
          </a:xfrm>
          <a:prstGeom prst="rect">
            <a:avLst/>
          </a:prstGeom>
          <a:noFill/>
        </p:spPr>
        <p:txBody>
          <a:bodyPr wrap="square" lIns="0" rIns="0" t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365760"/>
          </a:xfrm>
          <a:prstGeom prst="rect">
            <a:avLst/>
          </a:prstGeom>
          <a:noFill/>
        </p:spPr>
        <p:txBody>
          <a:bodyPr wrap="square" lIns="0" rIns="0" tIns="0" bIns="0" anchor="t">
            <a:spAutoFit/>
          </a:bodyPr>
          <a:lstStyle/>
          <a:p>
            <a:pPr algn="l"/>
            <a:r>
              <a:rPr sz="1150" b="0" i="0">
                <a:solidFill>
                  <a:srgbClr val="262626"/>
                </a:solidFill>
                <a:latin typeface="Arial"/>
              </a:rPr>
              <a:t>de los neumáticos medidos</a:t>
            </a:r>
          </a:p>
        </p:txBody>
      </p:sp>
      <p:sp>
        <p:nvSpPr>
          <p:cNvPr id="17" name="TextBox 16"/>
          <p:cNvSpPr txBox="1"/>
          <p:nvPr/>
        </p:nvSpPr>
        <p:spPr>
          <a:xfrm>
            <a:off x="5851245" y="2148840"/>
            <a:ext cx="2790545" cy="594360"/>
          </a:xfrm>
          <a:prstGeom prst="rect">
            <a:avLst/>
          </a:prstGeom>
          <a:noFill/>
        </p:spPr>
        <p:txBody>
          <a:bodyPr wrap="square" lIns="0" rIns="0" t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rIns="0" tIns="0" bIns="0" anchor="t">
            <a:spAutoFit/>
          </a:bodyPr>
          <a:lstStyle/>
          <a:p>
            <a:pPr algn="l"/>
            <a:r>
              <a:rPr sz="1150" b="0" i="0">
                <a:solidFill>
                  <a:srgbClr val="262626"/>
                </a:solidFill>
                <a:latin typeface="Arial"/>
              </a:rPr>
              <a:t>perfil completo de cada componente</a:t>
            </a:r>
          </a:p>
        </p:txBody>
      </p:sp>
      <p:sp>
        <p:nvSpPr>
          <p:cNvPr id="19" name="TextBox 18"/>
          <p:cNvSpPr txBox="1"/>
          <p:nvPr/>
        </p:nvSpPr>
        <p:spPr>
          <a:xfrm>
            <a:off x="5851245" y="3337560"/>
            <a:ext cx="2790545" cy="594360"/>
          </a:xfrm>
          <a:prstGeom prst="rect">
            <a:avLst/>
          </a:prstGeom>
          <a:noFill/>
        </p:spPr>
        <p:txBody>
          <a:bodyPr wrap="square" lIns="0" rIns="0" tIns="0" bIns="0" anchor="t">
            <a:spAutoFit/>
          </a:bodyPr>
          <a:lstStyle/>
          <a:p>
            <a:pPr algn="l"/>
            <a:r>
              <a:rPr sz="3200" b="1" i="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rIns="0" tIns="0" bIns="0" anchor="t">
            <a:spAutoFit/>
          </a:bodyPr>
          <a:lstStyle/>
          <a:p>
            <a:pPr algn="l"/>
            <a:r>
              <a:rPr sz="1150" b="0" i="0">
                <a:solidFill>
                  <a:srgbClr val="262626"/>
                </a:solidFill>
                <a:latin typeface="Arial"/>
              </a:rPr>
              <a:t>sensores láser en 8 puestos de la MAC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Cada puesto, cada medida, en directo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MAC4: doce puestos, del P05 al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FCE500"/>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0768" y="160934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9325" y="99212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39" y="2514600"/>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4635" y="309067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Doce puestos</a:t>
            </a:r>
          </a:p>
          <a:p>
            <a:pPr algn="l"/>
            <a:r>
              <a:rPr sz="950" b="0" i="0">
                <a:solidFill>
                  <a:srgbClr val="D6E0F0"/>
                </a:solidFill>
                <a:latin typeface="Arial"/>
              </a:rPr>
              <a:t>del P05 al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9456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Código de estado</a:t>
            </a:r>
          </a:p>
          <a:p>
            <a:pPr algn="l"/>
            <a:r>
              <a:rPr sz="950" b="0" i="0">
                <a:solidFill>
                  <a:srgbClr val="D6E0F0"/>
                </a:solidFill>
                <a:latin typeface="Arial"/>
              </a:rPr>
              <a:t>OK · vigilancia · control</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3192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Soldaduras</a:t>
            </a:r>
          </a:p>
          <a:p>
            <a:pPr algn="l"/>
            <a:r>
              <a:rPr sz="950" b="0" i="0">
                <a:solidFill>
                  <a:srgbClr val="D6E0F0"/>
                </a:solidFill>
                <a:latin typeface="Arial"/>
              </a:rPr>
              <a:t>medidas en cada puesto</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79"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Medida 100 %</a:t>
            </a:r>
          </a:p>
          <a:p>
            <a:pPr algn="l"/>
            <a:r>
              <a:rPr sz="950" b="0" i="0">
                <a:solidFill>
                  <a:srgbClr val="D6E0F0"/>
                </a:solidFill>
                <a:latin typeface="Arial"/>
              </a:rPr>
              <a:t>cada neumático medido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Del mapa 3D a la cifra que define la calidad de la unión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19802" y="15224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8547" y="2239365"/>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08237" y="344728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1245" y="93268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rIns="0" tIns="0" bIns="0" anchor="t">
            <a:spAutoFit/>
          </a:bodyPr>
          <a:lstStyle/>
          <a:p>
            <a:pPr algn="l"/>
            <a:r>
              <a:rPr sz="1100" b="1" i="0">
                <a:solidFill>
                  <a:srgbClr val="00205B"/>
                </a:solidFill>
                <a:latin typeface="Arial"/>
              </a:rPr>
              <a:t>Mapa 3D</a:t>
            </a:r>
          </a:p>
          <a:p>
            <a:pPr algn="l"/>
            <a:r>
              <a:rPr sz="950" b="0" i="0">
                <a:solidFill>
                  <a:srgbClr val="262626"/>
                </a:solidFill>
                <a:latin typeface="Arial"/>
              </a:rPr>
              <a:t>de la unión de la banda NST</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1245" y="1554480"/>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rIns="0" tIns="0" bIns="0" anchor="t">
            <a:spAutoFit/>
          </a:bodyPr>
          <a:lstStyle/>
          <a:p>
            <a:pPr algn="l"/>
            <a:r>
              <a:rPr sz="1100" b="1" i="0">
                <a:solidFill>
                  <a:srgbClr val="00205B"/>
                </a:solidFill>
                <a:latin typeface="Arial"/>
              </a:rPr>
              <a:t>Sección de medida</a:t>
            </a:r>
          </a:p>
          <a:p>
            <a:pPr algn="l"/>
            <a:r>
              <a:rPr sz="950" b="0" i="0">
                <a:solidFill>
                  <a:srgbClr val="262626"/>
                </a:solidFill>
                <a:latin typeface="Arial"/>
              </a:rPr>
              <a:t>trazada sobre la soldadura</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1245" y="2176272"/>
            <a:ext cx="270052"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rIns="0" tIns="0" bIns="0" anchor="t">
            <a:spAutoFit/>
          </a:bodyPr>
          <a:lstStyle/>
          <a:p>
            <a:pPr algn="l"/>
            <a:r>
              <a:rPr sz="1100" b="1" i="0">
                <a:solidFill>
                  <a:srgbClr val="00205B"/>
                </a:solidFill>
                <a:latin typeface="Arial"/>
              </a:rPr>
              <a:t>Perfil</a:t>
            </a:r>
          </a:p>
          <a:p>
            <a:pPr algn="l"/>
            <a:r>
              <a:rPr sz="950" b="0" i="0">
                <a:solidFill>
                  <a:srgbClr val="262626"/>
                </a:solidFill>
                <a:latin typeface="Arial"/>
              </a:rPr>
              <a:t>cuantifica la unión</a:t>
            </a:r>
          </a:p>
        </p:txBody>
      </p:sp>
      <p:sp>
        <p:nvSpPr>
          <p:cNvPr id="31" name="TextBox 30"/>
          <p:cNvSpPr txBox="1"/>
          <p:nvPr/>
        </p:nvSpPr>
        <p:spPr>
          <a:xfrm>
            <a:off x="5851245" y="2880360"/>
            <a:ext cx="2835554" cy="274320"/>
          </a:xfrm>
          <a:prstGeom prst="rect">
            <a:avLst/>
          </a:prstGeom>
          <a:noFill/>
        </p:spPr>
        <p:txBody>
          <a:bodyPr wrap="square" lIns="0" rIns="0" tIns="0" bIns="0" anchor="t">
            <a:spAutoFit/>
          </a:bodyPr>
          <a:lstStyle/>
          <a:p>
            <a:pPr algn="l"/>
            <a:r>
              <a:rPr sz="1000" b="1" i="0" cap="all">
                <a:solidFill>
                  <a:srgbClr val="27509B"/>
                </a:solidFill>
                <a:latin typeface="Michelin"/>
              </a:rPr>
              <a:t>Variables seguidas en continuo</a:t>
            </a:r>
          </a:p>
        </p:txBody>
      </p:sp>
      <p:sp>
        <p:nvSpPr>
          <p:cNvPr id="32" name="TextBox 31"/>
          <p:cNvSpPr txBox="1"/>
          <p:nvPr/>
        </p:nvSpPr>
        <p:spPr>
          <a:xfrm>
            <a:off x="5851245" y="3200400"/>
            <a:ext cx="2835554" cy="1280160"/>
          </a:xfrm>
          <a:prstGeom prst="rect">
            <a:avLst/>
          </a:prstGeom>
          <a:noFill/>
        </p:spPr>
        <p:txBody>
          <a:bodyPr wrap="square" lIns="0" rIns="0" tIns="0" bIns="0" anchor="t">
            <a:spAutoFit/>
          </a:bodyPr>
          <a:lstStyle/>
          <a:p>
            <a:pPr algn="l" marL="182880" indent="-182880">
              <a:spcAft>
                <a:spcPts val="300"/>
              </a:spcAft>
              <a:buClr>
                <a:srgbClr val="FCE500"/>
              </a:buClr>
              <a:buSzPct val="100000"/>
              <a:buFont typeface="Wingdings"/>
              <a:buChar char="§"/>
            </a:pPr>
            <a:r>
              <a:rPr sz="1050" b="0" i="0">
                <a:solidFill>
                  <a:srgbClr val="262626"/>
                </a:solidFill>
                <a:latin typeface="Arial"/>
              </a:rPr>
              <a:t>Superposición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Altura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Offset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02</a:t>
            </a:r>
          </a:p>
          <a:p>
            <a:r>
              <a:t>Entender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Del dato a la tendencia, en tiempo real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Vemos la deriva antes que el defecto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PI Vision · MAC3 · puesto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5392" y="141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79875" y="139769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69640" y="151618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37672" y="10290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Cada neumático</a:t>
            </a:r>
          </a:p>
          <a:p>
            <a:pPr algn="l"/>
            <a:r>
              <a:rPr sz="950" b="0" i="0">
                <a:solidFill>
                  <a:srgbClr val="D6E0F0"/>
                </a:solidFill>
                <a:latin typeface="Arial"/>
              </a:rPr>
              <a:t>su valor individual</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La tendencia</a:t>
            </a:r>
          </a:p>
          <a:p>
            <a:pPr algn="l"/>
            <a:r>
              <a:rPr sz="950" b="0" i="0">
                <a:solidFill>
                  <a:srgbClr val="D6E0F0"/>
                </a:solidFill>
                <a:latin typeface="Arial"/>
              </a:rPr>
              <a:t>mediana de los 20 últimos</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Los límites</a:t>
            </a:r>
          </a:p>
          <a:p>
            <a:pPr algn="l"/>
            <a:r>
              <a:rPr sz="950" b="0" i="0">
                <a:solidFill>
                  <a:srgbClr val="D6E0F0"/>
                </a:solidFill>
                <a:latin typeface="Arial"/>
              </a:rPr>
              <a:t>tolerancias siempre visibles</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El objetivo</a:t>
            </a:r>
          </a:p>
          <a:p>
            <a:pPr algn="l"/>
            <a:r>
              <a:rPr sz="950" b="0" i="0">
                <a:solidFill>
                  <a:srgbClr val="D6E0F0"/>
                </a:solidFill>
                <a:latin typeface="Arial"/>
              </a:rPr>
              <a:t>valor teórico de referencia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La tendencia cruza el límite y la persona adecuada lo sabe al instante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52652" y="11851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8880" y="1568183"/>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30576" y="349300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rIns="0" tIns="0" bIns="0" anchor="t">
            <a:spAutoFit/>
          </a:bodyPr>
          <a:lstStyle/>
          <a:p>
            <a:pPr algn="l"/>
            <a:r>
              <a:rPr sz="1100" b="1" i="0">
                <a:solidFill>
                  <a:srgbClr val="00205B"/>
                </a:solidFill>
                <a:latin typeface="Arial"/>
              </a:rPr>
              <a:t>Entra en alerta</a:t>
            </a:r>
          </a:p>
          <a:p>
            <a:pPr algn="l"/>
            <a:r>
              <a:rPr sz="950" b="0" i="0">
                <a:solidFill>
                  <a:srgbClr val="262626"/>
                </a:solidFill>
                <a:latin typeface="Arial"/>
              </a:rPr>
              <a:t>la mediana sale de tolerancia</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30576" y="4041647"/>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rIns="0" tIns="0" bIns="0" anchor="t">
            <a:spAutoFit/>
          </a:bodyPr>
          <a:lstStyle/>
          <a:p>
            <a:pPr algn="l"/>
            <a:r>
              <a:rPr sz="1100" b="1" i="0">
                <a:solidFill>
                  <a:srgbClr val="00205B"/>
                </a:solidFill>
                <a:latin typeface="Arial"/>
              </a:rPr>
              <a:t>Sale de alerta</a:t>
            </a:r>
          </a:p>
          <a:p>
            <a:pPr algn="l"/>
            <a:r>
              <a:rPr sz="950" b="0" i="0">
                <a:solidFill>
                  <a:srgbClr val="262626"/>
                </a:solidFill>
                <a:latin typeface="Arial"/>
              </a:rPr>
              <a:t>vuelve al objetivo y queda registrado</a:t>
            </a:r>
          </a:p>
        </p:txBody>
      </p:sp>
      <p:sp>
        <p:nvSpPr>
          <p:cNvPr id="25" name="TextBox 24"/>
          <p:cNvSpPr txBox="1"/>
          <p:nvPr/>
        </p:nvSpPr>
        <p:spPr>
          <a:xfrm>
            <a:off x="5806236" y="3474720"/>
            <a:ext cx="2880563" cy="1097280"/>
          </a:xfrm>
          <a:prstGeom prst="rect">
            <a:avLst/>
          </a:prstGeom>
          <a:noFill/>
        </p:spPr>
        <p:txBody>
          <a:bodyPr wrap="square" lIns="0" rIns="0" tIns="0" bIns="0" anchor="t">
            <a:spAutoFit/>
          </a:bodyPr>
          <a:lstStyle/>
          <a:p>
            <a:pPr algn="l"/>
            <a:r>
              <a:rPr sz="1100" b="1" i="0">
                <a:solidFill>
                  <a:srgbClr val="00205B"/>
                </a:solidFill>
                <a:latin typeface="Arial"/>
              </a:rPr>
              <a:t>Aviso en pantalla y en el móvil</a:t>
            </a:r>
          </a:p>
          <a:p>
            <a:pPr algn="l"/>
            <a:r>
              <a:rPr sz="1100" b="0" i="0">
                <a:solidFill>
                  <a:srgbClr val="262626"/>
                </a:solidFill>
                <a:latin typeface="Arial"/>
              </a:rPr>
              <a:t>Al responsable de proceso (CARE) o de mantenimiento (TECH).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Toda la línea, de un vistazo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BNS62: NST1, NST2 y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9543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0" y="9543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 y="14248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41063" y="96862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89473" y="25654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rIns="0" tIns="0" bIns="0" anchor="t">
            <a:spAutoFit/>
          </a:bodyPr>
          <a:lstStyle/>
          <a:p>
            <a:pPr algn="l"/>
            <a:r>
              <a:rPr sz="1100" b="1" i="0">
                <a:solidFill>
                  <a:srgbClr val="FFFFFF"/>
                </a:solidFill>
                <a:latin typeface="Arial"/>
              </a:rPr>
              <a:t>Alerta y colores</a:t>
            </a:r>
          </a:p>
          <a:p>
            <a:pPr algn="l"/>
            <a:r>
              <a:rPr sz="950" b="0" i="0">
                <a:solidFill>
                  <a:srgbClr val="D6E0F0"/>
                </a:solidFill>
                <a:latin typeface="Arial"/>
              </a:rPr>
              <a:t>verde, naranja, rojo</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rIns="0" tIns="0" bIns="0" anchor="t">
            <a:spAutoFit/>
          </a:bodyPr>
          <a:lstStyle/>
          <a:p>
            <a:pPr algn="l"/>
            <a:r>
              <a:rPr sz="1100" b="1" i="0">
                <a:solidFill>
                  <a:srgbClr val="FFFFFF"/>
                </a:solidFill>
                <a:latin typeface="Arial"/>
              </a:rPr>
              <a:t>Cada puesto</a:t>
            </a:r>
          </a:p>
          <a:p>
            <a:pPr algn="l"/>
            <a:r>
              <a:rPr sz="950" b="0" i="0">
                <a:solidFill>
                  <a:srgbClr val="D6E0F0"/>
                </a:solidFill>
                <a:latin typeface="Arial"/>
              </a:rPr>
              <a:t>centrado, anchura, soldadura</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084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rIns="0" tIns="0" bIns="0" anchor="t">
            <a:spAutoFit/>
          </a:bodyPr>
          <a:lstStyle/>
          <a:p>
            <a:pPr algn="l"/>
            <a:r>
              <a:rPr sz="1100" b="1" i="0">
                <a:solidFill>
                  <a:srgbClr val="FFFFFF"/>
                </a:solidFill>
                <a:latin typeface="Arial"/>
              </a:rPr>
              <a:t>Un clic</a:t>
            </a:r>
          </a:p>
          <a:p>
            <a:pPr algn="l"/>
            <a:r>
              <a:rPr sz="950" b="0" i="0">
                <a:solidFill>
                  <a:srgbClr val="D6E0F0"/>
                </a:solidFill>
                <a:latin typeface="Arial"/>
              </a:rPr>
              <a:t>IQF, imágenes, alertas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2084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rIns="0" tIns="0" bIns="0" anchor="t">
            <a:spAutoFit/>
          </a:bodyPr>
          <a:lstStyle/>
          <a:p>
            <a:pPr algn="l"/>
            <a:r>
              <a:rPr sz="1100" b="1" i="0">
                <a:solidFill>
                  <a:srgbClr val="FFFFFF"/>
                </a:solidFill>
                <a:latin typeface="Arial"/>
              </a:rPr>
              <a:t>Soldadura KM</a:t>
            </a:r>
          </a:p>
          <a:p>
            <a:pPr algn="l"/>
            <a:r>
              <a:rPr sz="950" b="0" i="0">
                <a:solidFill>
                  <a:srgbClr val="D6E0F0"/>
                </a:solidFill>
                <a:latin typeface="Arial"/>
              </a:rPr>
              <a:t>altura, calidad, offset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PI System conserva la historia completa de cada neumático</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Imagen de cada producto</a:t>
            </a:r>
          </a:p>
          <a:p>
            <a:pPr algn="l"/>
            <a:r>
              <a:rPr sz="950" b="0" i="0">
                <a:solidFill>
                  <a:srgbClr val="262626"/>
                </a:solidFill>
                <a:latin typeface="Arial"/>
              </a:rPr>
              <a:t>recuperable por puesto, fecha y hora</a:t>
            </a:r>
          </a:p>
        </p:txBody>
      </p:sp>
      <p:sp>
        <p:nvSpPr>
          <p:cNvPr id="16" name="TextBox 15"/>
          <p:cNvSpPr txBox="1"/>
          <p:nvPr/>
        </p:nvSpPr>
        <p:spPr>
          <a:xfrm>
            <a:off x="504108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Histórico de alertas</a:t>
            </a:r>
          </a:p>
          <a:p>
            <a:pPr algn="l"/>
            <a:r>
              <a:rPr sz="950" b="0" i="0">
                <a:solidFill>
                  <a:srgbClr val="262626"/>
                </a:solidFill>
                <a:latin typeface="Arial"/>
              </a:rPr>
              <a:t>puesto, tipo, inicio, fin y duración</a:t>
            </a:r>
          </a:p>
        </p:txBody>
      </p:sp>
      <p:sp>
        <p:nvSpPr>
          <p:cNvPr id="17" name="TextBox 16"/>
          <p:cNvSpPr txBox="1"/>
          <p:nvPr/>
        </p:nvSpPr>
        <p:spPr>
          <a:xfrm>
            <a:off x="6931456"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Base para la IA</a:t>
            </a:r>
          </a:p>
          <a:p>
            <a:pPr algn="l"/>
            <a:r>
              <a:rPr sz="950" b="0" i="0">
                <a:solidFill>
                  <a:srgbClr val="262626"/>
                </a:solidFill>
                <a:latin typeface="Arial"/>
              </a:rPr>
              <a:t>miles de imágenes reales para aprender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03</a:t>
            </a:r>
          </a:p>
          <a:p>
            <a:r>
              <a:t>Decidir: R4P</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El motor que convierte cada medida en una acción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Motor de reglas en tiempo real conectado a la medida OLM</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rIns="0" tIns="0" bIns="0" anchor="t">
            <a:spAutoFit/>
          </a:bodyPr>
          <a:lstStyle/>
          <a:p>
            <a:pPr algn="l">
              <a:spcAft>
                <a:spcPts val="800"/>
              </a:spcAft>
            </a:pPr>
            <a:r>
              <a:rPr sz="2200" b="1" i="0">
                <a:solidFill>
                  <a:srgbClr val="27509B"/>
                </a:solidFill>
                <a:latin typeface="Michelin"/>
              </a:rPr>
              <a:t>Mide, </a:t>
            </a:r>
            <a:r>
              <a:rPr sz="2200" b="1" i="0">
                <a:solidFill>
                  <a:srgbClr val="00205B"/>
                </a:solidFill>
                <a:latin typeface="Michelin"/>
              </a:rPr>
              <a:t>decide </a:t>
            </a:r>
            <a:r>
              <a:rPr sz="2200" b="1" i="0">
                <a:solidFill>
                  <a:srgbClr val="27509B"/>
                </a:solidFill>
                <a:latin typeface="Michelin"/>
              </a:rPr>
              <a:t>y actúa</a:t>
            </a:r>
          </a:p>
          <a:p>
            <a:pPr algn="l">
              <a:spcAft>
                <a:spcPts val="800"/>
              </a:spcAft>
            </a:pPr>
            <a:r>
              <a:rPr sz="1300" b="0" i="0">
                <a:solidFill>
                  <a:srgbClr val="262626"/>
                </a:solidFill>
                <a:latin typeface="Arial"/>
              </a:rPr>
              <a:t>en segundos, sin esperar a nadie.</a:t>
            </a:r>
          </a:p>
        </p:txBody>
      </p:sp>
      <p:sp>
        <p:nvSpPr>
          <p:cNvPr id="15" name="TextBox 14"/>
          <p:cNvSpPr txBox="1"/>
          <p:nvPr/>
        </p:nvSpPr>
        <p:spPr>
          <a:xfrm>
            <a:off x="585216"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24/7</a:t>
            </a:r>
          </a:p>
        </p:txBody>
      </p:sp>
      <p:sp>
        <p:nvSpPr>
          <p:cNvPr id="16" name="TextBox 15"/>
          <p:cNvSpPr txBox="1"/>
          <p:nvPr/>
        </p:nvSpPr>
        <p:spPr>
          <a:xfrm>
            <a:off x="2025497"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en todos los turnos</a:t>
            </a:r>
          </a:p>
        </p:txBody>
      </p:sp>
      <p:sp>
        <p:nvSpPr>
          <p:cNvPr id="17" name="TextBox 16"/>
          <p:cNvSpPr txBox="1"/>
          <p:nvPr/>
        </p:nvSpPr>
        <p:spPr>
          <a:xfrm>
            <a:off x="3330752"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100 %</a:t>
            </a:r>
          </a:p>
        </p:txBody>
      </p:sp>
      <p:sp>
        <p:nvSpPr>
          <p:cNvPr id="18" name="TextBox 17"/>
          <p:cNvSpPr txBox="1"/>
          <p:nvPr/>
        </p:nvSpPr>
        <p:spPr>
          <a:xfrm>
            <a:off x="4771034"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los neumáticos</a:t>
            </a:r>
          </a:p>
        </p:txBody>
      </p:sp>
      <p:sp>
        <p:nvSpPr>
          <p:cNvPr id="19" name="TextBox 18"/>
          <p:cNvSpPr txBox="1"/>
          <p:nvPr/>
        </p:nvSpPr>
        <p:spPr>
          <a:xfrm>
            <a:off x="6076289"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Seg.</a:t>
            </a:r>
          </a:p>
        </p:txBody>
      </p:sp>
      <p:sp>
        <p:nvSpPr>
          <p:cNvPr id="20" name="TextBox 19"/>
          <p:cNvSpPr txBox="1"/>
          <p:nvPr/>
        </p:nvSpPr>
        <p:spPr>
          <a:xfrm>
            <a:off x="7516571"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la medida a la acción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 la más suave a la más firme, según lo que diga la medida</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Alertar</a:t>
            </a:r>
          </a:p>
        </p:txBody>
      </p:sp>
      <p:sp>
        <p:nvSpPr>
          <p:cNvPr id="18" name="TextBox 17"/>
          <p:cNvSpPr txBox="1"/>
          <p:nvPr/>
        </p:nvSpPr>
        <p:spPr>
          <a:xfrm>
            <a:off x="765251"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Avisa al operario y al responsable en pantalla y en el móvil.</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251"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_adjust.png"/>
          <p:cNvPicPr>
            <a:picLocks noChangeAspect="1"/>
          </p:cNvPicPr>
          <p:nvPr/>
        </p:nvPicPr>
        <p:blipFill>
          <a:blip r:embed="rId4"/>
          <a:stretch>
            <a:fillRect/>
          </a:stretch>
        </p:blipFill>
        <p:spPr>
          <a:xfrm>
            <a:off x="3131413" y="1115568"/>
            <a:ext cx="938784" cy="1005840"/>
          </a:xfrm>
          <a:prstGeom prst="rect">
            <a:avLst/>
          </a:prstGeom>
        </p:spPr>
      </p:pic>
      <p:sp>
        <p:nvSpPr>
          <p:cNvPr id="24" name="TextBox 23"/>
          <p:cNvSpPr txBox="1"/>
          <p:nvPr/>
        </p:nvSpPr>
        <p:spPr>
          <a:xfrm>
            <a:off x="2835656"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Ajustar</a:t>
            </a:r>
          </a:p>
        </p:txBody>
      </p:sp>
      <p:sp>
        <p:nvSpPr>
          <p:cNvPr id="26" name="TextBox 25"/>
          <p:cNvSpPr txBox="1"/>
          <p:nvPr/>
        </p:nvSpPr>
        <p:spPr>
          <a:xfrm>
            <a:off x="2835656"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Corrige el parámetro de la máquina (regulación ODM) sin intervención.</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35656"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_block.png"/>
          <p:cNvPicPr>
            <a:picLocks noChangeAspect="1"/>
          </p:cNvPicPr>
          <p:nvPr/>
        </p:nvPicPr>
        <p:blipFill>
          <a:blip r:embed="rId5"/>
          <a:stretch>
            <a:fillRect/>
          </a:stretch>
        </p:blipFill>
        <p:spPr>
          <a:xfrm>
            <a:off x="5262587" y="1115568"/>
            <a:ext cx="817245" cy="1005840"/>
          </a:xfrm>
          <a:prstGeom prst="rect">
            <a:avLst/>
          </a:prstGeom>
        </p:spPr>
      </p:pic>
      <p:sp>
        <p:nvSpPr>
          <p:cNvPr id="32" name="TextBox 31"/>
          <p:cNvSpPr txBox="1"/>
          <p:nvPr/>
        </p:nvSpPr>
        <p:spPr>
          <a:xfrm>
            <a:off x="4906060"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Bloquear</a:t>
            </a:r>
          </a:p>
        </p:txBody>
      </p:sp>
      <p:sp>
        <p:nvSpPr>
          <p:cNvPr id="34" name="TextBox 33"/>
          <p:cNvSpPr txBox="1"/>
          <p:nvPr/>
        </p:nvSpPr>
        <p:spPr>
          <a:xfrm>
            <a:off x="4906060"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Detiene la máquina si la desviación no se puede corregir.</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06060"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c_segreg.png"/>
          <p:cNvPicPr>
            <a:picLocks noChangeAspect="1"/>
          </p:cNvPicPr>
          <p:nvPr/>
        </p:nvPicPr>
        <p:blipFill>
          <a:blip r:embed="rId6"/>
          <a:stretch>
            <a:fillRect/>
          </a:stretch>
        </p:blipFill>
        <p:spPr>
          <a:xfrm>
            <a:off x="7238695" y="1115568"/>
            <a:ext cx="1005840" cy="1005840"/>
          </a:xfrm>
          <a:prstGeom prst="rect">
            <a:avLst/>
          </a:prstGeom>
        </p:spPr>
      </p:pic>
      <p:sp>
        <p:nvSpPr>
          <p:cNvPr id="40" name="TextBox 39"/>
          <p:cNvSpPr txBox="1"/>
          <p:nvPr/>
        </p:nvSpPr>
        <p:spPr>
          <a:xfrm>
            <a:off x="6976465"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Segregar</a:t>
            </a:r>
          </a:p>
        </p:txBody>
      </p:sp>
      <p:sp>
        <p:nvSpPr>
          <p:cNvPr id="42" name="TextBox 41"/>
          <p:cNvSpPr txBox="1"/>
          <p:nvPr/>
        </p:nvSpPr>
        <p:spPr>
          <a:xfrm>
            <a:off x="6976465"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Apartará el producto afectado de la línea de forma automática.</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76465" y="4114800"/>
            <a:ext cx="1530299" cy="256032"/>
          </a:xfrm>
          <a:prstGeom prst="rect">
            <a:avLst/>
          </a:prstGeom>
          <a:noFill/>
        </p:spPr>
        <p:txBody>
          <a:bodyPr wrap="square" lIns="0" rIns="0" tIns="0" bIns="0" anchor="ctr">
            <a:spAutoFit/>
          </a:bodyPr>
          <a:lstStyle/>
          <a:p>
            <a:pPr algn="ctr"/>
            <a:r>
              <a:rPr sz="900" b="1" i="0">
                <a:solidFill>
                  <a:srgbClr val="00205B"/>
                </a:solidFill>
                <a:latin typeface="Michelin"/>
              </a:rPr>
              <a:t>PRÓXIMA FASE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R4P en acción: la línea se corrige sola</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regulación BJ · MAC6 · puesto P17</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563"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3341" y="26243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1573" y="147218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86547"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Límite inferior</a:t>
            </a:r>
          </a:p>
          <a:p>
            <a:pPr algn="l"/>
            <a:r>
              <a:rPr sz="950" b="0" i="0">
                <a:solidFill>
                  <a:srgbClr val="D6E0F0"/>
                </a:solidFill>
                <a:latin typeface="Arial"/>
              </a:rPr>
              <a:t>el trusquín llega al límite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R4P actúa</a:t>
            </a:r>
          </a:p>
          <a:p>
            <a:pPr algn="l"/>
            <a:r>
              <a:rPr sz="950" b="0" i="0">
                <a:solidFill>
                  <a:srgbClr val="D6E0F0"/>
                </a:solidFill>
                <a:latin typeface="Arial"/>
              </a:rPr>
              <a:t>activa la corrección ODM</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Objetivo</a:t>
            </a:r>
          </a:p>
          <a:p>
            <a:pPr algn="l"/>
            <a:r>
              <a:rPr sz="950" b="0" i="0">
                <a:solidFill>
                  <a:srgbClr val="D6E0F0"/>
                </a:solidFill>
                <a:latin typeface="Arial"/>
              </a:rPr>
              <a:t>vuelve al valor teórico</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Sin corrección</a:t>
            </a:r>
          </a:p>
          <a:p>
            <a:pPr algn="l"/>
            <a:r>
              <a:rPr sz="950" b="0" i="0">
                <a:solidFill>
                  <a:srgbClr val="D6E0F0"/>
                </a:solidFill>
                <a:latin typeface="Arial"/>
              </a:rPr>
              <a:t>vuelve a derivar: la prueba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Lo que significa para cada neumático que reciben</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3960774" cy="16916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5268" y="1115568"/>
            <a:ext cx="3420668" cy="594360"/>
          </a:xfrm>
          <a:prstGeom prst="rect">
            <a:avLst/>
          </a:prstGeom>
          <a:noFill/>
        </p:spPr>
        <p:txBody>
          <a:bodyPr wrap="square" lIns="0" rIns="0" tIns="0" bIns="0" anchor="t">
            <a:spAutoFit/>
          </a:bodyPr>
          <a:lstStyle/>
          <a:p>
            <a:pPr algn="l"/>
            <a:r>
              <a:rPr sz="1600" b="1" i="0">
                <a:solidFill>
                  <a:srgbClr val="FCE500"/>
                </a:solidFill>
                <a:latin typeface="Michelin"/>
              </a:rPr>
              <a:t>Segundos, no horas</a:t>
            </a:r>
          </a:p>
        </p:txBody>
      </p:sp>
      <p:sp>
        <p:nvSpPr>
          <p:cNvPr id="15" name="TextBox 14"/>
          <p:cNvSpPr txBox="1"/>
          <p:nvPr/>
        </p:nvSpPr>
        <p:spPr>
          <a:xfrm>
            <a:off x="855268" y="1828800"/>
            <a:ext cx="3420668" cy="685800"/>
          </a:xfrm>
          <a:prstGeom prst="rect">
            <a:avLst/>
          </a:prstGeom>
          <a:noFill/>
        </p:spPr>
        <p:txBody>
          <a:bodyPr wrap="square" lIns="0" rIns="0" tIns="0" bIns="0" anchor="t">
            <a:spAutoFit/>
          </a:bodyPr>
          <a:lstStyle/>
          <a:p>
            <a:pPr algn="l"/>
            <a:r>
              <a:rPr sz="1150" b="0" i="0">
                <a:solidFill>
                  <a:srgbClr val="FFFFFF"/>
                </a:solidFill>
                <a:latin typeface="Arial"/>
              </a:rPr>
              <a:t>La corrección llega antes de que se fabrique un neumático defectuoso.</a:t>
            </a:r>
          </a:p>
        </p:txBody>
      </p:sp>
      <p:sp>
        <p:nvSpPr>
          <p:cNvPr id="16" name="Rectangle 15"/>
          <p:cNvSpPr/>
          <p:nvPr/>
        </p:nvSpPr>
        <p:spPr>
          <a:xfrm>
            <a:off x="4726025" y="914400"/>
            <a:ext cx="3960774" cy="16916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96078" y="1115568"/>
            <a:ext cx="3420668" cy="594360"/>
          </a:xfrm>
          <a:prstGeom prst="rect">
            <a:avLst/>
          </a:prstGeom>
          <a:noFill/>
        </p:spPr>
        <p:txBody>
          <a:bodyPr wrap="square" lIns="0" rIns="0" tIns="0" bIns="0" anchor="t">
            <a:spAutoFit/>
          </a:bodyPr>
          <a:lstStyle/>
          <a:p>
            <a:pPr algn="l"/>
            <a:r>
              <a:rPr sz="1600" b="1" i="0">
                <a:solidFill>
                  <a:srgbClr val="27509B"/>
                </a:solidFill>
                <a:latin typeface="Michelin"/>
              </a:rPr>
              <a:t>Igual a las 3:00 que a las 15:00</a:t>
            </a:r>
          </a:p>
        </p:txBody>
      </p:sp>
      <p:sp>
        <p:nvSpPr>
          <p:cNvPr id="18" name="TextBox 17"/>
          <p:cNvSpPr txBox="1"/>
          <p:nvPr/>
        </p:nvSpPr>
        <p:spPr>
          <a:xfrm>
            <a:off x="4996078" y="1828800"/>
            <a:ext cx="3420668" cy="685800"/>
          </a:xfrm>
          <a:prstGeom prst="rect">
            <a:avLst/>
          </a:prstGeom>
          <a:noFill/>
        </p:spPr>
        <p:txBody>
          <a:bodyPr wrap="square" lIns="0" rIns="0" tIns="0" bIns="0" anchor="t">
            <a:spAutoFit/>
          </a:bodyPr>
          <a:lstStyle/>
          <a:p>
            <a:pPr algn="l"/>
            <a:r>
              <a:rPr sz="1150" b="0" i="0">
                <a:solidFill>
                  <a:srgbClr val="00205B"/>
                </a:solidFill>
                <a:latin typeface="Arial"/>
              </a:rPr>
              <a:t>Las mismas reglas en todos los turnos: la calidad no depende del momento.</a:t>
            </a:r>
          </a:p>
        </p:txBody>
      </p:sp>
      <p:sp>
        <p:nvSpPr>
          <p:cNvPr id="19" name="Rectangle 18"/>
          <p:cNvSpPr/>
          <p:nvPr/>
        </p:nvSpPr>
        <p:spPr>
          <a:xfrm>
            <a:off x="585216" y="2743200"/>
            <a:ext cx="3960774" cy="16916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5268" y="2944368"/>
            <a:ext cx="3420668" cy="594360"/>
          </a:xfrm>
          <a:prstGeom prst="rect">
            <a:avLst/>
          </a:prstGeom>
          <a:noFill/>
        </p:spPr>
        <p:txBody>
          <a:bodyPr wrap="square" lIns="0" rIns="0" tIns="0" bIns="0" anchor="t">
            <a:spAutoFit/>
          </a:bodyPr>
          <a:lstStyle/>
          <a:p>
            <a:pPr algn="l"/>
            <a:r>
              <a:rPr sz="1600" b="1" i="0">
                <a:solidFill>
                  <a:srgbClr val="27509B"/>
                </a:solidFill>
                <a:latin typeface="Michelin"/>
              </a:rPr>
              <a:t>El conocimiento, convertido en reglas</a:t>
            </a:r>
          </a:p>
        </p:txBody>
      </p:sp>
      <p:sp>
        <p:nvSpPr>
          <p:cNvPr id="21" name="TextBox 20"/>
          <p:cNvSpPr txBox="1"/>
          <p:nvPr/>
        </p:nvSpPr>
        <p:spPr>
          <a:xfrm>
            <a:off x="855268" y="3657600"/>
            <a:ext cx="3420668" cy="685800"/>
          </a:xfrm>
          <a:prstGeom prst="rect">
            <a:avLst/>
          </a:prstGeom>
          <a:noFill/>
        </p:spPr>
        <p:txBody>
          <a:bodyPr wrap="square" lIns="0" rIns="0" tIns="0" bIns="0" anchor="t">
            <a:spAutoFit/>
          </a:bodyPr>
          <a:lstStyle/>
          <a:p>
            <a:pPr algn="l"/>
            <a:r>
              <a:rPr sz="1150" b="0" i="0">
                <a:solidFill>
                  <a:srgbClr val="00205B"/>
                </a:solidFill>
                <a:latin typeface="Arial"/>
              </a:rPr>
              <a:t>La experiencia de nuestros expertos se aplica en cada neumático, siempre.</a:t>
            </a:r>
          </a:p>
        </p:txBody>
      </p:sp>
      <p:sp>
        <p:nvSpPr>
          <p:cNvPr id="22" name="Rectangle 21"/>
          <p:cNvSpPr/>
          <p:nvPr/>
        </p:nvSpPr>
        <p:spPr>
          <a:xfrm>
            <a:off x="4726025" y="2743200"/>
            <a:ext cx="3960774" cy="16916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996078" y="2944368"/>
            <a:ext cx="3420668" cy="594360"/>
          </a:xfrm>
          <a:prstGeom prst="rect">
            <a:avLst/>
          </a:prstGeom>
          <a:noFill/>
        </p:spPr>
        <p:txBody>
          <a:bodyPr wrap="square" lIns="0" rIns="0" tIns="0" bIns="0" anchor="t">
            <a:spAutoFit/>
          </a:bodyPr>
          <a:lstStyle/>
          <a:p>
            <a:pPr algn="l"/>
            <a:r>
              <a:rPr sz="1600" b="1" i="0">
                <a:solidFill>
                  <a:srgbClr val="FCE500"/>
                </a:solidFill>
                <a:latin typeface="Michelin"/>
              </a:rPr>
              <a:t>Cada decisión, registrada</a:t>
            </a:r>
          </a:p>
        </p:txBody>
      </p:sp>
      <p:sp>
        <p:nvSpPr>
          <p:cNvPr id="24" name="TextBox 23"/>
          <p:cNvSpPr txBox="1"/>
          <p:nvPr/>
        </p:nvSpPr>
        <p:spPr>
          <a:xfrm>
            <a:off x="4996078" y="3657600"/>
            <a:ext cx="3420668" cy="685800"/>
          </a:xfrm>
          <a:prstGeom prst="rect">
            <a:avLst/>
          </a:prstGeom>
          <a:noFill/>
        </p:spPr>
        <p:txBody>
          <a:bodyPr wrap="square" lIns="0" rIns="0" tIns="0" bIns="0" anchor="t">
            <a:spAutoFit/>
          </a:bodyPr>
          <a:lstStyle/>
          <a:p>
            <a:pPr algn="l"/>
            <a:r>
              <a:rPr sz="1150" b="0" i="0">
                <a:solidFill>
                  <a:srgbClr val="FFFFFF"/>
                </a:solidFill>
                <a:latin typeface="Arial"/>
              </a:rPr>
              <a:t>Trazabilidad completa en PI System para analizar cualquier caso con datos.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04</a:t>
            </a:r>
          </a:p>
          <a:p>
            <a:r>
              <a:t>Anticipar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Analítica avanzada e inteligencia artificial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Analítica avanzada para entender cada problema de calidad</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0242"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01  Unir</a:t>
            </a:r>
          </a:p>
        </p:txBody>
      </p:sp>
      <p:sp>
        <p:nvSpPr>
          <p:cNvPr id="15" name="TextBox 14"/>
          <p:cNvSpPr txBox="1"/>
          <p:nvPr/>
        </p:nvSpPr>
        <p:spPr>
          <a:xfrm>
            <a:off x="720242"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Medidas PI, imágenes y resultados de calidad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9684"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02  Explorar</a:t>
            </a:r>
          </a:p>
        </p:txBody>
      </p:sp>
      <p:sp>
        <p:nvSpPr>
          <p:cNvPr id="18" name="TextBox 17"/>
          <p:cNvSpPr txBox="1"/>
          <p:nvPr/>
        </p:nvSpPr>
        <p:spPr>
          <a:xfrm>
            <a:off x="2772643"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Correlaciones entre parámetros, puestos y turnos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2085"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03  Descubrir</a:t>
            </a:r>
          </a:p>
        </p:txBody>
      </p:sp>
      <p:sp>
        <p:nvSpPr>
          <p:cNvPr id="21" name="TextBox 20"/>
          <p:cNvSpPr txBox="1"/>
          <p:nvPr/>
        </p:nvSpPr>
        <p:spPr>
          <a:xfrm>
            <a:off x="4825044"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Patrones que se repiten antes de una deriva</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4486"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04  Actuar</a:t>
            </a:r>
          </a:p>
        </p:txBody>
      </p:sp>
      <p:sp>
        <p:nvSpPr>
          <p:cNvPr id="24" name="TextBox 23"/>
          <p:cNvSpPr txBox="1"/>
          <p:nvPr/>
        </p:nvSpPr>
        <p:spPr>
          <a:xfrm>
            <a:off x="6877446"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Nuevas reglas, alertas y mejoras de proceso</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5268" y="2724912"/>
            <a:ext cx="2700528" cy="274320"/>
          </a:xfrm>
          <a:prstGeom prst="rect">
            <a:avLst/>
          </a:prstGeom>
          <a:noFill/>
        </p:spPr>
        <p:txBody>
          <a:bodyPr wrap="square" lIns="0" rIns="0" tIns="0" bIns="0" anchor="t">
            <a:spAutoFit/>
          </a:bodyPr>
          <a:lstStyle/>
          <a:p>
            <a:pPr algn="l"/>
            <a:r>
              <a:rPr sz="1000" b="1" i="0" cap="all">
                <a:solidFill>
                  <a:srgbClr val="27509B"/>
                </a:solidFill>
                <a:latin typeface="Michelin"/>
              </a:rPr>
              <a:t>Una pregunta típica</a:t>
            </a:r>
          </a:p>
        </p:txBody>
      </p:sp>
      <p:sp>
        <p:nvSpPr>
          <p:cNvPr id="27" name="TextBox 26"/>
          <p:cNvSpPr txBox="1"/>
          <p:nvPr/>
        </p:nvSpPr>
        <p:spPr>
          <a:xfrm>
            <a:off x="855268" y="3035808"/>
            <a:ext cx="3600703" cy="1280160"/>
          </a:xfrm>
          <a:prstGeom prst="rect">
            <a:avLst/>
          </a:prstGeom>
          <a:noFill/>
        </p:spPr>
        <p:txBody>
          <a:bodyPr wrap="square" lIns="0" rIns="0" tIns="0" bIns="0" anchor="t">
            <a:spAutoFit/>
          </a:bodyPr>
          <a:lstStyle/>
          <a:p>
            <a:pPr algn="l"/>
            <a:r>
              <a:rPr sz="1500" b="1" i="0">
                <a:solidFill>
                  <a:srgbClr val="00205B"/>
                </a:solidFill>
                <a:latin typeface="Michelin"/>
              </a:rPr>
              <a:t>«¿Qué tienen en común los neumáticos en los que la soldadura empezó a derivar?»</a:t>
            </a:r>
          </a:p>
        </p:txBody>
      </p:sp>
      <p:sp>
        <p:nvSpPr>
          <p:cNvPr id="28" name="TextBox 27"/>
          <p:cNvSpPr txBox="1"/>
          <p:nvPr/>
        </p:nvSpPr>
        <p:spPr>
          <a:xfrm>
            <a:off x="4816043" y="2724912"/>
            <a:ext cx="3600703" cy="274320"/>
          </a:xfrm>
          <a:prstGeom prst="rect">
            <a:avLst/>
          </a:prstGeom>
          <a:noFill/>
        </p:spPr>
        <p:txBody>
          <a:bodyPr wrap="square" lIns="0" rIns="0" tIns="0" bIns="0" anchor="t">
            <a:spAutoFit/>
          </a:bodyPr>
          <a:lstStyle/>
          <a:p>
            <a:pPr algn="l"/>
            <a:r>
              <a:rPr sz="1000" b="1" i="0" cap="all">
                <a:solidFill>
                  <a:srgbClr val="27509B"/>
                </a:solidFill>
                <a:latin typeface="Michelin"/>
              </a:rPr>
              <a:t>Lo que responde Dataiku</a:t>
            </a:r>
          </a:p>
        </p:txBody>
      </p:sp>
      <p:sp>
        <p:nvSpPr>
          <p:cNvPr id="29" name="TextBox 28"/>
          <p:cNvSpPr txBox="1"/>
          <p:nvPr/>
        </p:nvSpPr>
        <p:spPr>
          <a:xfrm>
            <a:off x="4816043" y="3035808"/>
            <a:ext cx="3690721"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100" b="0" i="0">
                <a:solidFill>
                  <a:srgbClr val="262626"/>
                </a:solidFill>
                <a:latin typeface="Arial"/>
              </a:rPr>
              <a:t>Qué parámetros se movieron antes</a:t>
            </a:r>
          </a:p>
          <a:p>
            <a:pPr algn="l" marL="182880" indent="-182880">
              <a:spcAft>
                <a:spcPts val="400"/>
              </a:spcAft>
              <a:buClr>
                <a:srgbClr val="FCE500"/>
              </a:buClr>
              <a:buSzPct val="100000"/>
              <a:buFont typeface="Wingdings"/>
              <a:buChar char="§"/>
            </a:pPr>
            <a:r>
              <a:rPr sz="1100" b="0" i="0">
                <a:solidFill>
                  <a:srgbClr val="262626"/>
                </a:solidFill>
                <a:latin typeface="Arial"/>
              </a:rPr>
              <a:t>En qué puestos, turnos o lotes se concentra</a:t>
            </a:r>
          </a:p>
          <a:p>
            <a:pPr algn="l" marL="182880" indent="-182880">
              <a:spcAft>
                <a:spcPts val="400"/>
              </a:spcAft>
              <a:buClr>
                <a:srgbClr val="FCE500"/>
              </a:buClr>
              <a:buSzPct val="100000"/>
              <a:buFont typeface="Wingdings"/>
              <a:buChar char="§"/>
            </a:pPr>
            <a:r>
              <a:rPr sz="1100" b="0" i="0">
                <a:solidFill>
                  <a:srgbClr val="262626"/>
                </a:solidFill>
                <a:latin typeface="Arial"/>
              </a:rPr>
              <a:t>Qué regla nueva lo habría evitado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IA sobre nuestras imágenes láser</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En estudio: qué puede aportar la IA a imágenes que ya generamos</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ANTICIPAR</a:t>
            </a:r>
          </a:p>
        </p:txBody>
      </p:sp>
      <p:sp>
        <p:nvSpPr>
          <p:cNvPr id="13" name="Rectangle 12"/>
          <p:cNvSpPr/>
          <p:nvPr/>
        </p:nvSpPr>
        <p:spPr>
          <a:xfrm>
            <a:off x="457200" y="1005840"/>
            <a:ext cx="3017520" cy="233172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i_rule.jpg"/>
          <p:cNvPicPr>
            <a:picLocks noChangeAspect="1"/>
          </p:cNvPicPr>
          <p:nvPr/>
        </p:nvPicPr>
        <p:blipFill>
          <a:blip r:embed="rId3"/>
          <a:stretch>
            <a:fillRect/>
          </a:stretch>
        </p:blipFill>
        <p:spPr>
          <a:xfrm>
            <a:off x="502920" y="1244421"/>
            <a:ext cx="2926080" cy="1854557"/>
          </a:xfrm>
          <a:prstGeom prst="rect">
            <a:avLst/>
          </a:prstGeom>
        </p:spPr>
      </p:pic>
      <p:sp>
        <p:nvSpPr>
          <p:cNvPr id="15" name="TextBox 14"/>
          <p:cNvSpPr txBox="1"/>
          <p:nvPr/>
        </p:nvSpPr>
        <p:spPr>
          <a:xfrm>
            <a:off x="457200" y="3429000"/>
            <a:ext cx="3017520" cy="274320"/>
          </a:xfrm>
          <a:prstGeom prst="rect">
            <a:avLst/>
          </a:prstGeom>
          <a:noFill/>
        </p:spPr>
        <p:txBody>
          <a:bodyPr wrap="square" lIns="0" rIns="0" tIns="0" bIns="0" anchor="t">
            <a:spAutoFit/>
          </a:bodyPr>
          <a:lstStyle/>
          <a:p>
            <a:pPr algn="l"/>
            <a:r>
              <a:rPr sz="1100" b="1" i="0">
                <a:solidFill>
                  <a:srgbClr val="FCE500"/>
                </a:solidFill>
                <a:latin typeface="Michelin"/>
              </a:rPr>
              <a:t>HOY · REGLAS</a:t>
            </a:r>
          </a:p>
        </p:txBody>
      </p:sp>
      <p:sp>
        <p:nvSpPr>
          <p:cNvPr id="16" name="TextBox 15"/>
          <p:cNvSpPr txBox="1"/>
          <p:nvPr/>
        </p:nvSpPr>
        <p:spPr>
          <a:xfrm>
            <a:off x="457200" y="3703320"/>
            <a:ext cx="3017520" cy="502920"/>
          </a:xfrm>
          <a:prstGeom prst="rect">
            <a:avLst/>
          </a:prstGeom>
          <a:noFill/>
        </p:spPr>
        <p:txBody>
          <a:bodyPr wrap="square" lIns="0" rIns="0" tIns="0" bIns="0" anchor="t">
            <a:spAutoFit/>
          </a:bodyPr>
          <a:lstStyle/>
          <a:p>
            <a:pPr algn="l"/>
            <a:r>
              <a:rPr sz="1000" b="0" i="0">
                <a:solidFill>
                  <a:srgbClr val="FFFFFF"/>
                </a:solidFill>
                <a:latin typeface="Arial"/>
              </a:rPr>
              <a:t>El sistema mide lo que le hemos definido: cotas y tolerancias sobre la imagen.</a:t>
            </a:r>
          </a:p>
        </p:txBody>
      </p:sp>
      <p:sp>
        <p:nvSpPr>
          <p:cNvPr id="17" name="TextBox 16"/>
          <p:cNvSpPr txBox="1"/>
          <p:nvPr/>
        </p:nvSpPr>
        <p:spPr>
          <a:xfrm>
            <a:off x="3794760" y="960120"/>
            <a:ext cx="3566160" cy="274320"/>
          </a:xfrm>
          <a:prstGeom prst="rect">
            <a:avLst/>
          </a:prstGeom>
          <a:noFill/>
        </p:spPr>
        <p:txBody>
          <a:bodyPr wrap="square" lIns="0" rIns="0" tIns="0" bIns="0" anchor="t">
            <a:spAutoFit/>
          </a:bodyPr>
          <a:lstStyle/>
          <a:p>
            <a:pPr algn="l"/>
            <a:r>
              <a:rPr sz="1100" b="1" i="0">
                <a:solidFill>
                  <a:srgbClr val="FCE500"/>
                </a:solidFill>
                <a:latin typeface="Michelin"/>
              </a:rPr>
              <a:t>MAÑANA · CON IA</a:t>
            </a:r>
          </a:p>
        </p:txBody>
      </p:sp>
      <p:sp>
        <p:nvSpPr>
          <p:cNvPr id="18" name="TextBox 17"/>
          <p:cNvSpPr txBox="1"/>
          <p:nvPr/>
        </p:nvSpPr>
        <p:spPr>
          <a:xfrm>
            <a:off x="3794760" y="1280160"/>
            <a:ext cx="365760" cy="365760"/>
          </a:xfrm>
          <a:prstGeom prst="rect">
            <a:avLst/>
          </a:prstGeom>
          <a:noFill/>
        </p:spPr>
        <p:txBody>
          <a:bodyPr wrap="square" lIns="0" rIns="0" tIns="0" bIns="0" anchor="t">
            <a:spAutoFit/>
          </a:bodyPr>
          <a:lstStyle/>
          <a:p>
            <a:pPr algn="l"/>
            <a:r>
              <a:rPr sz="1400" b="1" i="0">
                <a:solidFill>
                  <a:srgbClr val="FCE500"/>
                </a:solidFill>
                <a:latin typeface="Michelin"/>
              </a:rPr>
              <a:t>01</a:t>
            </a:r>
          </a:p>
        </p:txBody>
      </p:sp>
      <p:sp>
        <p:nvSpPr>
          <p:cNvPr id="19" name="TextBox 18"/>
          <p:cNvSpPr txBox="1"/>
          <p:nvPr/>
        </p:nvSpPr>
        <p:spPr>
          <a:xfrm>
            <a:off x="4206240" y="1280160"/>
            <a:ext cx="3200400" cy="731520"/>
          </a:xfrm>
          <a:prstGeom prst="rect">
            <a:avLst/>
          </a:prstGeom>
          <a:noFill/>
        </p:spPr>
        <p:txBody>
          <a:bodyPr wrap="square" lIns="0" rIns="0" tIns="0" bIns="0" anchor="t">
            <a:spAutoFit/>
          </a:bodyPr>
          <a:lstStyle/>
          <a:p>
            <a:pPr algn="l"/>
            <a:r>
              <a:rPr sz="1100" b="1" i="0">
                <a:solidFill>
                  <a:srgbClr val="FFFFFF"/>
                </a:solidFill>
                <a:latin typeface="Arial"/>
              </a:rPr>
              <a:t>Detectar lo imprevisto</a:t>
            </a:r>
          </a:p>
          <a:p>
            <a:pPr algn="l"/>
            <a:r>
              <a:rPr sz="950" b="0" i="0">
                <a:solidFill>
                  <a:srgbClr val="D6E0F0"/>
                </a:solidFill>
                <a:latin typeface="Arial"/>
              </a:rPr>
              <a:t>Aprende cómo es una imagen correcta y señala lo que se sale de lo normal, aunque no exista una regla.</a:t>
            </a:r>
          </a:p>
        </p:txBody>
      </p:sp>
      <p:sp>
        <p:nvSpPr>
          <p:cNvPr id="20" name="TextBox 19"/>
          <p:cNvSpPr txBox="1"/>
          <p:nvPr/>
        </p:nvSpPr>
        <p:spPr>
          <a:xfrm>
            <a:off x="3794760" y="2057400"/>
            <a:ext cx="365760" cy="365760"/>
          </a:xfrm>
          <a:prstGeom prst="rect">
            <a:avLst/>
          </a:prstGeom>
          <a:noFill/>
        </p:spPr>
        <p:txBody>
          <a:bodyPr wrap="square" lIns="0" rIns="0" tIns="0" bIns="0" anchor="t">
            <a:spAutoFit/>
          </a:bodyPr>
          <a:lstStyle/>
          <a:p>
            <a:pPr algn="l"/>
            <a:r>
              <a:rPr sz="1400" b="1" i="0">
                <a:solidFill>
                  <a:srgbClr val="FCE500"/>
                </a:solidFill>
                <a:latin typeface="Michelin"/>
              </a:rPr>
              <a:t>02</a:t>
            </a:r>
          </a:p>
        </p:txBody>
      </p:sp>
      <p:sp>
        <p:nvSpPr>
          <p:cNvPr id="21" name="TextBox 20"/>
          <p:cNvSpPr txBox="1"/>
          <p:nvPr/>
        </p:nvSpPr>
        <p:spPr>
          <a:xfrm>
            <a:off x="4206240" y="2057400"/>
            <a:ext cx="3200400" cy="731520"/>
          </a:xfrm>
          <a:prstGeom prst="rect">
            <a:avLst/>
          </a:prstGeom>
          <a:noFill/>
        </p:spPr>
        <p:txBody>
          <a:bodyPr wrap="square" lIns="0" rIns="0" tIns="0" bIns="0" anchor="t">
            <a:spAutoFit/>
          </a:bodyPr>
          <a:lstStyle/>
          <a:p>
            <a:pPr algn="l"/>
            <a:r>
              <a:rPr sz="1100" b="1" i="0">
                <a:solidFill>
                  <a:srgbClr val="FFFFFF"/>
                </a:solidFill>
                <a:latin typeface="Arial"/>
              </a:rPr>
              <a:t>Medidas más robustas</a:t>
            </a:r>
          </a:p>
          <a:p>
            <a:pPr algn="l"/>
            <a:r>
              <a:rPr sz="950" b="0" i="0">
                <a:solidFill>
                  <a:srgbClr val="D6E0F0"/>
                </a:solidFill>
                <a:latin typeface="Arial"/>
              </a:rPr>
              <a:t>Localiza bordes y soldaduras pese a cambios de textura o contraste: menos lecturas erróneas y falsas alertas.</a:t>
            </a:r>
          </a:p>
        </p:txBody>
      </p:sp>
      <p:sp>
        <p:nvSpPr>
          <p:cNvPr id="22" name="TextBox 21"/>
          <p:cNvSpPr txBox="1"/>
          <p:nvPr/>
        </p:nvSpPr>
        <p:spPr>
          <a:xfrm>
            <a:off x="3794760" y="2834639"/>
            <a:ext cx="365760" cy="365760"/>
          </a:xfrm>
          <a:prstGeom prst="rect">
            <a:avLst/>
          </a:prstGeom>
          <a:noFill/>
        </p:spPr>
        <p:txBody>
          <a:bodyPr wrap="square" lIns="0" rIns="0" tIns="0" bIns="0" anchor="t">
            <a:spAutoFit/>
          </a:bodyPr>
          <a:lstStyle/>
          <a:p>
            <a:pPr algn="l"/>
            <a:r>
              <a:rPr sz="1400" b="1" i="0">
                <a:solidFill>
                  <a:srgbClr val="FCE500"/>
                </a:solidFill>
                <a:latin typeface="Michelin"/>
              </a:rPr>
              <a:t>03</a:t>
            </a:r>
          </a:p>
        </p:txBody>
      </p:sp>
      <p:sp>
        <p:nvSpPr>
          <p:cNvPr id="23" name="TextBox 22"/>
          <p:cNvSpPr txBox="1"/>
          <p:nvPr/>
        </p:nvSpPr>
        <p:spPr>
          <a:xfrm>
            <a:off x="4206240" y="2834639"/>
            <a:ext cx="3200400" cy="731520"/>
          </a:xfrm>
          <a:prstGeom prst="rect">
            <a:avLst/>
          </a:prstGeom>
          <a:noFill/>
        </p:spPr>
        <p:txBody>
          <a:bodyPr wrap="square" lIns="0" rIns="0" tIns="0" bIns="0" anchor="t">
            <a:spAutoFit/>
          </a:bodyPr>
          <a:lstStyle/>
          <a:p>
            <a:pPr algn="l"/>
            <a:r>
              <a:rPr sz="1100" b="1" i="0">
                <a:solidFill>
                  <a:srgbClr val="FFFFFF"/>
                </a:solidFill>
                <a:latin typeface="Arial"/>
              </a:rPr>
              <a:t>Clasificar y explicar</a:t>
            </a:r>
          </a:p>
          <a:p>
            <a:pPr algn="l"/>
            <a:r>
              <a:rPr sz="950" b="0" i="0">
                <a:solidFill>
                  <a:srgbClr val="D6E0F0"/>
                </a:solidFill>
                <a:latin typeface="Arial"/>
              </a:rPr>
              <a:t>Etiqueta el tipo de anomalía para cruzarlo con el proceso en Dataiku y con el IQF.</a:t>
            </a:r>
          </a:p>
        </p:txBody>
      </p:sp>
      <p:sp>
        <p:nvSpPr>
          <p:cNvPr id="24" name="Rectangle 23"/>
          <p:cNvSpPr/>
          <p:nvPr/>
        </p:nvSpPr>
        <p:spPr>
          <a:xfrm>
            <a:off x="457200" y="4224528"/>
            <a:ext cx="6903720" cy="34747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224528"/>
            <a:ext cx="6675120" cy="347472"/>
          </a:xfrm>
          <a:prstGeom prst="rect">
            <a:avLst/>
          </a:prstGeom>
          <a:noFill/>
        </p:spPr>
        <p:txBody>
          <a:bodyPr wrap="square" lIns="0" rIns="0" tIns="0" bIns="0" anchor="ctr">
            <a:spAutoFit/>
          </a:bodyPr>
          <a:lstStyle/>
          <a:p>
            <a:pPr algn="l"/>
            <a:r>
              <a:rPr sz="1000" b="1" i="0">
                <a:solidFill>
                  <a:srgbClr val="FCE500"/>
                </a:solidFill>
                <a:latin typeface="Arial"/>
              </a:rPr>
              <a:t>La base ya existe: </a:t>
            </a:r>
            <a:r>
              <a:rPr sz="1000" b="0" i="0">
                <a:solidFill>
                  <a:srgbClr val="FFFFFF"/>
                </a:solidFill>
                <a:latin typeface="Arial"/>
              </a:rPr>
              <a:t>miles de imágenes reales archivadas en PI, asociadas a sus medidas y alertas.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Cada vuelta del ciclo nos hace un poco mejores</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87529" y="2130552"/>
            <a:ext cx="1116218"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95550" y="1060704"/>
            <a:ext cx="900175" cy="365760"/>
          </a:xfrm>
          <a:prstGeom prst="rect">
            <a:avLst/>
          </a:prstGeom>
          <a:noFill/>
        </p:spPr>
        <p:txBody>
          <a:bodyPr wrap="square" lIns="0" rIns="0" t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rIns="0" tIns="0" bIns="0" anchor="t">
            <a:spAutoFit/>
          </a:bodyPr>
          <a:lstStyle/>
          <a:p>
            <a:pPr algn="ctr"/>
            <a:r>
              <a:rPr sz="850" b="1" i="0">
                <a:solidFill>
                  <a:srgbClr val="FFFFFF"/>
                </a:solidFill>
                <a:latin typeface="Michelin"/>
              </a:rPr>
              <a:t>VER</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080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ENTENDER</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95550" y="3712464"/>
            <a:ext cx="900175" cy="365760"/>
          </a:xfrm>
          <a:prstGeom prst="rect">
            <a:avLst/>
          </a:prstGeom>
          <a:noFill/>
        </p:spPr>
        <p:txBody>
          <a:bodyPr wrap="square" lIns="0" rIns="0" t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rIns="0" tIns="0" bIns="0" anchor="t">
            <a:spAutoFit/>
          </a:bodyPr>
          <a:lstStyle/>
          <a:p>
            <a:pPr algn="ctr"/>
            <a:r>
              <a:rPr sz="850" b="1" i="0">
                <a:solidFill>
                  <a:srgbClr val="FFFFFF"/>
                </a:solidFill>
                <a:latin typeface="Michelin"/>
              </a:rPr>
              <a:t>DECIDIR</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029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ANTICIPAR</a:t>
            </a:r>
          </a:p>
        </p:txBody>
      </p:sp>
      <p:sp>
        <p:nvSpPr>
          <p:cNvPr id="28" name="TextBox 27"/>
          <p:cNvSpPr txBox="1"/>
          <p:nvPr/>
        </p:nvSpPr>
        <p:spPr>
          <a:xfrm>
            <a:off x="4906060" y="960120"/>
            <a:ext cx="3780739" cy="777240"/>
          </a:xfrm>
          <a:prstGeom prst="rect">
            <a:avLst/>
          </a:prstGeom>
          <a:noFill/>
        </p:spPr>
        <p:txBody>
          <a:bodyPr wrap="square" lIns="0" rIns="0" tIns="0" bIns="0" anchor="t">
            <a:spAutoFit/>
          </a:bodyPr>
          <a:lstStyle/>
          <a:p>
            <a:pPr algn="l"/>
            <a:r>
              <a:rPr sz="1400" b="1" i="0">
                <a:solidFill>
                  <a:srgbClr val="00205B"/>
                </a:solidFill>
                <a:latin typeface="Michelin"/>
              </a:rPr>
              <a:t>Medimos</a:t>
            </a:r>
          </a:p>
          <a:p>
            <a:pPr algn="l"/>
            <a:r>
              <a:rPr sz="1100" b="0" i="0">
                <a:solidFill>
                  <a:srgbClr val="262626"/>
                </a:solidFill>
                <a:latin typeface="Arial"/>
              </a:rPr>
              <a:t>cada neumático con láser 3D</a:t>
            </a:r>
          </a:p>
        </p:txBody>
      </p:sp>
      <p:sp>
        <p:nvSpPr>
          <p:cNvPr id="29" name="TextBox 28"/>
          <p:cNvSpPr txBox="1"/>
          <p:nvPr/>
        </p:nvSpPr>
        <p:spPr>
          <a:xfrm>
            <a:off x="4906060" y="1828800"/>
            <a:ext cx="3780739" cy="777240"/>
          </a:xfrm>
          <a:prstGeom prst="rect">
            <a:avLst/>
          </a:prstGeom>
          <a:noFill/>
        </p:spPr>
        <p:txBody>
          <a:bodyPr wrap="square" lIns="0" rIns="0" tIns="0" bIns="0" anchor="t">
            <a:spAutoFit/>
          </a:bodyPr>
          <a:lstStyle/>
          <a:p>
            <a:pPr algn="l"/>
            <a:r>
              <a:rPr sz="1400" b="1" i="0">
                <a:solidFill>
                  <a:srgbClr val="00205B"/>
                </a:solidFill>
                <a:latin typeface="Michelin"/>
              </a:rPr>
              <a:t>Comprendemos</a:t>
            </a:r>
          </a:p>
          <a:p>
            <a:pPr algn="l"/>
            <a:r>
              <a:rPr sz="1100" b="0" i="0">
                <a:solidFill>
                  <a:srgbClr val="262626"/>
                </a:solidFill>
                <a:latin typeface="Arial"/>
              </a:rPr>
              <a:t>tendencias y alertas en tiempo real</a:t>
            </a:r>
          </a:p>
        </p:txBody>
      </p:sp>
      <p:sp>
        <p:nvSpPr>
          <p:cNvPr id="30" name="TextBox 29"/>
          <p:cNvSpPr txBox="1"/>
          <p:nvPr/>
        </p:nvSpPr>
        <p:spPr>
          <a:xfrm>
            <a:off x="4906060" y="2697480"/>
            <a:ext cx="3780739" cy="777240"/>
          </a:xfrm>
          <a:prstGeom prst="rect">
            <a:avLst/>
          </a:prstGeom>
          <a:noFill/>
        </p:spPr>
        <p:txBody>
          <a:bodyPr wrap="square" lIns="0" rIns="0" tIns="0" bIns="0" anchor="t">
            <a:spAutoFit/>
          </a:bodyPr>
          <a:lstStyle/>
          <a:p>
            <a:pPr algn="l"/>
            <a:r>
              <a:rPr sz="1400" b="1" i="0">
                <a:solidFill>
                  <a:srgbClr val="00205B"/>
                </a:solidFill>
                <a:latin typeface="Michelin"/>
              </a:rPr>
              <a:t>Corregimos</a:t>
            </a:r>
          </a:p>
          <a:p>
            <a:pPr algn="l"/>
            <a:r>
              <a:rPr sz="1100" b="0" i="0">
                <a:solidFill>
                  <a:srgbClr val="262626"/>
                </a:solidFill>
                <a:latin typeface="Arial"/>
              </a:rPr>
              <a:t>automáticamente con R4P</a:t>
            </a:r>
          </a:p>
        </p:txBody>
      </p:sp>
      <p:sp>
        <p:nvSpPr>
          <p:cNvPr id="31" name="TextBox 30"/>
          <p:cNvSpPr txBox="1"/>
          <p:nvPr/>
        </p:nvSpPr>
        <p:spPr>
          <a:xfrm>
            <a:off x="4906060" y="3566159"/>
            <a:ext cx="3780739" cy="777240"/>
          </a:xfrm>
          <a:prstGeom prst="rect">
            <a:avLst/>
          </a:prstGeom>
          <a:noFill/>
        </p:spPr>
        <p:txBody>
          <a:bodyPr wrap="square" lIns="0" rIns="0" tIns="0" bIns="0" anchor="t">
            <a:spAutoFit/>
          </a:bodyPr>
          <a:lstStyle/>
          <a:p>
            <a:pPr algn="l"/>
            <a:r>
              <a:rPr sz="1400" b="1" i="0">
                <a:solidFill>
                  <a:srgbClr val="00205B"/>
                </a:solidFill>
                <a:latin typeface="Michelin"/>
              </a:rPr>
              <a:t>Aprendemos</a:t>
            </a:r>
          </a:p>
          <a:p>
            <a:pPr algn="l"/>
            <a:r>
              <a:rPr sz="1100" b="0" i="0">
                <a:solidFill>
                  <a:srgbClr val="262626"/>
                </a:solidFill>
                <a:latin typeface="Arial"/>
              </a:rPr>
              <a:t>patrones con Dataiku e 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El mismo dato, convertido en acción en cada nivel</a:t>
            </a:r>
          </a:p>
        </p:txBody>
      </p:sp>
      <p:sp>
        <p:nvSpPr>
          <p:cNvPr id="5" name="Rectangle 4"/>
          <p:cNvSpPr/>
          <p:nvPr/>
        </p:nvSpPr>
        <p:spPr>
          <a:xfrm>
            <a:off x="585216"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3"/>
          <a:stretch>
            <a:fillRect/>
          </a:stretch>
        </p:blipFill>
        <p:spPr>
          <a:xfrm>
            <a:off x="675233" y="1598753"/>
            <a:ext cx="2385466" cy="1228189"/>
          </a:xfrm>
          <a:prstGeom prst="rect">
            <a:avLst/>
          </a:prstGeom>
        </p:spPr>
      </p:pic>
      <p:sp>
        <p:nvSpPr>
          <p:cNvPr id="7" name="TextBox 6"/>
          <p:cNvSpPr txBox="1"/>
          <p:nvPr/>
        </p:nvSpPr>
        <p:spPr>
          <a:xfrm>
            <a:off x="585216"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Operario</a:t>
            </a:r>
          </a:p>
        </p:txBody>
      </p:sp>
      <p:sp>
        <p:nvSpPr>
          <p:cNvPr id="8" name="TextBox 7"/>
          <p:cNvSpPr txBox="1"/>
          <p:nvPr/>
        </p:nvSpPr>
        <p:spPr>
          <a:xfrm>
            <a:off x="585216"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Ve el estado de su puesto en tiempo real.</a:t>
            </a:r>
          </a:p>
        </p:txBody>
      </p:sp>
      <p:sp>
        <p:nvSpPr>
          <p:cNvPr id="9" name="Rectangle 8"/>
          <p:cNvSpPr/>
          <p:nvPr/>
        </p:nvSpPr>
        <p:spPr>
          <a:xfrm>
            <a:off x="3353257"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lertmob.png"/>
          <p:cNvPicPr>
            <a:picLocks noChangeAspect="1"/>
          </p:cNvPicPr>
          <p:nvPr/>
        </p:nvPicPr>
        <p:blipFill>
          <a:blip r:embed="rId4"/>
          <a:stretch>
            <a:fillRect/>
          </a:stretch>
        </p:blipFill>
        <p:spPr>
          <a:xfrm>
            <a:off x="3443274" y="1325990"/>
            <a:ext cx="2385466" cy="1773715"/>
          </a:xfrm>
          <a:prstGeom prst="rect">
            <a:avLst/>
          </a:prstGeom>
        </p:spPr>
      </p:pic>
      <p:sp>
        <p:nvSpPr>
          <p:cNvPr id="11" name="TextBox 10"/>
          <p:cNvSpPr txBox="1"/>
          <p:nvPr/>
        </p:nvSpPr>
        <p:spPr>
          <a:xfrm>
            <a:off x="3353257"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Proceso y mantenimiento</a:t>
            </a:r>
          </a:p>
        </p:txBody>
      </p:sp>
      <p:sp>
        <p:nvSpPr>
          <p:cNvPr id="12" name="TextBox 11"/>
          <p:cNvSpPr txBox="1"/>
          <p:nvPr/>
        </p:nvSpPr>
        <p:spPr>
          <a:xfrm>
            <a:off x="3353257"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Reciben la alerta y actúan sobre la máquina.</a:t>
            </a:r>
          </a:p>
        </p:txBody>
      </p:sp>
      <p:sp>
        <p:nvSpPr>
          <p:cNvPr id="13" name="Rectangle 12"/>
          <p:cNvSpPr/>
          <p:nvPr/>
        </p:nvSpPr>
        <p:spPr>
          <a:xfrm>
            <a:off x="6121298"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xpl.jpg"/>
          <p:cNvPicPr>
            <a:picLocks noChangeAspect="1"/>
          </p:cNvPicPr>
          <p:nvPr/>
        </p:nvPicPr>
        <p:blipFill>
          <a:blip r:embed="rId5"/>
          <a:stretch>
            <a:fillRect/>
          </a:stretch>
        </p:blipFill>
        <p:spPr>
          <a:xfrm>
            <a:off x="6211315" y="1628385"/>
            <a:ext cx="2385466" cy="1168924"/>
          </a:xfrm>
          <a:prstGeom prst="rect">
            <a:avLst/>
          </a:prstGeom>
        </p:spPr>
      </p:pic>
      <p:sp>
        <p:nvSpPr>
          <p:cNvPr id="15" name="TextBox 14"/>
          <p:cNvSpPr txBox="1"/>
          <p:nvPr/>
        </p:nvSpPr>
        <p:spPr>
          <a:xfrm>
            <a:off x="6121298"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Ingeniería y calidad</a:t>
            </a:r>
          </a:p>
        </p:txBody>
      </p:sp>
      <p:sp>
        <p:nvSpPr>
          <p:cNvPr id="16" name="TextBox 15"/>
          <p:cNvSpPr txBox="1"/>
          <p:nvPr/>
        </p:nvSpPr>
        <p:spPr>
          <a:xfrm>
            <a:off x="6121298"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Analizan tendencias y mejoran reglas e IQF.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Cada neumático: visto, entendido, decidido y cada día mejor</a:t>
            </a:r>
          </a:p>
        </p:txBody>
      </p:sp>
      <p:sp>
        <p:nvSpPr>
          <p:cNvPr id="3" name="TextBox 2"/>
          <p:cNvSpPr txBox="1"/>
          <p:nvPr/>
        </p:nvSpPr>
        <p:spPr>
          <a:xfrm>
            <a:off x="530352" y="3840480"/>
            <a:ext cx="6400800" cy="365760"/>
          </a:xfrm>
          <a:prstGeom prst="rect">
            <a:avLst/>
          </a:prstGeom>
          <a:noFill/>
        </p:spPr>
        <p:txBody>
          <a:bodyPr wrap="square" lIns="0" rIns="0" tIns="0" bIns="0" anchor="t">
            <a:spAutoFit/>
          </a:bodyPr>
          <a:lstStyle/>
          <a:p>
            <a:pPr algn="l"/>
            <a:r>
              <a:rPr sz="1600" b="1" i="0">
                <a:solidFill>
                  <a:srgbClr val="FCE500"/>
                </a:solidFill>
                <a:latin typeface="Michelin"/>
              </a:rPr>
              <a:t>Ver  ·  Entender  ·  Decidir  ·  Anticipar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094B55E-88C1-4C38-974C-5A1CAEEDB192}">
  <ds:schemaRefs>
    <ds:schemaRef ds:uri="http://schemas.microsoft.com/sharepoint/v3/contenttype/forms"/>
  </ds:schemaRefs>
</ds:datastoreItem>
</file>

<file path=customXml/itemProps3.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178</Words>
  <Application>Microsoft Office PowerPoint</Application>
  <PresentationFormat>Personalizado</PresentationFormat>
  <Paragraphs>70</Paragraphs>
  <Slides>29</Slides>
  <Notes>16</Notes>
  <HiddenSlides>2</HiddenSlides>
  <MMClips>0</MMClips>
  <ScaleCrop>false</ScaleCrop>
  <HeadingPairs>
    <vt:vector size="6" baseType="variant">
      <vt:variant>
        <vt:lpstr>Fuentes usadas</vt:lpstr>
      </vt:variant>
      <vt:variant>
        <vt:i4>11</vt:i4>
      </vt:variant>
      <vt:variant>
        <vt:lpstr>Tema</vt:lpstr>
      </vt:variant>
      <vt:variant>
        <vt:i4>3</vt:i4>
      </vt:variant>
      <vt:variant>
        <vt:lpstr>Títulos de diapositiva</vt:lpstr>
      </vt:variant>
      <vt:variant>
        <vt:i4>29</vt:i4>
      </vt:variant>
    </vt:vector>
  </HeadingPairs>
  <TitlesOfParts>
    <vt:vector size="43" baseType="lpstr">
      <vt:lpstr>Aptos</vt:lpstr>
      <vt:lpstr>Arial</vt:lpstr>
      <vt:lpstr>Arial Black</vt:lpstr>
      <vt:lpstr>Calibri</vt:lpstr>
      <vt:lpstr>Lucida Grande</vt:lpstr>
      <vt:lpstr>Michelin</vt:lpstr>
      <vt:lpstr>Michelin Black</vt:lpstr>
      <vt:lpstr>Michelin Light</vt:lpstr>
      <vt:lpstr>Michelin SemiBold</vt:lpstr>
      <vt:lpstr>Wingdings</vt:lpstr>
      <vt:lpstr>Wingdings 3</vt:lpstr>
      <vt:lpstr>2_Thème Office</vt:lpstr>
      <vt:lpstr>1_Thème Office</vt:lpstr>
      <vt:lpstr>3_Thème Office</vt:lpstr>
      <vt:lpstr>OLM MAC &amp; BNS Visite Reseau Unif + MTP</vt:lpstr>
      <vt:lpstr>OLM</vt:lpstr>
      <vt:lpstr>Gocator technical information</vt:lpstr>
      <vt:lpstr>Mac5 : architecture</vt:lpstr>
      <vt:lpstr>MAC  RFI &amp; GI</vt:lpstr>
      <vt:lpstr>MAC  BT</vt:lpstr>
      <vt:lpstr>P15 BJ</vt:lpstr>
      <vt:lpstr>Mac : measurments</vt:lpstr>
      <vt:lpstr>Ihm interface</vt:lpstr>
      <vt:lpstr>OLM screens</vt:lpstr>
      <vt:lpstr>Panel general OsiSoft: Detalle medidas</vt:lpstr>
      <vt:lpstr>Panel general OsiSoft: Detalle medidas</vt:lpstr>
      <vt:lpstr>Pi visión.</vt:lpstr>
      <vt:lpstr>Pi visión.</vt:lpstr>
      <vt:lpstr>Alert.</vt:lpstr>
      <vt:lpstr>MAC : explotation</vt:lpstr>
      <vt:lpstr>R4p – Moteur de règles</vt:lpstr>
      <vt:lpstr>r4p</vt:lpstr>
      <vt:lpstr>Explication</vt:lpstr>
      <vt:lpstr>bns</vt:lpstr>
      <vt:lpstr>Acquisitions nst</vt:lpstr>
      <vt:lpstr>Acquisitions nst</vt:lpstr>
      <vt:lpstr>Presentación de PowerPoint</vt:lpstr>
      <vt:lpstr>ihm</vt:lpstr>
      <vt:lpstr>Sold.</vt:lpstr>
      <vt:lpstr>BNS : explotation </vt:lpstr>
      <vt:lpstr>BNS : explotation </vt:lpstr>
      <vt:lpstr>BNS : explotation</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Christelle Garot</dc:creator>
  <cp:lastModifiedBy>Asier Del Pozo Perez</cp:lastModifiedBy>
  <cp:revision>35</cp:revision>
  <dcterms:modified xsi:type="dcterms:W3CDTF">2026-10-20T20:32:06Z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