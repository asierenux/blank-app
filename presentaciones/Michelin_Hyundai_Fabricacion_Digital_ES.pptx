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4" r:id="rId4"/>
    <p:sldMasterId id="2147483696" r:id="rId5"/>
    <p:sldMasterId id="2147483707" r:id="rId6"/>
  </p:sldMasterIdLst>
  <p:notesMasterIdLst>
    <p:notesMasterId r:id="rId36"/>
  </p:notesMasterIdLst>
  <p:handoutMasterIdLst>
    <p:handoutMasterId r:id="rId37"/>
  </p:handout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</p:sldIdLst>
  <p:sldSz cx="9144000" cy="51450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0F43E76A-4FDE-4D0C-8C0F-FC2B21F07745}">
          <p14:sldIdLst>
            <p14:sldId id="309"/>
            <p14:sldId id="310"/>
            <p14:sldId id="972"/>
            <p14:sldId id="1076"/>
            <p14:sldId id="315"/>
            <p14:sldId id="317"/>
            <p14:sldId id="1066"/>
            <p14:sldId id="975"/>
            <p14:sldId id="1077"/>
            <p14:sldId id="1006"/>
            <p14:sldId id="1014"/>
            <p14:sldId id="1088"/>
            <p14:sldId id="1082"/>
            <p14:sldId id="1083"/>
            <p14:sldId id="1086"/>
            <p14:sldId id="1072"/>
            <p14:sldId id="2147475815"/>
            <p14:sldId id="2147475827"/>
            <p14:sldId id="2147475831"/>
            <p14:sldId id="967"/>
            <p14:sldId id="961"/>
            <p14:sldId id="1017"/>
            <p14:sldId id="1087"/>
            <p14:sldId id="1079"/>
            <p14:sldId id="1015"/>
            <p14:sldId id="1074"/>
            <p14:sldId id="1084"/>
            <p14:sldId id="1071"/>
            <p14:sldId id="261"/>
          </p14:sldIdLst>
        </p14:section>
        <p14:section name="Brouillons" id="{5CDCE1B3-97A7-4AD6-A073-C51C88B5F8D8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ierre Dubosclard" initials="PD" lastIdx="2" clrIdx="0">
    <p:extLst>
      <p:ext uri="{19B8F6BF-5375-455C-9EA6-DF929625EA0E}">
        <p15:presenceInfo xmlns:p15="http://schemas.microsoft.com/office/powerpoint/2012/main" userId="S::pierre.dubosclard@michelin.com::f119f74d-b155-4fd7-a55e-7076dc47751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A0EE"/>
    <a:srgbClr val="70AD47"/>
    <a:srgbClr val="FF0000"/>
    <a:srgbClr val="FFFF00"/>
    <a:srgbClr val="27509B"/>
    <a:srgbClr val="92D050"/>
    <a:srgbClr val="660000"/>
    <a:srgbClr val="C6D9F1"/>
    <a:srgbClr val="2351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83BFEA-6D7C-4E90-B1FD-E1817A3C93CE}" v="13" dt="2026-05-18T14:01:56.905"/>
    <p1510:client id="{DBFB60F5-E03A-47D8-BC9F-E58386004629}" v="46" dt="2026-05-19T08:46:14.1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Style foncé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commentAuthors" Target="commentAuthors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82C4E4DA-D5EF-DF0F-E8DB-213158743F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C81B4E8-F426-93A5-B290-7E86EEBA86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441573-705E-42D7-A873-C1B9581C6AE6}" type="datetimeFigureOut">
              <a:rPr lang="es-ES" smtClean="0"/>
              <a:t>20/10/2026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34F614-8A3B-7993-ED12-3779ECB452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F21FAE-512B-3C72-9C34-0EB393F623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974EC-1219-436B-A280-E4977D813A2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57573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E5AE22-ADFC-4555-9759-8728DB68559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F86CB-D3AD-40BD-8754-0A6DBAFC51E5}" type="slidenum">
              <a:rPr lang="fr-FR" smtClean="0"/>
              <a:t>‹Nº›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359234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calma. El título ya resume la promesa: la calidad no se inspecciona al final, se decide en cada segundo de la fabricación.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Gancho de curiosidad: lanzar la pregunta y hacer una pausa de dos segundos antes de seguir. Una pregunta abierta activa la atención mucho más que una afirmación. Respuesta: 'Hoy lo hace. Les enseñamos cómo'.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Principio de contraste: mostrar primero el modelo tradicional, que el cliente conoce y del que sufre las consecuencias (defectos descubiertos tarde, lotes retenidos). Después, nuestro modelo. No hace falta criticar a nadie: el contraste habla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Autoridad y visión: mostramos que no es una prueba aislada sino una evolución consolidada. OLM y R4P están en los escalones 3 y 4, en producción hoy. El programa Digital Manufacturing usa PI System desde 2017. El escalón 5 transmite que seguimos avanzando: el cliente compra también el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y autoridad: las cifras del grupo dan escala y credibilidad. Datos publicados por Michelin en 2023 (European Rubber Journal, AVEVA PI World); sustituir por cifras internas si se dispone de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bloque de la historia: Ver. Tres bloques, tres verbos (Ver, Entender, Decidir): una estructura sencilla que el cerebro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Perfilómetros láser 3D Gocator (LMI): hasta 5.000 perfiles por segundo y repetibilidad de micras según modelo. En la MAC: 8 puestos, 16 sensores, 1 PLC y 4 PCs; puestos P5 (RFI, GI), P10 (BT) y P15 (BJ). Explicar el mapa de color: cada color es una altura.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concreta, el momento de credibilidad. Caso real del demostrador en BNS: el escaneo 3D de la soldadura muestra un escalón en el corte cuando el producto está mal plaqué. A simple vista no se aprecia; el dato lo detecta.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bloque: Entender. Los datos solos no sirven; lo que vale es leerlos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números sobre la pantalla real de PI Vision. La clave psicológica: el cliente ve que no ocultamos nada, es la pantalla que usan nuestros equipos. La mediana de las 20 últimas unidades filtra el ruido y muestra la tendencia.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la gráfica como una historia: la tendencia sube, cruza el límite (1), salta la alerta y el responsable lo sabe en su móvil; se actúa y la tendencia vuelve (2). Las alertas se dirigen al equipo adecuado: proceso (CARE) o mantenimiento (TECH).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Simplicidad: un código de colores que cualquiera entiende en un segundo. Es la pantalla general de la MAC6 con todos sus 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Clímax de la presentación. A partir de aquí el mensaje cambia: no solo vemos y entendemos, el sistema decide y actúa por sí mismo.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Metáfora para explicar R4P: es como tener a nuestro mejor técnico de proceso vigilando cada neumático, en cada turno, sin cansarse y sin pausas. Sus reglas recogen el conocimiento experto y lo aplican de forma automática.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de cuatro opciones claras, de la más suave a la más firme. Alertar, ajustar y bloquear funcionan hoy; la segregación automática del producto es la siguiente fase del proyecto, así lo indica el propio esquema de R4P. Ser transparentes con esto refuerza la credibilidad.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el caso como una historia en cuatro pasos sobre la pantalla real de regulación BJ (MAC6, puesto P17, enero de 2026). 1: el trusquín está en el límite inferior. 2: R4P activa la corrección ODM. 3: la medida vuelve a su valor teórico. 4: cuando la corrección se desactiva, la medida vuelve a derivar hacia el límite. Ese contraste es la mejor prueba de que la corrección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Traducir la tecnología en tranquilidad para el cliente. Cada bloque responde a un miedo concreto: reacción lenta, variabilidad entre turnos, dependencia de las personas y falta de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Escalabilidad: sensores, datos, analítica y reglas son bloques estándar. Lo que funciona en una línea se replica en la siguiente. BNS usa un Gocator 2650 clase 3R instalado a 1.244 mm, por encima de la distancia de riesgo ocular de 1.180 mm.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emocional y memorable: repetir los tres verbos. Dejar un silencio al final. Esta es la frase que queremos que repitan cuando salgan de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e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jpeg"/><Relationship Id="rId3" Type="http://schemas.openxmlformats.org/officeDocument/2006/relationships/image" Target="../media/image29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jpeg"/><Relationship Id="rId3" Type="http://schemas.openxmlformats.org/officeDocument/2006/relationships/image" Target="../media/image2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jpeg"/><Relationship Id="rId3" Type="http://schemas.openxmlformats.org/officeDocument/2006/relationships/image" Target="../media/image2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jpeg"/><Relationship Id="rId3" Type="http://schemas.openxmlformats.org/officeDocument/2006/relationships/image" Target="../media/image2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jpeg"/><Relationship Id="rId3" Type="http://schemas.openxmlformats.org/officeDocument/2006/relationships/image" Target="../media/image2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jpeg"/><Relationship Id="rId3" Type="http://schemas.openxmlformats.org/officeDocument/2006/relationships/image" Target="../media/image2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jpeg"/><Relationship Id="rId3" Type="http://schemas.openxmlformats.org/officeDocument/2006/relationships/image" Target="../media/image2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jpeg"/><Relationship Id="rId3" Type="http://schemas.openxmlformats.org/officeDocument/2006/relationships/image" Target="../media/image2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2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7509B"/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796680"/>
            <a:ext cx="3148881" cy="11805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326589"/>
            <a:ext cx="1905368" cy="911771"/>
          </a:xfrm>
          <a:prstGeom prst="rect">
            <a:avLst/>
          </a:prstGeom>
        </p:spPr>
      </p:pic>
      <p:sp>
        <p:nvSpPr>
          <p:cNvPr id="17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6807"/>
            <a:ext cx="8229600" cy="857250"/>
          </a:xfrm>
          <a:prstGeom prst="rect">
            <a:avLst/>
          </a:prstGeom>
        </p:spPr>
        <p:txBody>
          <a:bodyPr anchor="ctr"/>
          <a:lstStyle>
            <a:lvl1pPr algn="ctr">
              <a:defRPr lang="fr-FR" sz="2400" b="1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8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8903"/>
            <a:ext cx="3427884" cy="34579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+mj-lt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</p:spTree>
    <p:extLst>
      <p:ext uri="{BB962C8B-B14F-4D97-AF65-F5344CB8AC3E}">
        <p14:creationId xmlns:p14="http://schemas.microsoft.com/office/powerpoint/2010/main" val="273711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0BAD991-AE32-44B0-94BC-7C4D2163A3A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5F2C39A-F2AE-4E4D-8C04-1EC2E580CBE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471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6891FA0-8558-4D8B-B90D-6FA71DC5D80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39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4146602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pour une image  2"/>
          <p:cNvSpPr>
            <a:spLocks noGrp="1"/>
          </p:cNvSpPr>
          <p:nvPr>
            <p:ph type="pic" sz="quarter" idx="11"/>
          </p:nvPr>
        </p:nvSpPr>
        <p:spPr>
          <a:xfrm>
            <a:off x="4762500" y="661948"/>
            <a:ext cx="3903663" cy="20414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  <p:sp>
        <p:nvSpPr>
          <p:cNvPr id="11" name="Espace réservé pour une image  2"/>
          <p:cNvSpPr>
            <a:spLocks noGrp="1"/>
          </p:cNvSpPr>
          <p:nvPr>
            <p:ph type="pic" sz="quarter" idx="12"/>
          </p:nvPr>
        </p:nvSpPr>
        <p:spPr>
          <a:xfrm>
            <a:off x="4763826" y="2767054"/>
            <a:ext cx="3903663" cy="2052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97869F9-F421-4F81-A85B-6F1CA44A745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440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5DE6D41-9065-4856-9F5A-F649BD41BE5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85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FEAE6E7-840D-4467-8A1D-6B3208F2586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184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1B19846-93BA-468B-9EC8-D57BE2FC13C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0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0261407-3D4C-4C90-9F7B-0B8A003AFD1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59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2" y="109471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2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2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2CD6791-8A35-4A86-B1B9-C9B061402DB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5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re et contenu sans logo sans sous titr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/>
          <p:cNvSpPr>
            <a:spLocks noGrp="1"/>
          </p:cNvSpPr>
          <p:nvPr>
            <p:ph type="title" hasCustomPrompt="1"/>
          </p:nvPr>
        </p:nvSpPr>
        <p:spPr>
          <a:xfrm>
            <a:off x="828000" y="72022"/>
            <a:ext cx="8108039" cy="568555"/>
          </a:xfrm>
        </p:spPr>
        <p:txBody>
          <a:bodyPr>
            <a:noAutofit/>
          </a:bodyPr>
          <a:lstStyle>
            <a:lvl1pPr algn="l">
              <a:defRPr sz="2400" i="1" baseline="0">
                <a:solidFill>
                  <a:schemeClr val="tx2"/>
                </a:solidFill>
                <a:latin typeface="Arial Black" panose="020B0A04020102090204" pitchFamily="34" charset="0"/>
              </a:defRPr>
            </a:lvl1pPr>
          </a:lstStyle>
          <a:p>
            <a:r>
              <a:rPr lang="fr-FR"/>
              <a:t>TITRE DE LA PAGE</a:t>
            </a:r>
          </a:p>
        </p:txBody>
      </p:sp>
      <p:sp>
        <p:nvSpPr>
          <p:cNvPr id="12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380076" y="947209"/>
            <a:ext cx="8507845" cy="3735587"/>
          </a:xfrm>
        </p:spPr>
        <p:txBody>
          <a:bodyPr>
            <a:normAutofit/>
          </a:bodyPr>
          <a:lstStyle>
            <a:lvl1pPr marL="252413" indent="-252413">
              <a:buClr>
                <a:schemeClr val="bg2"/>
              </a:buClr>
              <a:buFontTx/>
              <a:buBlip>
                <a:blip r:embed="rId2"/>
              </a:buBlip>
              <a:defRPr sz="1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25475" indent="-266700">
              <a:buClr>
                <a:schemeClr val="tx2"/>
              </a:buClr>
              <a:buSzPct val="80000"/>
              <a:buFont typeface="Wingdings 3" panose="05040102010807070707" pitchFamily="18" charset="2"/>
              <a:buChar char=""/>
              <a:defRPr sz="18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98525" indent="-273050">
              <a:buClr>
                <a:schemeClr val="tx2"/>
              </a:buClr>
              <a:buFont typeface="Arial" panose="020B0604020202020204" pitchFamily="34" charset="0"/>
              <a:buChar char="•"/>
              <a:defRPr sz="1600" i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Michelin" pitchFamily="50" charset="0"/>
              </a:defRPr>
            </a:lvl4pPr>
            <a:lvl5pPr>
              <a:defRPr>
                <a:latin typeface="Michelin" pitchFamily="50" charset="0"/>
              </a:defRPr>
            </a:lvl5pPr>
          </a:lstStyle>
          <a:p>
            <a:pPr lvl="0"/>
            <a:r>
              <a:rPr lang="en-US" noProof="0"/>
              <a:t>Cliquer pour modifier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2"/>
            <a:r>
              <a:rPr lang="en-US" noProof="0" err="1"/>
              <a:t>Troisième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4" name="Rectangle 4"/>
          <p:cNvSpPr/>
          <p:nvPr userDrawn="1"/>
        </p:nvSpPr>
        <p:spPr>
          <a:xfrm>
            <a:off x="1" y="-892"/>
            <a:ext cx="760151" cy="2147654"/>
          </a:xfrm>
          <a:custGeom>
            <a:avLst/>
            <a:gdLst>
              <a:gd name="connsiteX0" fmla="*/ 0 w 1330960"/>
              <a:gd name="connsiteY0" fmla="*/ 0 h 3759199"/>
              <a:gd name="connsiteX1" fmla="*/ 1330960 w 1330960"/>
              <a:gd name="connsiteY1" fmla="*/ 0 h 3759199"/>
              <a:gd name="connsiteX2" fmla="*/ 1330960 w 1330960"/>
              <a:gd name="connsiteY2" fmla="*/ 3759199 h 3759199"/>
              <a:gd name="connsiteX3" fmla="*/ 0 w 1330960"/>
              <a:gd name="connsiteY3" fmla="*/ 3759199 h 3759199"/>
              <a:gd name="connsiteX4" fmla="*/ 0 w 1330960"/>
              <a:gd name="connsiteY4" fmla="*/ 0 h 3759199"/>
              <a:gd name="connsiteX0" fmla="*/ 0 w 1330960"/>
              <a:gd name="connsiteY0" fmla="*/ 0 h 3759199"/>
              <a:gd name="connsiteX1" fmla="*/ 1330960 w 1330960"/>
              <a:gd name="connsiteY1" fmla="*/ 0 h 3759199"/>
              <a:gd name="connsiteX2" fmla="*/ 0 w 1330960"/>
              <a:gd name="connsiteY2" fmla="*/ 3759199 h 3759199"/>
              <a:gd name="connsiteX3" fmla="*/ 0 w 1330960"/>
              <a:gd name="connsiteY3" fmla="*/ 0 h 3759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0960" h="3759199">
                <a:moveTo>
                  <a:pt x="0" y="0"/>
                </a:moveTo>
                <a:lnTo>
                  <a:pt x="1330960" y="0"/>
                </a:lnTo>
                <a:lnTo>
                  <a:pt x="0" y="3759199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tx2">
                  <a:shade val="30000"/>
                  <a:satMod val="115000"/>
                </a:schemeClr>
              </a:gs>
              <a:gs pos="50000">
                <a:schemeClr val="tx2">
                  <a:shade val="67500"/>
                  <a:satMod val="115000"/>
                </a:schemeClr>
              </a:gs>
              <a:gs pos="100000">
                <a:schemeClr val="tx2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 sz="1800"/>
          </a:p>
        </p:txBody>
      </p:sp>
      <p:sp>
        <p:nvSpPr>
          <p:cNvPr id="16" name="Rectangle 6"/>
          <p:cNvSpPr/>
          <p:nvPr userDrawn="1"/>
        </p:nvSpPr>
        <p:spPr>
          <a:xfrm>
            <a:off x="8710449" y="4112894"/>
            <a:ext cx="565429" cy="1146156"/>
          </a:xfrm>
          <a:custGeom>
            <a:avLst/>
            <a:gdLst>
              <a:gd name="connsiteX0" fmla="*/ 0 w 2753360"/>
              <a:gd name="connsiteY0" fmla="*/ 0 h 4968240"/>
              <a:gd name="connsiteX1" fmla="*/ 2753360 w 2753360"/>
              <a:gd name="connsiteY1" fmla="*/ 0 h 4968240"/>
              <a:gd name="connsiteX2" fmla="*/ 2753360 w 2753360"/>
              <a:gd name="connsiteY2" fmla="*/ 4968240 h 4968240"/>
              <a:gd name="connsiteX3" fmla="*/ 0 w 2753360"/>
              <a:gd name="connsiteY3" fmla="*/ 4968240 h 4968240"/>
              <a:gd name="connsiteX4" fmla="*/ 0 w 2753360"/>
              <a:gd name="connsiteY4" fmla="*/ 0 h 4968240"/>
              <a:gd name="connsiteX0" fmla="*/ 1767840 w 2753360"/>
              <a:gd name="connsiteY0" fmla="*/ 0 h 4968240"/>
              <a:gd name="connsiteX1" fmla="*/ 2753360 w 2753360"/>
              <a:gd name="connsiteY1" fmla="*/ 0 h 4968240"/>
              <a:gd name="connsiteX2" fmla="*/ 2753360 w 2753360"/>
              <a:gd name="connsiteY2" fmla="*/ 4968240 h 4968240"/>
              <a:gd name="connsiteX3" fmla="*/ 0 w 2753360"/>
              <a:gd name="connsiteY3" fmla="*/ 4968240 h 4968240"/>
              <a:gd name="connsiteX4" fmla="*/ 1767840 w 2753360"/>
              <a:gd name="connsiteY4" fmla="*/ 0 h 4968240"/>
              <a:gd name="connsiteX0" fmla="*/ 1767840 w 2753360"/>
              <a:gd name="connsiteY0" fmla="*/ 0 h 4968240"/>
              <a:gd name="connsiteX1" fmla="*/ 2753360 w 2753360"/>
              <a:gd name="connsiteY1" fmla="*/ 0 h 4968240"/>
              <a:gd name="connsiteX2" fmla="*/ 2340097 w 2753360"/>
              <a:gd name="connsiteY2" fmla="*/ 4960990 h 4968240"/>
              <a:gd name="connsiteX3" fmla="*/ 0 w 2753360"/>
              <a:gd name="connsiteY3" fmla="*/ 4968240 h 4968240"/>
              <a:gd name="connsiteX4" fmla="*/ 1767840 w 2753360"/>
              <a:gd name="connsiteY4" fmla="*/ 0 h 4968240"/>
              <a:gd name="connsiteX0" fmla="*/ 1767840 w 2340097"/>
              <a:gd name="connsiteY0" fmla="*/ 0 h 4968240"/>
              <a:gd name="connsiteX1" fmla="*/ 2332847 w 2340097"/>
              <a:gd name="connsiteY1" fmla="*/ 7250 h 4968240"/>
              <a:gd name="connsiteX2" fmla="*/ 2340097 w 2340097"/>
              <a:gd name="connsiteY2" fmla="*/ 4960990 h 4968240"/>
              <a:gd name="connsiteX3" fmla="*/ 0 w 2340097"/>
              <a:gd name="connsiteY3" fmla="*/ 4968240 h 4968240"/>
              <a:gd name="connsiteX4" fmla="*/ 1767840 w 2340097"/>
              <a:gd name="connsiteY4" fmla="*/ 0 h 4968240"/>
              <a:gd name="connsiteX0" fmla="*/ 1767840 w 2333544"/>
              <a:gd name="connsiteY0" fmla="*/ 0 h 4968240"/>
              <a:gd name="connsiteX1" fmla="*/ 2332847 w 2333544"/>
              <a:gd name="connsiteY1" fmla="*/ 7250 h 4968240"/>
              <a:gd name="connsiteX2" fmla="*/ 2332847 w 2333544"/>
              <a:gd name="connsiteY2" fmla="*/ 4960990 h 4968240"/>
              <a:gd name="connsiteX3" fmla="*/ 0 w 2333544"/>
              <a:gd name="connsiteY3" fmla="*/ 4968240 h 4968240"/>
              <a:gd name="connsiteX4" fmla="*/ 1767840 w 2333544"/>
              <a:gd name="connsiteY4" fmla="*/ 0 h 4968240"/>
              <a:gd name="connsiteX0" fmla="*/ 1767840 w 2345548"/>
              <a:gd name="connsiteY0" fmla="*/ 0 h 5253116"/>
              <a:gd name="connsiteX1" fmla="*/ 2332847 w 2345548"/>
              <a:gd name="connsiteY1" fmla="*/ 7250 h 5253116"/>
              <a:gd name="connsiteX2" fmla="*/ 2345548 w 2345548"/>
              <a:gd name="connsiteY2" fmla="*/ 5253116 h 5253116"/>
              <a:gd name="connsiteX3" fmla="*/ 0 w 2345548"/>
              <a:gd name="connsiteY3" fmla="*/ 4968240 h 5253116"/>
              <a:gd name="connsiteX4" fmla="*/ 1767840 w 2345548"/>
              <a:gd name="connsiteY4" fmla="*/ 0 h 5253116"/>
              <a:gd name="connsiteX0" fmla="*/ 1888500 w 2466208"/>
              <a:gd name="connsiteY0" fmla="*/ 0 h 5317521"/>
              <a:gd name="connsiteX1" fmla="*/ 2453507 w 2466208"/>
              <a:gd name="connsiteY1" fmla="*/ 7250 h 5317521"/>
              <a:gd name="connsiteX2" fmla="*/ 2466208 w 2466208"/>
              <a:gd name="connsiteY2" fmla="*/ 5253116 h 5317521"/>
              <a:gd name="connsiteX3" fmla="*/ 0 w 2466208"/>
              <a:gd name="connsiteY3" fmla="*/ 5317521 h 5317521"/>
              <a:gd name="connsiteX4" fmla="*/ 1888500 w 2466208"/>
              <a:gd name="connsiteY4" fmla="*/ 0 h 5317521"/>
              <a:gd name="connsiteX0" fmla="*/ 1888500 w 2472559"/>
              <a:gd name="connsiteY0" fmla="*/ 0 h 5317521"/>
              <a:gd name="connsiteX1" fmla="*/ 2453507 w 2472559"/>
              <a:gd name="connsiteY1" fmla="*/ 7250 h 5317521"/>
              <a:gd name="connsiteX2" fmla="*/ 2472559 w 2472559"/>
              <a:gd name="connsiteY2" fmla="*/ 5316621 h 5317521"/>
              <a:gd name="connsiteX3" fmla="*/ 0 w 2472559"/>
              <a:gd name="connsiteY3" fmla="*/ 5317521 h 5317521"/>
              <a:gd name="connsiteX4" fmla="*/ 1888500 w 2472559"/>
              <a:gd name="connsiteY4" fmla="*/ 0 h 5317521"/>
              <a:gd name="connsiteX0" fmla="*/ 1888500 w 2472559"/>
              <a:gd name="connsiteY0" fmla="*/ 0 h 5316621"/>
              <a:gd name="connsiteX1" fmla="*/ 2453507 w 2472559"/>
              <a:gd name="connsiteY1" fmla="*/ 7250 h 5316621"/>
              <a:gd name="connsiteX2" fmla="*/ 2472559 w 2472559"/>
              <a:gd name="connsiteY2" fmla="*/ 5316621 h 5316621"/>
              <a:gd name="connsiteX3" fmla="*/ 0 w 2472559"/>
              <a:gd name="connsiteY3" fmla="*/ 5304820 h 5316621"/>
              <a:gd name="connsiteX4" fmla="*/ 1888500 w 2472559"/>
              <a:gd name="connsiteY4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0 w 2478910"/>
              <a:gd name="connsiteY3" fmla="*/ 5304820 h 5316621"/>
              <a:gd name="connsiteX4" fmla="*/ 1894851 w 2478910"/>
              <a:gd name="connsiteY4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32929 w 2478910"/>
              <a:gd name="connsiteY3" fmla="*/ 5296745 h 5316621"/>
              <a:gd name="connsiteX4" fmla="*/ 0 w 2478910"/>
              <a:gd name="connsiteY4" fmla="*/ 5304820 h 5316621"/>
              <a:gd name="connsiteX5" fmla="*/ 1894851 w 2478910"/>
              <a:gd name="connsiteY5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139265 w 2478910"/>
              <a:gd name="connsiteY3" fmla="*/ 5296745 h 5316621"/>
              <a:gd name="connsiteX4" fmla="*/ 0 w 2478910"/>
              <a:gd name="connsiteY4" fmla="*/ 5304820 h 5316621"/>
              <a:gd name="connsiteX5" fmla="*/ 1894851 w 2478910"/>
              <a:gd name="connsiteY5" fmla="*/ 0 h 5316621"/>
              <a:gd name="connsiteX0" fmla="*/ 1894851 w 2478910"/>
              <a:gd name="connsiteY0" fmla="*/ 0 h 5316621"/>
              <a:gd name="connsiteX1" fmla="*/ 2459858 w 2478910"/>
              <a:gd name="connsiteY1" fmla="*/ 7250 h 5316621"/>
              <a:gd name="connsiteX2" fmla="*/ 2478910 w 2478910"/>
              <a:gd name="connsiteY2" fmla="*/ 5316621 h 5316621"/>
              <a:gd name="connsiteX3" fmla="*/ 0 w 2478910"/>
              <a:gd name="connsiteY3" fmla="*/ 5304820 h 5316621"/>
              <a:gd name="connsiteX4" fmla="*/ 1894851 w 2478910"/>
              <a:gd name="connsiteY4" fmla="*/ 0 h 5316621"/>
              <a:gd name="connsiteX0" fmla="*/ 1885184 w 2469243"/>
              <a:gd name="connsiteY0" fmla="*/ 0 h 5316621"/>
              <a:gd name="connsiteX1" fmla="*/ 2450191 w 2469243"/>
              <a:gd name="connsiteY1" fmla="*/ 7250 h 5316621"/>
              <a:gd name="connsiteX2" fmla="*/ 2469243 w 2469243"/>
              <a:gd name="connsiteY2" fmla="*/ 5316621 h 5316621"/>
              <a:gd name="connsiteX3" fmla="*/ 0 w 2469243"/>
              <a:gd name="connsiteY3" fmla="*/ 5304820 h 5316621"/>
              <a:gd name="connsiteX4" fmla="*/ 1885184 w 2469243"/>
              <a:gd name="connsiteY4" fmla="*/ 0 h 5316621"/>
              <a:gd name="connsiteX0" fmla="*/ 1899684 w 2483743"/>
              <a:gd name="connsiteY0" fmla="*/ 0 h 5316621"/>
              <a:gd name="connsiteX1" fmla="*/ 2464691 w 2483743"/>
              <a:gd name="connsiteY1" fmla="*/ 7250 h 5316621"/>
              <a:gd name="connsiteX2" fmla="*/ 2483743 w 2483743"/>
              <a:gd name="connsiteY2" fmla="*/ 5316621 h 5316621"/>
              <a:gd name="connsiteX3" fmla="*/ 0 w 2483743"/>
              <a:gd name="connsiteY3" fmla="*/ 5304820 h 5316621"/>
              <a:gd name="connsiteX4" fmla="*/ 1899684 w 2483743"/>
              <a:gd name="connsiteY4" fmla="*/ 0 h 5316621"/>
              <a:gd name="connsiteX0" fmla="*/ 1896059 w 2480118"/>
              <a:gd name="connsiteY0" fmla="*/ 0 h 5316621"/>
              <a:gd name="connsiteX1" fmla="*/ 2461066 w 2480118"/>
              <a:gd name="connsiteY1" fmla="*/ 7250 h 5316621"/>
              <a:gd name="connsiteX2" fmla="*/ 2480118 w 2480118"/>
              <a:gd name="connsiteY2" fmla="*/ 5316621 h 5316621"/>
              <a:gd name="connsiteX3" fmla="*/ 0 w 2480118"/>
              <a:gd name="connsiteY3" fmla="*/ 5304820 h 5316621"/>
              <a:gd name="connsiteX4" fmla="*/ 1896059 w 2480118"/>
              <a:gd name="connsiteY4" fmla="*/ 0 h 5316621"/>
              <a:gd name="connsiteX0" fmla="*/ 1921460 w 2505519"/>
              <a:gd name="connsiteY0" fmla="*/ 0 h 5330222"/>
              <a:gd name="connsiteX1" fmla="*/ 2486467 w 2505519"/>
              <a:gd name="connsiteY1" fmla="*/ 7250 h 5330222"/>
              <a:gd name="connsiteX2" fmla="*/ 2505519 w 2505519"/>
              <a:gd name="connsiteY2" fmla="*/ 5316621 h 5330222"/>
              <a:gd name="connsiteX3" fmla="*/ 0 w 2505519"/>
              <a:gd name="connsiteY3" fmla="*/ 5330222 h 5330222"/>
              <a:gd name="connsiteX4" fmla="*/ 1921460 w 2505519"/>
              <a:gd name="connsiteY4" fmla="*/ 0 h 5330222"/>
              <a:gd name="connsiteX0" fmla="*/ 2023070 w 2505519"/>
              <a:gd name="connsiteY0" fmla="*/ 0 h 5406429"/>
              <a:gd name="connsiteX1" fmla="*/ 2486467 w 2505519"/>
              <a:gd name="connsiteY1" fmla="*/ 83457 h 5406429"/>
              <a:gd name="connsiteX2" fmla="*/ 2505519 w 2505519"/>
              <a:gd name="connsiteY2" fmla="*/ 5392828 h 5406429"/>
              <a:gd name="connsiteX3" fmla="*/ 0 w 2505519"/>
              <a:gd name="connsiteY3" fmla="*/ 5406429 h 5406429"/>
              <a:gd name="connsiteX4" fmla="*/ 2023070 w 2505519"/>
              <a:gd name="connsiteY4" fmla="*/ 0 h 5406429"/>
              <a:gd name="connsiteX0" fmla="*/ 1991317 w 2505519"/>
              <a:gd name="connsiteY0" fmla="*/ 0 h 5393728"/>
              <a:gd name="connsiteX1" fmla="*/ 2486467 w 2505519"/>
              <a:gd name="connsiteY1" fmla="*/ 70756 h 5393728"/>
              <a:gd name="connsiteX2" fmla="*/ 2505519 w 2505519"/>
              <a:gd name="connsiteY2" fmla="*/ 5380127 h 5393728"/>
              <a:gd name="connsiteX3" fmla="*/ 0 w 2505519"/>
              <a:gd name="connsiteY3" fmla="*/ 5393728 h 5393728"/>
              <a:gd name="connsiteX4" fmla="*/ 1991317 w 2505519"/>
              <a:gd name="connsiteY4" fmla="*/ 0 h 5393728"/>
              <a:gd name="connsiteX0" fmla="*/ 1991317 w 2505519"/>
              <a:gd name="connsiteY0" fmla="*/ 0 h 5393728"/>
              <a:gd name="connsiteX1" fmla="*/ 2486467 w 2505519"/>
              <a:gd name="connsiteY1" fmla="*/ 70756 h 5393728"/>
              <a:gd name="connsiteX2" fmla="*/ 2505519 w 2505519"/>
              <a:gd name="connsiteY2" fmla="*/ 5380127 h 5393728"/>
              <a:gd name="connsiteX3" fmla="*/ 0 w 2505519"/>
              <a:gd name="connsiteY3" fmla="*/ 5393728 h 5393728"/>
              <a:gd name="connsiteX4" fmla="*/ 1869961 w 2505519"/>
              <a:gd name="connsiteY4" fmla="*/ 333426 h 5393728"/>
              <a:gd name="connsiteX5" fmla="*/ 1991317 w 2505519"/>
              <a:gd name="connsiteY5" fmla="*/ 0 h 5393728"/>
              <a:gd name="connsiteX0" fmla="*/ 1869961 w 2505519"/>
              <a:gd name="connsiteY0" fmla="*/ 262670 h 5322972"/>
              <a:gd name="connsiteX1" fmla="*/ 2486467 w 2505519"/>
              <a:gd name="connsiteY1" fmla="*/ 0 h 5322972"/>
              <a:gd name="connsiteX2" fmla="*/ 2505519 w 2505519"/>
              <a:gd name="connsiteY2" fmla="*/ 5309371 h 5322972"/>
              <a:gd name="connsiteX3" fmla="*/ 0 w 2505519"/>
              <a:gd name="connsiteY3" fmla="*/ 5322972 h 5322972"/>
              <a:gd name="connsiteX4" fmla="*/ 1869961 w 2505519"/>
              <a:gd name="connsiteY4" fmla="*/ 262670 h 5322972"/>
              <a:gd name="connsiteX0" fmla="*/ 1869961 w 2505519"/>
              <a:gd name="connsiteY0" fmla="*/ 0 h 5060302"/>
              <a:gd name="connsiteX1" fmla="*/ 2486468 w 2505519"/>
              <a:gd name="connsiteY1" fmla="*/ 5588 h 5060302"/>
              <a:gd name="connsiteX2" fmla="*/ 2505519 w 2505519"/>
              <a:gd name="connsiteY2" fmla="*/ 5046701 h 5060302"/>
              <a:gd name="connsiteX3" fmla="*/ 0 w 2505519"/>
              <a:gd name="connsiteY3" fmla="*/ 5060302 h 5060302"/>
              <a:gd name="connsiteX4" fmla="*/ 1869961 w 2505519"/>
              <a:gd name="connsiteY4" fmla="*/ 0 h 5060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05519" h="5060302">
                <a:moveTo>
                  <a:pt x="1869961" y="0"/>
                </a:moveTo>
                <a:lnTo>
                  <a:pt x="2486468" y="5588"/>
                </a:lnTo>
                <a:cubicBezTo>
                  <a:pt x="2488885" y="1656835"/>
                  <a:pt x="2503102" y="3395454"/>
                  <a:pt x="2505519" y="5046701"/>
                </a:cubicBezTo>
                <a:lnTo>
                  <a:pt x="0" y="5060302"/>
                </a:lnTo>
                <a:lnTo>
                  <a:pt x="1869961" y="0"/>
                </a:lnTo>
                <a:close/>
              </a:path>
            </a:pathLst>
          </a:custGeom>
          <a:gradFill flip="none" rotWithShape="1">
            <a:gsLst>
              <a:gs pos="66333">
                <a:schemeClr val="bg2">
                  <a:shade val="100000"/>
                  <a:satMod val="115000"/>
                </a:schemeClr>
              </a:gs>
              <a:gs pos="0">
                <a:schemeClr val="bg2">
                  <a:shade val="67500"/>
                  <a:satMod val="115000"/>
                </a:schemeClr>
              </a:gs>
            </a:gsLst>
            <a:lin ang="420000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/>
          </a:p>
        </p:txBody>
      </p:sp>
      <p:graphicFrame>
        <p:nvGraphicFramePr>
          <p:cNvPr id="6" name="Group 3"/>
          <p:cNvGraphicFramePr>
            <a:graphicFrameLocks noGrp="1"/>
          </p:cNvGraphicFramePr>
          <p:nvPr userDrawn="1"/>
        </p:nvGraphicFramePr>
        <p:xfrm>
          <a:off x="88901" y="4759207"/>
          <a:ext cx="8799019" cy="25884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9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08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6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81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MB² - INCREASE RANGE ATS &amp; FORM QUICK CHANGE                  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 N.PERRICHOT – DOMF/ME/PG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19/12/2019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Classification : D3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Conservation :  YC+10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fr-FR" sz="600" u="none" strike="noStrike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</a:rPr>
                        <a:t>Page :</a:t>
                      </a:r>
                      <a:endParaRPr kumimoji="0" lang="fr-FR" sz="600" b="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endParaRPr>
                    </a:p>
                  </a:txBody>
                  <a:tcPr marT="34301" marB="34301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ZoneTexte 1"/>
          <p:cNvSpPr txBox="1"/>
          <p:nvPr userDrawn="1"/>
        </p:nvSpPr>
        <p:spPr>
          <a:xfrm>
            <a:off x="8322491" y="4795731"/>
            <a:ext cx="321763" cy="184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7EB78116-72B4-4DCB-8ED4-66AE46B4EB74}" type="slidenum">
              <a:rPr kumimoji="0" lang="fr-FR" sz="600" u="none" strike="noStrike" kern="1200" cap="none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‹Nº›</a:t>
            </a:fld>
            <a:endParaRPr kumimoji="0" lang="fr-FR" sz="600" u="none" strike="noStrike" kern="1200" cap="none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E06520A-D958-47A8-BB26-0C72B523D20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8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70"/>
          <a:stretch/>
        </p:blipFill>
        <p:spPr>
          <a:xfrm>
            <a:off x="0" y="0"/>
            <a:ext cx="9144000" cy="4920229"/>
          </a:xfrm>
          <a:prstGeom prst="rect">
            <a:avLst/>
          </a:prstGeom>
        </p:spPr>
      </p:pic>
      <p:pic>
        <p:nvPicPr>
          <p:cNvPr id="6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86365"/>
            <a:ext cx="1963103" cy="939689"/>
          </a:xfrm>
          <a:prstGeom prst="rect">
            <a:avLst/>
          </a:prstGeom>
        </p:spPr>
      </p:pic>
      <p:sp>
        <p:nvSpPr>
          <p:cNvPr id="16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 vert="horz" lIns="91430" tIns="45715" rIns="91430" bIns="45715" rtlCol="0" anchor="ctr">
            <a:noAutofit/>
          </a:bodyPr>
          <a:lstStyle>
            <a:lvl1pPr algn="ctr">
              <a:defRPr lang="fr-FR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r" defTabSz="457189" rtl="0" eaLnBrk="1" latinLnBrk="0" hangingPunct="1">
              <a:spcBef>
                <a:spcPct val="0"/>
              </a:spcBef>
              <a:buNone/>
            </a:pPr>
            <a:r>
              <a:rPr lang="fr-FR"/>
              <a:t>Titre</a:t>
            </a:r>
          </a:p>
        </p:txBody>
      </p:sp>
      <p:sp>
        <p:nvSpPr>
          <p:cNvPr id="17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69139"/>
            <a:ext cx="3427884" cy="3459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>
            <a:lvl1pPr marL="0" indent="0" algn="ctr" defTabSz="457189" rtl="0" eaLnBrk="1" latinLnBrk="0" hangingPunct="1">
              <a:spcBef>
                <a:spcPct val="20000"/>
              </a:spcBef>
              <a:buFont typeface="Arial"/>
              <a:buNone/>
              <a:defRPr lang="fr-FR" sz="1800" kern="1200" baseline="0" noProof="0" dirty="0">
                <a:solidFill>
                  <a:srgbClr val="27509B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  <a:lvl2pPr marL="4571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4544" y="3796680"/>
            <a:ext cx="3581977" cy="1492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37935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4" t="-41" b="10989"/>
          <a:stretch/>
        </p:blipFill>
        <p:spPr>
          <a:xfrm>
            <a:off x="1" y="-2306"/>
            <a:ext cx="9144001" cy="4926983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 hasCustomPrompt="1"/>
          </p:nvPr>
        </p:nvSpPr>
        <p:spPr>
          <a:xfrm>
            <a:off x="421419" y="1847377"/>
            <a:ext cx="8392381" cy="8575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 vert="horz" lIns="91430" tIns="45715" rIns="91430" bIns="45715" rtlCol="0" anchor="ctr">
            <a:noAutofit/>
          </a:bodyPr>
          <a:lstStyle>
            <a:lvl1pPr algn="ctr">
              <a:defRPr lang="fr-FR" sz="2800" b="0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r" defTabSz="457189" rtl="0" eaLnBrk="1" latinLnBrk="0" hangingPunct="1">
              <a:spcBef>
                <a:spcPct val="0"/>
              </a:spcBef>
              <a:buNone/>
            </a:pPr>
            <a:r>
              <a:rPr lang="fr-FR"/>
              <a:t>Titre</a:t>
            </a:r>
          </a:p>
        </p:txBody>
      </p:sp>
      <p:sp>
        <p:nvSpPr>
          <p:cNvPr id="8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3983603" y="2769139"/>
            <a:ext cx="4830198" cy="34590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>
            <a:lvl1pPr marL="0" indent="0" algn="ctr" defTabSz="457189" rtl="0" eaLnBrk="1" latinLnBrk="0" hangingPunct="1">
              <a:spcBef>
                <a:spcPct val="20000"/>
              </a:spcBef>
              <a:buFont typeface="Arial"/>
              <a:buNone/>
              <a:defRPr lang="fr-FR" sz="1800" kern="1200" baseline="0" noProof="0" dirty="0">
                <a:solidFill>
                  <a:srgbClr val="27509B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  <a:lvl2pPr marL="4571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0" name="Picture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72" y="351512"/>
            <a:ext cx="1905368" cy="912052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1113" y="3302489"/>
            <a:ext cx="2547938" cy="2548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87735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262084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-2541" y="0"/>
            <a:ext cx="457200" cy="5145088"/>
          </a:xfrm>
          <a:prstGeom prst="rect">
            <a:avLst/>
          </a:prstGeom>
          <a:solidFill>
            <a:srgbClr val="595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23355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2385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 sz="2400">
              <a:solidFill>
                <a:prstClr val="white"/>
              </a:solidFill>
            </a:endParaRPr>
          </a:p>
        </p:txBody>
      </p:sp>
      <p:sp>
        <p:nvSpPr>
          <p:cNvPr id="10" name="Titre 1"/>
          <p:cNvSpPr>
            <a:spLocks noGrp="1"/>
          </p:cNvSpPr>
          <p:nvPr>
            <p:ph type="title" hasCustomPrompt="1"/>
          </p:nvPr>
        </p:nvSpPr>
        <p:spPr>
          <a:xfrm>
            <a:off x="584200" y="1847377"/>
            <a:ext cx="8229600" cy="857515"/>
          </a:xfrm>
          <a:prstGeom prst="rect">
            <a:avLst/>
          </a:prstGeom>
        </p:spPr>
        <p:txBody>
          <a:bodyPr anchor="ctr"/>
          <a:lstStyle>
            <a:lvl1pPr algn="ctr">
              <a:defRPr lang="fr-FR" sz="2800" b="0" i="0" kern="1200" cap="all" baseline="0" smtClean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11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5385917" y="2709739"/>
            <a:ext cx="3427884" cy="34590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fr-FR" sz="1800" kern="1200" cap="none" baseline="0" smtClean="0">
                <a:solidFill>
                  <a:srgbClr val="27509B"/>
                </a:solidFill>
                <a:latin typeface="Arial"/>
                <a:ea typeface="+mn-ea"/>
                <a:cs typeface="Arial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Sous titre</a:t>
            </a:r>
          </a:p>
        </p:txBody>
      </p:sp>
      <p:pic>
        <p:nvPicPr>
          <p:cNvPr id="14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404" y="351512"/>
            <a:ext cx="1905368" cy="912052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0"/>
            <a:ext cx="3148881" cy="1180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332101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57201" y="2169695"/>
            <a:ext cx="8686803" cy="92230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2" b="5523"/>
          <a:stretch/>
        </p:blipFill>
        <p:spPr>
          <a:xfrm>
            <a:off x="6571052" y="2884504"/>
            <a:ext cx="2572949" cy="2021844"/>
          </a:xfrm>
          <a:prstGeom prst="rect">
            <a:avLst/>
          </a:prstGeom>
        </p:spPr>
      </p:pic>
      <p:pic>
        <p:nvPicPr>
          <p:cNvPr id="10" name="Image 9" descr="usines.png"/>
          <p:cNvPicPr>
            <a:picLocks noChangeAspect="1"/>
          </p:cNvPicPr>
          <p:nvPr userDrawn="1"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3568" y="628328"/>
            <a:ext cx="8244000" cy="1541732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065562"/>
            <a:ext cx="2242591" cy="8407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C:\Users\F375159\Desktop\Logo Michelin\Michelin_G_Horizontal_Fr_WhiteBG_0615-01.jpg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1" y="196280"/>
            <a:ext cx="2700609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texte 2"/>
          <p:cNvSpPr>
            <a:spLocks noGrp="1"/>
          </p:cNvSpPr>
          <p:nvPr>
            <p:ph type="body" sz="quarter" idx="10"/>
          </p:nvPr>
        </p:nvSpPr>
        <p:spPr>
          <a:xfrm>
            <a:off x="457201" y="3091999"/>
            <a:ext cx="453117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small" baseline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7" name="Titre 3"/>
          <p:cNvSpPr>
            <a:spLocks noGrp="1"/>
          </p:cNvSpPr>
          <p:nvPr>
            <p:ph type="title" hasCustomPrompt="1"/>
          </p:nvPr>
        </p:nvSpPr>
        <p:spPr>
          <a:xfrm>
            <a:off x="688138" y="2233821"/>
            <a:ext cx="8224926" cy="698763"/>
          </a:xfrm>
          <a:prstGeom prst="rect">
            <a:avLst/>
          </a:prstGeom>
        </p:spPr>
        <p:txBody>
          <a:bodyPr anchor="ctr"/>
          <a:lstStyle>
            <a:lvl1pPr algn="l">
              <a:defRPr sz="2000" i="0" cap="all" baseline="0">
                <a:solidFill>
                  <a:schemeClr val="bg1"/>
                </a:solidFill>
                <a:latin typeface="Michelin" pitchFamily="50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013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9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E257E41-FBF6-421D-BC54-EE7D229C4F4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8128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3" name="Imag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53305C7-5BC5-4148-9CB8-211B9FDCBB9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62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981F529-AA17-44D5-8D38-77711D868D8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6491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4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6580618-2261-452B-B63C-B73843BF33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5402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2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CA0D2F1-F911-4251-AF05-D45176F598D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2303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2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4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E112B9-6275-4176-82A8-E8CE6866F66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8131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622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0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1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4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4421E3A-E764-41DF-AF41-6353558DDDF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671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622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lang="fr-FR" sz="18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1pPr>
            <a:lvl2pPr marL="742932" indent="-285744">
              <a:buFontTx/>
              <a:buBlip>
                <a:blip r:embed="rId2"/>
              </a:buBlip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+mn-ea"/>
                <a:cs typeface="Arial"/>
              </a:defRPr>
            </a:lvl2pPr>
            <a:lvl3pPr marL="1142971" indent="-228594">
              <a:buFontTx/>
              <a:buBlip>
                <a:blip r:embed="rId3"/>
              </a:buBlip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lang="fr-FR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lang="en-GB" sz="14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189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932" lvl="1" indent="-285744" algn="l" defTabSz="457189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971" lvl="2" indent="-228594" algn="l" defTabSz="457189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600160" lvl="3" indent="-228594" algn="l" defTabSz="457189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7349" lvl="4" indent="-228594" algn="l" defTabSz="45718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sp>
        <p:nvSpPr>
          <p:cNvPr id="15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504"/>
            <a:ext cx="7886700" cy="483200"/>
          </a:xfrm>
          <a:prstGeom prst="rect">
            <a:avLst/>
          </a:prstGeom>
        </p:spPr>
        <p:txBody>
          <a:bodyPr anchor="ctr"/>
          <a:lstStyle>
            <a:lvl1pPr algn="l" defTabSz="457189" rtl="0" eaLnBrk="1" latinLnBrk="0" hangingPunct="1">
              <a:spcBef>
                <a:spcPct val="0"/>
              </a:spcBef>
              <a:buNone/>
              <a:defRPr lang="en-GB" sz="2800" b="1" i="1" kern="1200" cap="all" baseline="0" dirty="0">
                <a:solidFill>
                  <a:srgbClr val="27509B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672" y="4426066"/>
            <a:ext cx="1944000" cy="519417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46" y="4426066"/>
            <a:ext cx="1384990" cy="519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42FC3AF-5FE6-4BB1-9833-2F263D582E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4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2737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199" y="0"/>
            <a:ext cx="8686804" cy="4897512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Title 5"/>
          <p:cNvSpPr txBox="1">
            <a:spLocks/>
          </p:cNvSpPr>
          <p:nvPr userDrawn="1"/>
        </p:nvSpPr>
        <p:spPr>
          <a:xfrm>
            <a:off x="449581" y="2173528"/>
            <a:ext cx="8694420" cy="68009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0" i="0">
                <a:solidFill>
                  <a:prstClr val="white"/>
                </a:solidFill>
                <a:latin typeface="Michelin" pitchFamily="50" charset="0"/>
                <a:cs typeface="Arial"/>
              </a:rPr>
              <a:t>MERCI</a:t>
            </a:r>
          </a:p>
        </p:txBody>
      </p:sp>
      <p:pic>
        <p:nvPicPr>
          <p:cNvPr id="4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2538" y="345314"/>
            <a:ext cx="1963103" cy="939689"/>
          </a:xfrm>
          <a:prstGeom prst="rect">
            <a:avLst/>
          </a:prstGeom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38" y="3692607"/>
            <a:ext cx="2891900" cy="1204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918164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 flipH="1">
            <a:off x="1" y="0"/>
            <a:ext cx="457199" cy="514508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GB">
              <a:solidFill>
                <a:prstClr val="white"/>
              </a:solidFill>
            </a:endParaRPr>
          </a:p>
        </p:txBody>
      </p:sp>
      <p:sp>
        <p:nvSpPr>
          <p:cNvPr id="14" name="Title 5"/>
          <p:cNvSpPr txBox="1">
            <a:spLocks/>
          </p:cNvSpPr>
          <p:nvPr userDrawn="1"/>
        </p:nvSpPr>
        <p:spPr>
          <a:xfrm>
            <a:off x="449581" y="2173528"/>
            <a:ext cx="8694420" cy="68009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0" i="0">
                <a:solidFill>
                  <a:srgbClr val="27509B"/>
                </a:solidFill>
                <a:latin typeface="Michelin" pitchFamily="50" charset="0"/>
                <a:cs typeface="Arial"/>
              </a:rPr>
              <a:t>MERCI</a:t>
            </a:r>
          </a:p>
        </p:txBody>
      </p:sp>
      <p:pic>
        <p:nvPicPr>
          <p:cNvPr id="4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2538" y="345314"/>
            <a:ext cx="1963103" cy="939688"/>
          </a:xfrm>
          <a:prstGeom prst="rect">
            <a:avLst/>
          </a:prstGeom>
        </p:spPr>
      </p:pic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0804" y="3997501"/>
            <a:ext cx="2373197" cy="8900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384614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800"/>
          </a:p>
        </p:txBody>
      </p:sp>
      <p:sp>
        <p:nvSpPr>
          <p:cNvPr id="7" name="Titre 12"/>
          <p:cNvSpPr>
            <a:spLocks noGrp="1"/>
          </p:cNvSpPr>
          <p:nvPr>
            <p:ph type="title" hasCustomPrompt="1"/>
          </p:nvPr>
        </p:nvSpPr>
        <p:spPr>
          <a:xfrm>
            <a:off x="457200" y="114336"/>
            <a:ext cx="8229600" cy="47004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2800" b="1" i="1" cap="all" baseline="0">
                <a:solidFill>
                  <a:srgbClr val="27509B"/>
                </a:solidFill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11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7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 marL="742932" indent="-285744">
              <a:buFontTx/>
              <a:buBlip>
                <a:blip r:embed="rId2"/>
              </a:buBlip>
              <a:defRPr sz="1600"/>
            </a:lvl2pPr>
            <a:lvl3pPr marL="1142971" indent="-228594">
              <a:buFontTx/>
              <a:buBlip>
                <a:blip r:embed="rId3"/>
              </a:buBlip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160" indent="-228594">
              <a:buFont typeface="Wingdings" panose="05000000000000000000" pitchFamily="2" charset="2"/>
              <a:buChar char="§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349" indent="-228594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271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2B319CC-E261-134F-BFBC-DD5C47A61D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9051" y="690847"/>
            <a:ext cx="4784360" cy="3163438"/>
          </a:xfrm>
          <a:prstGeom prst="rect">
            <a:avLst/>
          </a:prstGeom>
        </p:spPr>
      </p:pic>
      <p:pic>
        <p:nvPicPr>
          <p:cNvPr id="4" name="Imagen 3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6749395E-3B42-4251-A763-B3DC27A224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00937" y="3852667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3561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ullet Point styl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28">
            <a:extLst>
              <a:ext uri="{FF2B5EF4-FFF2-40B4-BE49-F238E27FC236}">
                <a16:creationId xmlns:a16="http://schemas.microsoft.com/office/drawing/2014/main" id="{D8F74563-30A1-1DD0-13CB-D0B9DCE81D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4596" y="1231676"/>
            <a:ext cx="8143864" cy="2958686"/>
          </a:xfrm>
          <a:prstGeom prst="rect">
            <a:avLst/>
          </a:prstGeom>
        </p:spPr>
        <p:txBody>
          <a:bodyPr/>
          <a:lstStyle>
            <a:lvl1pPr marL="128588" indent="-128588">
              <a:buClr>
                <a:srgbClr val="27509B"/>
              </a:buClr>
              <a:buFont typeface="Wingdings" panose="05000000000000000000" pitchFamily="2" charset="2"/>
              <a:buChar char="§"/>
              <a:defRPr lang="fr-FR" sz="1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>
              <a:buClr>
                <a:srgbClr val="27509B"/>
              </a:buClr>
              <a:buFont typeface="Wingdings" panose="05000000000000000000" pitchFamily="2" charset="2"/>
              <a:buChar char="§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42975" indent="-257175">
              <a:buClr>
                <a:srgbClr val="27509B"/>
              </a:buClr>
              <a:buFont typeface="Wingdings" panose="05000000000000000000" pitchFamily="2" charset="2"/>
              <a:buChar char="§"/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 Bullet point</a:t>
            </a:r>
          </a:p>
          <a:p>
            <a:pPr lvl="1"/>
            <a:r>
              <a:rPr lang="fr-FR"/>
              <a:t> Bullet Point</a:t>
            </a:r>
          </a:p>
          <a:p>
            <a:pPr lvl="2"/>
            <a:r>
              <a:rPr lang="fr-FR"/>
              <a:t>Bullet point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0681AD6D-056B-D09A-A11A-EA54C144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598" y="197775"/>
            <a:ext cx="8143864" cy="270368"/>
          </a:xfrm>
          <a:prstGeom prst="rect">
            <a:avLst/>
          </a:prstGeom>
        </p:spPr>
        <p:txBody>
          <a:bodyPr/>
          <a:lstStyle>
            <a:lvl1pPr>
              <a:defRPr sz="1800" b="1">
                <a:latin typeface="Michelin" panose="02000000000000000000" pitchFamily="50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10">
            <a:extLst>
              <a:ext uri="{FF2B5EF4-FFF2-40B4-BE49-F238E27FC236}">
                <a16:creationId xmlns:a16="http://schemas.microsoft.com/office/drawing/2014/main" id="{2A5FBE9C-1A0C-7A99-A4B9-C3E7770AE6F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84597" y="513552"/>
            <a:ext cx="8143864" cy="2059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fr-FR" sz="900" kern="1200" dirty="0">
                <a:solidFill>
                  <a:srgbClr val="27509B"/>
                </a:solidFill>
                <a:latin typeface="Michelin Light" panose="02000000000000000000" pitchFamily="50" charset="0"/>
                <a:ea typeface="+mn-ea"/>
                <a:cs typeface="+mn-cs"/>
              </a:defRPr>
            </a:lvl1pPr>
          </a:lstStyle>
          <a:p>
            <a:pPr lvl="0"/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33720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96A04297-BC87-1BE3-8E64-5D81375F66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E11641D-F3C3-3893-66A9-D7B5F2759F83}"/>
              </a:ext>
            </a:extLst>
          </p:cNvPr>
          <p:cNvSpPr/>
          <p:nvPr userDrawn="1"/>
        </p:nvSpPr>
        <p:spPr>
          <a:xfrm>
            <a:off x="718148" y="679274"/>
            <a:ext cx="407598" cy="116492"/>
          </a:xfrm>
          <a:prstGeom prst="rect">
            <a:avLst/>
          </a:prstGeom>
          <a:solidFill>
            <a:srgbClr val="27509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C36D0CB-BD06-2904-2868-26956ED7EF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4321" y="1427649"/>
            <a:ext cx="3948104" cy="26545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kumimoji="0" lang="en-US" sz="1125" b="0" i="0" u="none" strike="noStrike" cap="none" spc="-60" normalizeH="0" baseline="0" dirty="0" smtClean="0">
                <a:ln>
                  <a:noFill/>
                </a:ln>
                <a:solidFill>
                  <a:srgbClr val="27509B"/>
                </a:solidFill>
                <a:effectLst/>
                <a:uLnTx/>
                <a:uFillTx/>
                <a:latin typeface="Michelin" panose="02000000000000000000" pitchFamily="50" charset="0"/>
              </a:defRPr>
            </a:lvl1pPr>
            <a:lvl2pPr marL="171450" indent="0">
              <a:buNone/>
              <a:defRPr lang="en-US" sz="1350" dirty="0" smtClean="0"/>
            </a:lvl2pPr>
            <a:lvl3pPr>
              <a:defRPr lang="en-US" sz="1350" dirty="0" smtClean="0"/>
            </a:lvl3pPr>
            <a:lvl4pPr>
              <a:defRPr lang="en-US" dirty="0" smtClean="0"/>
            </a:lvl4pPr>
            <a:lvl5pPr>
              <a:defRPr lang="fr-FR" dirty="0"/>
            </a:lvl5pPr>
          </a:lstStyle>
          <a:p>
            <a:pPr marL="171450" marR="0" lvl="0" indent="-17145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/>
              <a:t>Click to edit Master text styles</a:t>
            </a:r>
          </a:p>
        </p:txBody>
      </p:sp>
      <p:sp>
        <p:nvSpPr>
          <p:cNvPr id="12" name="Title 13">
            <a:extLst>
              <a:ext uri="{FF2B5EF4-FFF2-40B4-BE49-F238E27FC236}">
                <a16:creationId xmlns:a16="http://schemas.microsoft.com/office/drawing/2014/main" id="{2E1A6411-7F4A-982E-0F03-B79FCE5E4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321" y="870911"/>
            <a:ext cx="3858164" cy="61831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ts val="2100"/>
              </a:lnSpc>
              <a:defRPr sz="2100" b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ichelin" panose="02000000000000000000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pic>
        <p:nvPicPr>
          <p:cNvPr id="14" name="Image 13" descr="Une image contenant clipart, Graphique, dessin humoristique&#10;&#10;Description générée automatiquement">
            <a:extLst>
              <a:ext uri="{FF2B5EF4-FFF2-40B4-BE49-F238E27FC236}">
                <a16:creationId xmlns:a16="http://schemas.microsoft.com/office/drawing/2014/main" id="{9259A7D3-8E86-B2D4-D2EC-0DCE59CDADA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7237" y="4364961"/>
            <a:ext cx="1245371" cy="655091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typographie&#10;&#10;Description générée automatiquement">
            <a:extLst>
              <a:ext uri="{FF2B5EF4-FFF2-40B4-BE49-F238E27FC236}">
                <a16:creationId xmlns:a16="http://schemas.microsoft.com/office/drawing/2014/main" id="{0F1EA9C7-4DA9-E542-9C66-EB03412DA8E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3041" y="4648203"/>
            <a:ext cx="1475993" cy="30228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17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07597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769" y="4435487"/>
            <a:ext cx="1980000" cy="529037"/>
          </a:xfrm>
          <a:prstGeom prst="rect">
            <a:avLst/>
          </a:prstGeom>
        </p:spPr>
      </p:pic>
      <p:sp>
        <p:nvSpPr>
          <p:cNvPr id="13" name="Titre 12"/>
          <p:cNvSpPr>
            <a:spLocks noGrp="1"/>
          </p:cNvSpPr>
          <p:nvPr>
            <p:ph type="title" hasCustomPrompt="1"/>
          </p:nvPr>
        </p:nvSpPr>
        <p:spPr>
          <a:xfrm>
            <a:off x="457200" y="114339"/>
            <a:ext cx="8229600" cy="47004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1500" b="1" i="1" cap="all" baseline="0">
                <a:solidFill>
                  <a:srgbClr val="27509B"/>
                </a:solidFill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fr-FR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5145088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35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800349"/>
            <a:ext cx="8229598" cy="3608718"/>
          </a:xfrm>
          <a:prstGeom prst="rect">
            <a:avLst/>
          </a:prstGeom>
        </p:spPr>
        <p:txBody>
          <a:bodyPr/>
          <a:lstStyle>
            <a:lvl1pPr>
              <a:defRPr sz="1350"/>
            </a:lvl1pPr>
            <a:lvl2pPr marL="557199" indent="-214308">
              <a:buFontTx/>
              <a:buBlip>
                <a:blip r:embed="rId3"/>
              </a:buBlip>
              <a:defRPr sz="1200"/>
            </a:lvl2pPr>
            <a:lvl3pPr marL="857228" indent="-171446">
              <a:buFontTx/>
              <a:buBlip>
                <a:blip r:embed="rId4"/>
              </a:buBlip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20" indent="-171446">
              <a:buFont typeface="Wingdings" panose="05000000000000000000" pitchFamily="2" charset="2"/>
              <a:buChar char="§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12" indent="-171446">
              <a:buFont typeface="Arial" panose="020B0604020202020204" pitchFamily="34" charset="0"/>
              <a:buChar char="•"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6265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3" name="Imagen 2" descr="Logotipo&#10;&#10;Descripción generada automáticamente">
            <a:extLst>
              <a:ext uri="{FF2B5EF4-FFF2-40B4-BE49-F238E27FC236}">
                <a16:creationId xmlns:a16="http://schemas.microsoft.com/office/drawing/2014/main" id="{9BCB9C88-4075-4FDE-953B-650C6FE011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26793" y="3822650"/>
            <a:ext cx="1357154" cy="71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4174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e de titre">
    <p:bg>
      <p:bgPr>
        <a:blipFill dpi="0" rotWithShape="1">
          <a:blip r:embed="rId2">
            <a:lum/>
          </a:blip>
          <a:srcRect/>
          <a:stretch>
            <a:fillRect t="-44000" b="-4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3" name="Imagen 2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930CFA69-9EF6-4454-9345-B8A1E083D3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50931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84475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e de titre">
    <p:bg>
      <p:bgPr>
        <a:blipFill dpi="0" rotWithShape="1">
          <a:blip r:embed="rId2">
            <a:lum/>
          </a:blip>
          <a:srcRect/>
          <a:stretch>
            <a:fillRect t="-22000" b="-2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FF46AF3E-FCF9-E048-940B-9B5CC60EC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    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1F26D7B4-2798-5846-97E7-6C56C52797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5" name="Imagen 4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820ECF0-096E-4068-B6C0-472415A756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50956" y="170362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774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3">
            <a:extLst>
              <a:ext uri="{FF2B5EF4-FFF2-40B4-BE49-F238E27FC236}">
                <a16:creationId xmlns:a16="http://schemas.microsoft.com/office/drawing/2014/main" id="{5F488E68-108E-D44B-9421-195C339C8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</a:t>
            </a:r>
            <a:r>
              <a:rPr lang="en-GB" noProof="0"/>
              <a:t>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2C33B8D4-4005-C345-8515-4D12A63329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67D92237-FF96-4A2C-94D8-082BD4B6D2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0937" y="3852667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259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3">
            <a:extLst>
              <a:ext uri="{FF2B5EF4-FFF2-40B4-BE49-F238E27FC236}">
                <a16:creationId xmlns:a16="http://schemas.microsoft.com/office/drawing/2014/main" id="{0A448A33-AC2A-174F-854D-D9637139CC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343" y="606226"/>
            <a:ext cx="5543550" cy="169788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</a:t>
            </a:r>
            <a:r>
              <a:rPr lang="en-GB" noProof="0"/>
              <a:t>Titre TITLE</a:t>
            </a:r>
            <a:br>
              <a:rPr lang="en-GB" noProof="0"/>
            </a:br>
            <a:r>
              <a:rPr lang="en-GB" noProof="0"/>
              <a:t>  TITRE TITLE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3573ED48-84B9-934E-9C93-AA1AB83CD7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036" y="2380044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105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29/09/2020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09DBB39F-3808-4685-9761-5F7CC48528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81370" y="405091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97847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>
            <a:extLst>
              <a:ext uri="{FF2B5EF4-FFF2-40B4-BE49-F238E27FC236}">
                <a16:creationId xmlns:a16="http://schemas.microsoft.com/office/drawing/2014/main" id="{89A94041-F71A-9640-80CF-0F0F0E50C5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38372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57AF25D2-3EAF-904E-BB9E-3B6EF684F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490" y="1355498"/>
            <a:ext cx="5543550" cy="2434092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405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      01.</a:t>
            </a:r>
            <a:br>
              <a:rPr lang="en-GB"/>
            </a:br>
            <a:r>
              <a:rPr lang="en-GB"/>
              <a:t>    Titre TITLE</a:t>
            </a:r>
            <a:br>
              <a:rPr lang="en-GB"/>
            </a:br>
            <a:r>
              <a:rPr lang="en-GB"/>
              <a:t>  TITRE TITLE</a:t>
            </a:r>
            <a:br>
              <a:rPr lang="en-GB"/>
            </a:br>
            <a:r>
              <a:rPr lang="en-GB"/>
              <a:t>TITRE</a:t>
            </a:r>
          </a:p>
        </p:txBody>
      </p:sp>
      <p:pic>
        <p:nvPicPr>
          <p:cNvPr id="5" name="Imagen 4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3EEEB8D-C662-4765-8EC7-D21E8B1BF3E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50943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8465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E3CF721B-AF71-9E4F-BB7B-6D2000C992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0092" y="-74475"/>
            <a:ext cx="2893433" cy="4898973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847" y="372739"/>
            <a:ext cx="5543550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Titre</a:t>
            </a:r>
            <a:br>
              <a:rPr lang="en-GB" noProof="0"/>
            </a:br>
            <a:r>
              <a:rPr lang="en-GB" noProof="0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1846" y="1319822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95F6F683-D9B8-FF43-8DAA-1FBB8E8AB7E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81846" y="1694475"/>
            <a:ext cx="5543549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5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3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35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440A12D6-8475-49A4-B70E-D19D850C9D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99754" y="3954768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260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23F0ACB-9EBF-B24A-ADA2-5C87C2C912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0" y="0"/>
            <a:ext cx="4572000" cy="4892347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846" y="325436"/>
            <a:ext cx="3686892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1846" y="1288991"/>
            <a:ext cx="3686891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95F6F683-D9B8-FF43-8DAA-1FBB8E8AB7E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81846" y="1694475"/>
            <a:ext cx="3686893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2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2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B432125C-0C1F-49A2-9662-BDB3EE5CBC0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00950" y="3886259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74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D33068A7-B824-1A46-888C-CEE728224E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2893433" cy="4895957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928" y="372739"/>
            <a:ext cx="5543550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53927" y="1286070"/>
            <a:ext cx="5543549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EA9B8705-1F0B-5644-8F49-553A64CD2DC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253928" y="1691120"/>
            <a:ext cx="4463127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5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3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35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7" name="Imagen 6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A1AAEF17-29E6-4458-BC96-8D250A9968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22381" y="3951413"/>
            <a:ext cx="1225873" cy="64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52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position personnalisée">
    <p:bg>
      <p:bgPr>
        <a:solidFill>
          <a:srgbClr val="014E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3">
            <a:extLst>
              <a:ext uri="{FF2B5EF4-FFF2-40B4-BE49-F238E27FC236}">
                <a16:creationId xmlns:a16="http://schemas.microsoft.com/office/drawing/2014/main" id="{4C1C9CFE-EFDB-FF48-9DE9-AB4F908131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89632" y="340852"/>
            <a:ext cx="3686892" cy="890527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chemeClr val="bg1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/>
              <a:t>Titre</a:t>
            </a:r>
            <a:br>
              <a:rPr lang="en-GB"/>
            </a:br>
            <a:r>
              <a:rPr lang="en-GB"/>
              <a:t>TITLE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796F34F-CB38-6A46-8A54-4350538B182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89633" y="1304407"/>
            <a:ext cx="3686891" cy="25942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chemeClr val="bg1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12" name="Espace réservé du contenu 3">
            <a:extLst>
              <a:ext uri="{FF2B5EF4-FFF2-40B4-BE49-F238E27FC236}">
                <a16:creationId xmlns:a16="http://schemas.microsoft.com/office/drawing/2014/main" id="{8FD7DD1D-E93C-5345-A33A-628C9AC536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989633" y="1694475"/>
            <a:ext cx="3686893" cy="2449164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chemeClr val="bg1"/>
              </a:buClr>
              <a:buFont typeface="Wingdings" charset="2"/>
              <a:buChar char=""/>
              <a:defRPr sz="1200" b="1" i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chemeClr val="bg1"/>
              </a:buClr>
              <a:buSzPct val="100000"/>
              <a:buFont typeface="Lucida Grande"/>
              <a:buChar char="●"/>
              <a:defRPr sz="12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chemeClr val="bg1"/>
              </a:buClr>
              <a:buFont typeface="Wingdings" pitchFamily="2" charset="2"/>
              <a:buChar char="§"/>
              <a:defRPr sz="1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chemeClr val="bg1"/>
              </a:buClr>
              <a:buFont typeface="Lucida Grande"/>
              <a:buChar char="▸"/>
              <a:defRPr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chemeClr val="bg1"/>
              </a:buClr>
              <a:buFont typeface="Wingdings" pitchFamily="2" charset="2"/>
              <a:buChar char="v"/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5EBB6-13E1-844D-836F-EB73FD3A56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82"/>
          <a:stretch/>
        </p:blipFill>
        <p:spPr>
          <a:xfrm>
            <a:off x="0" y="1"/>
            <a:ext cx="4572000" cy="4904415"/>
          </a:xfrm>
          <a:prstGeom prst="rect">
            <a:avLst/>
          </a:prstGeom>
        </p:spPr>
      </p:pic>
      <p:pic>
        <p:nvPicPr>
          <p:cNvPr id="8" name="Imagen 7" descr="Un dibujo de un perro blanco y negro&#10;&#10;Descripción generada automáticamente con confianza baja">
            <a:extLst>
              <a:ext uri="{FF2B5EF4-FFF2-40B4-BE49-F238E27FC236}">
                <a16:creationId xmlns:a16="http://schemas.microsoft.com/office/drawing/2014/main" id="{0E1812A3-5125-43EC-8B83-2531097E94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808119" y="4120832"/>
            <a:ext cx="1059653" cy="55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7705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D83B10C9-53EA-934F-A768-591D5632B2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38372"/>
          </a:xfrm>
          <a:prstGeom prst="rect">
            <a:avLst/>
          </a:prstGeom>
        </p:spPr>
      </p:pic>
      <p:sp>
        <p:nvSpPr>
          <p:cNvPr id="14" name="Titre 3">
            <a:extLst>
              <a:ext uri="{FF2B5EF4-FFF2-40B4-BE49-F238E27FC236}">
                <a16:creationId xmlns:a16="http://schemas.microsoft.com/office/drawing/2014/main" id="{98F3E029-05D4-4945-9E36-3B3D678D8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225" y="1017753"/>
            <a:ext cx="5543550" cy="418088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3000" b="1" i="0">
                <a:solidFill>
                  <a:srgbClr val="014E9F"/>
                </a:solidFill>
                <a:latin typeface="Michelin" panose="02000000000000000000" pitchFamily="2" charset="0"/>
              </a:defRPr>
            </a:lvl1pPr>
          </a:lstStyle>
          <a:p>
            <a:r>
              <a:rPr lang="en-GB" noProof="0"/>
              <a:t>Titre TITLE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B2E5BC9-E70A-A24A-9F4D-E3EA8597C8E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00225" y="1435841"/>
            <a:ext cx="5543549" cy="21448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lang="fr-FR" sz="900" b="1" i="0" kern="1200" baseline="0" smtClean="0">
                <a:solidFill>
                  <a:srgbClr val="014E9F"/>
                </a:solidFill>
                <a:latin typeface="Michelin SemiBold" panose="02000000000000000000" pitchFamily="2" charset="0"/>
                <a:ea typeface="+mn-ea"/>
                <a:cs typeface="Arial"/>
              </a:defRPr>
            </a:lvl1pPr>
            <a:lvl2pPr marL="3428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2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99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8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Sous titre / SUBTITLE</a:t>
            </a:r>
          </a:p>
        </p:txBody>
      </p:sp>
      <p:sp>
        <p:nvSpPr>
          <p:cNvPr id="9" name="Espace réservé du contenu 3">
            <a:extLst>
              <a:ext uri="{FF2B5EF4-FFF2-40B4-BE49-F238E27FC236}">
                <a16:creationId xmlns:a16="http://schemas.microsoft.com/office/drawing/2014/main" id="{9F0CC2BE-2D84-6145-8BF0-CAF681C2495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800225" y="1815221"/>
            <a:ext cx="5543549" cy="2582710"/>
          </a:xfrm>
          <a:prstGeom prst="rect">
            <a:avLst/>
          </a:prstGeom>
        </p:spPr>
        <p:txBody>
          <a:bodyPr/>
          <a:lstStyle>
            <a:lvl1pPr marL="257175" indent="-257175">
              <a:buClr>
                <a:srgbClr val="014E9F"/>
              </a:buClr>
              <a:buFont typeface="Wingdings" charset="2"/>
              <a:buChar char=""/>
              <a:defRPr sz="1500" b="1" i="1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213" indent="-214313">
              <a:buClr>
                <a:srgbClr val="014E9F"/>
              </a:buClr>
              <a:buSzPct val="100000"/>
              <a:buFont typeface="Lucida Grande"/>
              <a:buChar char="●"/>
              <a:defRPr sz="1350" b="1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Clr>
                <a:srgbClr val="014E9F"/>
              </a:buClr>
              <a:buFont typeface="Wingdings" pitchFamily="2" charset="2"/>
              <a:buChar char="§"/>
              <a:defRPr sz="1350" baseline="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Clr>
                <a:srgbClr val="014E9F"/>
              </a:buClr>
              <a:buFont typeface="Lucida Grande"/>
              <a:buChar char="▸"/>
              <a:defRPr sz="105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Clr>
                <a:srgbClr val="014E9F"/>
              </a:buClr>
              <a:buFont typeface="Wingdings" pitchFamily="2" charset="2"/>
              <a:buChar char="v"/>
              <a:defRPr sz="900">
                <a:solidFill>
                  <a:srgbClr val="014E9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 noProof="0"/>
              <a:t>CLICK TO MODIFY THE TEXT OF THE MASK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10" name="Imagen 9" descr="Logotipo&#10;&#10;Descripción generada automáticamente">
            <a:extLst>
              <a:ext uri="{FF2B5EF4-FFF2-40B4-BE49-F238E27FC236}">
                <a16:creationId xmlns:a16="http://schemas.microsoft.com/office/drawing/2014/main" id="{E5309222-91C5-4F77-8D59-A7FDC3E985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900988" y="4012230"/>
            <a:ext cx="1071404" cy="56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39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12" tIns="45706" rIns="91412" bIns="457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799"/>
          </a:p>
        </p:txBody>
      </p:sp>
      <p:sp>
        <p:nvSpPr>
          <p:cNvPr id="8" name="Titre 3"/>
          <p:cNvSpPr>
            <a:spLocks noGrp="1"/>
          </p:cNvSpPr>
          <p:nvPr>
            <p:ph type="title" hasCustomPrompt="1"/>
          </p:nvPr>
        </p:nvSpPr>
        <p:spPr>
          <a:xfrm>
            <a:off x="457203" y="109472"/>
            <a:ext cx="8225621" cy="483051"/>
          </a:xfrm>
          <a:prstGeom prst="rect">
            <a:avLst/>
          </a:prstGeom>
        </p:spPr>
        <p:txBody>
          <a:bodyPr anchor="ctr"/>
          <a:lstStyle>
            <a:lvl1pPr algn="l" defTabSz="457040" rtl="0" eaLnBrk="1" latinLnBrk="0" hangingPunct="1">
              <a:spcBef>
                <a:spcPct val="0"/>
              </a:spcBef>
              <a:buNone/>
              <a:defRPr lang="en-GB" sz="1600" b="1" i="0" kern="1200" cap="all" baseline="0" dirty="0">
                <a:solidFill>
                  <a:srgbClr val="27509B"/>
                </a:solidFill>
                <a:latin typeface="Michelin" pitchFamily="50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9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457203" y="656983"/>
            <a:ext cx="8229598" cy="4169459"/>
          </a:xfrm>
          <a:prstGeom prst="rect">
            <a:avLst/>
          </a:prstGeom>
        </p:spPr>
        <p:txBody>
          <a:bodyPr/>
          <a:lstStyle>
            <a:lvl1pPr>
              <a:defRPr lang="fr-FR" sz="16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1pPr>
            <a:lvl2pPr marL="742691" indent="-285651">
              <a:buFontTx/>
              <a:buBlip>
                <a:blip r:embed="rId2"/>
              </a:buBlip>
              <a:defRPr lang="fr-FR" sz="1400" kern="1200" noProof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142600" indent="-228520">
              <a:buFontTx/>
              <a:buBlip>
                <a:blip r:embed="rId3"/>
              </a:buBlip>
              <a:defRPr lang="fr-FR" sz="1199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1599640" indent="-228520">
              <a:buFont typeface="Wingdings" panose="05000000000000000000" pitchFamily="2" charset="2"/>
              <a:buChar char="§"/>
              <a:defRPr lang="fr-FR" sz="1199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2056680" indent="-228520">
              <a:buFont typeface="Arial" panose="020B0604020202020204" pitchFamily="34" charset="0"/>
              <a:buChar char="•"/>
              <a:defRPr lang="en-GB" sz="1199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</a:lstStyle>
          <a:p>
            <a:pPr marL="0" lvl="0" indent="0" algn="l" defTabSz="457040" rtl="0" eaLnBrk="1" latinLnBrk="0" hangingPunct="1">
              <a:spcBef>
                <a:spcPct val="20000"/>
              </a:spcBef>
              <a:buFont typeface="Arial"/>
              <a:buNone/>
            </a:pPr>
            <a:r>
              <a:rPr lang="fr-FR"/>
              <a:t>Modifier les styles du texte du masque</a:t>
            </a:r>
          </a:p>
          <a:p>
            <a:pPr marL="742691" lvl="1" indent="-285651" algn="l" defTabSz="457040" rtl="0" eaLnBrk="1" latinLnBrk="0" hangingPunct="1">
              <a:spcBef>
                <a:spcPct val="20000"/>
              </a:spcBef>
              <a:buFontTx/>
              <a:buBlip>
                <a:blip r:embed="rId2"/>
              </a:buBlip>
            </a:pPr>
            <a:r>
              <a:rPr lang="fr-FR"/>
              <a:t>Deuxième niveau</a:t>
            </a:r>
          </a:p>
          <a:p>
            <a:pPr marL="1142600" lvl="2" indent="-228520" algn="l" defTabSz="457040" rtl="0" eaLnBrk="1" latinLnBrk="0" hangingPunct="1">
              <a:spcBef>
                <a:spcPct val="20000"/>
              </a:spcBef>
              <a:buFontTx/>
              <a:buBlip>
                <a:blip r:embed="rId3"/>
              </a:buBlip>
            </a:pPr>
            <a:r>
              <a:rPr lang="fr-FR"/>
              <a:t>Troisième niveau</a:t>
            </a:r>
          </a:p>
          <a:p>
            <a:pPr marL="1599640" lvl="3" indent="-228520" algn="l" defTabSz="457040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</a:pPr>
            <a:r>
              <a:rPr lang="fr-FR"/>
              <a:t>Quatrième niveau</a:t>
            </a:r>
          </a:p>
          <a:p>
            <a:pPr marL="2056680" lvl="4" indent="-228520" algn="l" defTabSz="457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/>
              <a:t>Cinquième niveau</a:t>
            </a:r>
            <a:endParaRPr lang="en-GB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549361" y="362175"/>
            <a:ext cx="1555921" cy="648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5F2C39A-F2AE-4E4D-8C04-1EC2E580CBE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0" y="80215"/>
            <a:ext cx="1944000" cy="5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5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8632CFB-0914-6494-9920-A500C84AE0BE}"/>
              </a:ext>
            </a:extLst>
          </p:cNvPr>
          <p:cNvSpPr/>
          <p:nvPr userDrawn="1"/>
        </p:nvSpPr>
        <p:spPr>
          <a:xfrm>
            <a:off x="-107576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B417FA05-2D4C-7308-B337-C2BECF417D3F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B9D945-2D7E-8D2D-27CB-828FC81AE7A9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F54EB7A4-DFEC-4F4E-6C27-361FB4C4EEE2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06E8F27F-F0D2-E2FF-A3B0-301788DEA00D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30261AFC-B21B-AE35-E301-572212E0B154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2592924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0" r:id="rId2"/>
    <p:sldLayoutId id="2147483692" r:id="rId3"/>
    <p:sldLayoutId id="2147483689" r:id="rId4"/>
    <p:sldLayoutId id="2147483691" r:id="rId5"/>
    <p:sldLayoutId id="2147483688" r:id="rId6"/>
    <p:sldLayoutId id="2147483685" r:id="rId7"/>
    <p:sldLayoutId id="2147483690" r:id="rId8"/>
    <p:sldLayoutId id="2147483686" r:id="rId9"/>
    <p:sldLayoutId id="2147483687" r:id="rId10"/>
    <p:sldLayoutId id="2147483694" r:id="rId11"/>
    <p:sldLayoutId id="2147483655" r:id="rId12"/>
    <p:sldLayoutId id="2147483656" r:id="rId13"/>
    <p:sldLayoutId id="2147483657" r:id="rId14"/>
    <p:sldLayoutId id="2147483661" r:id="rId15"/>
    <p:sldLayoutId id="2147483663" r:id="rId16"/>
    <p:sldLayoutId id="2147483665" r:id="rId17"/>
    <p:sldLayoutId id="2147483668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95" r:id="rId29"/>
    <p:sldLayoutId id="2147483710" r:id="rId30"/>
    <p:sldLayoutId id="2147483711" r:id="rId31"/>
    <p:sldLayoutId id="2147483712" r:id="rId32"/>
    <p:sldLayoutId id="2147483713" r:id="rId3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C7C752-8314-2044-B667-E3C727B7D358}"/>
              </a:ext>
            </a:extLst>
          </p:cNvPr>
          <p:cNvSpPr/>
          <p:nvPr userDrawn="1"/>
        </p:nvSpPr>
        <p:spPr>
          <a:xfrm>
            <a:off x="-107576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6" name="Espace réservé de la date 3">
            <a:extLst>
              <a:ext uri="{FF2B5EF4-FFF2-40B4-BE49-F238E27FC236}">
                <a16:creationId xmlns:a16="http://schemas.microsoft.com/office/drawing/2014/main" id="{CED0D7C3-FDC5-5040-AE15-9404BCCCA859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17" name="Espace réservé de la date 3">
            <a:extLst>
              <a:ext uri="{FF2B5EF4-FFF2-40B4-BE49-F238E27FC236}">
                <a16:creationId xmlns:a16="http://schemas.microsoft.com/office/drawing/2014/main" id="{DBC44928-C852-C840-9C84-AF6DB7E62227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11" name="Espace réservé de la date 3">
            <a:extLst>
              <a:ext uri="{FF2B5EF4-FFF2-40B4-BE49-F238E27FC236}">
                <a16:creationId xmlns:a16="http://schemas.microsoft.com/office/drawing/2014/main" id="{CDA02ACC-E90A-924B-AF14-D26E6F8D1937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10C214F-90DE-0B4A-8A22-8A919B86CDD9}"/>
              </a:ext>
            </a:extLst>
          </p:cNvPr>
          <p:cNvSpPr txBox="1"/>
          <p:nvPr userDrawn="1"/>
        </p:nvSpPr>
        <p:spPr>
          <a:xfrm>
            <a:off x="150185" y="4576433"/>
            <a:ext cx="48923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1A9E20A-4BD6-B345-889F-8D42769A2BD8}" type="slidenum">
              <a:rPr lang="fr-FR" sz="900" b="1" i="0" smtClean="0">
                <a:solidFill>
                  <a:schemeClr val="bg1"/>
                </a:solidFill>
                <a:latin typeface="Michelin" panose="02000000000000000000" pitchFamily="2" charset="0"/>
              </a:rPr>
              <a:t>‹Nº›</a:t>
            </a:fld>
            <a:endParaRPr lang="fr-FR" sz="900" b="1" i="0">
              <a:solidFill>
                <a:schemeClr val="bg1"/>
              </a:solidFill>
              <a:latin typeface="Michelin" panose="02000000000000000000" pitchFamily="2" charset="0"/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8611D9-295D-06D8-FC62-5670DD22AA75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9C773B8F-EF10-3104-5789-B674B7A71C4F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412581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710C214F-90DE-0B4A-8A22-8A919B86CDD9}"/>
              </a:ext>
            </a:extLst>
          </p:cNvPr>
          <p:cNvSpPr txBox="1"/>
          <p:nvPr userDrawn="1"/>
        </p:nvSpPr>
        <p:spPr>
          <a:xfrm>
            <a:off x="150185" y="4576433"/>
            <a:ext cx="48923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1A9E20A-4BD6-B345-889F-8D42769A2BD8}" type="slidenum">
              <a:rPr lang="fr-FR" sz="900" b="1" i="0" smtClean="0">
                <a:solidFill>
                  <a:srgbClr val="014E9F"/>
                </a:solidFill>
                <a:latin typeface="Michelin" panose="02000000000000000000" pitchFamily="2" charset="0"/>
              </a:rPr>
              <a:t>‹Nº›</a:t>
            </a:fld>
            <a:endParaRPr lang="fr-FR" sz="900" b="1" i="0">
              <a:solidFill>
                <a:srgbClr val="014E9F"/>
              </a:solidFill>
              <a:latin typeface="Michelin" panose="02000000000000000000" pitchFamily="2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0CDD259B-C6E1-4969-93C9-D2C218F4A3EA}"/>
              </a:ext>
            </a:extLst>
          </p:cNvPr>
          <p:cNvSpPr/>
          <p:nvPr userDrawn="1"/>
        </p:nvSpPr>
        <p:spPr>
          <a:xfrm>
            <a:off x="0" y="4898411"/>
            <a:ext cx="9144000" cy="2466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6" name="Espace réservé de la date 3">
            <a:extLst>
              <a:ext uri="{FF2B5EF4-FFF2-40B4-BE49-F238E27FC236}">
                <a16:creationId xmlns:a16="http://schemas.microsoft.com/office/drawing/2014/main" id="{A9E7D19F-17E0-488D-A526-F690F20B1DBD}"/>
              </a:ext>
            </a:extLst>
          </p:cNvPr>
          <p:cNvSpPr txBox="1">
            <a:spLocks/>
          </p:cNvSpPr>
          <p:nvPr userDrawn="1"/>
        </p:nvSpPr>
        <p:spPr>
          <a:xfrm>
            <a:off x="5612662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D3</a:t>
            </a:r>
          </a:p>
        </p:txBody>
      </p:sp>
      <p:sp>
        <p:nvSpPr>
          <p:cNvPr id="17" name="Espace réservé de la date 3">
            <a:extLst>
              <a:ext uri="{FF2B5EF4-FFF2-40B4-BE49-F238E27FC236}">
                <a16:creationId xmlns:a16="http://schemas.microsoft.com/office/drawing/2014/main" id="{E9D5A49C-E8B5-4934-A559-14F71F1DCD78}"/>
              </a:ext>
            </a:extLst>
          </p:cNvPr>
          <p:cNvSpPr txBox="1">
            <a:spLocks/>
          </p:cNvSpPr>
          <p:nvPr userDrawn="1"/>
        </p:nvSpPr>
        <p:spPr>
          <a:xfrm>
            <a:off x="7433489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Conservación</a:t>
            </a:r>
            <a:r>
              <a:rPr lang="en-GB" sz="750" noProof="0">
                <a:solidFill>
                  <a:srgbClr val="919191"/>
                </a:solidFill>
              </a:rPr>
              <a:t>: WA</a:t>
            </a:r>
          </a:p>
        </p:txBody>
      </p:sp>
      <p:sp>
        <p:nvSpPr>
          <p:cNvPr id="21" name="Espace réservé de la date 3">
            <a:extLst>
              <a:ext uri="{FF2B5EF4-FFF2-40B4-BE49-F238E27FC236}">
                <a16:creationId xmlns:a16="http://schemas.microsoft.com/office/drawing/2014/main" id="{05AABFAE-E1A2-4D25-8019-B1D2436D3C86}"/>
              </a:ext>
            </a:extLst>
          </p:cNvPr>
          <p:cNvSpPr txBox="1">
            <a:spLocks/>
          </p:cNvSpPr>
          <p:nvPr userDrawn="1"/>
        </p:nvSpPr>
        <p:spPr>
          <a:xfrm>
            <a:off x="150185" y="4898411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Ref./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BFF4DCE0-683E-6F10-A537-E440FF5E8753}"/>
              </a:ext>
            </a:extLst>
          </p:cNvPr>
          <p:cNvSpPr txBox="1">
            <a:spLocks/>
          </p:cNvSpPr>
          <p:nvPr userDrawn="1"/>
        </p:nvSpPr>
        <p:spPr>
          <a:xfrm>
            <a:off x="1971011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Autor/Depart: VIT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CD3AF29B-7AEB-2CD2-524E-9090E523039D}"/>
              </a:ext>
            </a:extLst>
          </p:cNvPr>
          <p:cNvSpPr txBox="1">
            <a:spLocks/>
          </p:cNvSpPr>
          <p:nvPr userDrawn="1"/>
        </p:nvSpPr>
        <p:spPr>
          <a:xfrm>
            <a:off x="3791837" y="4904252"/>
            <a:ext cx="1652034" cy="226387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750" noProof="0" err="1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  <a:r>
              <a:rPr lang="en-GB" sz="750" noProof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15/05/2026 </a:t>
            </a:r>
          </a:p>
        </p:txBody>
      </p:sp>
    </p:spTree>
    <p:extLst>
      <p:ext uri="{BB962C8B-B14F-4D97-AF65-F5344CB8AC3E}">
        <p14:creationId xmlns:p14="http://schemas.microsoft.com/office/powerpoint/2010/main" val="2615516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4.jpg"/><Relationship Id="rId4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El entorno digital de fabricación Michelin · OLM + R4P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Calidad que se decide en tiempo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2926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00205B"/>
                </a:solidFill>
                <a:latin typeface="Michelin"/>
              </a:rPr>
              <a:t>HYUNDAI MOTOR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¿Y si cada neumático pudiera contarnos cómo se fabricó?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CE500"/>
                </a:solidFill>
                <a:latin typeface="Michelin"/>
              </a:rPr>
              <a:t>Hoy lo hace. Les enseñamos cómo.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 formas de controlar la calidad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868680"/>
            <a:ext cx="3735730" cy="342900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5268" y="1051560"/>
            <a:ext cx="3195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cap="all">
                <a:solidFill>
                  <a:srgbClr val="6E6E6E"/>
                </a:solidFill>
                <a:latin typeface="Michelin"/>
              </a:rPr>
              <a:t>Control tradicional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268" y="155448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6E6E6E"/>
                </a:solidFill>
                <a:latin typeface="Michelin"/>
              </a:rPr>
              <a:t>1 muestra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559" y="1554480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6E6E6E"/>
                </a:solidFill>
                <a:latin typeface="Arial"/>
              </a:rPr>
              <a:t>por turno, de forma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268" y="242316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6E6E6E"/>
                </a:solidFill>
                <a:latin typeface="Michelin"/>
              </a:rPr>
              <a:t>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0559" y="2423160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6E6E6E"/>
                </a:solidFill>
                <a:latin typeface="Arial"/>
              </a:rPr>
              <a:t>hasta descubrir una desviación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268" y="3291839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6E6E6E"/>
                </a:solidFill>
                <a:latin typeface="Michelin"/>
              </a:rPr>
              <a:t>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559" y="3291839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6E6E6E"/>
                </a:solidFill>
                <a:latin typeface="Arial"/>
              </a:rPr>
              <a:t>se reacciona cuando el defecto ya existe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1069" y="868680"/>
            <a:ext cx="3735730" cy="342900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21122" y="1051560"/>
            <a:ext cx="3195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cap="all">
                <a:solidFill>
                  <a:srgbClr val="FCE500"/>
                </a:solidFill>
                <a:latin typeface="Michelin"/>
              </a:rPr>
              <a:t>Control digital Michelin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122" y="155448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CE500"/>
                </a:solidFill>
                <a:latin typeface="Michelin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6412" y="1554480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de los neumáticos, de forma automática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122" y="2423160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CE500"/>
                </a:solidFill>
                <a:latin typeface="Michelin"/>
              </a:rPr>
              <a:t>Segundos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6412" y="2423160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para detectar una deriva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122" y="3291839"/>
            <a:ext cx="144028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CE500"/>
                </a:solidFill>
                <a:latin typeface="Michelin"/>
              </a:rPr>
              <a:t>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6412" y="3291839"/>
            <a:ext cx="17553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se corrige antes de que exista el defecto</a:t>
            </a:r>
          </a:p>
        </p:txBody>
      </p:sp>
      <p:sp>
        <p:nvSpPr>
          <p:cNvPr id="20" name="Chevron 19"/>
          <p:cNvSpPr/>
          <p:nvPr/>
        </p:nvSpPr>
        <p:spPr>
          <a:xfrm>
            <a:off x="4473976" y="2286000"/>
            <a:ext cx="324063" cy="594360"/>
          </a:xfrm>
          <a:prstGeom prst="chevron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Nuestro camino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OLM y R4P funcionan hoy en nuestras líneas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3291840"/>
            <a:ext cx="1512295" cy="128016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1240" y="34015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62626"/>
                </a:solidFill>
                <a:latin typeface="Micheli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40" y="37947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262626"/>
                </a:solidFill>
                <a:latin typeface="Michelin"/>
              </a:rPr>
              <a:t>Muestreo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40" y="42793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Controles manuales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32538" y="2834640"/>
            <a:ext cx="1512295" cy="1737360"/>
          </a:xfrm>
          <a:prstGeom prst="rect">
            <a:avLst/>
          </a:prstGeom>
          <a:solidFill>
            <a:srgbClr val="C9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8562" y="29443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B"/>
                </a:solidFill>
                <a:latin typeface="Micheli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8562" y="33375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00205B"/>
                </a:solidFill>
                <a:latin typeface="Michelin"/>
              </a:rPr>
              <a:t>Conectada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8562" y="3822191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205B"/>
                </a:solidFill>
                <a:latin typeface="Arial"/>
              </a:rPr>
              <a:t>PI System desde 2017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79860" y="2377440"/>
            <a:ext cx="1512295" cy="2194560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05884" y="24871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helin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884" y="28803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FFFFFF"/>
                </a:solidFill>
                <a:latin typeface="Michelin"/>
              </a:rPr>
              <a:t>Ver y entender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884" y="33649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OLM: medida 3D y analítica en tiempo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7182" y="1920240"/>
            <a:ext cx="1512295" cy="26517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3206" y="20299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helin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3206" y="24231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FFFFFF"/>
                </a:solidFill>
                <a:latin typeface="Michelin"/>
              </a:rPr>
              <a:t>Decidir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3206" y="29077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R4P: el proceso se corrige solo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4504" y="1463040"/>
            <a:ext cx="1512295" cy="3108960"/>
          </a:xfrm>
          <a:prstGeom prst="rect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528" y="1572768"/>
            <a:ext cx="7201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B"/>
                </a:solidFill>
                <a:latin typeface="Michelin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0528" y="1965960"/>
            <a:ext cx="12602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cap="all">
                <a:solidFill>
                  <a:srgbClr val="00205B"/>
                </a:solidFill>
                <a:latin typeface="Michelin"/>
              </a:rPr>
              <a:t>Anticipar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0528" y="2450592"/>
            <a:ext cx="12602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205B"/>
                </a:solidFill>
                <a:latin typeface="Arial"/>
              </a:rPr>
              <a:t>IA y gemelos digitales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9860" y="960120"/>
            <a:ext cx="315961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7509B"/>
                </a:solidFill>
                <a:latin typeface="Michelin"/>
              </a:rPr>
              <a:t>HOY EN PRODUCCIÓN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79860" y="1243584"/>
            <a:ext cx="3159617" cy="27432"/>
          </a:xfrm>
          <a:prstGeom prst="rect">
            <a:avLst/>
          </a:prstGeom>
          <a:solidFill>
            <a:srgbClr val="275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4504" y="960120"/>
            <a:ext cx="1512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5B"/>
                </a:solidFill>
                <a:latin typeface="Michelin"/>
              </a:rPr>
              <a:t>SIGUIENTE PASO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es un piloto: es nuestra forma de fabricar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OLM y R4P forman parte del programa Plant 4.0 del grupo Michelin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51560"/>
            <a:ext cx="256550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7509B"/>
                </a:solidFill>
                <a:latin typeface="Michelin"/>
              </a:rPr>
              <a:t>60 M€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783080"/>
            <a:ext cx="23404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de ahorro anual gracias a la digitalización y la IA en nuestras plantas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0752" y="1051560"/>
            <a:ext cx="256550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7509B"/>
                </a:solidFill>
                <a:latin typeface="Michelin"/>
              </a:rPr>
              <a:t>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0752" y="1783080"/>
            <a:ext cx="23404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inicio de la plataforma Digital Manufacturing sobre PI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6289" y="1051560"/>
            <a:ext cx="256550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7509B"/>
                </a:solidFill>
                <a:latin typeface="Michelin"/>
              </a:rPr>
              <a:t>×3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289" y="1783080"/>
            <a:ext cx="23404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robots operativos previstos dentro de Plant 4.0</a:t>
            </a:r>
          </a:p>
        </p:txBody>
      </p:sp>
      <p:pic>
        <p:nvPicPr>
          <p:cNvPr id="11" name="Picture 10" descr="vision.jpg"/>
          <p:cNvPicPr>
            <a:picLocks noChangeAspect="1"/>
          </p:cNvPicPr>
          <p:nvPr/>
        </p:nvPicPr>
        <p:blipFill>
          <a:blip r:embed="rId3"/>
          <a:srcRect t="31449" b="31449"/>
          <a:stretch>
            <a:fillRect/>
          </a:stretch>
        </p:blipFill>
        <p:spPr>
          <a:xfrm>
            <a:off x="585216" y="2697480"/>
            <a:ext cx="8101583" cy="1691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" y="4462272"/>
            <a:ext cx="81015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E6E6E"/>
                </a:solidFill>
                <a:latin typeface="Arial"/>
              </a:rPr>
              <a:t>Cifras publicadas por Michelin (2023).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01</a:t>
            </a:r>
          </a:p>
          <a:p>
            <a:r>
              <a:t>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Cada neumático, convertido en datos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Medimos cada neumático, no una muestra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Sensores láser 3D generan la huella digital de cada componente</a:t>
            </a:r>
          </a:p>
        </p:txBody>
      </p:sp>
      <p:pic>
        <p:nvPicPr>
          <p:cNvPr id="5" name="Picture 4" descr="d2.jpg"/>
          <p:cNvPicPr>
            <a:picLocks noChangeAspect="1"/>
          </p:cNvPicPr>
          <p:nvPr/>
        </p:nvPicPr>
        <p:blipFill>
          <a:blip r:embed="rId3"/>
          <a:srcRect l="8043" r="8043"/>
          <a:stretch>
            <a:fillRect/>
          </a:stretch>
        </p:blipFill>
        <p:spPr>
          <a:xfrm>
            <a:off x="585216" y="914400"/>
            <a:ext cx="4950967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4407408"/>
            <a:ext cx="495096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E6E6E"/>
                </a:solidFill>
                <a:latin typeface="Arial"/>
              </a:rPr>
              <a:t>Escaneo 3D en la máquina MAC: cada color es una altura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245" y="960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100 %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245" y="1554480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de los neumáticos medidos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245" y="2103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3D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245" y="2697479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perfil completo de cada componente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245" y="3246120"/>
            <a:ext cx="279054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509B"/>
                </a:solidFill>
                <a:latin typeface="Michelin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1245" y="3840480"/>
            <a:ext cx="27905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contacto con el producto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dato ve lo que el ojo no 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Caso real: una soldadura mal plaqué detectada por OLM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914400"/>
            <a:ext cx="3960774" cy="310896"/>
          </a:xfrm>
          <a:prstGeom prst="rect">
            <a:avLst/>
          </a:prstGeom>
          <a:solidFill>
            <a:srgbClr val="E3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242" y="914400"/>
            <a:ext cx="369072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cap="all">
                <a:solidFill>
                  <a:srgbClr val="FFFFFF"/>
                </a:solidFill>
                <a:latin typeface="Michelin"/>
              </a:rPr>
              <a:t>NOK · Soldadura mal plaqué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225296"/>
            <a:ext cx="3960774" cy="301752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ok_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30" y="1486474"/>
            <a:ext cx="3816746" cy="1361306"/>
          </a:xfrm>
          <a:prstGeom prst="rect">
            <a:avLst/>
          </a:prstGeom>
        </p:spPr>
      </p:pic>
      <p:pic>
        <p:nvPicPr>
          <p:cNvPr id="9" name="Picture 8" descr="nok_se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29" y="3108960"/>
            <a:ext cx="1727746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" y="4315968"/>
            <a:ext cx="396077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Escalón en el corte de la unión: alerta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26025" y="914400"/>
            <a:ext cx="3960774" cy="310896"/>
          </a:xfrm>
          <a:prstGeom prst="rect">
            <a:avLst/>
          </a:prstGeom>
          <a:solidFill>
            <a:srgbClr val="009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1052" y="914400"/>
            <a:ext cx="369072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cap="all">
                <a:solidFill>
                  <a:srgbClr val="FFFFFF"/>
                </a:solidFill>
                <a:latin typeface="Michelin"/>
              </a:rPr>
              <a:t>OK · Soldadura conforme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6025" y="1225296"/>
            <a:ext cx="3960774" cy="301752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_m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764" y="1298448"/>
            <a:ext cx="2903295" cy="1737360"/>
          </a:xfrm>
          <a:prstGeom prst="rect">
            <a:avLst/>
          </a:prstGeom>
        </p:spPr>
      </p:pic>
      <p:pic>
        <p:nvPicPr>
          <p:cNvPr id="15" name="Picture 14" descr="ok_se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0464" y="3108960"/>
            <a:ext cx="3051895" cy="1051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6025" y="4315968"/>
            <a:ext cx="396077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Corte liso: producto conforme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02</a:t>
            </a:r>
          </a:p>
          <a:p>
            <a:r>
              <a:t>Entender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Del dato a la tendencia, en tiempo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Vemos la deriva antes que el defecto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real de PI Vision · MAC3 · puesto P14</a:t>
            </a:r>
          </a:p>
        </p:txBody>
      </p:sp>
      <p:pic>
        <p:nvPicPr>
          <p:cNvPr id="5" name="Picture 4" descr="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380522"/>
            <a:ext cx="5671108" cy="2633914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213655" y="173063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3655" y="17306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3708943" y="171746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8943" y="171746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3198543" y="1835992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8543" y="1835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3266596" y="1348718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6596" y="134871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6481368" y="9784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1368" y="9784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9442" y="960120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Cada neumático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su valor individual</a:t>
            </a:r>
          </a:p>
        </p:txBody>
      </p:sp>
      <p:sp>
        <p:nvSpPr>
          <p:cNvPr id="17" name="Oval 16"/>
          <p:cNvSpPr/>
          <p:nvPr/>
        </p:nvSpPr>
        <p:spPr>
          <a:xfrm>
            <a:off x="6481368" y="1819656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1368" y="1819656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9442" y="1801368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La tendencia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mediana de los 20 últimos</a:t>
            </a:r>
          </a:p>
        </p:txBody>
      </p:sp>
      <p:sp>
        <p:nvSpPr>
          <p:cNvPr id="20" name="Oval 19"/>
          <p:cNvSpPr/>
          <p:nvPr/>
        </p:nvSpPr>
        <p:spPr>
          <a:xfrm>
            <a:off x="6481368" y="2660904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1368" y="2660904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9442" y="2642616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Los límites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tolerancias siempre visibles</a:t>
            </a:r>
          </a:p>
        </p:txBody>
      </p:sp>
      <p:sp>
        <p:nvSpPr>
          <p:cNvPr id="23" name="Oval 22"/>
          <p:cNvSpPr/>
          <p:nvPr/>
        </p:nvSpPr>
        <p:spPr>
          <a:xfrm>
            <a:off x="6481368" y="3502152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1368" y="3502152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9442" y="3483864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El objetivo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valor teórico de referencia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Una alerta antes de que exista el defecto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La tendencia cruza el límite y la persona adecuada lo sabe al instante</a:t>
            </a:r>
          </a:p>
        </p:txBody>
      </p:sp>
      <p:pic>
        <p:nvPicPr>
          <p:cNvPr id="5" name="Picture 4" descr="med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915439"/>
            <a:ext cx="8101583" cy="2393649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452652" y="1185199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2652" y="118519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2108880" y="1568183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8880" y="156818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pic>
        <p:nvPicPr>
          <p:cNvPr id="10" name="Picture 9" descr="alertm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0" y="3429000"/>
            <a:ext cx="1537218" cy="1143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430576" y="34930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0576" y="34930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8650" y="3474720"/>
            <a:ext cx="26825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Entra en alerta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la mediana supera la tolerancia</a:t>
            </a:r>
          </a:p>
        </p:txBody>
      </p:sp>
      <p:sp>
        <p:nvSpPr>
          <p:cNvPr id="14" name="Oval 13"/>
          <p:cNvSpPr/>
          <p:nvPr/>
        </p:nvSpPr>
        <p:spPr>
          <a:xfrm>
            <a:off x="2430576" y="4041647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0576" y="4041647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650" y="4023359"/>
            <a:ext cx="26825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Sale de alerta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vuelve al objetivo y queda registrado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236" y="3474720"/>
            <a:ext cx="288056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Aviso en pantalla y en el móvil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Dirigido al responsable de proceso (CARE) o de mantenimiento (TECH).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 la máquina, de un vistazo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general de la MAC6: cada puesto con su estado y sus últimas medidas</a:t>
            </a:r>
          </a:p>
        </p:txBody>
      </p:sp>
      <p:pic>
        <p:nvPicPr>
          <p:cNvPr id="5" name="Picture 4" descr="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097501"/>
            <a:ext cx="5941161" cy="32456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51421" y="1097280"/>
            <a:ext cx="288056" cy="292608"/>
          </a:xfrm>
          <a:prstGeom prst="rect">
            <a:avLst/>
          </a:prstGeom>
          <a:solidFill>
            <a:srgbClr val="009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6500" y="10515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Verde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medidas conformes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51421" y="2011679"/>
            <a:ext cx="288056" cy="292608"/>
          </a:xfrm>
          <a:prstGeom prst="rect">
            <a:avLst/>
          </a:prstGeom>
          <a:solidFill>
            <a:srgbClr val="F5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56500" y="19659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Naranja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atención: a +1 mm de la tolerancia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1421" y="2926079"/>
            <a:ext cx="288056" cy="292608"/>
          </a:xfrm>
          <a:prstGeom prst="rect">
            <a:avLst/>
          </a:prstGeom>
          <a:solidFill>
            <a:srgbClr val="E3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6500" y="2880360"/>
            <a:ext cx="153029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205B"/>
                </a:solidFill>
                <a:latin typeface="Michelin"/>
              </a:rPr>
              <a:t>Rojo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medidas fuera de tolerancia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CE500"/>
                </a:solidFill>
              </a:rPr>
              <a:t>03</a:t>
            </a:r>
          </a:p>
          <a:p>
            <a:r>
              <a:t>Decidir: R4P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El motor que convierte cada medida en una acción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R4P: nuestros mejores expertos, en cada neumático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Motor de reglas en tiempo real conectado a la medida OLM</a:t>
            </a:r>
          </a:p>
        </p:txBody>
      </p:sp>
      <p:pic>
        <p:nvPicPr>
          <p:cNvPr id="5" name="Picture 4" descr="r4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937800"/>
            <a:ext cx="5311038" cy="23763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1298" y="1005840"/>
            <a:ext cx="2565501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7509B"/>
                </a:solidFill>
                <a:latin typeface="Michelin"/>
              </a:rPr>
              <a:t>Mide, </a:t>
            </a:r>
            <a:r>
              <a:rPr sz="2200" b="1" i="0">
                <a:solidFill>
                  <a:srgbClr val="00205B"/>
                </a:solidFill>
                <a:latin typeface="Michelin"/>
              </a:rPr>
              <a:t>decide </a:t>
            </a:r>
            <a:r>
              <a:rPr sz="2200" b="1" i="0">
                <a:solidFill>
                  <a:srgbClr val="27509B"/>
                </a:solidFill>
                <a:latin typeface="Michelin"/>
              </a:rPr>
              <a:t>y actúa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en segundos, sin esperar a nadie.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611880"/>
            <a:ext cx="11702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7509B"/>
                </a:solidFill>
                <a:latin typeface="Michelin"/>
              </a:rPr>
              <a:t>24/7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453" y="3611880"/>
            <a:ext cx="1440281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en todos los turnos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752" y="3611880"/>
            <a:ext cx="11702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7509B"/>
                </a:solidFill>
                <a:latin typeface="Michelin"/>
              </a:rPr>
              <a:t>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5990" y="3611880"/>
            <a:ext cx="1440281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de los neumáticos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289" y="3611880"/>
            <a:ext cx="11702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7509B"/>
                </a:solidFill>
                <a:latin typeface="Michelin"/>
              </a:rPr>
              <a:t>Seg.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527" y="3611880"/>
            <a:ext cx="1440281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de la medida a la acción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Cuatro respuestas automáticas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De la más suave a la más firme, según lo que diga la medida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242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60" y="1258417"/>
            <a:ext cx="1440281" cy="7201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5251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251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Alertar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251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Avisa al operario y al responsable en pantalla y en el móvil.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5251" y="4114800"/>
            <a:ext cx="1260246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251" y="4114800"/>
            <a:ext cx="12602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5620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0647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adju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413" y="1115568"/>
            <a:ext cx="938784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5656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5656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Ajustar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5656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Corrige el parámetro de la máquina (regulación ODM) sin intervención.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5656" y="4114800"/>
            <a:ext cx="1260246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5656" y="4114800"/>
            <a:ext cx="12602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26025" y="914400"/>
            <a:ext cx="1890369" cy="3611880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1052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b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2587" y="1115568"/>
            <a:ext cx="817245" cy="1005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06060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6060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Bloquear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6060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Detiene la máquina si la desviación no se puede corregir.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06060" y="4114800"/>
            <a:ext cx="1260246" cy="256032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6060" y="4114800"/>
            <a:ext cx="12602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helin"/>
              </a:rPr>
              <a:t>EN PRODUCCIÓN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96430" y="914400"/>
            <a:ext cx="1890369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FC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31456" y="1051560"/>
            <a:ext cx="1620316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_segre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695" y="1115568"/>
            <a:ext cx="1005840" cy="1005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465" y="2331720"/>
            <a:ext cx="54010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7509B"/>
                </a:solidFill>
                <a:latin typeface="Michelin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465" y="2743200"/>
            <a:ext cx="15302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Segregar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465" y="3108960"/>
            <a:ext cx="15302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Apartará el producto afectado de la línea de forma automática.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76465" y="4114800"/>
            <a:ext cx="1260246" cy="256032"/>
          </a:xfrm>
          <a:prstGeom prst="rect">
            <a:avLst/>
          </a:prstGeom>
          <a:solidFill>
            <a:srgbClr val="FC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76465" y="4114800"/>
            <a:ext cx="12602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0205B"/>
                </a:solidFill>
                <a:latin typeface="Michelin"/>
              </a:rPr>
              <a:t>PRÓXIMA FASE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 en acción: la línea se corrige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Pantalla real de regulación BJ · MAC6 · puesto P17</a:t>
            </a:r>
          </a:p>
        </p:txBody>
      </p:sp>
      <p:pic>
        <p:nvPicPr>
          <p:cNvPr id="5" name="Picture 4" descr="r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345096"/>
            <a:ext cx="5671108" cy="2750487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03255" y="211559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255" y="21155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822349" y="2968247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349" y="296824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412144" y="1813043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2144" y="181304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2319521" y="2115596"/>
            <a:ext cx="274320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9521" y="21155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6481368" y="978408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1368" y="978408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9442" y="960120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Límite inferior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el trusquín llega al límite</a:t>
            </a:r>
          </a:p>
        </p:txBody>
      </p:sp>
      <p:sp>
        <p:nvSpPr>
          <p:cNvPr id="17" name="Oval 16"/>
          <p:cNvSpPr/>
          <p:nvPr/>
        </p:nvSpPr>
        <p:spPr>
          <a:xfrm>
            <a:off x="6481368" y="1819656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1368" y="1819656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9442" y="1801368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R4P actúa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activa la corrección ODM</a:t>
            </a:r>
          </a:p>
        </p:txBody>
      </p:sp>
      <p:sp>
        <p:nvSpPr>
          <p:cNvPr id="20" name="Oval 19"/>
          <p:cNvSpPr/>
          <p:nvPr/>
        </p:nvSpPr>
        <p:spPr>
          <a:xfrm>
            <a:off x="6481368" y="2660904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1368" y="2660904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9442" y="2642616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Objetivo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la medida vuelve al valor teórico</a:t>
            </a:r>
          </a:p>
        </p:txBody>
      </p:sp>
      <p:sp>
        <p:nvSpPr>
          <p:cNvPr id="23" name="Oval 22"/>
          <p:cNvSpPr/>
          <p:nvPr/>
        </p:nvSpPr>
        <p:spPr>
          <a:xfrm>
            <a:off x="6481368" y="3502152"/>
            <a:ext cx="270052" cy="274320"/>
          </a:xfrm>
          <a:prstGeom prst="ellipse">
            <a:avLst/>
          </a:prstGeom>
          <a:solidFill>
            <a:srgbClr val="FCE500"/>
          </a:solidFill>
          <a:ln w="95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1368" y="3502152"/>
            <a:ext cx="270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205B"/>
                </a:solidFill>
                <a:latin typeface="Micheli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9442" y="3483864"/>
            <a:ext cx="182735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B"/>
                </a:solidFill>
                <a:latin typeface="Arial"/>
              </a:rPr>
              <a:t>Sin corrección</a:t>
            </a:r>
          </a:p>
          <a:p>
            <a:pPr algn="l"/>
            <a:r>
              <a:rPr sz="950" b="0" i="0">
                <a:solidFill>
                  <a:srgbClr val="262626"/>
                </a:solidFill>
                <a:latin typeface="Arial"/>
              </a:rPr>
              <a:t>vuelve a derivar: la prueba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qué R4P marca la diferencia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Lo que significa para la calidad de cada neumático que reciben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914400"/>
            <a:ext cx="3960774" cy="1664208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5268" y="1115568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Segundos, no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268" y="1828800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La corrección llega antes de que se fabrique un neumático defectuoso.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6025" y="914400"/>
            <a:ext cx="3960774" cy="1664208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96078" y="1115568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7509B"/>
                </a:solidFill>
                <a:latin typeface="Michelin"/>
              </a:rPr>
              <a:t>Igual a las 3:00 que a las 15:00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6078" y="1828800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205B"/>
                </a:solidFill>
                <a:latin typeface="Arial"/>
              </a:rPr>
              <a:t>Las mismas reglas en todos los turnos: la calidad no depende del momento.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2715768"/>
            <a:ext cx="3960774" cy="1664208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5268" y="2916936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7509B"/>
                </a:solidFill>
                <a:latin typeface="Michelin"/>
              </a:rPr>
              <a:t>El conocimiento, convertido en reglas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268" y="3630168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205B"/>
                </a:solidFill>
                <a:latin typeface="Arial"/>
              </a:rPr>
              <a:t>La experiencia de nuestros expertos se aplica en cada neumático, siempre.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6025" y="2715768"/>
            <a:ext cx="3960774" cy="1664208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6078" y="2916936"/>
            <a:ext cx="342066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Cada decisión, registrada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6078" y="3630168"/>
            <a:ext cx="34206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Arial"/>
              </a:rPr>
              <a:t>Trazabilidad completa en PI System para analizar cualquier caso con datos.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Una plataforma, todas las líneas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566928"/>
            <a:ext cx="720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7509B"/>
                </a:solidFill>
                <a:latin typeface="Arial"/>
              </a:rPr>
              <a:t>Los mismos bloques estándar se replican de una línea a otra</a:t>
            </a:r>
          </a:p>
        </p:txBody>
      </p:sp>
      <p:pic>
        <p:nvPicPr>
          <p:cNvPr id="5" name="Picture 4" descr="d1.jpg"/>
          <p:cNvPicPr>
            <a:picLocks noChangeAspect="1"/>
          </p:cNvPicPr>
          <p:nvPr/>
        </p:nvPicPr>
        <p:blipFill>
          <a:blip r:embed="rId3"/>
          <a:srcRect l="6348" r="6348"/>
          <a:stretch>
            <a:fillRect/>
          </a:stretch>
        </p:blipFill>
        <p:spPr>
          <a:xfrm>
            <a:off x="585216" y="914400"/>
            <a:ext cx="3960774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3950208"/>
            <a:ext cx="396077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Máquinas MAC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8 puestos · 16 sensores láser 3D</a:t>
            </a:r>
          </a:p>
        </p:txBody>
      </p:sp>
      <p:pic>
        <p:nvPicPr>
          <p:cNvPr id="7" name="Picture 6" descr="nst.jpg"/>
          <p:cNvPicPr>
            <a:picLocks noChangeAspect="1"/>
          </p:cNvPicPr>
          <p:nvPr/>
        </p:nvPicPr>
        <p:blipFill>
          <a:blip r:embed="rId4"/>
          <a:srcRect l="1952" r="1952"/>
          <a:stretch>
            <a:fillRect/>
          </a:stretch>
        </p:blipFill>
        <p:spPr>
          <a:xfrm>
            <a:off x="4726025" y="914400"/>
            <a:ext cx="3960774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26025" y="3950208"/>
            <a:ext cx="396077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cap="all">
                <a:solidFill>
                  <a:srgbClr val="00205B"/>
                </a:solidFill>
                <a:latin typeface="Michelin"/>
              </a:rPr>
              <a:t>Línea BNS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Bandas NST1 y NST2 · Gocator 2650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Cada neumático: visto, entendido y decidido por el dato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CE500"/>
                </a:solidFill>
                <a:latin typeface="Michelin"/>
              </a:rPr>
              <a:t>Ver  ·  Entender  ·  Decidir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2_Thème Office">
  <a:themeElements>
    <a:clrScheme name="MICHELIN 20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05B"/>
      </a:accent1>
      <a:accent2>
        <a:srgbClr val="27509B"/>
      </a:accent2>
      <a:accent3>
        <a:srgbClr val="FCE500"/>
      </a:accent3>
      <a:accent4>
        <a:srgbClr val="FFFFFF"/>
      </a:accent4>
      <a:accent5>
        <a:srgbClr val="000000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066b9f-1ae1-4daf-812e-a93b4cdbd37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7ADC7F99D42724899C9CB331C8C455E" ma:contentTypeVersion="8" ma:contentTypeDescription="Crear nuevo documento." ma:contentTypeScope="" ma:versionID="e2e3a7fee48f7dcfb2a6486720dab61e">
  <xsd:schema xmlns:xsd="http://www.w3.org/2001/XMLSchema" xmlns:xs="http://www.w3.org/2001/XMLSchema" xmlns:p="http://schemas.microsoft.com/office/2006/metadata/properties" xmlns:ns2="91066b9f-1ae1-4daf-812e-a93b4cdbd378" targetNamespace="http://schemas.microsoft.com/office/2006/metadata/properties" ma:root="true" ma:fieldsID="be9ed0b7e1fef527f924c0e414a0025b" ns2:_="">
    <xsd:import namespace="91066b9f-1ae1-4daf-812e-a93b4cdbd37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066b9f-1ae1-4daf-812e-a93b4cdbd37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baec4aeb-d159-410d-8e29-7b8081bc29f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6844D33-97FA-4CA1-9F2B-EE692D7A49B5}">
  <ds:schemaRefs>
    <ds:schemaRef ds:uri="91066b9f-1ae1-4daf-812e-a93b4cdbd37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094B55E-88C1-4C38-974C-5A1CAEEDB1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CFC560-8A98-40BC-A366-A8873A2D12F7}">
  <ds:schemaRefs>
    <ds:schemaRef ds:uri="91066b9f-1ae1-4daf-812e-a93b4cdbd37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</Words>
  <Application>Microsoft Office PowerPoint</Application>
  <PresentationFormat>Personalizado</PresentationFormat>
  <Paragraphs>70</Paragraphs>
  <Slides>29</Slides>
  <Notes>16</Notes>
  <HiddenSlides>2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29</vt:i4>
      </vt:variant>
    </vt:vector>
  </HeadingPairs>
  <TitlesOfParts>
    <vt:vector size="43" baseType="lpstr">
      <vt:lpstr>Aptos</vt:lpstr>
      <vt:lpstr>Arial</vt:lpstr>
      <vt:lpstr>Arial Black</vt:lpstr>
      <vt:lpstr>Calibri</vt:lpstr>
      <vt:lpstr>Lucida Grande</vt:lpstr>
      <vt:lpstr>Michelin</vt:lpstr>
      <vt:lpstr>Michelin Black</vt:lpstr>
      <vt:lpstr>Michelin Light</vt:lpstr>
      <vt:lpstr>Michelin SemiBold</vt:lpstr>
      <vt:lpstr>Wingdings</vt:lpstr>
      <vt:lpstr>Wingdings 3</vt:lpstr>
      <vt:lpstr>2_Thème Office</vt:lpstr>
      <vt:lpstr>1_Thème Office</vt:lpstr>
      <vt:lpstr>3_Thème Office</vt:lpstr>
      <vt:lpstr>OLM MAC &amp; BNS Visite Reseau Unif + MTP</vt:lpstr>
      <vt:lpstr>OLM</vt:lpstr>
      <vt:lpstr>Gocator technical information</vt:lpstr>
      <vt:lpstr>Mac5 : architecture</vt:lpstr>
      <vt:lpstr>MAC  RFI &amp; GI</vt:lpstr>
      <vt:lpstr>MAC  BT</vt:lpstr>
      <vt:lpstr>P15 BJ</vt:lpstr>
      <vt:lpstr>Mac : measurments</vt:lpstr>
      <vt:lpstr>Ihm interface</vt:lpstr>
      <vt:lpstr>OLM screens</vt:lpstr>
      <vt:lpstr>Panel general OsiSoft: Detalle medidas</vt:lpstr>
      <vt:lpstr>Panel general OsiSoft: Detalle medidas</vt:lpstr>
      <vt:lpstr>Pi visión.</vt:lpstr>
      <vt:lpstr>Pi visión.</vt:lpstr>
      <vt:lpstr>Alert.</vt:lpstr>
      <vt:lpstr>MAC : explotation</vt:lpstr>
      <vt:lpstr>R4p – Moteur de règles</vt:lpstr>
      <vt:lpstr>r4p</vt:lpstr>
      <vt:lpstr>Explication</vt:lpstr>
      <vt:lpstr>bns</vt:lpstr>
      <vt:lpstr>Acquisitions nst</vt:lpstr>
      <vt:lpstr>Acquisitions nst</vt:lpstr>
      <vt:lpstr>Presentación de PowerPoint</vt:lpstr>
      <vt:lpstr>ihm</vt:lpstr>
      <vt:lpstr>Sold.</vt:lpstr>
      <vt:lpstr>BNS : explotation </vt:lpstr>
      <vt:lpstr>BNS : explotation </vt:lpstr>
      <vt:lpstr>BNS : explotation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Christelle Garot</dc:creator>
  <cp:lastModifiedBy>Asier Del Pozo Perez</cp:lastModifiedBy>
  <cp:revision>35</cp:revision>
  <dcterms:modified xsi:type="dcterms:W3CDTF">2026-10-20T20:32:06Z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0x010100F9DAA8DF8E9A9D49B91E4B58ACE65DF7</vt:lpwstr>
  </property>
  <property fmtid="{D5CDD505-2E9C-101B-9397-08002B2CF9AE}" pid="3" name="MSIP_Label_09e9a456-2778-4ca9-be06-1190b1e1118a_Enabled">
    <vt:lpwstr>true</vt:lpwstr>
  </property>
  <property fmtid="{D5CDD505-2E9C-101B-9397-08002B2CF9AE}" pid="4" name="MSIP_Label_09e9a456-2778-4ca9-be06-1190b1e1118a_SetDate">
    <vt:lpwstr>2021-10-14T09:36:28Z</vt:lpwstr>
  </property>
  <property fmtid="{D5CDD505-2E9C-101B-9397-08002B2CF9AE}" pid="5" name="MSIP_Label_09e9a456-2778-4ca9-be06-1190b1e1118a_Method">
    <vt:lpwstr>Standard</vt:lpwstr>
  </property>
  <property fmtid="{D5CDD505-2E9C-101B-9397-08002B2CF9AE}" pid="6" name="MSIP_Label_09e9a456-2778-4ca9-be06-1190b1e1118a_Name">
    <vt:lpwstr>D3</vt:lpwstr>
  </property>
  <property fmtid="{D5CDD505-2E9C-101B-9397-08002B2CF9AE}" pid="7" name="MSIP_Label_09e9a456-2778-4ca9-be06-1190b1e1118a_SiteId">
    <vt:lpwstr>658ba197-6c73-4fea-91bd-1c7d8de6bf2c</vt:lpwstr>
  </property>
  <property fmtid="{D5CDD505-2E9C-101B-9397-08002B2CF9AE}" pid="8" name="MSIP_Label_09e9a456-2778-4ca9-be06-1190b1e1118a_ActionId">
    <vt:lpwstr>91fc227d-695e-433b-a37f-b199f7393e55</vt:lpwstr>
  </property>
  <property fmtid="{D5CDD505-2E9C-101B-9397-08002B2CF9AE}" pid="9" name="MSIP_Label_09e9a456-2778-4ca9-be06-1190b1e1118a_ContentBits">
    <vt:lpwstr>0</vt:lpwstr>
  </property>
</Properties>
</file>