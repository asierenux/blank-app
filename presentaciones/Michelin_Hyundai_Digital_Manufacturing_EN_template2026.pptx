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calmly and with pride. The title sums up the promise: quality is not inspected at the end, it is decided at every second of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Personalised for Hyundai: connect with their product from the very start. Same message as the Tucson 2027 leaflet (Primacy 5 Energy 235/45 R20, code 5759, CAI 514126A). The sentence at the bottom bridges to the rest: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Curiosity hook: ask the question and wait two seconds. A question opens the listener's mind far more than a statement. Then: 'Today it does. Let us show you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principle: first the traditional model, which the customer knows well; then ours. No criticism of anyone: the contrast speaks for itself and anchors the perceived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Mental map of the whole presentation. The brain remembers a simple, circular structure better: See, Understand, Decide, Anticipate. At the centre, IQF: the whole system works to protect our quality indicator. Tools for each step: Gocator laser profilers (see), PI System and PI Vision (understand), R4P (decide), Dataiku and AI (anticipate).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of the cycle: See. Keeping the four-verb structure throughout helps the customer follow and remember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Gocator 3D laser profilers (LMI): up to 5,000 profiles per second and micron-level repeatability depending on the model. On the MAC: 8 stations, 16 sensors, 1 PLC and 4 PCs. Explain the colour map: each colour is a height; an abnormal relief stands out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an NST splice is measured on the BNS line: the profiler generates a 3D map of the splice (1), a measurement section is drawn across the splice (2) and the resulting profile (3) quantifies it. On the BNS62 screen these measurements are monitored continuously: overlap, height, offset and splice 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MAC4 screen (March 2026). Each column is a machine station (GI, RFI, NC1, BT, TT, PS, BJ, PT, FE...), with its edge position (trusquín), width, diameter and splice measurements. The colour code distinguishes watch and control limits, and the '100 % measured' indicator confirms every tire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BNS62 screen (March 2026). At the top, the alert rule and colour code (1). Each block is a station with centring, width and splice (2). From the screen itself you can access IQF, images and alert history (3). On the KM, splice height, quality and offset are monitored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step: Understand. Data alone is useless; what matters is reading it in time and making sure the right person knows.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numbers on the real screen. Full transparency: this is the screen our teams use. The median of the last 20 measurements filters noise and shows the trend; tolerances and the theoretical value are always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chart as a story: the trend rises and crosses the tolerance (1): the alert fires and reaches the owner's phone. Action is taken and the trend comes back (2). Alert rule: median of the last 20 measurements out of tolerance on MAC; of the last 10 on BNS. Alerts go to the right team: process (CARE) or maintenance (TECH).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in PI Vision you select a station and retrieve the image of every product with its date and time; the alert history logs station, type, start, end and duration. This archive of images and data is also the foundation on which we will train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Climax of the presentation. From here the message changes: we don't just see and understand; the system decides and acts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Metaphor: R4P is like having our best process technician watching every tire, on every shift, without getting tired. Its rules capture expert knowledge and apply it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clear options, from gentlest to firmest. Alert and adjust run today, block is in testing; automatic segregation is the next phase according to the R4P design itself. Being transparent strengthens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case in four steps on the real screen (MAC6, P17, January 2026). 1: the edge position (trusquín) reaches the lower limit. 2: R4P activates the ODM correction. 3: the measurement returns to the theoretical value. 4: when the correction is deactivated, the measurement drifts again. That contrast is the best proof that the correction works.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to sell R4P. Illustrative diagram (not real data): each circle is a tire leaving the machine. Without R4P, from the moment drift starts until someone sees the alert, reaches the machine and adjusts it, tires keep being built off target. With R4P, the rule acts as soon as the measurement deviates and production is back on target immediately. Every minute R4P saves means tires that never leave their theoretical value. And the rules are the same on every shift, with every decision logged in PI.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step, the future: looking ahead builds enthusiasm and trust (future pacing). The customer also buys into where we are heading.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is an advanced analytics and data science platform. It lets us combine PI System measurement data, images and quality results (IQF) in a single flow, and look for the patterns that repeat before a quality issue or a drift. Most valuable: it is used by our own process and quality technicians and engineers, not only data specialists. What we find becomes new rules, alerts and process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Flow screen from a Dataiku project dedicated to quality characteristic CQ 38.1 (green zone). Read it from left to right. 1) Sources: the PI plugin (red icons) reads each machine station's measurements directly from PI System (for example FE, PT and BJ). 2) Preparation recipes (yellow brush icons): clean and organise the data automatically, always the same way. 3) Time-series and join recipes: align the measurements of the different stations in time and combine them. 4) The serial number: links all measurements to the identity of each tire. 5) 'Cocción Prensa C11' zone: curing press data is added, so each tire has its complete history, from building to curing. The result is a table ready to search for patterns (which conditions appear before a drift or a quality issue) and to cross with IQF. The whole flow re-runs automatically when new data arrives (Build), with no manual work. The project has 154 items.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AI does not replace measurement. Measurements are always made with the laser profilers and their dimensions and tolerances (width, edge position, centring, splice). AI works on those same images to detect product characteristics that cannot be expressed as a dimension: surface roughness and texture, possible foreign matter, poorly dispersed rubber and other product aspects. It is trained on images of good product and flags anything out of the ordinary. The foundation already exists: thousands of real images archived in PI. Status: under study.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part with the full cycle, the same as at the start (repetition = recall). Every turn adds knowledge: what we discover with Dataiku and AI becomes new R4P rules and a better IQF. It is a living system that learns.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about people, without overstating: the system replaces no one, it gives each role what it needs to act. Operator: real-time status of their station. Process (CARE) and maintenance (TECH) technicians: alerts on screen and on mobile. Engineering and quality: technical analysis screens to study trends and improve the rules and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Memorable close: repeat the four verbs. Leave a silence at the end. This is the sentence we want them to remember.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Quality decided in real time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6.xml"/><Relationship Id="rId4" Type="http://schemas.openxmlformats.org/officeDocument/2006/relationships/image" Target="../media/image3.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24.png"/><Relationship Id="rId4" Type="http://schemas.openxmlformats.org/officeDocument/2006/relationships/image" Target="../media/image39.jpg"/><Relationship Id="rId5" Type="http://schemas.openxmlformats.org/officeDocument/2006/relationships/notesSlide" Target="../notesSlides/notesSlide25.xml"/><Relationship Id="rId6" Type="http://schemas.openxmlformats.org/officeDocument/2006/relationships/image" Target="../media/image4.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Quality decided in real time</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 successful long-term partnership for performance and innovation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Trusted partners for new technologies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chemeClr val="tx1"/>
                </a:solidFill>
                <a:latin typeface="BIB Bold"/>
              </a:rPr>
              <a:t>Michelin Primacy 5 Energy 235/45 R20</a:t>
            </a:r>
          </a:p>
          <a:p>
            <a:pPr algn="l">
              <a:lnSpc>
                <a:spcPts val="2100"/>
              </a:lnSpc>
            </a:pPr>
            <a:r>
              <a:rPr sz="1400" b="0">
                <a:solidFill>
                  <a:schemeClr val="tx1"/>
                </a:solidFill>
                <a:latin typeface="Noto Sans"/>
              </a:rPr>
              <a:t>Fitted on the new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Code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Each of these tires is born in the digital environment </a:t>
            </a:r>
            <a:r>
              <a:rPr sz="1400" b="1">
                <a:solidFill>
                  <a:schemeClr val="accent2"/>
                </a:solidFill>
                <a:latin typeface="Noto Sans"/>
              </a:rPr>
              <a:t>we are presenting to you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What if every tire could tell us how it was made?</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Today it does. Let us show you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3"/>
          <a:stretch>
            <a:fillRect/>
          </a:stretch>
        </a:blipFill>
        <a:effectLst/>
      </p:bgPr>
    </p:bg>
    <p:spTree>
      <p:nvGrpSpPr>
        <p:cNvPr id="1" name=""/>
        <p:cNvGrpSpPr/>
        <p:nvPr/>
      </p:nvGrpSpPr>
      <p:grpSpPr/>
      <p:sp>
        <p:nvSpPr>
          <p:cNvPr id="2" name="Title 1"/>
          <p:cNvSpPr>
            <a:spLocks noGrp="1"/>
          </p:cNvSpPr>
          <p:nvPr>
            <p:ph type="title"/>
          </p:nvPr>
        </p:nvSpPr>
        <p:spPr/>
        <p:txBody>
          <a:bodyPr/>
          <a:lstStyle/>
          <a:p>
            <a:r>
              <a:t>Two ways to control quality</a:t>
            </a:r>
          </a:p>
        </p:txBody>
      </p:sp>
      <p:sp>
        <p:nvSpPr>
          <p:cNvPr id="3" name="Rounded Rectangle 2"/>
          <p:cNvSpPr/>
          <p:nvPr/>
        </p:nvSpPr>
        <p:spPr>
          <a:xfrm>
            <a:off x="548640" y="1508760"/>
            <a:ext cx="5120640" cy="466344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Traditional control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sample</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per shift, manually</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Hours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to discover a deviation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After</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we react once the defect already exists</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Our digital control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of products, automatically</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Seconds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to detect a drift</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Before</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corrected before the defect exists</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3"/>
          <a:stretch>
            <a:fillRect/>
          </a:stretch>
        </a:blipFill>
        <a:effectLst/>
      </p:bgPr>
    </p:bg>
    <p:spTree>
      <p:nvGrpSpPr>
        <p:cNvPr id="1" name=""/>
        <p:cNvGrpSpPr/>
        <p:nvPr/>
      </p:nvGrpSpPr>
      <p:grpSpPr/>
      <p:sp>
        <p:nvSpPr>
          <p:cNvPr id="2" name="Title 1"/>
          <p:cNvSpPr>
            <a:spLocks noGrp="1"/>
          </p:cNvSpPr>
          <p:nvPr>
            <p:ph type="title"/>
          </p:nvPr>
        </p:nvSpPr>
        <p:spPr/>
        <p:txBody>
          <a:bodyPr/>
          <a:lstStyle/>
          <a:p>
            <a:r>
              <a:t>Our system in a single cycle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Four steps revolving around IQF, our quality indicator</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See  </a:t>
            </a:r>
            <a:r>
              <a:rPr sz="1400" b="1">
                <a:solidFill>
                  <a:schemeClr val="tx1">
                    <a:lumMod val="65000"/>
                    <a:lumOff val="35000"/>
                  </a:schemeClr>
                </a:solidFill>
                <a:latin typeface="Noto Sans"/>
              </a:rPr>
              <a:t>3D laser profilers</a:t>
            </a:r>
          </a:p>
          <a:p>
            <a:pPr algn="l">
              <a:lnSpc>
                <a:spcPts val="2000"/>
              </a:lnSpc>
            </a:pPr>
            <a:r>
              <a:rPr sz="1300" b="0">
                <a:solidFill>
                  <a:schemeClr val="tx1"/>
                </a:solidFill>
                <a:latin typeface="Noto Sans"/>
              </a:rPr>
              <a:t>Every product measured in 3D on every tire.</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Understand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Real-time data and images, with trends and alerts.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Decide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Rules engine that corrects the process automatically.</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Anticipate  </a:t>
            </a:r>
            <a:r>
              <a:rPr sz="1400" b="1">
                <a:solidFill>
                  <a:schemeClr val="tx1">
                    <a:lumMod val="65000"/>
                    <a:lumOff val="35000"/>
                  </a:schemeClr>
                </a:solidFill>
                <a:latin typeface="Noto Sans"/>
              </a:rPr>
              <a:t>Dataiku · AI</a:t>
            </a:r>
          </a:p>
          <a:p>
            <a:pPr algn="l">
              <a:lnSpc>
                <a:spcPts val="2000"/>
              </a:lnSpc>
            </a:pPr>
            <a:r>
              <a:rPr sz="1300" b="0">
                <a:solidFill>
                  <a:schemeClr val="tx1"/>
                </a:solidFill>
                <a:latin typeface="Noto Sans"/>
              </a:rPr>
              <a:t>Advanced analytics to find patterns and stay ahead.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See</a:t>
            </a:r>
          </a:p>
          <a:p>
            <a:r>
              <a:rPr sz="2000" b="0">
                <a:latin typeface="Noto Sans"/>
              </a:rPr>
              <a:t>Every tire, turned into data</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 every product</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3D laser profilers at every machine station</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of products measured</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complete profile of every component</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laser sensors on 8 MAC stations</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3D scan on the MAC: each colour is a height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measure an NST splice on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3D map to the figure that defines splice quality</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3D map</a:t>
            </a:r>
          </a:p>
          <a:p>
            <a:pPr algn="l">
              <a:lnSpc>
                <a:spcPts val="1800"/>
              </a:lnSpc>
            </a:pPr>
            <a:r>
              <a:rPr sz="1200" b="0">
                <a:solidFill>
                  <a:schemeClr val="tx1">
                    <a:lumMod val="65000"/>
                    <a:lumOff val="35000"/>
                  </a:schemeClr>
                </a:solidFill>
                <a:latin typeface="Noto Sans"/>
              </a:rPr>
              <a:t>of the NST strip splice</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Measurement section</a:t>
            </a:r>
          </a:p>
          <a:p>
            <a:pPr algn="l">
              <a:lnSpc>
                <a:spcPts val="1800"/>
              </a:lnSpc>
            </a:pPr>
            <a:r>
              <a:rPr sz="1200" b="0">
                <a:solidFill>
                  <a:schemeClr val="tx1">
                    <a:lumMod val="65000"/>
                    <a:lumOff val="35000"/>
                  </a:schemeClr>
                </a:solidFill>
                <a:latin typeface="Noto Sans"/>
              </a:rPr>
              <a:t>drawn across the splice</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Profile</a:t>
            </a:r>
          </a:p>
          <a:p>
            <a:pPr algn="l">
              <a:lnSpc>
                <a:spcPts val="1800"/>
              </a:lnSpc>
            </a:pPr>
            <a:r>
              <a:rPr sz="1200" b="0">
                <a:solidFill>
                  <a:schemeClr val="tx1">
                    <a:lumMod val="65000"/>
                    <a:lumOff val="35000"/>
                  </a:schemeClr>
                </a:solidFill>
                <a:latin typeface="Noto Sans"/>
              </a:rPr>
              <a:t>quantifies the splice</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monitored continuously</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overlap</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height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offset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quality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station, every measurement, live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MAC4 OLM screen: twelve stations, P05 to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Twelve stations</a:t>
            </a:r>
          </a:p>
          <a:p>
            <a:pPr algn="l">
              <a:lnSpc>
                <a:spcPts val="1800"/>
              </a:lnSpc>
            </a:pPr>
            <a:r>
              <a:rPr sz="1200" b="0">
                <a:solidFill>
                  <a:schemeClr val="tx1">
                    <a:lumMod val="65000"/>
                    <a:lumOff val="35000"/>
                  </a:schemeClr>
                </a:solidFill>
                <a:latin typeface="Noto Sans"/>
              </a:rPr>
              <a:t>from P05 to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Status code</a:t>
            </a:r>
          </a:p>
          <a:p>
            <a:pPr algn="l">
              <a:lnSpc>
                <a:spcPts val="1800"/>
              </a:lnSpc>
            </a:pPr>
            <a:r>
              <a:rPr sz="1200" b="0">
                <a:solidFill>
                  <a:schemeClr val="tx1">
                    <a:lumMod val="65000"/>
                    <a:lumOff val="35000"/>
                  </a:schemeClr>
                </a:solidFill>
                <a:latin typeface="Noto Sans"/>
              </a:rPr>
              <a:t>OK · watch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Splices</a:t>
            </a:r>
          </a:p>
          <a:p>
            <a:pPr algn="l">
              <a:lnSpc>
                <a:spcPts val="1800"/>
              </a:lnSpc>
            </a:pPr>
            <a:r>
              <a:rPr sz="1200" b="0">
                <a:solidFill>
                  <a:schemeClr val="tx1">
                    <a:lumMod val="65000"/>
                    <a:lumOff val="35000"/>
                  </a:schemeClr>
                </a:solidFill>
                <a:latin typeface="Noto Sans"/>
              </a:rPr>
              <a:t>measured at every station</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100 % measured</a:t>
            </a:r>
          </a:p>
          <a:p>
            <a:pPr algn="l">
              <a:lnSpc>
                <a:spcPts val="1800"/>
              </a:lnSpc>
            </a:pPr>
            <a:r>
              <a:rPr sz="1200" b="0">
                <a:solidFill>
                  <a:schemeClr val="tx1">
                    <a:lumMod val="65000"/>
                    <a:lumOff val="35000"/>
                  </a:schemeClr>
                </a:solidFill>
                <a:latin typeface="Noto Sans"/>
              </a:rPr>
              <a:t>every tire measured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whole line at a glance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BNS62 OLM screen: NST1, NST2 and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and colours</a:t>
            </a:r>
          </a:p>
          <a:p>
            <a:pPr algn="l">
              <a:lnSpc>
                <a:spcPts val="1800"/>
              </a:lnSpc>
            </a:pPr>
            <a:r>
              <a:rPr sz="1200" b="0">
                <a:solidFill>
                  <a:schemeClr val="tx1">
                    <a:lumMod val="65000"/>
                    <a:lumOff val="35000"/>
                  </a:schemeClr>
                </a:solidFill>
                <a:latin typeface="Noto Sans"/>
              </a:rPr>
              <a:t>green, orange, red</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station</a:t>
            </a:r>
          </a:p>
          <a:p>
            <a:pPr algn="l">
              <a:lnSpc>
                <a:spcPts val="1800"/>
              </a:lnSpc>
            </a:pPr>
            <a:r>
              <a:rPr sz="1200" b="0">
                <a:solidFill>
                  <a:schemeClr val="tx1">
                    <a:lumMod val="65000"/>
                    <a:lumOff val="35000"/>
                  </a:schemeClr>
                </a:solidFill>
                <a:latin typeface="Noto Sans"/>
              </a:rPr>
              <a:t>centring, width, splice</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One click</a:t>
            </a:r>
          </a:p>
          <a:p>
            <a:pPr algn="l">
              <a:lnSpc>
                <a:spcPts val="1800"/>
              </a:lnSpc>
            </a:pPr>
            <a:r>
              <a:rPr sz="1200" b="0">
                <a:solidFill>
                  <a:schemeClr val="tx1">
                    <a:lumMod val="65000"/>
                    <a:lumOff val="35000"/>
                  </a:schemeClr>
                </a:solidFill>
                <a:latin typeface="Noto Sans"/>
              </a:rPr>
              <a:t>IQF, images, alerts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KM splice</a:t>
            </a:r>
          </a:p>
          <a:p>
            <a:pPr algn="l">
              <a:lnSpc>
                <a:spcPts val="1800"/>
              </a:lnSpc>
            </a:pPr>
            <a:r>
              <a:rPr sz="1200" b="0">
                <a:solidFill>
                  <a:schemeClr val="tx1">
                    <a:lumMod val="65000"/>
                    <a:lumOff val="35000"/>
                  </a:schemeClr>
                </a:solidFill>
                <a:latin typeface="Noto Sans"/>
              </a:rPr>
              <a:t>height, quality,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Understand</a:t>
            </a:r>
          </a:p>
          <a:p>
            <a:r>
              <a:rPr sz="2000" b="0">
                <a:latin typeface="Noto Sans"/>
              </a:rPr>
              <a:t>From data to trend, in real time</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see the drift before the defect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PI Vision screen · MAC3 · station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tire</a:t>
            </a:r>
          </a:p>
          <a:p>
            <a:pPr algn="l">
              <a:lnSpc>
                <a:spcPts val="1800"/>
              </a:lnSpc>
            </a:pPr>
            <a:r>
              <a:rPr sz="1200" b="0">
                <a:solidFill>
                  <a:schemeClr val="tx1">
                    <a:lumMod val="65000"/>
                    <a:lumOff val="35000"/>
                  </a:schemeClr>
                </a:solidFill>
                <a:latin typeface="Noto Sans"/>
              </a:rPr>
              <a:t>its individual value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trend</a:t>
            </a:r>
          </a:p>
          <a:p>
            <a:pPr algn="l">
              <a:lnSpc>
                <a:spcPts val="1800"/>
              </a:lnSpc>
            </a:pPr>
            <a:r>
              <a:rPr sz="1200" b="0">
                <a:solidFill>
                  <a:schemeClr val="tx1">
                    <a:lumMod val="65000"/>
                    <a:lumOff val="35000"/>
                  </a:schemeClr>
                </a:solidFill>
                <a:latin typeface="Noto Sans"/>
              </a:rPr>
              <a:t>median of the last 20</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limits</a:t>
            </a:r>
          </a:p>
          <a:p>
            <a:pPr algn="l">
              <a:lnSpc>
                <a:spcPts val="1800"/>
              </a:lnSpc>
            </a:pPr>
            <a:r>
              <a:rPr sz="1200" b="0">
                <a:solidFill>
                  <a:schemeClr val="tx1">
                    <a:lumMod val="65000"/>
                    <a:lumOff val="35000"/>
                  </a:schemeClr>
                </a:solidFill>
                <a:latin typeface="Noto Sans"/>
              </a:rPr>
              <a:t>tolerances always visible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target</a:t>
            </a:r>
          </a:p>
          <a:p>
            <a:pPr algn="l">
              <a:lnSpc>
                <a:spcPts val="1800"/>
              </a:lnSpc>
            </a:pPr>
            <a:r>
              <a:rPr sz="1200" b="0">
                <a:solidFill>
                  <a:schemeClr val="tx1">
                    <a:lumMod val="65000"/>
                    <a:lumOff val="35000"/>
                  </a:schemeClr>
                </a:solidFill>
                <a:latin typeface="Noto Sans"/>
              </a:rPr>
              <a:t>theoretical reference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 before the defect exists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trend crosses the limit and the right person knows instantly</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raised</a:t>
            </a:r>
          </a:p>
          <a:p>
            <a:pPr algn="l">
              <a:lnSpc>
                <a:spcPts val="1800"/>
              </a:lnSpc>
            </a:pPr>
            <a:r>
              <a:rPr sz="1200" b="0">
                <a:solidFill>
                  <a:schemeClr val="tx1">
                    <a:lumMod val="65000"/>
                    <a:lumOff val="35000"/>
                  </a:schemeClr>
                </a:solidFill>
                <a:latin typeface="Noto Sans"/>
              </a:rPr>
              <a:t>the median leaves tolerance</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cleared</a:t>
            </a:r>
          </a:p>
          <a:p>
            <a:pPr algn="l">
              <a:lnSpc>
                <a:spcPts val="1800"/>
              </a:lnSpc>
            </a:pPr>
            <a:r>
              <a:rPr sz="1200" b="0">
                <a:solidFill>
                  <a:schemeClr val="tx1">
                    <a:lumMod val="65000"/>
                    <a:lumOff val="35000"/>
                  </a:schemeClr>
                </a:solidFill>
                <a:latin typeface="Noto Sans"/>
              </a:rPr>
              <a:t>back on target and logged</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Notification on screen and on mobile</a:t>
            </a:r>
          </a:p>
          <a:p>
            <a:pPr algn="l">
              <a:lnSpc>
                <a:spcPts val="2100"/>
              </a:lnSpc>
            </a:pPr>
            <a:r>
              <a:rPr sz="1400" b="0">
                <a:solidFill>
                  <a:schemeClr val="tx1">
                    <a:lumMod val="65000"/>
                    <a:lumOff val="35000"/>
                  </a:schemeClr>
                </a:solidFill>
                <a:latin typeface="Noto Sans"/>
              </a:rPr>
              <a:t>To the process (CARE) or maintenance (TECH) owner.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image and every alert, stored</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keeps the full history of every tire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 of every product</a:t>
            </a:r>
          </a:p>
          <a:p>
            <a:pPr algn="l">
              <a:lnSpc>
                <a:spcPts val="1800"/>
              </a:lnSpc>
            </a:pPr>
            <a:r>
              <a:rPr sz="1200" b="0">
                <a:solidFill>
                  <a:schemeClr val="tx1">
                    <a:lumMod val="65000"/>
                    <a:lumOff val="35000"/>
                  </a:schemeClr>
                </a:solidFill>
                <a:latin typeface="Noto Sans"/>
              </a:rPr>
              <a:t>retrievable by station, date and time</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history</a:t>
            </a:r>
          </a:p>
          <a:p>
            <a:pPr algn="l">
              <a:lnSpc>
                <a:spcPts val="1800"/>
              </a:lnSpc>
            </a:pPr>
            <a:r>
              <a:rPr sz="1200" b="0">
                <a:solidFill>
                  <a:schemeClr val="tx1">
                    <a:lumMod val="65000"/>
                    <a:lumOff val="35000"/>
                  </a:schemeClr>
                </a:solidFill>
                <a:latin typeface="Noto Sans"/>
              </a:rPr>
              <a:t>station, type, start, end and duration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Foundation for AI</a:t>
            </a:r>
          </a:p>
          <a:p>
            <a:pPr algn="l">
              <a:lnSpc>
                <a:spcPts val="1800"/>
              </a:lnSpc>
            </a:pPr>
            <a:r>
              <a:rPr sz="1200" b="0">
                <a:solidFill>
                  <a:schemeClr val="tx1">
                    <a:lumMod val="65000"/>
                    <a:lumOff val="35000"/>
                  </a:schemeClr>
                </a:solidFill>
                <a:latin typeface="Noto Sans"/>
              </a:rPr>
              <a:t>thousands of real images to learn from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Decide: R4P</a:t>
            </a:r>
          </a:p>
          <a:p>
            <a:r>
              <a:rPr sz="2000" b="0">
                <a:latin typeface="Noto Sans"/>
              </a:rPr>
              <a:t>The engine that turns every measurement into action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4"/>
          <a:stretch>
            <a:fillRect/>
          </a:stretch>
        </a:blipFill>
        <a:effectLst/>
      </p:bgPr>
    </p:bg>
    <p:spTree>
      <p:nvGrpSpPr>
        <p:cNvPr id="1" name=""/>
        <p:cNvGrpSpPr/>
        <p:nvPr/>
      </p:nvGrpSpPr>
      <p:grpSpPr/>
      <p:sp>
        <p:nvSpPr>
          <p:cNvPr id="2" name="Title 1"/>
          <p:cNvSpPr>
            <a:spLocks noGrp="1"/>
          </p:cNvSpPr>
          <p:nvPr>
            <p:ph type="title"/>
          </p:nvPr>
        </p:nvSpPr>
        <p:spPr/>
        <p:txBody>
          <a:bodyPr/>
          <a:lstStyle/>
          <a:p>
            <a:r>
              <a:t>R4P: the expert on every tire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Real-time rules engine connected to OLM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Measures, decides and acts</a:t>
            </a:r>
          </a:p>
          <a:p>
            <a:pPr algn="l">
              <a:lnSpc>
                <a:spcPts val="2400"/>
              </a:lnSpc>
              <a:spcAft>
                <a:spcPts val="1000"/>
              </a:spcAft>
            </a:pPr>
            <a:r>
              <a:rPr sz="1600" b="0">
                <a:solidFill>
                  <a:schemeClr val="tx1">
                    <a:lumMod val="65000"/>
                    <a:lumOff val="35000"/>
                  </a:schemeClr>
                </a:solidFill>
                <a:latin typeface="Noto Sans"/>
              </a:rPr>
              <a:t>in seconds, without waiting for anyone.</a:t>
            </a:r>
          </a:p>
        </p:txBody>
      </p:sp>
      <p:sp>
        <p:nvSpPr>
          <p:cNvPr id="14" name="Rounded Rectangle 13"/>
          <p:cNvSpPr/>
          <p:nvPr/>
        </p:nvSpPr>
        <p:spPr>
          <a:xfrm>
            <a:off x="548640" y="5120640"/>
            <a:ext cx="3566160" cy="109728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on every shift</a:t>
            </a:r>
          </a:p>
        </p:txBody>
      </p:sp>
      <p:sp>
        <p:nvSpPr>
          <p:cNvPr id="17" name="Rounded Rectangle 16"/>
          <p:cNvSpPr/>
          <p:nvPr/>
        </p:nvSpPr>
        <p:spPr>
          <a:xfrm>
            <a:off x="4297679" y="5120640"/>
            <a:ext cx="3566160" cy="109728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of tires</a:t>
            </a:r>
          </a:p>
        </p:txBody>
      </p:sp>
      <p:sp>
        <p:nvSpPr>
          <p:cNvPr id="20" name="Rounded Rectangle 19"/>
          <p:cNvSpPr/>
          <p:nvPr/>
        </p:nvSpPr>
        <p:spPr>
          <a:xfrm>
            <a:off x="8046719" y="5120640"/>
            <a:ext cx="3566160" cy="109728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Sec.</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from measurement to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automatic responses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gentlest to the firmest, depending on the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Notifies the operator and the owner on screen and on mobile.</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Adjust</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Corrects the machine parameter (R4P regulation) without intervention.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Block</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Stops the machine if the deviation cannot be corrected.</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TESTING</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Segregate</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Will automatically remove the affected product from the line.</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NEXT PHASE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in action: drift corrects itself</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BJ regulation screen · MAC6 · station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Lower limit</a:t>
            </a:r>
          </a:p>
          <a:p>
            <a:pPr algn="l">
              <a:lnSpc>
                <a:spcPts val="1800"/>
              </a:lnSpc>
            </a:pPr>
            <a:r>
              <a:rPr sz="1200" b="0">
                <a:solidFill>
                  <a:schemeClr val="tx1">
                    <a:lumMod val="65000"/>
                    <a:lumOff val="35000"/>
                  </a:schemeClr>
                </a:solidFill>
                <a:latin typeface="Noto Sans"/>
              </a:rPr>
              <a:t>the edge position reaches the limit</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acts</a:t>
            </a:r>
          </a:p>
          <a:p>
            <a:pPr algn="l">
              <a:lnSpc>
                <a:spcPts val="1800"/>
              </a:lnSpc>
            </a:pPr>
            <a:r>
              <a:rPr sz="1200" b="0">
                <a:solidFill>
                  <a:schemeClr val="tx1">
                    <a:lumMod val="65000"/>
                    <a:lumOff val="35000"/>
                  </a:schemeClr>
                </a:solidFill>
                <a:latin typeface="Noto Sans"/>
              </a:rPr>
              <a:t>activates the ODM correction</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Target</a:t>
            </a:r>
          </a:p>
          <a:p>
            <a:pPr algn="l">
              <a:lnSpc>
                <a:spcPts val="1800"/>
              </a:lnSpc>
            </a:pPr>
            <a:r>
              <a:rPr sz="1200" b="0">
                <a:solidFill>
                  <a:schemeClr val="tx1">
                    <a:lumMod val="65000"/>
                    <a:lumOff val="35000"/>
                  </a:schemeClr>
                </a:solidFill>
                <a:latin typeface="Noto Sans"/>
              </a:rPr>
              <a:t>returns to the theoretical value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Without correction</a:t>
            </a:r>
          </a:p>
          <a:p>
            <a:pPr algn="l">
              <a:lnSpc>
                <a:spcPts val="1800"/>
              </a:lnSpc>
            </a:pPr>
            <a:r>
              <a:rPr sz="1200" b="0">
                <a:solidFill>
                  <a:schemeClr val="tx1">
                    <a:lumMod val="65000"/>
                    <a:lumOff val="35000"/>
                  </a:schemeClr>
                </a:solidFill>
                <a:latin typeface="Noto Sans"/>
              </a:rPr>
              <a:t>it drifts again: the proof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R4P makes the difference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What happens when a measurement starts to drift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1300" b="1">
                <a:solidFill>
                  <a:schemeClr val="tx1">
                    <a:lumMod val="65000"/>
                    <a:lumOff val="35000"/>
                  </a:schemeClr>
                </a:solidFill>
                <a:latin typeface="BIB Bold"/>
              </a:rPr>
              <a:t>Without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Manual correction</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Alert fires</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Tech arrives</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Manual fix</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Tires off target until someone acts</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1300" b="1">
                <a:solidFill>
                  <a:schemeClr val="tx1"/>
                </a:solidFill>
                <a:latin typeface="BIB Bold"/>
              </a:rPr>
              <a:t>With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Automatic correction</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corrects instantly</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Production is back on target immediately</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Same rules 24/7</a:t>
            </a:r>
          </a:p>
          <a:p>
            <a:pPr algn="l">
              <a:lnSpc>
                <a:spcPts val="1800"/>
              </a:lnSpc>
            </a:pPr>
            <a:r>
              <a:rPr sz="1200" b="0">
                <a:solidFill>
                  <a:schemeClr val="bg1"/>
                </a:solidFill>
                <a:latin typeface="Noto Sans"/>
              </a:rPr>
              <a:t>Quality does not depend on the shift or the time.</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Expertise turned into rules</a:t>
            </a:r>
          </a:p>
          <a:p>
            <a:pPr algn="l">
              <a:lnSpc>
                <a:spcPts val="1800"/>
              </a:lnSpc>
            </a:pPr>
            <a:r>
              <a:rPr sz="1200" b="0">
                <a:solidFill>
                  <a:schemeClr val="bg1"/>
                </a:solidFill>
                <a:latin typeface="Noto Sans"/>
              </a:rPr>
              <a:t>What the best technician knows, applied every time.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Every decision, logged</a:t>
            </a:r>
          </a:p>
          <a:p>
            <a:pPr algn="l">
              <a:lnSpc>
                <a:spcPts val="1800"/>
              </a:lnSpc>
            </a:pPr>
            <a:r>
              <a:rPr sz="1200" b="0">
                <a:solidFill>
                  <a:schemeClr val="bg1"/>
                </a:solidFill>
                <a:latin typeface="Noto Sans"/>
              </a:rPr>
              <a:t>Full traceability in PI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Anticipate</a:t>
            </a:r>
          </a:p>
          <a:p>
            <a:r>
              <a:rPr sz="2000" b="0">
                <a:latin typeface="Noto Sans"/>
              </a:rPr>
              <a:t>Advanced analytics and artificial intelligence</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blipFill dpi="0" rotWithShape="1">
          <a:blip r:embed="rId3"/>
          <a:stretch>
            <a:fillRect/>
          </a:stretch>
        </a:blipFill>
        <a:effectLst/>
      </p:bgPr>
    </p:bg>
    <p:spTree>
      <p:nvGrpSpPr>
        <p:cNvPr id="1" name=""/>
        <p:cNvGrpSpPr/>
        <p:nvPr/>
      </p:nvGrpSpPr>
      <p:grpSpPr/>
      <p:sp>
        <p:nvSpPr>
          <p:cNvPr id="2" name="Title 1"/>
          <p:cNvSpPr>
            <a:spLocks noGrp="1"/>
          </p:cNvSpPr>
          <p:nvPr>
            <p:ph type="title"/>
          </p:nvPr>
        </p:nvSpPr>
        <p:spPr/>
        <p:txBody>
          <a:bodyPr/>
          <a:lstStyle/>
          <a:p>
            <a:r>
              <a:t>Dataiku: from millions of data points to patterns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Advanced analytics to understand every quality issue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Combine</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PI measurements, images and quality results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Explore</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Correlations between parameters, stations and shifts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Discover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Patterns that repeat before a drift</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New rules, alerts and process improvements</a:t>
            </a:r>
          </a:p>
        </p:txBody>
      </p:sp>
      <p:sp>
        <p:nvSpPr>
          <p:cNvPr id="24" name="Rounded Rectangle 23"/>
          <p:cNvSpPr/>
          <p:nvPr/>
        </p:nvSpPr>
        <p:spPr>
          <a:xfrm>
            <a:off x="548640" y="3429000"/>
            <a:ext cx="11091672" cy="278892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A typical question</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“When a splice starts to drift, what do those tires have in common?”</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What Dataiku answers</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Which parameters moved beforehand</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stations, shifts or batches it concentrates in</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new rule would have prevented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a real data flow</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Quality characteristic CQ 38.1, from tire building to curing</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Zone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PI plugin</a:t>
            </a:r>
          </a:p>
          <a:p>
            <a:pPr algn="l">
              <a:lnSpc>
                <a:spcPts val="1600"/>
              </a:lnSpc>
            </a:pPr>
            <a:r>
              <a:rPr sz="1100" b="0">
                <a:solidFill>
                  <a:schemeClr val="tx1">
                    <a:lumMod val="65000"/>
                    <a:lumOff val="35000"/>
                  </a:schemeClr>
                </a:solidFill>
                <a:latin typeface="Noto Sans"/>
              </a:rPr>
              <a:t>reads every station's measurements</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Preparation</a:t>
            </a:r>
          </a:p>
          <a:p>
            <a:pPr algn="l">
              <a:lnSpc>
                <a:spcPts val="1600"/>
              </a:lnSpc>
            </a:pPr>
            <a:r>
              <a:rPr sz="1100" b="0">
                <a:solidFill>
                  <a:schemeClr val="tx1">
                    <a:lumMod val="65000"/>
                    <a:lumOff val="35000"/>
                  </a:schemeClr>
                </a:solidFill>
                <a:latin typeface="Noto Sans"/>
              </a:rPr>
              <a:t>automatic cleaning</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Join</a:t>
            </a:r>
          </a:p>
          <a:p>
            <a:pPr algn="l">
              <a:lnSpc>
                <a:spcPts val="1600"/>
              </a:lnSpc>
            </a:pPr>
            <a:r>
              <a:rPr sz="1100" b="0">
                <a:solidFill>
                  <a:schemeClr val="tx1">
                    <a:lumMod val="65000"/>
                    <a:lumOff val="35000"/>
                  </a:schemeClr>
                </a:solidFill>
                <a:latin typeface="Noto Sans"/>
              </a:rPr>
              <a:t>time series across stations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Serial number</a:t>
            </a:r>
          </a:p>
          <a:p>
            <a:pPr algn="l">
              <a:lnSpc>
                <a:spcPts val="1600"/>
              </a:lnSpc>
            </a:pPr>
            <a:r>
              <a:rPr sz="1100" b="0">
                <a:solidFill>
                  <a:schemeClr val="tx1">
                    <a:lumMod val="65000"/>
                    <a:lumOff val="35000"/>
                  </a:schemeClr>
                </a:solidFill>
                <a:latin typeface="Noto Sans"/>
              </a:rPr>
              <a:t>the tire's identity</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C11 curing</a:t>
            </a:r>
          </a:p>
          <a:p>
            <a:pPr algn="l">
              <a:lnSpc>
                <a:spcPts val="1600"/>
              </a:lnSpc>
            </a:pPr>
            <a:r>
              <a:rPr sz="1100" b="0">
                <a:solidFill>
                  <a:schemeClr val="tx1">
                    <a:lumMod val="65000"/>
                    <a:lumOff val="35000"/>
                  </a:schemeClr>
                </a:solidFill>
                <a:latin typeface="Noto Sans"/>
              </a:rPr>
              <a:t>its history is complete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on our laser images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laser measures; AI recognises what no dimension can measure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Measure: laser and dimensions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Today and always. </a:t>
            </a:r>
          </a:p>
          <a:p>
            <a:pPr algn="l">
              <a:lnSpc>
                <a:spcPts val="2100"/>
              </a:lnSpc>
            </a:pPr>
            <a:r>
              <a:rPr sz="1400" b="0">
                <a:solidFill>
                  <a:schemeClr val="bg1"/>
                </a:solidFill>
                <a:latin typeface="Noto Sans"/>
              </a:rPr>
              <a:t>Width, edge position, centring and splice, with their tolerances.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Recognise: AI</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What has no dimension:</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Surface roughness and texture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Possible foreign matter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Poorly dispersed rubber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Other product characteristics</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Learns what a good product looks like and flags anything out of the ordinary.</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The foundation already exists: </a:t>
            </a:r>
            <a:r>
              <a:rPr sz="1400" b="0">
                <a:solidFill>
                  <a:schemeClr val="tx1"/>
                </a:solidFill>
                <a:latin typeface="Noto Sans"/>
              </a:rPr>
              <a:t>thousands of real images archived in PI, linked to their measurements and alerts.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3"/>
          <a:stretch>
            <a:fillRect/>
          </a:stretch>
        </a:blipFill>
        <a:effectLst/>
      </p:bgPr>
    </p:bg>
    <p:spTree>
      <p:nvGrpSpPr>
        <p:cNvPr id="1" name=""/>
        <p:cNvGrpSpPr/>
        <p:nvPr/>
      </p:nvGrpSpPr>
      <p:grpSpPr/>
      <p:sp>
        <p:nvSpPr>
          <p:cNvPr id="2" name="Title 1"/>
          <p:cNvSpPr>
            <a:spLocks noGrp="1"/>
          </p:cNvSpPr>
          <p:nvPr>
            <p:ph type="title"/>
          </p:nvPr>
        </p:nvSpPr>
        <p:spPr/>
        <p:txBody>
          <a:bodyPr/>
          <a:lstStyle/>
          <a:p>
            <a:r>
              <a:t>Process mastery and continuous improvement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Every turn of the cycle makes us a little better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We measure</a:t>
            </a:r>
          </a:p>
          <a:p>
            <a:pPr algn="l">
              <a:lnSpc>
                <a:spcPts val="2100"/>
              </a:lnSpc>
            </a:pPr>
            <a:r>
              <a:rPr sz="1400" b="0">
                <a:solidFill>
                  <a:schemeClr val="tx1">
                    <a:lumMod val="65000"/>
                    <a:lumOff val="35000"/>
                  </a:schemeClr>
                </a:solidFill>
                <a:latin typeface="Noto Sans"/>
              </a:rPr>
              <a:t>every tire with 3D lasers</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We understand</a:t>
            </a:r>
          </a:p>
          <a:p>
            <a:pPr algn="l">
              <a:lnSpc>
                <a:spcPts val="2100"/>
              </a:lnSpc>
            </a:pPr>
            <a:r>
              <a:rPr sz="1400" b="0">
                <a:solidFill>
                  <a:schemeClr val="tx1">
                    <a:lumMod val="65000"/>
                    <a:lumOff val="35000"/>
                  </a:schemeClr>
                </a:solidFill>
                <a:latin typeface="Noto Sans"/>
              </a:rPr>
              <a:t>real-time trends and alerts</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We correct</a:t>
            </a:r>
          </a:p>
          <a:p>
            <a:pPr algn="l">
              <a:lnSpc>
                <a:spcPts val="2100"/>
              </a:lnSpc>
            </a:pPr>
            <a:r>
              <a:rPr sz="1400" b="0">
                <a:solidFill>
                  <a:schemeClr val="tx1">
                    <a:lumMod val="65000"/>
                    <a:lumOff val="35000"/>
                  </a:schemeClr>
                </a:solidFill>
                <a:latin typeface="Noto Sans"/>
              </a:rPr>
              <a:t>automatically with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We learn</a:t>
            </a:r>
          </a:p>
          <a:p>
            <a:pPr algn="l">
              <a:lnSpc>
                <a:spcPts val="2100"/>
              </a:lnSpc>
            </a:pPr>
            <a:r>
              <a:rPr sz="1400" b="0">
                <a:solidFill>
                  <a:schemeClr val="tx1">
                    <a:lumMod val="65000"/>
                    <a:lumOff val="35000"/>
                  </a:schemeClr>
                </a:solidFill>
                <a:latin typeface="Noto Sans"/>
              </a:rPr>
              <a:t>patterns with Dataiku and AI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blipFill dpi="0" rotWithShape="1">
          <a:blip r:embed="rId6"/>
          <a:stretch>
            <a:fillRect/>
          </a:stretch>
        </a:blipFill>
        <a:effectLst/>
      </p:bgPr>
    </p:bg>
    <p:spTree>
      <p:nvGrpSpPr>
        <p:cNvPr id="1" name=""/>
        <p:cNvGrpSpPr/>
        <p:nvPr/>
      </p:nvGrpSpPr>
      <p:grpSpPr/>
      <p:sp>
        <p:nvSpPr>
          <p:cNvPr id="2" name="Title 1"/>
          <p:cNvSpPr>
            <a:spLocks noGrp="1"/>
          </p:cNvSpPr>
          <p:nvPr>
            <p:ph type="title"/>
          </p:nvPr>
        </p:nvSpPr>
        <p:spPr/>
        <p:txBody>
          <a:bodyPr/>
          <a:lstStyle/>
          <a:p>
            <a:r>
              <a:t>The right information for every person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same data, turned into action at every level</a:t>
            </a:r>
          </a:p>
        </p:txBody>
      </p:sp>
      <p:sp>
        <p:nvSpPr>
          <p:cNvPr id="4" name="Rounded Rectangle 3"/>
          <p:cNvSpPr/>
          <p:nvPr/>
        </p:nvSpPr>
        <p:spPr>
          <a:xfrm>
            <a:off x="548640" y="1508760"/>
            <a:ext cx="3566160" cy="470916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Operator</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Sees the status of their station in real time.</a:t>
            </a:r>
          </a:p>
        </p:txBody>
      </p:sp>
      <p:sp>
        <p:nvSpPr>
          <p:cNvPr id="9" name="Rounded Rectangle 8"/>
          <p:cNvSpPr/>
          <p:nvPr/>
        </p:nvSpPr>
        <p:spPr>
          <a:xfrm>
            <a:off x="4311396" y="1508760"/>
            <a:ext cx="3566160" cy="470916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Process and maintenance</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Receive the alert and act on the machine.</a:t>
            </a:r>
          </a:p>
        </p:txBody>
      </p:sp>
      <p:sp>
        <p:nvSpPr>
          <p:cNvPr id="14" name="Rounded Rectangle 13"/>
          <p:cNvSpPr/>
          <p:nvPr/>
        </p:nvSpPr>
        <p:spPr>
          <a:xfrm>
            <a:off x="8074152" y="1508760"/>
            <a:ext cx="3566160" cy="470916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Engineering and quality</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Analyse trends and improve rules and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Every tire: seen, understood, decided and better every day</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See  ·  Understand  ·  Decide  ·  Anticipate</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Trusted partners for new technologies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quality decided in real time</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