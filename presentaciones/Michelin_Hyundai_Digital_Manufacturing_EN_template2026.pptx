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and AI under study (see), PI System and PI Vision (understand), R4P (decide), Dataiku (anticipate).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 By its function it belongs to See: it extends what the system can see.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Quality decided in real time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4.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Quality decided in real time</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 successful long-term partnership for performance and innovation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Trusted partners for new technologies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Fitted on the new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Code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Each of these tires is born in the digital environment </a:t>
            </a:r>
            <a:r>
              <a:rPr sz="1400" b="1">
                <a:solidFill>
                  <a:schemeClr val="accent2"/>
                </a:solidFill>
                <a:latin typeface="Noto Sans"/>
              </a:rPr>
              <a:t>we are presenting to you today.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What if every tire could tell us how it was made?</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Today it does. Let us show you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ways to control quality</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Traditional control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sample</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per shift, manually</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Hours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to discover a deviation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After</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we react once the defect already exists</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Our digital control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of products, automatically</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Seconds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to detect a drift</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Before</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corrected before the defect exists</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system in a single cycle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Four steps revolving around IQF, our quality indicator</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See  </a:t>
            </a:r>
            <a:r>
              <a:rPr sz="1400" b="1">
                <a:solidFill>
                  <a:schemeClr val="tx1">
                    <a:lumMod val="65000"/>
                    <a:lumOff val="35000"/>
                  </a:schemeClr>
                </a:solidFill>
                <a:latin typeface="Noto Sans"/>
              </a:rPr>
              <a:t>3D laser profilers · AI (under study)</a:t>
            </a:r>
          </a:p>
          <a:p>
            <a:pPr algn="l">
              <a:lnSpc>
                <a:spcPts val="2000"/>
              </a:lnSpc>
            </a:pPr>
            <a:r>
              <a:rPr sz="1300" b="0">
                <a:solidFill>
                  <a:schemeClr val="tx1"/>
                </a:solidFill>
                <a:latin typeface="Noto Sans"/>
              </a:rPr>
              <a:t>Every product measured in 3D; AI will see what has no dimension.</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Understand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Real-time data and images, with trends and alerts.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Decide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Rules engine that corrects the process automatically.</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Anticipate  </a:t>
            </a:r>
            <a:r>
              <a:rPr sz="1400" b="1">
                <a:solidFill>
                  <a:schemeClr val="tx1">
                    <a:lumMod val="65000"/>
                    <a:lumOff val="35000"/>
                  </a:schemeClr>
                </a:solidFill>
                <a:latin typeface="Noto Sans"/>
              </a:rPr>
              <a:t>Dataiku</a:t>
            </a:r>
          </a:p>
          <a:p>
            <a:pPr algn="l">
              <a:lnSpc>
                <a:spcPts val="2000"/>
              </a:lnSpc>
            </a:pPr>
            <a:r>
              <a:rPr sz="1300" b="0">
                <a:solidFill>
                  <a:schemeClr val="tx1"/>
                </a:solidFill>
                <a:latin typeface="Noto Sans"/>
              </a:rPr>
              <a:t>Advanced analytics to find patterns and stay ahead.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See</a:t>
            </a:r>
          </a:p>
          <a:p>
            <a:r>
              <a:rPr sz="2000" b="0">
                <a:latin typeface="Noto Sans"/>
              </a:rPr>
              <a:t>Every tire, turned into data</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 every product</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3D laser profilers at every machine station</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of products measured</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complete profile of every component</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laser sensors on 8 MAC stations</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3D scan on the MAC: each colour is a height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measure an NST splice on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3D map to the figure that defines splice quality</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3D map</a:t>
            </a:r>
          </a:p>
          <a:p>
            <a:pPr algn="l">
              <a:lnSpc>
                <a:spcPts val="1800"/>
              </a:lnSpc>
            </a:pPr>
            <a:r>
              <a:rPr sz="1200" b="0">
                <a:solidFill>
                  <a:schemeClr val="tx1">
                    <a:lumMod val="65000"/>
                    <a:lumOff val="35000"/>
                  </a:schemeClr>
                </a:solidFill>
                <a:latin typeface="Noto Sans"/>
              </a:rPr>
              <a:t>of the NST strip splice</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Measurement section</a:t>
            </a:r>
          </a:p>
          <a:p>
            <a:pPr algn="l">
              <a:lnSpc>
                <a:spcPts val="1800"/>
              </a:lnSpc>
            </a:pPr>
            <a:r>
              <a:rPr sz="1200" b="0">
                <a:solidFill>
                  <a:schemeClr val="tx1">
                    <a:lumMod val="65000"/>
                    <a:lumOff val="35000"/>
                  </a:schemeClr>
                </a:solidFill>
                <a:latin typeface="Noto Sans"/>
              </a:rPr>
              <a:t>drawn across the splice</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Profile</a:t>
            </a:r>
          </a:p>
          <a:p>
            <a:pPr algn="l">
              <a:lnSpc>
                <a:spcPts val="1800"/>
              </a:lnSpc>
            </a:pPr>
            <a:r>
              <a:rPr sz="1200" b="0">
                <a:solidFill>
                  <a:schemeClr val="tx1">
                    <a:lumMod val="65000"/>
                    <a:lumOff val="35000"/>
                  </a:schemeClr>
                </a:solidFill>
                <a:latin typeface="Noto Sans"/>
              </a:rPr>
              <a:t>quantifies the splice</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monitored continuously</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overlap</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height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offset</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Splice quality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station, every measurement, live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MAC4 OLM screen: twelve stations, P05 to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Twelve stations</a:t>
            </a:r>
          </a:p>
          <a:p>
            <a:pPr algn="l">
              <a:lnSpc>
                <a:spcPts val="1800"/>
              </a:lnSpc>
            </a:pPr>
            <a:r>
              <a:rPr sz="1200" b="0">
                <a:solidFill>
                  <a:schemeClr val="tx1">
                    <a:lumMod val="65000"/>
                    <a:lumOff val="35000"/>
                  </a:schemeClr>
                </a:solidFill>
                <a:latin typeface="Noto Sans"/>
              </a:rPr>
              <a:t>from P05 to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Status code</a:t>
            </a:r>
          </a:p>
          <a:p>
            <a:pPr algn="l">
              <a:lnSpc>
                <a:spcPts val="1800"/>
              </a:lnSpc>
            </a:pPr>
            <a:r>
              <a:rPr sz="1200" b="0">
                <a:solidFill>
                  <a:schemeClr val="tx1">
                    <a:lumMod val="65000"/>
                    <a:lumOff val="35000"/>
                  </a:schemeClr>
                </a:solidFill>
                <a:latin typeface="Noto Sans"/>
              </a:rPr>
              <a:t>OK · watch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Splices</a:t>
            </a:r>
          </a:p>
          <a:p>
            <a:pPr algn="l">
              <a:lnSpc>
                <a:spcPts val="1800"/>
              </a:lnSpc>
            </a:pPr>
            <a:r>
              <a:rPr sz="1200" b="0">
                <a:solidFill>
                  <a:schemeClr val="tx1">
                    <a:lumMod val="65000"/>
                    <a:lumOff val="35000"/>
                  </a:schemeClr>
                </a:solidFill>
                <a:latin typeface="Noto Sans"/>
              </a:rPr>
              <a:t>measured at every station</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100 % measured</a:t>
            </a:r>
          </a:p>
          <a:p>
            <a:pPr algn="l">
              <a:lnSpc>
                <a:spcPts val="1800"/>
              </a:lnSpc>
            </a:pPr>
            <a:r>
              <a:rPr sz="1200" b="0">
                <a:solidFill>
                  <a:schemeClr val="tx1">
                    <a:lumMod val="65000"/>
                    <a:lumOff val="35000"/>
                  </a:schemeClr>
                </a:solidFill>
                <a:latin typeface="Noto Sans"/>
              </a:rPr>
              <a:t>every tire measured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whole line at a glance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BNS62 OLM screen: NST1, NST2 and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and colours</a:t>
            </a:r>
          </a:p>
          <a:p>
            <a:pPr algn="l">
              <a:lnSpc>
                <a:spcPts val="1800"/>
              </a:lnSpc>
            </a:pPr>
            <a:r>
              <a:rPr sz="1200" b="0">
                <a:solidFill>
                  <a:schemeClr val="tx1">
                    <a:lumMod val="65000"/>
                    <a:lumOff val="35000"/>
                  </a:schemeClr>
                </a:solidFill>
                <a:latin typeface="Noto Sans"/>
              </a:rPr>
              <a:t>green, orange, red</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station</a:t>
            </a:r>
          </a:p>
          <a:p>
            <a:pPr algn="l">
              <a:lnSpc>
                <a:spcPts val="1800"/>
              </a:lnSpc>
            </a:pPr>
            <a:r>
              <a:rPr sz="1200" b="0">
                <a:solidFill>
                  <a:schemeClr val="tx1">
                    <a:lumMod val="65000"/>
                    <a:lumOff val="35000"/>
                  </a:schemeClr>
                </a:solidFill>
                <a:latin typeface="Noto Sans"/>
              </a:rPr>
              <a:t>centring, width, splice</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One click</a:t>
            </a:r>
          </a:p>
          <a:p>
            <a:pPr algn="l">
              <a:lnSpc>
                <a:spcPts val="1800"/>
              </a:lnSpc>
            </a:pPr>
            <a:r>
              <a:rPr sz="1200" b="0">
                <a:solidFill>
                  <a:schemeClr val="tx1">
                    <a:lumMod val="65000"/>
                    <a:lumOff val="35000"/>
                  </a:schemeClr>
                </a:solidFill>
                <a:latin typeface="Noto Sans"/>
              </a:rPr>
              <a:t>IQF, images, alerts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KM splice</a:t>
            </a:r>
          </a:p>
          <a:p>
            <a:pPr algn="l">
              <a:lnSpc>
                <a:spcPts val="1800"/>
              </a:lnSpc>
            </a:pPr>
            <a:r>
              <a:rPr sz="1200" b="0">
                <a:solidFill>
                  <a:schemeClr val="tx1">
                    <a:lumMod val="65000"/>
                    <a:lumOff val="35000"/>
                  </a:schemeClr>
                </a:solidFill>
                <a:latin typeface="Noto Sans"/>
              </a:rPr>
              <a:t>height, quality,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AI sees what has no dimension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laser measures; AI sees what has no dimension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Measure: laser and dimensions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Today and always. </a:t>
            </a:r>
          </a:p>
          <a:p>
            <a:pPr algn="l">
              <a:lnSpc>
                <a:spcPts val="2100"/>
              </a:lnSpc>
            </a:pPr>
            <a:r>
              <a:rPr sz="1400" b="0">
                <a:solidFill>
                  <a:schemeClr val="bg1"/>
                </a:solidFill>
                <a:latin typeface="Noto Sans"/>
              </a:rPr>
              <a:t>Width, edge position, centring and splice, with their tolerances.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See more: AI (under study)</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What has no dimension:</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Surface roughness and texture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Possible foreign matter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Poorly dispersed rubber</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Other product characteristics</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Learns what a good product looks like and flags anything out of the ordinary.</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The foundation already exists: </a:t>
            </a:r>
            <a:r>
              <a:rPr sz="1400" b="0">
                <a:solidFill>
                  <a:schemeClr val="tx1"/>
                </a:solidFill>
                <a:latin typeface="Noto Sans"/>
              </a:rPr>
              <a:t>thousands of real images archived in PI, linked to their measurements and alerts.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Understand</a:t>
            </a:r>
          </a:p>
          <a:p>
            <a:r>
              <a:rPr sz="2000" b="0">
                <a:latin typeface="Noto Sans"/>
              </a:rPr>
              <a:t>From data to trend, in real time</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see the drift before the defect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PI Vision screen · MAC3 · station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Every tire</a:t>
            </a:r>
          </a:p>
          <a:p>
            <a:pPr algn="l">
              <a:lnSpc>
                <a:spcPts val="1800"/>
              </a:lnSpc>
            </a:pPr>
            <a:r>
              <a:rPr sz="1200" b="0">
                <a:solidFill>
                  <a:schemeClr val="tx1">
                    <a:lumMod val="65000"/>
                    <a:lumOff val="35000"/>
                  </a:schemeClr>
                </a:solidFill>
                <a:latin typeface="Noto Sans"/>
              </a:rPr>
              <a:t>its individual value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trend</a:t>
            </a:r>
          </a:p>
          <a:p>
            <a:pPr algn="l">
              <a:lnSpc>
                <a:spcPts val="1800"/>
              </a:lnSpc>
            </a:pPr>
            <a:r>
              <a:rPr sz="1200" b="0">
                <a:solidFill>
                  <a:schemeClr val="tx1">
                    <a:lumMod val="65000"/>
                    <a:lumOff val="35000"/>
                  </a:schemeClr>
                </a:solidFill>
                <a:latin typeface="Noto Sans"/>
              </a:rPr>
              <a:t>median of the last 20</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limits</a:t>
            </a:r>
          </a:p>
          <a:p>
            <a:pPr algn="l">
              <a:lnSpc>
                <a:spcPts val="1800"/>
              </a:lnSpc>
            </a:pPr>
            <a:r>
              <a:rPr sz="1200" b="0">
                <a:solidFill>
                  <a:schemeClr val="tx1">
                    <a:lumMod val="65000"/>
                    <a:lumOff val="35000"/>
                  </a:schemeClr>
                </a:solidFill>
                <a:latin typeface="Noto Sans"/>
              </a:rPr>
              <a:t>tolerances always visible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The target</a:t>
            </a:r>
          </a:p>
          <a:p>
            <a:pPr algn="l">
              <a:lnSpc>
                <a:spcPts val="1800"/>
              </a:lnSpc>
            </a:pPr>
            <a:r>
              <a:rPr sz="1200" b="0">
                <a:solidFill>
                  <a:schemeClr val="tx1">
                    <a:lumMod val="65000"/>
                    <a:lumOff val="35000"/>
                  </a:schemeClr>
                </a:solidFill>
                <a:latin typeface="Noto Sans"/>
              </a:rPr>
              <a:t>theoretical reference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 before the defect exists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trend crosses the limit and the right person knows instantly</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raised</a:t>
            </a:r>
          </a:p>
          <a:p>
            <a:pPr algn="l">
              <a:lnSpc>
                <a:spcPts val="1800"/>
              </a:lnSpc>
            </a:pPr>
            <a:r>
              <a:rPr sz="1200" b="0">
                <a:solidFill>
                  <a:schemeClr val="tx1">
                    <a:lumMod val="65000"/>
                    <a:lumOff val="35000"/>
                  </a:schemeClr>
                </a:solidFill>
                <a:latin typeface="Noto Sans"/>
              </a:rPr>
              <a:t>the median leaves tolerance</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cleared</a:t>
            </a:r>
          </a:p>
          <a:p>
            <a:pPr algn="l">
              <a:lnSpc>
                <a:spcPts val="1800"/>
              </a:lnSpc>
            </a:pPr>
            <a:r>
              <a:rPr sz="1200" b="0">
                <a:solidFill>
                  <a:schemeClr val="tx1">
                    <a:lumMod val="65000"/>
                    <a:lumOff val="35000"/>
                  </a:schemeClr>
                </a:solidFill>
                <a:latin typeface="Noto Sans"/>
              </a:rPr>
              <a:t>back on target and logged</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Notification on screen and on mobile</a:t>
            </a:r>
          </a:p>
          <a:p>
            <a:pPr algn="l">
              <a:lnSpc>
                <a:spcPts val="2100"/>
              </a:lnSpc>
            </a:pPr>
            <a:r>
              <a:rPr sz="1400" b="0">
                <a:solidFill>
                  <a:schemeClr val="tx1">
                    <a:lumMod val="65000"/>
                    <a:lumOff val="35000"/>
                  </a:schemeClr>
                </a:solidFill>
                <a:latin typeface="Noto Sans"/>
              </a:rPr>
              <a:t>To the process (CARE) or maintenance (TECH) owner.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image and every alert, stored</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keeps the full history of every tire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 of every product</a:t>
            </a:r>
          </a:p>
          <a:p>
            <a:pPr algn="l">
              <a:lnSpc>
                <a:spcPts val="1800"/>
              </a:lnSpc>
            </a:pPr>
            <a:r>
              <a:rPr sz="1200" b="0">
                <a:solidFill>
                  <a:schemeClr val="tx1">
                    <a:lumMod val="65000"/>
                    <a:lumOff val="35000"/>
                  </a:schemeClr>
                </a:solidFill>
                <a:latin typeface="Noto Sans"/>
              </a:rPr>
              <a:t>retrievable by station, date and time</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 history</a:t>
            </a:r>
          </a:p>
          <a:p>
            <a:pPr algn="l">
              <a:lnSpc>
                <a:spcPts val="1800"/>
              </a:lnSpc>
            </a:pPr>
            <a:r>
              <a:rPr sz="1200" b="0">
                <a:solidFill>
                  <a:schemeClr val="tx1">
                    <a:lumMod val="65000"/>
                    <a:lumOff val="35000"/>
                  </a:schemeClr>
                </a:solidFill>
                <a:latin typeface="Noto Sans"/>
              </a:rPr>
              <a:t>station, type, start, end and duration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Foundation for AI</a:t>
            </a:r>
          </a:p>
          <a:p>
            <a:pPr algn="l">
              <a:lnSpc>
                <a:spcPts val="1800"/>
              </a:lnSpc>
            </a:pPr>
            <a:r>
              <a:rPr sz="1200" b="0">
                <a:solidFill>
                  <a:schemeClr val="tx1">
                    <a:lumMod val="65000"/>
                    <a:lumOff val="35000"/>
                  </a:schemeClr>
                </a:solidFill>
                <a:latin typeface="Noto Sans"/>
              </a:rPr>
              <a:t>thousands of real images to learn from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Decide: R4P</a:t>
            </a:r>
          </a:p>
          <a:p>
            <a:r>
              <a:rPr sz="2000" b="0">
                <a:latin typeface="Noto Sans"/>
              </a:rPr>
              <a:t>The engine that turns every measurement into action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the expert on every tire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Real-time rules engine connected to OLM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Measures, decides and acts</a:t>
            </a:r>
          </a:p>
          <a:p>
            <a:pPr algn="l">
              <a:lnSpc>
                <a:spcPts val="2400"/>
              </a:lnSpc>
              <a:spcAft>
                <a:spcPts val="1000"/>
              </a:spcAft>
            </a:pPr>
            <a:r>
              <a:rPr sz="1600" b="0">
                <a:solidFill>
                  <a:schemeClr val="tx1">
                    <a:lumMod val="65000"/>
                    <a:lumOff val="35000"/>
                  </a:schemeClr>
                </a:solidFill>
                <a:latin typeface="Noto Sans"/>
              </a:rPr>
              <a:t>in seconds, without waiting for anyone.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on every shift</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of tires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Sec.</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from measurement to action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automatic responses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From the gentlest to the firmest, depending on the measurement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Notifies the operator and the owner on screen and on mobile.</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Adjust</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Corrects the machine parameter (R4P regulation) without intervention.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PRODUCTION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Block</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Stops the machine if the deviation cannot be corrected.</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IN TESTING</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Segregate</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Will automatically remove the affected product from the line.</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NEXT PHASE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in action: drift corrects itself</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Real BJ regulation screen · MAC6 · station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Lower limit</a:t>
            </a:r>
          </a:p>
          <a:p>
            <a:pPr algn="l">
              <a:lnSpc>
                <a:spcPts val="1800"/>
              </a:lnSpc>
            </a:pPr>
            <a:r>
              <a:rPr sz="1200" b="0">
                <a:solidFill>
                  <a:schemeClr val="tx1">
                    <a:lumMod val="65000"/>
                    <a:lumOff val="35000"/>
                  </a:schemeClr>
                </a:solidFill>
                <a:latin typeface="Noto Sans"/>
              </a:rPr>
              <a:t>the edge position reaches the limit</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acts</a:t>
            </a:r>
          </a:p>
          <a:p>
            <a:pPr algn="l">
              <a:lnSpc>
                <a:spcPts val="1800"/>
              </a:lnSpc>
            </a:pPr>
            <a:r>
              <a:rPr sz="1200" b="0">
                <a:solidFill>
                  <a:schemeClr val="tx1">
                    <a:lumMod val="65000"/>
                    <a:lumOff val="35000"/>
                  </a:schemeClr>
                </a:solidFill>
                <a:latin typeface="Noto Sans"/>
              </a:rPr>
              <a:t>activates the ODM correction</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Target</a:t>
            </a:r>
          </a:p>
          <a:p>
            <a:pPr algn="l">
              <a:lnSpc>
                <a:spcPts val="1800"/>
              </a:lnSpc>
            </a:pPr>
            <a:r>
              <a:rPr sz="1200" b="0">
                <a:solidFill>
                  <a:schemeClr val="tx1">
                    <a:lumMod val="65000"/>
                    <a:lumOff val="35000"/>
                  </a:schemeClr>
                </a:solidFill>
                <a:latin typeface="Noto Sans"/>
              </a:rPr>
              <a:t>returns to the theoretical value</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Without correction</a:t>
            </a:r>
          </a:p>
          <a:p>
            <a:pPr algn="l">
              <a:lnSpc>
                <a:spcPts val="1800"/>
              </a:lnSpc>
            </a:pPr>
            <a:r>
              <a:rPr sz="1200" b="0">
                <a:solidFill>
                  <a:schemeClr val="tx1">
                    <a:lumMod val="65000"/>
                    <a:lumOff val="35000"/>
                  </a:schemeClr>
                </a:solidFill>
                <a:latin typeface="Noto Sans"/>
              </a:rPr>
              <a:t>it drifts again: the proof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R4P makes the difference</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What happens when a measurement starts to drift</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Decide</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Anticipate</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1300" b="1">
                <a:solidFill>
                  <a:schemeClr val="tx1">
                    <a:lumMod val="65000"/>
                    <a:lumOff val="35000"/>
                  </a:schemeClr>
                </a:solidFill>
                <a:latin typeface="BIB Bold"/>
              </a:rPr>
              <a:t>Without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Manual correction</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Alert fires</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Tech arrives</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Manual fix</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Tires off target until someone acts</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1300" b="1">
                <a:solidFill>
                  <a:schemeClr val="tx1"/>
                </a:solidFill>
                <a:latin typeface="BIB Bold"/>
              </a:rPr>
              <a:t>With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Automatic correction</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Drift starts</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corrects instantly</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Production is back on target immediately</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Same rules 24/7</a:t>
            </a:r>
          </a:p>
          <a:p>
            <a:pPr algn="l">
              <a:lnSpc>
                <a:spcPts val="1800"/>
              </a:lnSpc>
            </a:pPr>
            <a:r>
              <a:rPr sz="1200" b="0">
                <a:solidFill>
                  <a:schemeClr val="bg1"/>
                </a:solidFill>
                <a:latin typeface="Noto Sans"/>
              </a:rPr>
              <a:t>Quality does not depend on the shift or the time.</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Expertise turned into rules</a:t>
            </a:r>
          </a:p>
          <a:p>
            <a:pPr algn="l">
              <a:lnSpc>
                <a:spcPts val="1800"/>
              </a:lnSpc>
            </a:pPr>
            <a:r>
              <a:rPr sz="1200" b="0">
                <a:solidFill>
                  <a:schemeClr val="bg1"/>
                </a:solidFill>
                <a:latin typeface="Noto Sans"/>
              </a:rPr>
              <a:t>What the best technician knows, applied every time.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Every decision, logged</a:t>
            </a:r>
          </a:p>
          <a:p>
            <a:pPr algn="l">
              <a:lnSpc>
                <a:spcPts val="1800"/>
              </a:lnSpc>
            </a:pPr>
            <a:r>
              <a:rPr sz="1200" b="0">
                <a:solidFill>
                  <a:schemeClr val="bg1"/>
                </a:solidFill>
                <a:latin typeface="Noto Sans"/>
              </a:rPr>
              <a:t>Full traceability in PI System.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Anticipate</a:t>
            </a:r>
          </a:p>
          <a:p>
            <a:r>
              <a:rPr sz="2000" b="0">
                <a:latin typeface="Noto Sans"/>
              </a:rPr>
              <a:t>Advanced analytics with Dataiku</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from millions of data points to patterns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Advanced analytics to understand every quality issue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Combine</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PI measurements, images and quality results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Explore</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Correlations between parameters, stations and shifts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Discover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Patterns that repeat before a drift</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New rules, alerts and process improvements</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A typical question</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“When a splice starts to drift, what do those tires have in common?”</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What Dataiku answers</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Which parameters moved beforehand</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stations, shifts or batches it concentrates in</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Which new rule would have prevented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a real data flow</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Quality characteristic CQ 38.1, from tire building to curing</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Zone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PI plugin</a:t>
            </a:r>
          </a:p>
          <a:p>
            <a:pPr algn="l">
              <a:lnSpc>
                <a:spcPts val="1600"/>
              </a:lnSpc>
            </a:pPr>
            <a:r>
              <a:rPr sz="1100" b="0">
                <a:solidFill>
                  <a:schemeClr val="tx1">
                    <a:lumMod val="65000"/>
                    <a:lumOff val="35000"/>
                  </a:schemeClr>
                </a:solidFill>
                <a:latin typeface="Noto Sans"/>
              </a:rPr>
              <a:t>reads every station's measurements</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Preparation</a:t>
            </a:r>
          </a:p>
          <a:p>
            <a:pPr algn="l">
              <a:lnSpc>
                <a:spcPts val="1600"/>
              </a:lnSpc>
            </a:pPr>
            <a:r>
              <a:rPr sz="1100" b="0">
                <a:solidFill>
                  <a:schemeClr val="tx1">
                    <a:lumMod val="65000"/>
                    <a:lumOff val="35000"/>
                  </a:schemeClr>
                </a:solidFill>
                <a:latin typeface="Noto Sans"/>
              </a:rPr>
              <a:t>automatic cleaning</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Join</a:t>
            </a:r>
          </a:p>
          <a:p>
            <a:pPr algn="l">
              <a:lnSpc>
                <a:spcPts val="1600"/>
              </a:lnSpc>
            </a:pPr>
            <a:r>
              <a:rPr sz="1100" b="0">
                <a:solidFill>
                  <a:schemeClr val="tx1">
                    <a:lumMod val="65000"/>
                    <a:lumOff val="35000"/>
                  </a:schemeClr>
                </a:solidFill>
                <a:latin typeface="Noto Sans"/>
              </a:rPr>
              <a:t>time series across stations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Serial number</a:t>
            </a:r>
          </a:p>
          <a:p>
            <a:pPr algn="l">
              <a:lnSpc>
                <a:spcPts val="1600"/>
              </a:lnSpc>
            </a:pPr>
            <a:r>
              <a:rPr sz="1100" b="0">
                <a:solidFill>
                  <a:schemeClr val="tx1">
                    <a:lumMod val="65000"/>
                    <a:lumOff val="35000"/>
                  </a:schemeClr>
                </a:solidFill>
                <a:latin typeface="Noto Sans"/>
              </a:rPr>
              <a:t>the tire's identity</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C11 curing</a:t>
            </a:r>
          </a:p>
          <a:p>
            <a:pPr algn="l">
              <a:lnSpc>
                <a:spcPts val="1600"/>
              </a:lnSpc>
            </a:pPr>
            <a:r>
              <a:rPr sz="1100" b="0">
                <a:solidFill>
                  <a:schemeClr val="tx1">
                    <a:lumMod val="65000"/>
                    <a:lumOff val="35000"/>
                  </a:schemeClr>
                </a:solidFill>
                <a:latin typeface="Noto Sans"/>
              </a:rPr>
              <a:t>its history is complete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mastery and continuous improvement</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Every turn of the cycle makes us a little better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See</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Understand</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Decide</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Anticipate</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See</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Understand</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Decide</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Anticipate</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We measure</a:t>
            </a:r>
          </a:p>
          <a:p>
            <a:pPr algn="l">
              <a:lnSpc>
                <a:spcPts val="2100"/>
              </a:lnSpc>
            </a:pPr>
            <a:r>
              <a:rPr sz="1400" b="0">
                <a:solidFill>
                  <a:schemeClr val="tx1">
                    <a:lumMod val="65000"/>
                    <a:lumOff val="35000"/>
                  </a:schemeClr>
                </a:solidFill>
                <a:latin typeface="Noto Sans"/>
              </a:rPr>
              <a:t>every tire with 3D lasers; AI will see what has no dimension</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We understand</a:t>
            </a:r>
          </a:p>
          <a:p>
            <a:pPr algn="l">
              <a:lnSpc>
                <a:spcPts val="2100"/>
              </a:lnSpc>
            </a:pPr>
            <a:r>
              <a:rPr sz="1400" b="0">
                <a:solidFill>
                  <a:schemeClr val="tx1">
                    <a:lumMod val="65000"/>
                    <a:lumOff val="35000"/>
                  </a:schemeClr>
                </a:solidFill>
                <a:latin typeface="Noto Sans"/>
              </a:rPr>
              <a:t>real-time trends and alerts</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We correct</a:t>
            </a:r>
          </a:p>
          <a:p>
            <a:pPr algn="l">
              <a:lnSpc>
                <a:spcPts val="2100"/>
              </a:lnSpc>
            </a:pPr>
            <a:r>
              <a:rPr sz="1400" b="0">
                <a:solidFill>
                  <a:schemeClr val="tx1">
                    <a:lumMod val="65000"/>
                    <a:lumOff val="35000"/>
                  </a:schemeClr>
                </a:solidFill>
                <a:latin typeface="Noto Sans"/>
              </a:rPr>
              <a:t>automatically with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We learn</a:t>
            </a:r>
          </a:p>
          <a:p>
            <a:pPr algn="l">
              <a:lnSpc>
                <a:spcPts val="2100"/>
              </a:lnSpc>
            </a:pPr>
            <a:r>
              <a:rPr sz="1400" b="0">
                <a:solidFill>
                  <a:schemeClr val="tx1">
                    <a:lumMod val="65000"/>
                    <a:lumOff val="35000"/>
                  </a:schemeClr>
                </a:solidFill>
                <a:latin typeface="Noto Sans"/>
              </a:rPr>
              <a:t>patterns with Dataiku that become new rules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right information for every person</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The same data, turned into action at every level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Operator</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Sees the status of their station in real time.</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Process and maintenance</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Receive the alert and act on the machine.</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Engineering and quality</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Analyse trends and improve rules and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Every tire: seen, understood, decided and better every day</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See  ·  Understand  ·  Decide  ·  Anticipate</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Trusted partners for new technologies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