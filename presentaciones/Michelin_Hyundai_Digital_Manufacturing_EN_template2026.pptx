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calmly and with pride. The title sums up the promise: quality is not inspected at the end, it is decided at every second of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Personalised for Hyundai: connect with their product from the very start. Same message as the Tucson 2027 leaflet (Primacy 5 Energy 235/45 R20, code 5759, CAI 514126A). The sentence at the bottom bridges to the rest: everything they will see applies to the tires on their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Curiosity hook: ask the question and wait two seconds. A question opens the listener's mind far more than a statement. Then: 'Today it does. Let us show you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principle: first the traditional model, which the customer knows well; then ours. No criticism of anyone: the contrast speaks for itself and anchors the perceived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Mental map of the whole presentation. The brain remembers a simple, circular structure better: See, Understand, Decide, Anticipate. At the centre, IQF: the whole system works to protect our quality indicator. Tools for each step: Gocator laser profilers (see), PI System and PI Vision (understand), R4P (decide), Dataiku and AI (anticipate).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of the cycle: See. Keeping the four-verb structure throughout helps the customer follow and remember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Gocator 3D laser profilers (LMI): up to 5,000 profiles per second and micron-level repeatability depending on the model. On the MAC: 8 stations, 16 sensors, 1 PLC and 4 PCs. Explain the colour map: each colour is a height; an abnormal relief stands out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an NST splice is measured on the BNS line: the profiler generates a 3D map of the splice (1), a measurement section is drawn across the splice (2) and the resulting profile (3) quantifies it. On the BNS62 screen these measurements are monitored continuously: overlap, height, offset and splice quality.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MAC4 screen (March 2026). Each column is a machine station (GI, RFI, NC1, BT, TT, PS, BJ, PT, FE...), with its edge position (trusquín), width, diameter and splice measurements. The colour code distinguishes watch and control limits, and the '100 % measured' indicator confirms every tire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BNS62 screen (March 2026). At the top, the alert rule and colour code (1). Each block is a station with centring, width and splice (2). From the screen itself you can access IQF, images and alert history (3). On the KM, splice height, quality and offset are monitored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step: Understand. Data alone is useless; what matters is reading it in time and making sure the right person knows.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numbers on the real screen. Full transparency: this is the screen our teams use. The median of the last 20 measurements filters noise and shows the trend; tolerances and the theoretical value are always visible.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chart as a story: the trend rises and crosses the tolerance (1): the alert fires and reaches the owner's phone. Action is taken and the trend comes back (2). Alert rule: median of the last 20 measurements out of tolerance on MAC; of the last 10 on BNS. Alerts go to the right team: process (CARE) or maintenance (TECH).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in PI Vision you select a station and retrieve the image of every product with its date and time; the alert history logs station, type, start, end and duration. This archive of images and data is also the foundation on which we will train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Climax of the presentation. From here the message changes: we don't just see and understand; the system decides and acts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Metaphor: R4P is like having our best process technician watching every tire, on every shift, without getting tired. Its rules capture expert knowledge and apply it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clear options, from gentlest to firmest. Alert and adjust run today, block is in testing; automatic segregation is the next phase according to the R4P design itself. Being transparent strengthens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case in four steps on the real screen (MAC6, P17, January 2026). 1: the edge position (trusquín) reaches the lower limit. 2: R4P activates the ODM correction. 3: the measurement returns to the theoretical value. 4: when the correction is deactivated, the measurement drifts again. That contrast is the best proof that the correction works.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to sell R4P. Illustrative diagram (not real data): each circle is a tire leaving the machine. Without R4P, from the moment drift starts until someone sees the alert, reaches the machine and adjusts it, tires keep being built off target. With R4P, the rule acts as soon as the measurement deviates and production is back on target immediately. Every minute R4P saves means tires that never leave their theoretical value. And the rules are the same on every shift, with every decision logged in PI.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step, the future: looking ahead builds enthusiasm and trust (future pacing). The customer also buys into where we are heading.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is an advanced analytics and data science platform. It lets us combine PI System measurement data, images and quality results (IQF) in a single flow, and look for the patterns that repeat before a quality issue or a drift. Most valuable: it is used by our own process and quality technicians and engineers, not only data specialists. What we find becomes new rules, alerts and process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Flow screen from a Dataiku project dedicated to quality characteristic CQ 38.1 (green zone). Read it from left to right. 1) Sources: the PI plugin (red icons) reads each machine station's measurements directly from PI System (for example FE, PT and BJ). 2) Preparation recipes (yellow brush icons): clean and organise the data automatically, always the same way. 3) Time-series and join recipes: align the measurements of the different stations in time and combine them. 4) The serial number: links all measurements to the identity of each tire. 5) 'Cocción Prensa C11' zone: curing press data is added, so each tire has its complete history, from building to curing. The result is a table ready to search for patterns (which conditions appear before a drift or a quality issue) and to cross with IQF. The whole flow re-runs automatically when new data arrives (Build), with no manual work. The project has 154 items.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AI does not replace measurement. Measurements are always made with the laser profilers and their dimensions and tolerances (width, edge position, centring, splice). AI works on those same images to detect product characteristics that cannot be expressed as a dimension: surface roughness and texture, possible foreign matter, poorly dispersed rubber and other product aspects. It is trained on images of good product and flags anything out of the ordinary. The foundation already exists: thousands of real images archived in PI. Status: under study.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part with the full cycle, the same as at the start (repetition = recall). Every turn adds knowledge: what we discover with Dataiku and AI becomes new R4P rules and a better IQF. It is a living system that learns.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about people, without overstating: the system replaces no one, it gives each role what it needs to act. Operator: real-time status of their station. Process (CARE) and maintenance (TECH) technicians: alerts on screen and on mobile. Engineering and quality: technical analysis screens to study trends and improve the rules and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Memorable close: repeat the four verbs. Leave a silence at the end. This is the sentence we want them to remember.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Quality decided in real time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22.png"/><Relationship Id="rId4" Type="http://schemas.openxmlformats.org/officeDocument/2006/relationships/image" Target="../media/image35.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Quality decided in real time</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rgbClr val="002C5F"/>
                </a:solidFill>
                <a:latin typeface="Arial"/>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r>
              <a:rPr sz="1500" b="0">
                <a:solidFill>
                  <a:srgbClr val="6B6E80"/>
                </a:solidFill>
                <a:latin typeface="Noto Sans"/>
              </a:rPr>
              <a:t>A successful long-term partnership for performance and innovation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rgbClr val="002C5F"/>
                </a:solidFill>
                <a:latin typeface="Arial"/>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r>
              <a:rPr sz="1200" b="1">
                <a:solidFill>
                  <a:srgbClr val="6B6E80"/>
                </a:solidFill>
                <a:latin typeface="Noto Sans"/>
              </a:rPr>
              <a:t>Trusted partners for new technologies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r>
              <a:rPr sz="1800" b="1">
                <a:solidFill>
                  <a:srgbClr val="061866"/>
                </a:solidFill>
                <a:latin typeface="BIB Bold"/>
              </a:rPr>
              <a:t>Michelin Primacy 5 Energy 235/45 R20</a:t>
            </a:r>
          </a:p>
          <a:p>
            <a:pPr algn="l"/>
            <a:r>
              <a:rPr sz="1400" b="0">
                <a:solidFill>
                  <a:srgbClr val="061866"/>
                </a:solidFill>
                <a:latin typeface="Noto Sans"/>
              </a:rPr>
              <a:t>Fitted on the new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r>
              <a:rPr sz="1100" b="0">
                <a:solidFill>
                  <a:srgbClr val="6B6E80"/>
                </a:solidFill>
                <a:latin typeface="Noto Sans"/>
              </a:rPr>
              <a:t>Code 5759 · CAI 514126A</a:t>
            </a:r>
          </a:p>
        </p:txBody>
      </p:sp>
      <p:sp>
        <p:nvSpPr>
          <p:cNvPr id="11" name="Rounded Rectangle 10"/>
          <p:cNvSpPr/>
          <p:nvPr/>
        </p:nvSpPr>
        <p:spPr>
          <a:xfrm>
            <a:off x="7296912" y="5074920"/>
            <a:ext cx="4343400" cy="1051560"/>
          </a:xfrm>
          <a:prstGeom prst="roundRect">
            <a:avLst>
              <a:gd name="adj" fmla="val 4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r>
              <a:rPr sz="1400" b="0">
                <a:solidFill>
                  <a:srgbClr val="FFFFFF"/>
                </a:solidFill>
                <a:latin typeface="Noto Sans"/>
              </a:rPr>
              <a:t>Each of these tires is born in the digital environment </a:t>
            </a:r>
            <a:r>
              <a:rPr sz="1400" b="1">
                <a:solidFill>
                  <a:srgbClr val="FFFF1A"/>
                </a:solidFill>
                <a:latin typeface="Noto Sans"/>
              </a:rPr>
              <a:t>we are presenting to you today.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What if every tire could tell us how it was made?</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rgbClr val="061866"/>
                </a:solidFill>
                <a:latin typeface="Noto Sans"/>
              </a:rPr>
              <a:t>Today it does. Let us show you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ways to control quality</a:t>
            </a:r>
          </a:p>
        </p:txBody>
      </p:sp>
      <p:sp>
        <p:nvSpPr>
          <p:cNvPr id="3" name="Rounded Rectangle 2"/>
          <p:cNvSpPr/>
          <p:nvPr/>
        </p:nvSpPr>
        <p:spPr>
          <a:xfrm>
            <a:off x="548640" y="1508760"/>
            <a:ext cx="5120640" cy="466344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rgbClr val="6B6E80"/>
                </a:solidFill>
                <a:latin typeface="BIB Bold"/>
              </a:rPr>
              <a:t>Traditional control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rgbClr val="6B6E80"/>
                </a:solidFill>
                <a:latin typeface="BIB Bold"/>
              </a:rPr>
              <a:t>1 sample</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r>
              <a:rPr sz="1400" b="0">
                <a:solidFill>
                  <a:srgbClr val="6B6E80"/>
                </a:solidFill>
                <a:latin typeface="Noto Sans"/>
              </a:rPr>
              <a:t>per shift, manually</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rgbClr val="6B6E80"/>
                </a:solidFill>
                <a:latin typeface="BIB Bold"/>
              </a:rPr>
              <a:t>Hours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r>
              <a:rPr sz="1400" b="0">
                <a:solidFill>
                  <a:srgbClr val="6B6E80"/>
                </a:solidFill>
                <a:latin typeface="Noto Sans"/>
              </a:rPr>
              <a:t>to discover a deviation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rgbClr val="6B6E80"/>
                </a:solidFill>
                <a:latin typeface="BIB Bold"/>
              </a:rPr>
              <a:t>After</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r>
              <a:rPr sz="1400" b="0">
                <a:solidFill>
                  <a:srgbClr val="6B6E80"/>
                </a:solidFill>
                <a:latin typeface="Noto Sans"/>
              </a:rPr>
              <a:t>we react once the defect already exists</a:t>
            </a:r>
          </a:p>
        </p:txBody>
      </p:sp>
      <p:sp>
        <p:nvSpPr>
          <p:cNvPr id="11" name="Rounded Rectangle 10"/>
          <p:cNvSpPr/>
          <p:nvPr/>
        </p:nvSpPr>
        <p:spPr>
          <a:xfrm>
            <a:off x="6519671" y="1508760"/>
            <a:ext cx="5120640" cy="4663440"/>
          </a:xfrm>
          <a:prstGeom prst="roundRect">
            <a:avLst>
              <a:gd name="adj" fmla="val 4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rgbClr val="FFFF1A"/>
                </a:solidFill>
                <a:latin typeface="BIB Bold"/>
              </a:rPr>
              <a:t>Our digital control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rgbClr val="FFFF1A"/>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r>
              <a:rPr sz="1400" b="0">
                <a:solidFill>
                  <a:srgbClr val="FFFFFF"/>
                </a:solidFill>
                <a:latin typeface="Noto Sans"/>
              </a:rPr>
              <a:t>of products, automatically</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rgbClr val="FFFF1A"/>
                </a:solidFill>
                <a:latin typeface="BIB Bold"/>
              </a:rPr>
              <a:t>Seconds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r>
              <a:rPr sz="1400" b="0">
                <a:solidFill>
                  <a:srgbClr val="FFFFFF"/>
                </a:solidFill>
                <a:latin typeface="Noto Sans"/>
              </a:rPr>
              <a:t>to detect a drift</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rgbClr val="FFFF1A"/>
                </a:solidFill>
                <a:latin typeface="BIB Bold"/>
              </a:rPr>
              <a:t>Before</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r>
              <a:rPr sz="1400" b="0">
                <a:solidFill>
                  <a:srgbClr val="FFFFFF"/>
                </a:solidFill>
                <a:latin typeface="Noto Sans"/>
              </a:rPr>
              <a:t>corrected before the defect exists</a:t>
            </a:r>
          </a:p>
        </p:txBody>
      </p:sp>
      <p:sp>
        <p:nvSpPr>
          <p:cNvPr id="19" name="Chevron 18"/>
          <p:cNvSpPr/>
          <p:nvPr/>
        </p:nvSpPr>
        <p:spPr>
          <a:xfrm>
            <a:off x="5916167" y="3474720"/>
            <a:ext cx="365760" cy="731520"/>
          </a:xfrm>
          <a:prstGeom prst="chevron">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system in a single cycle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Four steps revolving around IQF, our quality indicator</a:t>
            </a:r>
          </a:p>
        </p:txBody>
      </p:sp>
      <p:sp>
        <p:nvSpPr>
          <p:cNvPr id="4" name="Oval 3"/>
          <p:cNvSpPr/>
          <p:nvPr/>
        </p:nvSpPr>
        <p:spPr>
          <a:xfrm>
            <a:off x="1554480" y="2331720"/>
            <a:ext cx="3200400" cy="3200400"/>
          </a:xfrm>
          <a:prstGeom prst="ellipse">
            <a:avLst/>
          </a:prstGeom>
          <a:noFill/>
          <a:ln w="25400">
            <a:solidFill>
              <a:srgbClr val="A3AACB"/>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rgbClr val="FFF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rgbClr val="061866"/>
                </a:solidFill>
                <a:latin typeface="BIB Bold"/>
              </a:rPr>
              <a:t>IQF</a:t>
            </a:r>
          </a:p>
        </p:txBody>
      </p:sp>
      <p:sp>
        <p:nvSpPr>
          <p:cNvPr id="7" name="Oval 6"/>
          <p:cNvSpPr/>
          <p:nvPr/>
        </p:nvSpPr>
        <p:spPr>
          <a:xfrm>
            <a:off x="2587752" y="1764791"/>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rgbClr val="FFFF1A"/>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r>
              <a:rPr sz="1200" b="1">
                <a:solidFill>
                  <a:srgbClr val="FFFFFF"/>
                </a:solidFill>
                <a:latin typeface="Noto Sans"/>
              </a:rPr>
              <a:t>See</a:t>
            </a:r>
          </a:p>
        </p:txBody>
      </p:sp>
      <p:sp>
        <p:nvSpPr>
          <p:cNvPr id="10" name="Oval 9"/>
          <p:cNvSpPr/>
          <p:nvPr/>
        </p:nvSpPr>
        <p:spPr>
          <a:xfrm>
            <a:off x="4187952" y="3364991"/>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rgbClr val="FFFF1A"/>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r>
              <a:rPr sz="1200" b="1">
                <a:solidFill>
                  <a:srgbClr val="FFFFFF"/>
                </a:solidFill>
                <a:latin typeface="Noto Sans"/>
              </a:rPr>
              <a:t>Understand</a:t>
            </a:r>
          </a:p>
        </p:txBody>
      </p:sp>
      <p:sp>
        <p:nvSpPr>
          <p:cNvPr id="13" name="Oval 12"/>
          <p:cNvSpPr/>
          <p:nvPr/>
        </p:nvSpPr>
        <p:spPr>
          <a:xfrm>
            <a:off x="2587752" y="4965192"/>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rgbClr val="FFFF1A"/>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r>
              <a:rPr sz="1200" b="1">
                <a:solidFill>
                  <a:srgbClr val="FFFFFF"/>
                </a:solidFill>
                <a:latin typeface="Noto Sans"/>
              </a:rPr>
              <a:t>Decide</a:t>
            </a:r>
          </a:p>
        </p:txBody>
      </p:sp>
      <p:sp>
        <p:nvSpPr>
          <p:cNvPr id="16" name="Oval 15"/>
          <p:cNvSpPr/>
          <p:nvPr/>
        </p:nvSpPr>
        <p:spPr>
          <a:xfrm>
            <a:off x="987552" y="3364991"/>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rgbClr val="FFFF1A"/>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r>
              <a:rPr sz="1200" b="1">
                <a:solidFill>
                  <a:srgbClr val="FFFFFF"/>
                </a:solidFill>
                <a:latin typeface="Noto Sans"/>
              </a:rPr>
              <a:t>Anticipate</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rgbClr val="061866"/>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r>
              <a:rPr sz="1600" b="1">
                <a:solidFill>
                  <a:srgbClr val="061866"/>
                </a:solidFill>
                <a:latin typeface="Noto Sans"/>
              </a:rPr>
              <a:t>See  </a:t>
            </a:r>
            <a:r>
              <a:rPr sz="1400" b="1">
                <a:solidFill>
                  <a:srgbClr val="6B6E80"/>
                </a:solidFill>
                <a:latin typeface="Noto Sans"/>
              </a:rPr>
              <a:t>3D laser profilers</a:t>
            </a:r>
          </a:p>
          <a:p>
            <a:pPr algn="l"/>
            <a:r>
              <a:rPr sz="1300" b="0">
                <a:solidFill>
                  <a:srgbClr val="061866"/>
                </a:solidFill>
                <a:latin typeface="Noto Sans"/>
              </a:rPr>
              <a:t>Every product measured in 3D on every tire.</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rgbClr val="061866"/>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r>
              <a:rPr sz="1600" b="1">
                <a:solidFill>
                  <a:srgbClr val="061866"/>
                </a:solidFill>
                <a:latin typeface="Noto Sans"/>
              </a:rPr>
              <a:t>Understand  </a:t>
            </a:r>
            <a:r>
              <a:rPr sz="1400" b="1">
                <a:solidFill>
                  <a:srgbClr val="6B6E80"/>
                </a:solidFill>
                <a:latin typeface="Noto Sans"/>
              </a:rPr>
              <a:t>PI System · PI Vision</a:t>
            </a:r>
          </a:p>
          <a:p>
            <a:pPr algn="l"/>
            <a:r>
              <a:rPr sz="1300" b="0">
                <a:solidFill>
                  <a:srgbClr val="061866"/>
                </a:solidFill>
                <a:latin typeface="Noto Sans"/>
              </a:rPr>
              <a:t>Real-time data and images, with trends and alerts.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rgbClr val="061866"/>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r>
              <a:rPr sz="1600" b="1">
                <a:solidFill>
                  <a:srgbClr val="061866"/>
                </a:solidFill>
                <a:latin typeface="Noto Sans"/>
              </a:rPr>
              <a:t>Decide  </a:t>
            </a:r>
            <a:r>
              <a:rPr sz="1400" b="1">
                <a:solidFill>
                  <a:srgbClr val="6B6E80"/>
                </a:solidFill>
                <a:latin typeface="Noto Sans"/>
              </a:rPr>
              <a:t>R4P</a:t>
            </a:r>
          </a:p>
          <a:p>
            <a:pPr algn="l"/>
            <a:r>
              <a:rPr sz="1300" b="0">
                <a:solidFill>
                  <a:srgbClr val="061866"/>
                </a:solidFill>
                <a:latin typeface="Noto Sans"/>
              </a:rPr>
              <a:t>Rules engine that corrects the process automatically.</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rgbClr val="061866"/>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r>
              <a:rPr sz="1600" b="1">
                <a:solidFill>
                  <a:srgbClr val="061866"/>
                </a:solidFill>
                <a:latin typeface="Noto Sans"/>
              </a:rPr>
              <a:t>Anticipate  </a:t>
            </a:r>
            <a:r>
              <a:rPr sz="1400" b="1">
                <a:solidFill>
                  <a:srgbClr val="6B6E80"/>
                </a:solidFill>
                <a:latin typeface="Noto Sans"/>
              </a:rPr>
              <a:t>Dataiku · AI</a:t>
            </a:r>
          </a:p>
          <a:p>
            <a:pPr algn="l"/>
            <a:r>
              <a:rPr sz="1300" b="0">
                <a:solidFill>
                  <a:srgbClr val="061866"/>
                </a:solidFill>
                <a:latin typeface="Noto Sans"/>
              </a:rPr>
              <a:t>Advanced analytics to find patterns and stay ahead.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See</a:t>
            </a:r>
          </a:p>
          <a:p>
            <a:r>
              <a:rPr sz="2000" b="0">
                <a:latin typeface="Noto Sans"/>
              </a:rPr>
              <a:t>Every tire, turned into data</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 every product</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r>
              <a:rPr sz="1500" b="0">
                <a:solidFill>
                  <a:srgbClr val="6B6E80"/>
                </a:solidFill>
                <a:latin typeface="Noto Sans"/>
              </a:rPr>
              <a:t>3D laser profilers at every machine station</a:t>
            </a:r>
          </a:p>
        </p:txBody>
      </p:sp>
      <p:sp>
        <p:nvSpPr>
          <p:cNvPr id="5" name="Oval 4"/>
          <p:cNvSpPr/>
          <p:nvPr/>
        </p:nvSpPr>
        <p:spPr>
          <a:xfrm>
            <a:off x="763524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r>
              <a:rPr sz="1000" b="1">
                <a:solidFill>
                  <a:srgbClr val="061866"/>
                </a:solidFill>
                <a:latin typeface="Noto Sans"/>
              </a:rPr>
              <a:t>See</a:t>
            </a:r>
          </a:p>
        </p:txBody>
      </p:sp>
      <p:sp>
        <p:nvSpPr>
          <p:cNvPr id="7" name="Oval 6"/>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Understand</a:t>
            </a:r>
          </a:p>
        </p:txBody>
      </p:sp>
      <p:sp>
        <p:nvSpPr>
          <p:cNvPr id="9" name="Oval 8"/>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Decide</a:t>
            </a:r>
          </a:p>
        </p:txBody>
      </p:sp>
      <p:sp>
        <p:nvSpPr>
          <p:cNvPr id="11" name="Oval 10"/>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Anticipate</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rgbClr val="061866"/>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r>
              <a:rPr sz="1600" b="0">
                <a:solidFill>
                  <a:srgbClr val="061866"/>
                </a:solidFill>
                <a:latin typeface="Noto Sans"/>
              </a:rPr>
              <a:t>of products measured</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rgbClr val="061866"/>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r>
              <a:rPr sz="1600" b="0">
                <a:solidFill>
                  <a:srgbClr val="061866"/>
                </a:solidFill>
                <a:latin typeface="Noto Sans"/>
              </a:rPr>
              <a:t>complete profile of every component</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rgbClr val="061866"/>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r>
              <a:rPr sz="1600" b="0">
                <a:solidFill>
                  <a:srgbClr val="061866"/>
                </a:solidFill>
                <a:latin typeface="Noto Sans"/>
              </a:rPr>
              <a:t>laser sensors on 8 MAC stations</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r>
              <a:rPr sz="1100" b="0">
                <a:solidFill>
                  <a:srgbClr val="6B6E80"/>
                </a:solidFill>
                <a:latin typeface="Noto Sans"/>
              </a:rPr>
              <a:t>3D scan on the MAC: each colour is a height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measure an NST splice on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From the 3D map to the figure that defines splice quality</a:t>
            </a:r>
          </a:p>
        </p:txBody>
      </p:sp>
      <p:sp>
        <p:nvSpPr>
          <p:cNvPr id="4" name="Oval 3"/>
          <p:cNvSpPr/>
          <p:nvPr/>
        </p:nvSpPr>
        <p:spPr>
          <a:xfrm>
            <a:off x="763524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1">
                <a:solidFill>
                  <a:srgbClr val="061866"/>
                </a:solidFill>
                <a:latin typeface="Noto Sans"/>
              </a:rPr>
              <a:t>See</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Understand</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Decide</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Anticipate</a:t>
            </a:r>
          </a:p>
        </p:txBody>
      </p:sp>
      <p:sp>
        <p:nvSpPr>
          <p:cNvPr id="12" name="Rounded Rectangle 11"/>
          <p:cNvSpPr/>
          <p:nvPr/>
        </p:nvSpPr>
        <p:spPr>
          <a:xfrm>
            <a:off x="548640" y="1508760"/>
            <a:ext cx="6400800" cy="4709160"/>
          </a:xfrm>
          <a:prstGeom prst="roundRect">
            <a:avLst>
              <a:gd name="adj" fmla="val 4000"/>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3584447" y="3295497"/>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1" name="Oval 20"/>
          <p:cNvSpPr/>
          <p:nvPr/>
        </p:nvSpPr>
        <p:spPr>
          <a:xfrm>
            <a:off x="7315200" y="160020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r>
              <a:rPr sz="1400" b="1">
                <a:solidFill>
                  <a:srgbClr val="061866"/>
                </a:solidFill>
                <a:latin typeface="Noto Sans"/>
              </a:rPr>
              <a:t>3D map</a:t>
            </a:r>
          </a:p>
          <a:p>
            <a:pPr algn="l"/>
            <a:r>
              <a:rPr sz="1200" b="0">
                <a:solidFill>
                  <a:srgbClr val="6B6E80"/>
                </a:solidFill>
                <a:latin typeface="Noto Sans"/>
              </a:rPr>
              <a:t>of the NST strip splice</a:t>
            </a:r>
          </a:p>
        </p:txBody>
      </p:sp>
      <p:sp>
        <p:nvSpPr>
          <p:cNvPr id="24" name="Oval 23"/>
          <p:cNvSpPr/>
          <p:nvPr/>
        </p:nvSpPr>
        <p:spPr>
          <a:xfrm>
            <a:off x="7315200" y="24231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r>
              <a:rPr sz="1400" b="1">
                <a:solidFill>
                  <a:srgbClr val="061866"/>
                </a:solidFill>
                <a:latin typeface="Noto Sans"/>
              </a:rPr>
              <a:t>Measurement section</a:t>
            </a:r>
          </a:p>
          <a:p>
            <a:pPr algn="l"/>
            <a:r>
              <a:rPr sz="1200" b="0">
                <a:solidFill>
                  <a:srgbClr val="6B6E80"/>
                </a:solidFill>
                <a:latin typeface="Noto Sans"/>
              </a:rPr>
              <a:t>drawn across the splice</a:t>
            </a:r>
          </a:p>
        </p:txBody>
      </p:sp>
      <p:sp>
        <p:nvSpPr>
          <p:cNvPr id="27" name="Oval 26"/>
          <p:cNvSpPr/>
          <p:nvPr/>
        </p:nvSpPr>
        <p:spPr>
          <a:xfrm>
            <a:off x="7315200" y="324612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r>
              <a:rPr sz="1400" b="1">
                <a:solidFill>
                  <a:srgbClr val="061866"/>
                </a:solidFill>
                <a:latin typeface="Noto Sans"/>
              </a:rPr>
              <a:t>Profile</a:t>
            </a:r>
          </a:p>
          <a:p>
            <a:pPr algn="l"/>
            <a:r>
              <a:rPr sz="1200" b="0">
                <a:solidFill>
                  <a:srgbClr val="6B6E80"/>
                </a:solidFill>
                <a:latin typeface="Noto Sans"/>
              </a:rPr>
              <a:t>quantifies the splice</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rgbClr val="061866"/>
                </a:solidFill>
                <a:latin typeface="BIB Bold"/>
              </a:rPr>
              <a:t>Variables monitored continuously</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201168" indent="-201168">
              <a:spcAft>
                <a:spcPts val="300"/>
              </a:spcAft>
              <a:buClr>
                <a:srgbClr val="061866"/>
              </a:buClr>
              <a:buFont typeface="Arial"/>
              <a:buChar char="•"/>
            </a:pPr>
            <a:r>
              <a:rPr sz="1400" b="0">
                <a:solidFill>
                  <a:srgbClr val="061866"/>
                </a:solidFill>
                <a:latin typeface="Noto Sans"/>
              </a:rPr>
              <a:t>Splice overlap</a:t>
            </a:r>
          </a:p>
          <a:p>
            <a:pPr algn="l" marL="201168" indent="-201168">
              <a:spcAft>
                <a:spcPts val="300"/>
              </a:spcAft>
              <a:buClr>
                <a:srgbClr val="061866"/>
              </a:buClr>
              <a:buFont typeface="Arial"/>
              <a:buChar char="•"/>
            </a:pPr>
            <a:r>
              <a:rPr sz="1400" b="0">
                <a:solidFill>
                  <a:srgbClr val="061866"/>
                </a:solidFill>
                <a:latin typeface="Noto Sans"/>
              </a:rPr>
              <a:t>Splice height</a:t>
            </a:r>
          </a:p>
          <a:p>
            <a:pPr algn="l" marL="201168" indent="-201168">
              <a:spcAft>
                <a:spcPts val="300"/>
              </a:spcAft>
              <a:buClr>
                <a:srgbClr val="061866"/>
              </a:buClr>
              <a:buFont typeface="Arial"/>
              <a:buChar char="•"/>
            </a:pPr>
            <a:r>
              <a:rPr sz="1400" b="0">
                <a:solidFill>
                  <a:srgbClr val="061866"/>
                </a:solidFill>
                <a:latin typeface="Noto Sans"/>
              </a:rPr>
              <a:t>Splice offset</a:t>
            </a:r>
          </a:p>
          <a:p>
            <a:pPr algn="l" marL="201168" indent="-201168">
              <a:spcAft>
                <a:spcPts val="300"/>
              </a:spcAft>
              <a:buClr>
                <a:srgbClr val="061866"/>
              </a:buClr>
              <a:buFont typeface="Arial"/>
              <a:buChar char="•"/>
            </a:pPr>
            <a:r>
              <a:rPr sz="1400" b="0">
                <a:solidFill>
                  <a:srgbClr val="061866"/>
                </a:solidFill>
                <a:latin typeface="Noto Sans"/>
              </a:rPr>
              <a:t>Splice quality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station, every measurement, live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MAC4 OLM screen: twelve stations, P05 to P18</a:t>
            </a:r>
          </a:p>
        </p:txBody>
      </p:sp>
      <p:sp>
        <p:nvSpPr>
          <p:cNvPr id="4" name="Oval 3"/>
          <p:cNvSpPr/>
          <p:nvPr/>
        </p:nvSpPr>
        <p:spPr>
          <a:xfrm>
            <a:off x="763524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1">
                <a:solidFill>
                  <a:srgbClr val="061866"/>
                </a:solidFill>
                <a:latin typeface="Noto Sans"/>
              </a:rPr>
              <a:t>See</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Understand</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Decide</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Anticipate</a:t>
            </a:r>
          </a:p>
        </p:txBody>
      </p:sp>
      <p:sp>
        <p:nvSpPr>
          <p:cNvPr id="12" name="Rounded Rectangle 11"/>
          <p:cNvSpPr/>
          <p:nvPr/>
        </p:nvSpPr>
        <p:spPr>
          <a:xfrm>
            <a:off x="548640" y="1508760"/>
            <a:ext cx="11091672" cy="393192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3681438" y="1629689"/>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18" name="Oval 17"/>
          <p:cNvSpPr/>
          <p:nvPr/>
        </p:nvSpPr>
        <p:spPr>
          <a:xfrm>
            <a:off x="5929883" y="3685032"/>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0" name="Oval 19"/>
          <p:cNvSpPr/>
          <p:nvPr/>
        </p:nvSpPr>
        <p:spPr>
          <a:xfrm>
            <a:off x="6874607" y="4462729"/>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22" name="Oval 21"/>
          <p:cNvSpPr/>
          <p:nvPr/>
        </p:nvSpPr>
        <p:spPr>
          <a:xfrm>
            <a:off x="548640"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r>
              <a:rPr sz="1400" b="1">
                <a:solidFill>
                  <a:srgbClr val="061866"/>
                </a:solidFill>
                <a:latin typeface="Noto Sans"/>
              </a:rPr>
              <a:t>Twelve stations</a:t>
            </a:r>
          </a:p>
          <a:p>
            <a:pPr algn="l"/>
            <a:r>
              <a:rPr sz="1200" b="0">
                <a:solidFill>
                  <a:srgbClr val="6B6E80"/>
                </a:solidFill>
                <a:latin typeface="Noto Sans"/>
              </a:rPr>
              <a:t>from P05 to P18</a:t>
            </a:r>
          </a:p>
        </p:txBody>
      </p:sp>
      <p:sp>
        <p:nvSpPr>
          <p:cNvPr id="25" name="Oval 24"/>
          <p:cNvSpPr/>
          <p:nvPr/>
        </p:nvSpPr>
        <p:spPr>
          <a:xfrm>
            <a:off x="3337560"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r>
              <a:rPr sz="1400" b="1">
                <a:solidFill>
                  <a:srgbClr val="061866"/>
                </a:solidFill>
                <a:latin typeface="Noto Sans"/>
              </a:rPr>
              <a:t>Status code</a:t>
            </a:r>
          </a:p>
          <a:p>
            <a:pPr algn="l"/>
            <a:r>
              <a:rPr sz="1200" b="0">
                <a:solidFill>
                  <a:srgbClr val="6B6E80"/>
                </a:solidFill>
                <a:latin typeface="Noto Sans"/>
              </a:rPr>
              <a:t>OK · watch · control</a:t>
            </a:r>
          </a:p>
        </p:txBody>
      </p:sp>
      <p:sp>
        <p:nvSpPr>
          <p:cNvPr id="28" name="Oval 27"/>
          <p:cNvSpPr/>
          <p:nvPr/>
        </p:nvSpPr>
        <p:spPr>
          <a:xfrm>
            <a:off x="6126479"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r>
              <a:rPr sz="1400" b="1">
                <a:solidFill>
                  <a:srgbClr val="061866"/>
                </a:solidFill>
                <a:latin typeface="Noto Sans"/>
              </a:rPr>
              <a:t>Splices</a:t>
            </a:r>
          </a:p>
          <a:p>
            <a:pPr algn="l"/>
            <a:r>
              <a:rPr sz="1200" b="0">
                <a:solidFill>
                  <a:srgbClr val="6B6E80"/>
                </a:solidFill>
                <a:latin typeface="Noto Sans"/>
              </a:rPr>
              <a:t>measured at every station</a:t>
            </a:r>
          </a:p>
        </p:txBody>
      </p:sp>
      <p:sp>
        <p:nvSpPr>
          <p:cNvPr id="31" name="Oval 30"/>
          <p:cNvSpPr/>
          <p:nvPr/>
        </p:nvSpPr>
        <p:spPr>
          <a:xfrm>
            <a:off x="8915399"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r>
              <a:rPr sz="1400" b="1">
                <a:solidFill>
                  <a:srgbClr val="061866"/>
                </a:solidFill>
                <a:latin typeface="Noto Sans"/>
              </a:rPr>
              <a:t>100 % measured</a:t>
            </a:r>
          </a:p>
          <a:p>
            <a:pPr algn="l"/>
            <a:r>
              <a:rPr sz="1200" b="0">
                <a:solidFill>
                  <a:srgbClr val="6B6E80"/>
                </a:solidFill>
                <a:latin typeface="Noto Sans"/>
              </a:rPr>
              <a:t>every tire measured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whole line at a glance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BNS62 OLM screen: NST1, NST2 and KM</a:t>
            </a:r>
          </a:p>
        </p:txBody>
      </p:sp>
      <p:sp>
        <p:nvSpPr>
          <p:cNvPr id="4" name="Oval 3"/>
          <p:cNvSpPr/>
          <p:nvPr/>
        </p:nvSpPr>
        <p:spPr>
          <a:xfrm>
            <a:off x="763524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1">
                <a:solidFill>
                  <a:srgbClr val="061866"/>
                </a:solidFill>
                <a:latin typeface="Noto Sans"/>
              </a:rPr>
              <a:t>See</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Understand</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Decide</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982065" y="2573679"/>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18" name="Oval 17"/>
          <p:cNvSpPr/>
          <p:nvPr/>
        </p:nvSpPr>
        <p:spPr>
          <a:xfrm>
            <a:off x="5129784" y="1992998"/>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0" name="Oval 19"/>
          <p:cNvSpPr/>
          <p:nvPr/>
        </p:nvSpPr>
        <p:spPr>
          <a:xfrm>
            <a:off x="6973214" y="402538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22" name="Oval 21"/>
          <p:cNvSpPr/>
          <p:nvPr/>
        </p:nvSpPr>
        <p:spPr>
          <a:xfrm>
            <a:off x="8823960" y="164592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r>
              <a:rPr sz="1400" b="1">
                <a:solidFill>
                  <a:srgbClr val="061866"/>
                </a:solidFill>
                <a:latin typeface="Noto Sans"/>
              </a:rPr>
              <a:t>Alert and colours</a:t>
            </a:r>
          </a:p>
          <a:p>
            <a:pPr algn="l"/>
            <a:r>
              <a:rPr sz="1200" b="0">
                <a:solidFill>
                  <a:srgbClr val="6B6E80"/>
                </a:solidFill>
                <a:latin typeface="Noto Sans"/>
              </a:rPr>
              <a:t>green, orange, red</a:t>
            </a:r>
          </a:p>
        </p:txBody>
      </p:sp>
      <p:sp>
        <p:nvSpPr>
          <p:cNvPr id="25" name="Oval 24"/>
          <p:cNvSpPr/>
          <p:nvPr/>
        </p:nvSpPr>
        <p:spPr>
          <a:xfrm>
            <a:off x="8823960" y="274320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r>
              <a:rPr sz="1400" b="1">
                <a:solidFill>
                  <a:srgbClr val="061866"/>
                </a:solidFill>
                <a:latin typeface="Noto Sans"/>
              </a:rPr>
              <a:t>Every station</a:t>
            </a:r>
          </a:p>
          <a:p>
            <a:pPr algn="l"/>
            <a:r>
              <a:rPr sz="1200" b="0">
                <a:solidFill>
                  <a:srgbClr val="6B6E80"/>
                </a:solidFill>
                <a:latin typeface="Noto Sans"/>
              </a:rPr>
              <a:t>centring, width, splice</a:t>
            </a:r>
          </a:p>
        </p:txBody>
      </p:sp>
      <p:sp>
        <p:nvSpPr>
          <p:cNvPr id="28" name="Oval 27"/>
          <p:cNvSpPr/>
          <p:nvPr/>
        </p:nvSpPr>
        <p:spPr>
          <a:xfrm>
            <a:off x="8823960" y="384048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r>
              <a:rPr sz="1400" b="1">
                <a:solidFill>
                  <a:srgbClr val="061866"/>
                </a:solidFill>
                <a:latin typeface="Noto Sans"/>
              </a:rPr>
              <a:t>One click</a:t>
            </a:r>
          </a:p>
          <a:p>
            <a:pPr algn="l"/>
            <a:r>
              <a:rPr sz="1200" b="0">
                <a:solidFill>
                  <a:srgbClr val="6B6E80"/>
                </a:solidFill>
                <a:latin typeface="Noto Sans"/>
              </a:rPr>
              <a:t>IQF, images, alerts</a:t>
            </a:r>
          </a:p>
        </p:txBody>
      </p:sp>
      <p:sp>
        <p:nvSpPr>
          <p:cNvPr id="31" name="Oval 30"/>
          <p:cNvSpPr/>
          <p:nvPr/>
        </p:nvSpPr>
        <p:spPr>
          <a:xfrm>
            <a:off x="8823960" y="4937759"/>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r>
              <a:rPr sz="1400" b="1">
                <a:solidFill>
                  <a:srgbClr val="061866"/>
                </a:solidFill>
                <a:latin typeface="Noto Sans"/>
              </a:rPr>
              <a:t>KM splice</a:t>
            </a:r>
          </a:p>
          <a:p>
            <a:pPr algn="l"/>
            <a:r>
              <a:rPr sz="1200" b="0">
                <a:solidFill>
                  <a:srgbClr val="6B6E80"/>
                </a:solidFill>
                <a:latin typeface="Noto Sans"/>
              </a:rPr>
              <a:t>height, quality,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Understand</a:t>
            </a:r>
          </a:p>
          <a:p>
            <a:r>
              <a:rPr sz="2000" b="0">
                <a:latin typeface="Noto Sans"/>
              </a:rPr>
              <a:t>From data to trend, in real time</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see the drift before the defect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Real PI Vision screen · MAC3 · station P14</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See</a:t>
            </a:r>
          </a:p>
        </p:txBody>
      </p:sp>
      <p:sp>
        <p:nvSpPr>
          <p:cNvPr id="6" name="Oval 5"/>
          <p:cNvSpPr/>
          <p:nvPr/>
        </p:nvSpPr>
        <p:spPr>
          <a:xfrm>
            <a:off x="841248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Understand</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Decide</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4937760" y="2557186"/>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18" name="Oval 17"/>
          <p:cNvSpPr/>
          <p:nvPr/>
        </p:nvSpPr>
        <p:spPr>
          <a:xfrm>
            <a:off x="4246473" y="2717718"/>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0" name="Oval 19"/>
          <p:cNvSpPr/>
          <p:nvPr/>
        </p:nvSpPr>
        <p:spPr>
          <a:xfrm>
            <a:off x="4338645" y="2057753"/>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22" name="Oval 21"/>
          <p:cNvSpPr/>
          <p:nvPr/>
        </p:nvSpPr>
        <p:spPr>
          <a:xfrm>
            <a:off x="8823960" y="164592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r>
              <a:rPr sz="1400" b="1">
                <a:solidFill>
                  <a:srgbClr val="061866"/>
                </a:solidFill>
                <a:latin typeface="Noto Sans"/>
              </a:rPr>
              <a:t>Every tire</a:t>
            </a:r>
          </a:p>
          <a:p>
            <a:pPr algn="l"/>
            <a:r>
              <a:rPr sz="1200" b="0">
                <a:solidFill>
                  <a:srgbClr val="6B6E80"/>
                </a:solidFill>
                <a:latin typeface="Noto Sans"/>
              </a:rPr>
              <a:t>its individual value</a:t>
            </a:r>
          </a:p>
        </p:txBody>
      </p:sp>
      <p:sp>
        <p:nvSpPr>
          <p:cNvPr id="25" name="Oval 24"/>
          <p:cNvSpPr/>
          <p:nvPr/>
        </p:nvSpPr>
        <p:spPr>
          <a:xfrm>
            <a:off x="8823960" y="274320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r>
              <a:rPr sz="1400" b="1">
                <a:solidFill>
                  <a:srgbClr val="061866"/>
                </a:solidFill>
                <a:latin typeface="Noto Sans"/>
              </a:rPr>
              <a:t>The trend</a:t>
            </a:r>
          </a:p>
          <a:p>
            <a:pPr algn="l"/>
            <a:r>
              <a:rPr sz="1200" b="0">
                <a:solidFill>
                  <a:srgbClr val="6B6E80"/>
                </a:solidFill>
                <a:latin typeface="Noto Sans"/>
              </a:rPr>
              <a:t>median of the last 20</a:t>
            </a:r>
          </a:p>
        </p:txBody>
      </p:sp>
      <p:sp>
        <p:nvSpPr>
          <p:cNvPr id="28" name="Oval 27"/>
          <p:cNvSpPr/>
          <p:nvPr/>
        </p:nvSpPr>
        <p:spPr>
          <a:xfrm>
            <a:off x="8823960" y="384048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r>
              <a:rPr sz="1400" b="1">
                <a:solidFill>
                  <a:srgbClr val="061866"/>
                </a:solidFill>
                <a:latin typeface="Noto Sans"/>
              </a:rPr>
              <a:t>The limits</a:t>
            </a:r>
          </a:p>
          <a:p>
            <a:pPr algn="l"/>
            <a:r>
              <a:rPr sz="1200" b="0">
                <a:solidFill>
                  <a:srgbClr val="6B6E80"/>
                </a:solidFill>
                <a:latin typeface="Noto Sans"/>
              </a:rPr>
              <a:t>tolerances always visible</a:t>
            </a:r>
          </a:p>
        </p:txBody>
      </p:sp>
      <p:sp>
        <p:nvSpPr>
          <p:cNvPr id="31" name="Oval 30"/>
          <p:cNvSpPr/>
          <p:nvPr/>
        </p:nvSpPr>
        <p:spPr>
          <a:xfrm>
            <a:off x="8823960" y="4937759"/>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r>
              <a:rPr sz="1400" b="1">
                <a:solidFill>
                  <a:srgbClr val="061866"/>
                </a:solidFill>
                <a:latin typeface="Noto Sans"/>
              </a:rPr>
              <a:t>The target</a:t>
            </a:r>
          </a:p>
          <a:p>
            <a:pPr algn="l"/>
            <a:r>
              <a:rPr sz="1200" b="0">
                <a:solidFill>
                  <a:srgbClr val="6B6E80"/>
                </a:solidFill>
                <a:latin typeface="Noto Sans"/>
              </a:rPr>
              <a:t>theoretical reference value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 before the defect exists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The trend crosses the limit and the right person knows instantly</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See</a:t>
            </a:r>
          </a:p>
        </p:txBody>
      </p:sp>
      <p:sp>
        <p:nvSpPr>
          <p:cNvPr id="6" name="Oval 5"/>
          <p:cNvSpPr/>
          <p:nvPr/>
        </p:nvSpPr>
        <p:spPr>
          <a:xfrm>
            <a:off x="841248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Understand</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Decide</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Anticipate</a:t>
            </a:r>
          </a:p>
        </p:txBody>
      </p:sp>
      <p:sp>
        <p:nvSpPr>
          <p:cNvPr id="12" name="Rounded Rectangle 11"/>
          <p:cNvSpPr/>
          <p:nvPr/>
        </p:nvSpPr>
        <p:spPr>
          <a:xfrm>
            <a:off x="548640" y="1508760"/>
            <a:ext cx="11091672" cy="342900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2738765" y="2515341"/>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r>
              <a:rPr sz="1400" b="1">
                <a:solidFill>
                  <a:srgbClr val="061866"/>
                </a:solidFill>
                <a:latin typeface="Noto Sans"/>
              </a:rPr>
              <a:t>Alert raised</a:t>
            </a:r>
          </a:p>
          <a:p>
            <a:pPr algn="l"/>
            <a:r>
              <a:rPr sz="1200" b="0">
                <a:solidFill>
                  <a:srgbClr val="6B6E80"/>
                </a:solidFill>
                <a:latin typeface="Noto Sans"/>
              </a:rPr>
              <a:t>the median leaves tolerance</a:t>
            </a:r>
          </a:p>
        </p:txBody>
      </p:sp>
      <p:sp>
        <p:nvSpPr>
          <p:cNvPr id="22" name="Oval 21"/>
          <p:cNvSpPr/>
          <p:nvPr/>
        </p:nvSpPr>
        <p:spPr>
          <a:xfrm>
            <a:off x="2697480" y="576072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r>
              <a:rPr sz="1400" b="1">
                <a:solidFill>
                  <a:srgbClr val="061866"/>
                </a:solidFill>
                <a:latin typeface="Noto Sans"/>
              </a:rPr>
              <a:t>Alert cleared</a:t>
            </a:r>
          </a:p>
          <a:p>
            <a:pPr algn="l"/>
            <a:r>
              <a:rPr sz="1200" b="0">
                <a:solidFill>
                  <a:srgbClr val="6B6E80"/>
                </a:solidFill>
                <a:latin typeface="Noto Sans"/>
              </a:rPr>
              <a:t>back on target and logged</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r>
              <a:rPr sz="1400" b="1">
                <a:solidFill>
                  <a:srgbClr val="061866"/>
                </a:solidFill>
                <a:latin typeface="Noto Sans"/>
              </a:rPr>
              <a:t>Notification on screen and on mobile</a:t>
            </a:r>
          </a:p>
          <a:p>
            <a:pPr algn="l"/>
            <a:r>
              <a:rPr sz="1400" b="0">
                <a:solidFill>
                  <a:srgbClr val="6B6E80"/>
                </a:solidFill>
                <a:latin typeface="Noto Sans"/>
              </a:rPr>
              <a:t>To the process (CARE) or maintenance (TECH) owner.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image and every alert, stored</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PI System keeps the full history of every tire</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See</a:t>
            </a:r>
          </a:p>
        </p:txBody>
      </p:sp>
      <p:sp>
        <p:nvSpPr>
          <p:cNvPr id="6" name="Oval 5"/>
          <p:cNvSpPr/>
          <p:nvPr/>
        </p:nvSpPr>
        <p:spPr>
          <a:xfrm>
            <a:off x="841248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Understand</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Decide</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Anticipate</a:t>
            </a:r>
          </a:p>
        </p:txBody>
      </p:sp>
      <p:sp>
        <p:nvSpPr>
          <p:cNvPr id="12" name="Rounded Rectangle 11"/>
          <p:cNvSpPr/>
          <p:nvPr/>
        </p:nvSpPr>
        <p:spPr>
          <a:xfrm>
            <a:off x="548640" y="1508760"/>
            <a:ext cx="310896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r>
              <a:rPr sz="1400" b="1">
                <a:solidFill>
                  <a:srgbClr val="061866"/>
                </a:solidFill>
                <a:latin typeface="Noto Sans"/>
              </a:rPr>
              <a:t>Image of every product</a:t>
            </a:r>
          </a:p>
          <a:p>
            <a:pPr algn="l"/>
            <a:r>
              <a:rPr sz="1200" b="0">
                <a:solidFill>
                  <a:srgbClr val="6B6E80"/>
                </a:solidFill>
                <a:latin typeface="Noto Sans"/>
              </a:rPr>
              <a:t>retrievable by station, date and time</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r>
              <a:rPr sz="1400" b="1">
                <a:solidFill>
                  <a:srgbClr val="061866"/>
                </a:solidFill>
                <a:latin typeface="Noto Sans"/>
              </a:rPr>
              <a:t>Alert history</a:t>
            </a:r>
          </a:p>
          <a:p>
            <a:pPr algn="l"/>
            <a:r>
              <a:rPr sz="1200" b="0">
                <a:solidFill>
                  <a:srgbClr val="6B6E80"/>
                </a:solidFill>
                <a:latin typeface="Noto Sans"/>
              </a:rPr>
              <a:t>station, type, start, end and duration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r>
              <a:rPr sz="1400" b="1">
                <a:solidFill>
                  <a:srgbClr val="061866"/>
                </a:solidFill>
                <a:latin typeface="Noto Sans"/>
              </a:rPr>
              <a:t>Foundation for AI</a:t>
            </a:r>
          </a:p>
          <a:p>
            <a:pPr algn="l"/>
            <a:r>
              <a:rPr sz="1200" b="0">
                <a:solidFill>
                  <a:srgbClr val="6B6E80"/>
                </a:solidFill>
                <a:latin typeface="Noto Sans"/>
              </a:rPr>
              <a:t>thousands of real images to learn from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Decide: R4P</a:t>
            </a:r>
          </a:p>
          <a:p>
            <a:r>
              <a:rPr sz="2000" b="0">
                <a:latin typeface="Noto Sans"/>
              </a:rPr>
              <a:t>The engine that turns every measurement into action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the expert on every tire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Real-time rules engine connected to OLM measurement</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See</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Understand</a:t>
            </a:r>
          </a:p>
        </p:txBody>
      </p:sp>
      <p:sp>
        <p:nvSpPr>
          <p:cNvPr id="8" name="Oval 7"/>
          <p:cNvSpPr/>
          <p:nvPr/>
        </p:nvSpPr>
        <p:spPr>
          <a:xfrm>
            <a:off x="9537192"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Decide</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Anticipate</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rgbClr val="061866"/>
                </a:solidFill>
                <a:latin typeface="BIB Bold"/>
              </a:rPr>
              <a:t>Measures, decides and acts</a:t>
            </a:r>
          </a:p>
          <a:p>
            <a:pPr algn="l">
              <a:spcAft>
                <a:spcPts val="1000"/>
              </a:spcAft>
            </a:pPr>
            <a:r>
              <a:rPr sz="1600" b="0">
                <a:solidFill>
                  <a:srgbClr val="6B6E80"/>
                </a:solidFill>
                <a:latin typeface="Noto Sans"/>
              </a:rPr>
              <a:t>in seconds, without waiting for anyone.</a:t>
            </a:r>
          </a:p>
        </p:txBody>
      </p:sp>
      <p:sp>
        <p:nvSpPr>
          <p:cNvPr id="14" name="Rounded Rectangle 13"/>
          <p:cNvSpPr/>
          <p:nvPr/>
        </p:nvSpPr>
        <p:spPr>
          <a:xfrm>
            <a:off x="548640" y="5120640"/>
            <a:ext cx="3566160" cy="109728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rgbClr val="061866"/>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r>
              <a:rPr sz="1300" b="0">
                <a:solidFill>
                  <a:srgbClr val="061866"/>
                </a:solidFill>
                <a:latin typeface="Noto Sans"/>
              </a:rPr>
              <a:t>on every shift</a:t>
            </a:r>
          </a:p>
        </p:txBody>
      </p:sp>
      <p:sp>
        <p:nvSpPr>
          <p:cNvPr id="17" name="Rounded Rectangle 16"/>
          <p:cNvSpPr/>
          <p:nvPr/>
        </p:nvSpPr>
        <p:spPr>
          <a:xfrm>
            <a:off x="4297679" y="5120640"/>
            <a:ext cx="3566160" cy="109728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rgbClr val="061866"/>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r>
              <a:rPr sz="1300" b="0">
                <a:solidFill>
                  <a:srgbClr val="061866"/>
                </a:solidFill>
                <a:latin typeface="Noto Sans"/>
              </a:rPr>
              <a:t>of tires</a:t>
            </a:r>
          </a:p>
        </p:txBody>
      </p:sp>
      <p:sp>
        <p:nvSpPr>
          <p:cNvPr id="20" name="Rounded Rectangle 19"/>
          <p:cNvSpPr/>
          <p:nvPr/>
        </p:nvSpPr>
        <p:spPr>
          <a:xfrm>
            <a:off x="8046719" y="5120640"/>
            <a:ext cx="3566160" cy="109728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rgbClr val="061866"/>
                </a:solidFill>
                <a:latin typeface="BIB Bold"/>
              </a:rPr>
              <a:t>Sec.</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r>
              <a:rPr sz="1300" b="0">
                <a:solidFill>
                  <a:srgbClr val="061866"/>
                </a:solidFill>
                <a:latin typeface="Noto Sans"/>
              </a:rPr>
              <a:t>from measurement to 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automatic responses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From the gentlest to the firmest, depending on the measurement</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See</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Understand</a:t>
            </a:r>
          </a:p>
        </p:txBody>
      </p:sp>
      <p:sp>
        <p:nvSpPr>
          <p:cNvPr id="8" name="Oval 7"/>
          <p:cNvSpPr/>
          <p:nvPr/>
        </p:nvSpPr>
        <p:spPr>
          <a:xfrm>
            <a:off x="9537192"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Decide</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Anticipate</a:t>
            </a:r>
          </a:p>
        </p:txBody>
      </p:sp>
      <p:sp>
        <p:nvSpPr>
          <p:cNvPr id="12" name="Rounded Rectangle 11"/>
          <p:cNvSpPr/>
          <p:nvPr/>
        </p:nvSpPr>
        <p:spPr>
          <a:xfrm>
            <a:off x="548640" y="1508760"/>
            <a:ext cx="260604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rgbClr val="061866"/>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rgbClr val="061866"/>
                </a:solidFill>
                <a:latin typeface="BIB Bold"/>
              </a:rPr>
              <a:t>Alert</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r>
              <a:rPr sz="1300" b="0">
                <a:solidFill>
                  <a:srgbClr val="6B6E80"/>
                </a:solidFill>
                <a:latin typeface="Noto Sans"/>
              </a:rPr>
              <a:t>Notifies the operator and the owner on screen and on mobile.</a:t>
            </a:r>
          </a:p>
        </p:txBody>
      </p:sp>
      <p:sp>
        <p:nvSpPr>
          <p:cNvPr id="18" name="Rounded Rectangle 17"/>
          <p:cNvSpPr/>
          <p:nvPr/>
        </p:nvSpPr>
        <p:spPr>
          <a:xfrm>
            <a:off x="777240" y="5669280"/>
            <a:ext cx="1828800" cy="329184"/>
          </a:xfrm>
          <a:prstGeom prst="roundRect">
            <a:avLst>
              <a:gd name="adj" fmla="val 5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r>
              <a:rPr sz="1000" b="1">
                <a:solidFill>
                  <a:srgbClr val="FFFFFF"/>
                </a:solidFill>
                <a:latin typeface="Noto Sans"/>
              </a:rPr>
              <a:t>IN PRODUCTION</a:t>
            </a:r>
          </a:p>
        </p:txBody>
      </p:sp>
      <p:sp>
        <p:nvSpPr>
          <p:cNvPr id="20" name="Rounded Rectangle 19"/>
          <p:cNvSpPr/>
          <p:nvPr/>
        </p:nvSpPr>
        <p:spPr>
          <a:xfrm>
            <a:off x="3376879" y="1508760"/>
            <a:ext cx="260604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rgbClr val="061866"/>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rgbClr val="061866"/>
                </a:solidFill>
                <a:latin typeface="BIB Bold"/>
              </a:rPr>
              <a:t>Adjust</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r>
              <a:rPr sz="1300" b="0">
                <a:solidFill>
                  <a:srgbClr val="6B6E80"/>
                </a:solidFill>
                <a:latin typeface="Noto Sans"/>
              </a:rPr>
              <a:t>Corrects the machine parameter (R4P regulation) without intervention.</a:t>
            </a:r>
          </a:p>
        </p:txBody>
      </p:sp>
      <p:sp>
        <p:nvSpPr>
          <p:cNvPr id="26" name="Rounded Rectangle 25"/>
          <p:cNvSpPr/>
          <p:nvPr/>
        </p:nvSpPr>
        <p:spPr>
          <a:xfrm>
            <a:off x="3605479" y="5669280"/>
            <a:ext cx="1828800" cy="329184"/>
          </a:xfrm>
          <a:prstGeom prst="roundRect">
            <a:avLst>
              <a:gd name="adj" fmla="val 5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r>
              <a:rPr sz="1000" b="1">
                <a:solidFill>
                  <a:srgbClr val="FFFFFF"/>
                </a:solidFill>
                <a:latin typeface="Noto Sans"/>
              </a:rPr>
              <a:t>IN PRODUCTION</a:t>
            </a:r>
          </a:p>
        </p:txBody>
      </p:sp>
      <p:sp>
        <p:nvSpPr>
          <p:cNvPr id="28" name="Rounded Rectangle 27"/>
          <p:cNvSpPr/>
          <p:nvPr/>
        </p:nvSpPr>
        <p:spPr>
          <a:xfrm>
            <a:off x="6205118" y="1508760"/>
            <a:ext cx="260604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rgbClr val="061866"/>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rgbClr val="061866"/>
                </a:solidFill>
                <a:latin typeface="BIB Bold"/>
              </a:rPr>
              <a:t>Block</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r>
              <a:rPr sz="1300" b="0">
                <a:solidFill>
                  <a:srgbClr val="6B6E80"/>
                </a:solidFill>
                <a:latin typeface="Noto Sans"/>
              </a:rPr>
              <a:t>Stops the machine if the deviation cannot be corrected.</a:t>
            </a:r>
          </a:p>
        </p:txBody>
      </p:sp>
      <p:sp>
        <p:nvSpPr>
          <p:cNvPr id="34" name="Rounded Rectangle 33"/>
          <p:cNvSpPr/>
          <p:nvPr/>
        </p:nvSpPr>
        <p:spPr>
          <a:xfrm>
            <a:off x="6433718" y="5669280"/>
            <a:ext cx="1828800" cy="329184"/>
          </a:xfrm>
          <a:prstGeom prst="roundRect">
            <a:avLst>
              <a:gd name="adj" fmla="val 5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r>
              <a:rPr sz="1000" b="1">
                <a:solidFill>
                  <a:srgbClr val="FFFFFF"/>
                </a:solidFill>
                <a:latin typeface="Noto Sans"/>
              </a:rPr>
              <a:t>IN TESTING</a:t>
            </a:r>
          </a:p>
        </p:txBody>
      </p:sp>
      <p:sp>
        <p:nvSpPr>
          <p:cNvPr id="36" name="Rounded Rectangle 35"/>
          <p:cNvSpPr/>
          <p:nvPr/>
        </p:nvSpPr>
        <p:spPr>
          <a:xfrm>
            <a:off x="9033357" y="1508760"/>
            <a:ext cx="2606040" cy="4709160"/>
          </a:xfrm>
          <a:prstGeom prst="roundRect">
            <a:avLst>
              <a:gd name="adj" fmla="val 4000"/>
            </a:avLst>
          </a:prstGeom>
          <a:solidFill>
            <a:srgbClr val="FFFFFF"/>
          </a:solidFill>
          <a:ln w="15875">
            <a:solidFill>
              <a:srgbClr val="06186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rgbClr val="061866"/>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rgbClr val="061866"/>
                </a:solidFill>
                <a:latin typeface="BIB Bold"/>
              </a:rPr>
              <a:t>Segregate</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r>
              <a:rPr sz="1300" b="0">
                <a:solidFill>
                  <a:srgbClr val="6B6E80"/>
                </a:solidFill>
                <a:latin typeface="Noto Sans"/>
              </a:rPr>
              <a:t>Will automatically remove the affected product from the line.</a:t>
            </a:r>
          </a:p>
        </p:txBody>
      </p:sp>
      <p:sp>
        <p:nvSpPr>
          <p:cNvPr id="42" name="Rounded Rectangle 41"/>
          <p:cNvSpPr/>
          <p:nvPr/>
        </p:nvSpPr>
        <p:spPr>
          <a:xfrm>
            <a:off x="9261957" y="5669280"/>
            <a:ext cx="1828800" cy="329184"/>
          </a:xfrm>
          <a:prstGeom prst="roundRect">
            <a:avLst>
              <a:gd name="adj" fmla="val 50000"/>
            </a:avLst>
          </a:prstGeom>
          <a:solidFill>
            <a:srgbClr val="FFF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r>
              <a:rPr sz="1000" b="1">
                <a:solidFill>
                  <a:srgbClr val="061866"/>
                </a:solidFill>
                <a:latin typeface="Noto Sans"/>
              </a:rPr>
              <a:t>NEXT PHASE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in action: drift corrects itself</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Real BJ regulation screen · MAC6 · station P17</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See</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Understand</a:t>
            </a:r>
          </a:p>
        </p:txBody>
      </p:sp>
      <p:sp>
        <p:nvSpPr>
          <p:cNvPr id="8" name="Oval 7"/>
          <p:cNvSpPr/>
          <p:nvPr/>
        </p:nvSpPr>
        <p:spPr>
          <a:xfrm>
            <a:off x="9537192"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Decide</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1028151" y="4220284"/>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18" name="Oval 17"/>
          <p:cNvSpPr/>
          <p:nvPr/>
        </p:nvSpPr>
        <p:spPr>
          <a:xfrm>
            <a:off x="1826971" y="2655673"/>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0" name="Oval 19"/>
          <p:cNvSpPr/>
          <p:nvPr/>
        </p:nvSpPr>
        <p:spPr>
          <a:xfrm>
            <a:off x="3055924" y="3065452"/>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22" name="Oval 21"/>
          <p:cNvSpPr/>
          <p:nvPr/>
        </p:nvSpPr>
        <p:spPr>
          <a:xfrm>
            <a:off x="8823960" y="164592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r>
              <a:rPr sz="1400" b="1">
                <a:solidFill>
                  <a:srgbClr val="061866"/>
                </a:solidFill>
                <a:latin typeface="Noto Sans"/>
              </a:rPr>
              <a:t>Lower limit</a:t>
            </a:r>
          </a:p>
          <a:p>
            <a:pPr algn="l"/>
            <a:r>
              <a:rPr sz="1200" b="0">
                <a:solidFill>
                  <a:srgbClr val="6B6E80"/>
                </a:solidFill>
                <a:latin typeface="Noto Sans"/>
              </a:rPr>
              <a:t>the edge position reaches the limit</a:t>
            </a:r>
          </a:p>
        </p:txBody>
      </p:sp>
      <p:sp>
        <p:nvSpPr>
          <p:cNvPr id="25" name="Oval 24"/>
          <p:cNvSpPr/>
          <p:nvPr/>
        </p:nvSpPr>
        <p:spPr>
          <a:xfrm>
            <a:off x="8823960" y="274320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r>
              <a:rPr sz="1400" b="1">
                <a:solidFill>
                  <a:srgbClr val="061866"/>
                </a:solidFill>
                <a:latin typeface="Noto Sans"/>
              </a:rPr>
              <a:t>R4P acts</a:t>
            </a:r>
          </a:p>
          <a:p>
            <a:pPr algn="l"/>
            <a:r>
              <a:rPr sz="1200" b="0">
                <a:solidFill>
                  <a:srgbClr val="6B6E80"/>
                </a:solidFill>
                <a:latin typeface="Noto Sans"/>
              </a:rPr>
              <a:t>activates the ODM correction</a:t>
            </a:r>
          </a:p>
        </p:txBody>
      </p:sp>
      <p:sp>
        <p:nvSpPr>
          <p:cNvPr id="28" name="Oval 27"/>
          <p:cNvSpPr/>
          <p:nvPr/>
        </p:nvSpPr>
        <p:spPr>
          <a:xfrm>
            <a:off x="8823960" y="384048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r>
              <a:rPr sz="1400" b="1">
                <a:solidFill>
                  <a:srgbClr val="061866"/>
                </a:solidFill>
                <a:latin typeface="Noto Sans"/>
              </a:rPr>
              <a:t>Target</a:t>
            </a:r>
          </a:p>
          <a:p>
            <a:pPr algn="l"/>
            <a:r>
              <a:rPr sz="1200" b="0">
                <a:solidFill>
                  <a:srgbClr val="6B6E80"/>
                </a:solidFill>
                <a:latin typeface="Noto Sans"/>
              </a:rPr>
              <a:t>returns to the theoretical value</a:t>
            </a:r>
          </a:p>
        </p:txBody>
      </p:sp>
      <p:sp>
        <p:nvSpPr>
          <p:cNvPr id="31" name="Oval 30"/>
          <p:cNvSpPr/>
          <p:nvPr/>
        </p:nvSpPr>
        <p:spPr>
          <a:xfrm>
            <a:off x="8823960" y="4937759"/>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r>
              <a:rPr sz="1400" b="1">
                <a:solidFill>
                  <a:srgbClr val="061866"/>
                </a:solidFill>
                <a:latin typeface="Noto Sans"/>
              </a:rPr>
              <a:t>Without correction</a:t>
            </a:r>
          </a:p>
          <a:p>
            <a:pPr algn="l"/>
            <a:r>
              <a:rPr sz="1200" b="0">
                <a:solidFill>
                  <a:srgbClr val="6B6E80"/>
                </a:solidFill>
                <a:latin typeface="Noto Sans"/>
              </a:rPr>
              <a:t>it drifts again: the proof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R4P makes the difference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What happens when a measurement starts to drift</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See</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Understand</a:t>
            </a:r>
          </a:p>
        </p:txBody>
      </p:sp>
      <p:sp>
        <p:nvSpPr>
          <p:cNvPr id="8" name="Oval 7"/>
          <p:cNvSpPr/>
          <p:nvPr/>
        </p:nvSpPr>
        <p:spPr>
          <a:xfrm>
            <a:off x="9537192"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Decide</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Anticipate</a:t>
            </a:r>
          </a:p>
        </p:txBody>
      </p:sp>
      <p:sp>
        <p:nvSpPr>
          <p:cNvPr id="12" name="Rounded Rectangle 11"/>
          <p:cNvSpPr/>
          <p:nvPr/>
        </p:nvSpPr>
        <p:spPr>
          <a:xfrm>
            <a:off x="548640" y="1508760"/>
            <a:ext cx="11091672" cy="169164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1300" b="1">
                <a:solidFill>
                  <a:srgbClr val="6B6E80"/>
                </a:solidFill>
                <a:latin typeface="BIB Bold"/>
              </a:rPr>
              <a:t>Without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r>
              <a:rPr sz="1200" b="0">
                <a:solidFill>
                  <a:srgbClr val="6B6E80"/>
                </a:solidFill>
                <a:latin typeface="Noto Sans"/>
              </a:rPr>
              <a:t>Manual correction</a:t>
            </a:r>
          </a:p>
        </p:txBody>
      </p:sp>
      <p:cxnSp>
        <p:nvCxnSpPr>
          <p:cNvPr id="15" name="Connector 14"/>
          <p:cNvCxnSpPr/>
          <p:nvPr/>
        </p:nvCxnSpPr>
        <p:spPr>
          <a:xfrm>
            <a:off x="2697480" y="2121408"/>
            <a:ext cx="6894576" cy="0"/>
          </a:xfrm>
          <a:prstGeom prst="line">
            <a:avLst/>
          </a:prstGeom>
          <a:ln>
            <a:solidFill>
              <a:srgbClr val="A3AACB"/>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rgbClr val="FFE1B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rgbClr val="FFE1B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rgbClr val="E6724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rgbClr val="E6724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rgbClr val="E6724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rgbClr val="E6724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rgbClr val="FFE1B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r>
              <a:rPr sz="1000" b="0">
                <a:solidFill>
                  <a:srgbClr val="6B6E80"/>
                </a:solidFill>
                <a:latin typeface="Noto Sans"/>
              </a:rPr>
              <a:t>Drift starts</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r>
              <a:rPr sz="1000" b="0">
                <a:solidFill>
                  <a:srgbClr val="6B6E80"/>
                </a:solidFill>
                <a:latin typeface="Noto Sans"/>
              </a:rPr>
              <a:t>Alert fires</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r>
              <a:rPr sz="1000" b="0">
                <a:solidFill>
                  <a:srgbClr val="6B6E80"/>
                </a:solidFill>
                <a:latin typeface="Noto Sans"/>
              </a:rPr>
              <a:t>Tech arrives</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r>
              <a:rPr sz="1000" b="0">
                <a:solidFill>
                  <a:srgbClr val="6B6E80"/>
                </a:solidFill>
                <a:latin typeface="Noto Sans"/>
              </a:rPr>
              <a:t>Manual fix</a:t>
            </a:r>
          </a:p>
        </p:txBody>
      </p:sp>
      <p:sp>
        <p:nvSpPr>
          <p:cNvPr id="32" name="Rectangle 31"/>
          <p:cNvSpPr/>
          <p:nvPr/>
        </p:nvSpPr>
        <p:spPr>
          <a:xfrm>
            <a:off x="4379976" y="1801368"/>
            <a:ext cx="4023360" cy="640080"/>
          </a:xfrm>
          <a:prstGeom prst="rect">
            <a:avLst/>
          </a:prstGeom>
          <a:noFill/>
          <a:ln w="15875">
            <a:solidFill>
              <a:srgbClr val="E672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r>
              <a:rPr sz="1200" b="1">
                <a:solidFill>
                  <a:srgbClr val="E67245"/>
                </a:solidFill>
                <a:latin typeface="Noto Sans"/>
              </a:rPr>
              <a:t>Tires off target until someone acts</a:t>
            </a:r>
          </a:p>
        </p:txBody>
      </p:sp>
      <p:sp>
        <p:nvSpPr>
          <p:cNvPr id="34" name="Rounded Rectangle 33"/>
          <p:cNvSpPr/>
          <p:nvPr/>
        </p:nvSpPr>
        <p:spPr>
          <a:xfrm>
            <a:off x="548640" y="3383279"/>
            <a:ext cx="11091672" cy="169164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1300" b="1">
                <a:solidFill>
                  <a:srgbClr val="061866"/>
                </a:solidFill>
                <a:latin typeface="BIB Bold"/>
              </a:rPr>
              <a:t>With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r>
              <a:rPr sz="1200" b="0">
                <a:solidFill>
                  <a:srgbClr val="6B6E80"/>
                </a:solidFill>
                <a:latin typeface="Noto Sans"/>
              </a:rPr>
              <a:t>Automatic correction</a:t>
            </a:r>
          </a:p>
        </p:txBody>
      </p:sp>
      <p:cxnSp>
        <p:nvCxnSpPr>
          <p:cNvPr id="37" name="Connector 36"/>
          <p:cNvCxnSpPr/>
          <p:nvPr/>
        </p:nvCxnSpPr>
        <p:spPr>
          <a:xfrm>
            <a:off x="2697480" y="3995928"/>
            <a:ext cx="6894576" cy="0"/>
          </a:xfrm>
          <a:prstGeom prst="line">
            <a:avLst/>
          </a:prstGeom>
          <a:ln>
            <a:solidFill>
              <a:srgbClr val="A3AACB"/>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rgbClr val="FFE1B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r>
              <a:rPr sz="1000" b="0">
                <a:solidFill>
                  <a:srgbClr val="6B6E80"/>
                </a:solidFill>
                <a:latin typeface="Noto Sans"/>
              </a:rPr>
              <a:t>Drift starts</a:t>
            </a:r>
          </a:p>
        </p:txBody>
      </p:sp>
      <p:sp>
        <p:nvSpPr>
          <p:cNvPr id="51" name="Down Arrow 50"/>
          <p:cNvSpPr/>
          <p:nvPr/>
        </p:nvSpPr>
        <p:spPr>
          <a:xfrm>
            <a:off x="5084064" y="3456432"/>
            <a:ext cx="365760" cy="256032"/>
          </a:xfrm>
          <a:prstGeom prst="downArrow">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r>
              <a:rPr sz="1200" b="1">
                <a:solidFill>
                  <a:srgbClr val="061866"/>
                </a:solidFill>
                <a:latin typeface="Noto Sans"/>
              </a:rPr>
              <a:t>R4P corrects instantly</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r>
              <a:rPr sz="1200" b="1">
                <a:solidFill>
                  <a:srgbClr val="061866"/>
                </a:solidFill>
                <a:latin typeface="Noto Sans"/>
              </a:rPr>
              <a:t>Production is back on target immediately</a:t>
            </a:r>
          </a:p>
        </p:txBody>
      </p:sp>
      <p:sp>
        <p:nvSpPr>
          <p:cNvPr id="54" name="Rounded Rectangle 53"/>
          <p:cNvSpPr/>
          <p:nvPr/>
        </p:nvSpPr>
        <p:spPr>
          <a:xfrm>
            <a:off x="548640" y="5303520"/>
            <a:ext cx="3593592" cy="914400"/>
          </a:xfrm>
          <a:prstGeom prst="roundRect">
            <a:avLst>
              <a:gd name="adj" fmla="val 4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r>
              <a:rPr sz="1400" b="1">
                <a:solidFill>
                  <a:srgbClr val="FFFF1A"/>
                </a:solidFill>
                <a:latin typeface="Noto Sans"/>
              </a:rPr>
              <a:t>Same rules 24/7</a:t>
            </a:r>
          </a:p>
          <a:p>
            <a:pPr algn="l"/>
            <a:r>
              <a:rPr sz="1200" b="0">
                <a:solidFill>
                  <a:srgbClr val="FFFFFF"/>
                </a:solidFill>
                <a:latin typeface="Noto Sans"/>
              </a:rPr>
              <a:t>Quality does not depend on the shift or the time.</a:t>
            </a:r>
          </a:p>
        </p:txBody>
      </p:sp>
      <p:sp>
        <p:nvSpPr>
          <p:cNvPr id="56" name="Rounded Rectangle 55"/>
          <p:cNvSpPr/>
          <p:nvPr/>
        </p:nvSpPr>
        <p:spPr>
          <a:xfrm>
            <a:off x="4297679" y="5303520"/>
            <a:ext cx="3593592" cy="914400"/>
          </a:xfrm>
          <a:prstGeom prst="roundRect">
            <a:avLst>
              <a:gd name="adj" fmla="val 4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r>
              <a:rPr sz="1400" b="1">
                <a:solidFill>
                  <a:srgbClr val="FFFF1A"/>
                </a:solidFill>
                <a:latin typeface="Noto Sans"/>
              </a:rPr>
              <a:t>Expertise turned into rules</a:t>
            </a:r>
          </a:p>
          <a:p>
            <a:pPr algn="l"/>
            <a:r>
              <a:rPr sz="1200" b="0">
                <a:solidFill>
                  <a:srgbClr val="FFFFFF"/>
                </a:solidFill>
                <a:latin typeface="Noto Sans"/>
              </a:rPr>
              <a:t>What the best technician knows, applied every time.</a:t>
            </a:r>
          </a:p>
        </p:txBody>
      </p:sp>
      <p:sp>
        <p:nvSpPr>
          <p:cNvPr id="58" name="Rounded Rectangle 57"/>
          <p:cNvSpPr/>
          <p:nvPr/>
        </p:nvSpPr>
        <p:spPr>
          <a:xfrm>
            <a:off x="8046719" y="5303520"/>
            <a:ext cx="3593592" cy="914400"/>
          </a:xfrm>
          <a:prstGeom prst="roundRect">
            <a:avLst>
              <a:gd name="adj" fmla="val 4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r>
              <a:rPr sz="1400" b="1">
                <a:solidFill>
                  <a:srgbClr val="FFFF1A"/>
                </a:solidFill>
                <a:latin typeface="Noto Sans"/>
              </a:rPr>
              <a:t>Every decision, logged</a:t>
            </a:r>
          </a:p>
          <a:p>
            <a:pPr algn="l"/>
            <a:r>
              <a:rPr sz="1200" b="0">
                <a:solidFill>
                  <a:srgbClr val="FFFFFF"/>
                </a:solidFill>
                <a:latin typeface="Noto Sans"/>
              </a:rPr>
              <a:t>Full traceability in PI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Anticipate</a:t>
            </a:r>
          </a:p>
          <a:p>
            <a:r>
              <a:rPr sz="2000" b="0">
                <a:latin typeface="Noto Sans"/>
              </a:rPr>
              <a:t>Advanced analytics and artificial intelligence</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from millions of data points to patterns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Advanced analytics to understand every quality issue</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See</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Understand</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Decide</a:t>
            </a:r>
          </a:p>
        </p:txBody>
      </p:sp>
      <p:sp>
        <p:nvSpPr>
          <p:cNvPr id="10" name="Oval 9"/>
          <p:cNvSpPr/>
          <p:nvPr/>
        </p:nvSpPr>
        <p:spPr>
          <a:xfrm>
            <a:off x="10661904"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Anticipate</a:t>
            </a:r>
          </a:p>
        </p:txBody>
      </p:sp>
      <p:sp>
        <p:nvSpPr>
          <p:cNvPr id="12" name="Pentagon 11"/>
          <p:cNvSpPr/>
          <p:nvPr/>
        </p:nvSpPr>
        <p:spPr>
          <a:xfrm>
            <a:off x="548640" y="1554480"/>
            <a:ext cx="2834640" cy="685800"/>
          </a:xfrm>
          <a:prstGeom prst="homePlate">
            <a:avLst>
              <a:gd name="adj" fmla="val 3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r>
              <a:rPr sz="1500" b="1">
                <a:solidFill>
                  <a:srgbClr val="FFFFFF"/>
                </a:solidFill>
                <a:latin typeface="Noto Sans"/>
              </a:rPr>
              <a:t>01  Combine</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r>
              <a:rPr sz="1300" b="0">
                <a:solidFill>
                  <a:srgbClr val="6B6E80"/>
                </a:solidFill>
                <a:latin typeface="Noto Sans"/>
              </a:rPr>
              <a:t>PI measurements, images and quality results (IQF)</a:t>
            </a:r>
          </a:p>
        </p:txBody>
      </p:sp>
      <p:sp>
        <p:nvSpPr>
          <p:cNvPr id="15" name="Chevron 14"/>
          <p:cNvSpPr/>
          <p:nvPr/>
        </p:nvSpPr>
        <p:spPr>
          <a:xfrm>
            <a:off x="3310128" y="1554480"/>
            <a:ext cx="2834640" cy="685800"/>
          </a:xfrm>
          <a:prstGeom prst="chevron">
            <a:avLst>
              <a:gd name="adj" fmla="val 3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r>
              <a:rPr sz="1500" b="1">
                <a:solidFill>
                  <a:srgbClr val="FFFFFF"/>
                </a:solidFill>
                <a:latin typeface="Noto Sans"/>
              </a:rPr>
              <a:t>02  Explore</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r>
              <a:rPr sz="1300" b="0">
                <a:solidFill>
                  <a:srgbClr val="6B6E80"/>
                </a:solidFill>
                <a:latin typeface="Noto Sans"/>
              </a:rPr>
              <a:t>Correlations between parameters, stations and shifts</a:t>
            </a:r>
          </a:p>
        </p:txBody>
      </p:sp>
      <p:sp>
        <p:nvSpPr>
          <p:cNvPr id="18" name="Chevron 17"/>
          <p:cNvSpPr/>
          <p:nvPr/>
        </p:nvSpPr>
        <p:spPr>
          <a:xfrm>
            <a:off x="6071616" y="1554480"/>
            <a:ext cx="2834640" cy="685800"/>
          </a:xfrm>
          <a:prstGeom prst="chevron">
            <a:avLst>
              <a:gd name="adj" fmla="val 3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r>
              <a:rPr sz="1500" b="1">
                <a:solidFill>
                  <a:srgbClr val="FFFFFF"/>
                </a:solidFill>
                <a:latin typeface="Noto Sans"/>
              </a:rPr>
              <a:t>03  Discover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r>
              <a:rPr sz="1300" b="0">
                <a:solidFill>
                  <a:srgbClr val="6B6E80"/>
                </a:solidFill>
                <a:latin typeface="Noto Sans"/>
              </a:rPr>
              <a:t>Patterns that repeat before a drift</a:t>
            </a:r>
          </a:p>
        </p:txBody>
      </p:sp>
      <p:sp>
        <p:nvSpPr>
          <p:cNvPr id="21" name="Chevron 20"/>
          <p:cNvSpPr/>
          <p:nvPr/>
        </p:nvSpPr>
        <p:spPr>
          <a:xfrm>
            <a:off x="8833104" y="1554480"/>
            <a:ext cx="2834640" cy="685800"/>
          </a:xfrm>
          <a:prstGeom prst="chevron">
            <a:avLst>
              <a:gd name="adj" fmla="val 3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r>
              <a:rPr sz="1500" b="1">
                <a:solidFill>
                  <a:srgbClr val="FFFFFF"/>
                </a:solidFill>
                <a:latin typeface="Noto Sans"/>
              </a:rPr>
              <a:t>04  Act</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r>
              <a:rPr sz="1300" b="0">
                <a:solidFill>
                  <a:srgbClr val="6B6E80"/>
                </a:solidFill>
                <a:latin typeface="Noto Sans"/>
              </a:rPr>
              <a:t>New rules, alerts and process improvements</a:t>
            </a:r>
          </a:p>
        </p:txBody>
      </p:sp>
      <p:sp>
        <p:nvSpPr>
          <p:cNvPr id="24" name="Rounded Rectangle 23"/>
          <p:cNvSpPr/>
          <p:nvPr/>
        </p:nvSpPr>
        <p:spPr>
          <a:xfrm>
            <a:off x="548640" y="3429000"/>
            <a:ext cx="11091672" cy="278892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r>
              <a:rPr sz="1300" b="1">
                <a:solidFill>
                  <a:srgbClr val="6B6E80"/>
                </a:solidFill>
                <a:latin typeface="Noto Sans"/>
              </a:rPr>
              <a:t>A typical question</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rgbClr val="061866"/>
                </a:solidFill>
                <a:latin typeface="BIB Bold"/>
              </a:rPr>
              <a:t>“When a splice starts to drift, what do those tires have in common?”</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r>
              <a:rPr sz="1300" b="1">
                <a:solidFill>
                  <a:srgbClr val="6B6E80"/>
                </a:solidFill>
                <a:latin typeface="Noto Sans"/>
              </a:rPr>
              <a:t>What Dataiku answers</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201168" indent="-201168">
              <a:spcAft>
                <a:spcPts val="800"/>
              </a:spcAft>
              <a:buClr>
                <a:srgbClr val="061866"/>
              </a:buClr>
              <a:buFont typeface="Arial"/>
              <a:buChar char="•"/>
            </a:pPr>
            <a:r>
              <a:rPr sz="1500" b="0">
                <a:solidFill>
                  <a:srgbClr val="061866"/>
                </a:solidFill>
                <a:latin typeface="Noto Sans"/>
              </a:rPr>
              <a:t>Which parameters moved beforehand</a:t>
            </a:r>
          </a:p>
          <a:p>
            <a:pPr algn="l" marL="201168" indent="-201168">
              <a:spcAft>
                <a:spcPts val="800"/>
              </a:spcAft>
              <a:buClr>
                <a:srgbClr val="061866"/>
              </a:buClr>
              <a:buFont typeface="Arial"/>
              <a:buChar char="•"/>
            </a:pPr>
            <a:r>
              <a:rPr sz="1500" b="0">
                <a:solidFill>
                  <a:srgbClr val="061866"/>
                </a:solidFill>
                <a:latin typeface="Noto Sans"/>
              </a:rPr>
              <a:t>Which stations, shifts or batches it concentrates in</a:t>
            </a:r>
          </a:p>
          <a:p>
            <a:pPr algn="l" marL="201168" indent="-201168">
              <a:spcAft>
                <a:spcPts val="800"/>
              </a:spcAft>
              <a:buClr>
                <a:srgbClr val="061866"/>
              </a:buClr>
              <a:buFont typeface="Arial"/>
              <a:buChar char="•"/>
            </a:pPr>
            <a:r>
              <a:rPr sz="1500" b="0">
                <a:solidFill>
                  <a:srgbClr val="061866"/>
                </a:solidFill>
                <a:latin typeface="Noto Sans"/>
              </a:rPr>
              <a:t>Which new rule would have prevented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a real data flow</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Quality characteristic CQ 38.1, from tire building to curing</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See</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Understand</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Decide</a:t>
            </a:r>
          </a:p>
        </p:txBody>
      </p:sp>
      <p:sp>
        <p:nvSpPr>
          <p:cNvPr id="10" name="Oval 9"/>
          <p:cNvSpPr/>
          <p:nvPr/>
        </p:nvSpPr>
        <p:spPr>
          <a:xfrm>
            <a:off x="10661904"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Anticipate</a:t>
            </a:r>
          </a:p>
        </p:txBody>
      </p:sp>
      <p:sp>
        <p:nvSpPr>
          <p:cNvPr id="12" name="Rounded Rectangle 11"/>
          <p:cNvSpPr/>
          <p:nvPr/>
        </p:nvSpPr>
        <p:spPr>
          <a:xfrm>
            <a:off x="548640" y="1508760"/>
            <a:ext cx="11091672" cy="3977639"/>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2777576" y="3105302"/>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18" name="Oval 17"/>
          <p:cNvSpPr/>
          <p:nvPr/>
        </p:nvSpPr>
        <p:spPr>
          <a:xfrm>
            <a:off x="3892028" y="329504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0" name="Oval 19"/>
          <p:cNvSpPr/>
          <p:nvPr/>
        </p:nvSpPr>
        <p:spPr>
          <a:xfrm>
            <a:off x="2363636" y="2858643"/>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22" name="Oval 21"/>
          <p:cNvSpPr/>
          <p:nvPr/>
        </p:nvSpPr>
        <p:spPr>
          <a:xfrm>
            <a:off x="6874513" y="2687878"/>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rgbClr val="061866"/>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r>
              <a:rPr sz="1100" b="1">
                <a:solidFill>
                  <a:srgbClr val="061866"/>
                </a:solidFill>
                <a:latin typeface="Noto Sans"/>
              </a:rPr>
              <a:t>Zone CQ 38.1</a:t>
            </a:r>
          </a:p>
        </p:txBody>
      </p:sp>
      <p:sp>
        <p:nvSpPr>
          <p:cNvPr id="25" name="Oval 24"/>
          <p:cNvSpPr/>
          <p:nvPr/>
        </p:nvSpPr>
        <p:spPr>
          <a:xfrm>
            <a:off x="548640"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r>
              <a:rPr sz="1300" b="1">
                <a:solidFill>
                  <a:srgbClr val="061866"/>
                </a:solidFill>
                <a:latin typeface="Noto Sans"/>
              </a:rPr>
              <a:t>PI plugin</a:t>
            </a:r>
          </a:p>
          <a:p>
            <a:pPr algn="l"/>
            <a:r>
              <a:rPr sz="1100" b="0">
                <a:solidFill>
                  <a:srgbClr val="6B6E80"/>
                </a:solidFill>
                <a:latin typeface="Noto Sans"/>
              </a:rPr>
              <a:t>reads every station's measurements</a:t>
            </a:r>
          </a:p>
        </p:txBody>
      </p:sp>
      <p:sp>
        <p:nvSpPr>
          <p:cNvPr id="28" name="Oval 27"/>
          <p:cNvSpPr/>
          <p:nvPr/>
        </p:nvSpPr>
        <p:spPr>
          <a:xfrm>
            <a:off x="2779776"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r>
              <a:rPr sz="1300" b="1">
                <a:solidFill>
                  <a:srgbClr val="061866"/>
                </a:solidFill>
                <a:latin typeface="Noto Sans"/>
              </a:rPr>
              <a:t>Preparation</a:t>
            </a:r>
          </a:p>
          <a:p>
            <a:pPr algn="l"/>
            <a:r>
              <a:rPr sz="1100" b="0">
                <a:solidFill>
                  <a:srgbClr val="6B6E80"/>
                </a:solidFill>
                <a:latin typeface="Noto Sans"/>
              </a:rPr>
              <a:t>automatic cleaning</a:t>
            </a:r>
          </a:p>
        </p:txBody>
      </p:sp>
      <p:sp>
        <p:nvSpPr>
          <p:cNvPr id="31" name="Oval 30"/>
          <p:cNvSpPr/>
          <p:nvPr/>
        </p:nvSpPr>
        <p:spPr>
          <a:xfrm>
            <a:off x="5010912"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r>
              <a:rPr sz="1300" b="1">
                <a:solidFill>
                  <a:srgbClr val="061866"/>
                </a:solidFill>
                <a:latin typeface="Noto Sans"/>
              </a:rPr>
              <a:t>Join</a:t>
            </a:r>
          </a:p>
          <a:p>
            <a:pPr algn="l"/>
            <a:r>
              <a:rPr sz="1100" b="0">
                <a:solidFill>
                  <a:srgbClr val="6B6E80"/>
                </a:solidFill>
                <a:latin typeface="Noto Sans"/>
              </a:rPr>
              <a:t>time series across stations</a:t>
            </a:r>
          </a:p>
        </p:txBody>
      </p:sp>
      <p:sp>
        <p:nvSpPr>
          <p:cNvPr id="34" name="Oval 33"/>
          <p:cNvSpPr/>
          <p:nvPr/>
        </p:nvSpPr>
        <p:spPr>
          <a:xfrm>
            <a:off x="7242048"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r>
              <a:rPr sz="1300" b="1">
                <a:solidFill>
                  <a:srgbClr val="061866"/>
                </a:solidFill>
                <a:latin typeface="Noto Sans"/>
              </a:rPr>
              <a:t>Serial number</a:t>
            </a:r>
          </a:p>
          <a:p>
            <a:pPr algn="l"/>
            <a:r>
              <a:rPr sz="1100" b="0">
                <a:solidFill>
                  <a:srgbClr val="6B6E80"/>
                </a:solidFill>
                <a:latin typeface="Noto Sans"/>
              </a:rPr>
              <a:t>the tire's identity</a:t>
            </a:r>
          </a:p>
        </p:txBody>
      </p:sp>
      <p:sp>
        <p:nvSpPr>
          <p:cNvPr id="37" name="Oval 36"/>
          <p:cNvSpPr/>
          <p:nvPr/>
        </p:nvSpPr>
        <p:spPr>
          <a:xfrm>
            <a:off x="9473184"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r>
              <a:rPr sz="1300" b="1">
                <a:solidFill>
                  <a:srgbClr val="061866"/>
                </a:solidFill>
                <a:latin typeface="Noto Sans"/>
              </a:rPr>
              <a:t>C11 curing</a:t>
            </a:r>
          </a:p>
          <a:p>
            <a:pPr algn="l"/>
            <a:r>
              <a:rPr sz="1100" b="0">
                <a:solidFill>
                  <a:srgbClr val="6B6E80"/>
                </a:solidFill>
                <a:latin typeface="Noto Sans"/>
              </a:rPr>
              <a:t>its history is complete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on our laser images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The laser measures; AI recognises what no dimension can measure</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See</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Understand</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Decide</a:t>
            </a:r>
          </a:p>
        </p:txBody>
      </p:sp>
      <p:sp>
        <p:nvSpPr>
          <p:cNvPr id="10" name="Oval 9"/>
          <p:cNvSpPr/>
          <p:nvPr/>
        </p:nvSpPr>
        <p:spPr>
          <a:xfrm>
            <a:off x="10661904"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Anticipate</a:t>
            </a:r>
          </a:p>
        </p:txBody>
      </p:sp>
      <p:sp>
        <p:nvSpPr>
          <p:cNvPr id="12" name="Rounded Rectangle 11"/>
          <p:cNvSpPr/>
          <p:nvPr/>
        </p:nvSpPr>
        <p:spPr>
          <a:xfrm>
            <a:off x="548640" y="1508760"/>
            <a:ext cx="5120640" cy="4206240"/>
          </a:xfrm>
          <a:prstGeom prst="roundRect">
            <a:avLst>
              <a:gd name="adj" fmla="val 4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rgbClr val="FFFF1A"/>
                </a:solidFill>
                <a:latin typeface="BIB Bold"/>
              </a:rPr>
              <a:t>Measure: laser and dimensions</a:t>
            </a:r>
          </a:p>
        </p:txBody>
      </p:sp>
      <p:sp>
        <p:nvSpPr>
          <p:cNvPr id="14" name="Rectangle 13"/>
          <p:cNvSpPr/>
          <p:nvPr/>
        </p:nvSpPr>
        <p:spPr>
          <a:xfrm>
            <a:off x="868680" y="2194560"/>
            <a:ext cx="4480559" cy="233172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r>
              <a:rPr sz="1400" b="1">
                <a:solidFill>
                  <a:srgbClr val="FFFFFF"/>
                </a:solidFill>
                <a:latin typeface="Noto Sans"/>
              </a:rPr>
              <a:t>Today and always. </a:t>
            </a:r>
          </a:p>
          <a:p>
            <a:pPr algn="l"/>
            <a:r>
              <a:rPr sz="1400" b="0">
                <a:solidFill>
                  <a:srgbClr val="D6DBEE"/>
                </a:solidFill>
                <a:latin typeface="Noto Sans"/>
              </a:rPr>
              <a:t>Width, edge position, centring and splice, with their tolerances.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rgbClr val="061866"/>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rgbClr val="061866"/>
                </a:solidFill>
                <a:latin typeface="BIB Bold"/>
              </a:rPr>
              <a:t>Recognise: AI</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r>
              <a:rPr sz="1400" b="1">
                <a:solidFill>
                  <a:srgbClr val="061866"/>
                </a:solidFill>
                <a:latin typeface="Noto Sans"/>
              </a:rPr>
              <a:t>What has no dimension:</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201168" indent="-201168">
              <a:spcAft>
                <a:spcPts val="300"/>
              </a:spcAft>
              <a:buClr>
                <a:srgbClr val="061866"/>
              </a:buClr>
              <a:buFont typeface="Arial"/>
              <a:buChar char="•"/>
            </a:pPr>
            <a:r>
              <a:rPr sz="1400" b="0">
                <a:solidFill>
                  <a:srgbClr val="061866"/>
                </a:solidFill>
                <a:latin typeface="Noto Sans"/>
              </a:rPr>
              <a:t>Surface roughness and texture</a:t>
            </a:r>
          </a:p>
          <a:p>
            <a:pPr algn="l" marL="201168" indent="-201168">
              <a:spcAft>
                <a:spcPts val="300"/>
              </a:spcAft>
              <a:buClr>
                <a:srgbClr val="061866"/>
              </a:buClr>
              <a:buFont typeface="Arial"/>
              <a:buChar char="•"/>
            </a:pPr>
            <a:r>
              <a:rPr sz="1400" b="0">
                <a:solidFill>
                  <a:srgbClr val="061866"/>
                </a:solidFill>
                <a:latin typeface="Noto Sans"/>
              </a:rPr>
              <a:t>Possible foreign matter</a:t>
            </a:r>
          </a:p>
          <a:p>
            <a:pPr algn="l" marL="201168" indent="-201168">
              <a:spcAft>
                <a:spcPts val="300"/>
              </a:spcAft>
              <a:buClr>
                <a:srgbClr val="061866"/>
              </a:buClr>
              <a:buFont typeface="Arial"/>
              <a:buChar char="•"/>
            </a:pPr>
            <a:r>
              <a:rPr sz="1400" b="0">
                <a:solidFill>
                  <a:srgbClr val="061866"/>
                </a:solidFill>
                <a:latin typeface="Noto Sans"/>
              </a:rPr>
              <a:t>Poorly dispersed rubber</a:t>
            </a:r>
          </a:p>
          <a:p>
            <a:pPr algn="l" marL="201168" indent="-201168">
              <a:spcAft>
                <a:spcPts val="300"/>
              </a:spcAft>
              <a:buClr>
                <a:srgbClr val="061866"/>
              </a:buClr>
              <a:buFont typeface="Arial"/>
              <a:buChar char="•"/>
            </a:pPr>
            <a:r>
              <a:rPr sz="1400" b="0">
                <a:solidFill>
                  <a:srgbClr val="061866"/>
                </a:solidFill>
                <a:latin typeface="Noto Sans"/>
              </a:rPr>
              <a:t>Other product characteristics</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r>
              <a:rPr sz="1200" b="0">
                <a:solidFill>
                  <a:srgbClr val="6B6E80"/>
                </a:solidFill>
                <a:latin typeface="Noto Sans"/>
              </a:rPr>
              <a:t>Learns what a good product looks like and flags anything out of the ordinary.</a:t>
            </a:r>
          </a:p>
        </p:txBody>
      </p:sp>
      <p:sp>
        <p:nvSpPr>
          <p:cNvPr id="24" name="Rounded Rectangle 23"/>
          <p:cNvSpPr/>
          <p:nvPr/>
        </p:nvSpPr>
        <p:spPr>
          <a:xfrm>
            <a:off x="548640" y="5852160"/>
            <a:ext cx="11091672" cy="457200"/>
          </a:xfrm>
          <a:prstGeom prst="roundRect">
            <a:avLst>
              <a:gd name="adj" fmla="val 4000"/>
            </a:avLst>
          </a:prstGeom>
          <a:solidFill>
            <a:srgbClr val="FFF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r>
              <a:rPr sz="1400" b="1">
                <a:solidFill>
                  <a:srgbClr val="061866"/>
                </a:solidFill>
                <a:latin typeface="Noto Sans"/>
              </a:rPr>
              <a:t>The foundation already exists: </a:t>
            </a:r>
            <a:r>
              <a:rPr sz="1400" b="0">
                <a:solidFill>
                  <a:srgbClr val="061866"/>
                </a:solidFill>
                <a:latin typeface="Noto Sans"/>
              </a:rPr>
              <a:t>thousands of real images archived in PI, linked to their measurements and alerts.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mastery and continuous improvement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Every turn of the cycle makes us a little better</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See</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Understand</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Decide</a:t>
            </a:r>
          </a:p>
        </p:txBody>
      </p:sp>
      <p:sp>
        <p:nvSpPr>
          <p:cNvPr id="10" name="Oval 9"/>
          <p:cNvSpPr/>
          <p:nvPr/>
        </p:nvSpPr>
        <p:spPr>
          <a:xfrm>
            <a:off x="10661904"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Anticipate</a:t>
            </a:r>
          </a:p>
        </p:txBody>
      </p:sp>
      <p:sp>
        <p:nvSpPr>
          <p:cNvPr id="12" name="Oval 11"/>
          <p:cNvSpPr/>
          <p:nvPr/>
        </p:nvSpPr>
        <p:spPr>
          <a:xfrm>
            <a:off x="1554480" y="2331720"/>
            <a:ext cx="3200400" cy="3200400"/>
          </a:xfrm>
          <a:prstGeom prst="ellipse">
            <a:avLst/>
          </a:prstGeom>
          <a:noFill/>
          <a:ln w="25400">
            <a:solidFill>
              <a:srgbClr val="A3AACB"/>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rgbClr val="FFF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rgbClr val="061866"/>
                </a:solidFill>
                <a:latin typeface="BIB Bold"/>
              </a:rPr>
              <a:t>IQF</a:t>
            </a:r>
          </a:p>
        </p:txBody>
      </p:sp>
      <p:sp>
        <p:nvSpPr>
          <p:cNvPr id="15" name="Oval 14"/>
          <p:cNvSpPr/>
          <p:nvPr/>
        </p:nvSpPr>
        <p:spPr>
          <a:xfrm>
            <a:off x="2587752" y="1764791"/>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rgbClr val="FFFF1A"/>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r>
              <a:rPr sz="1200" b="1">
                <a:solidFill>
                  <a:srgbClr val="FFFFFF"/>
                </a:solidFill>
                <a:latin typeface="Noto Sans"/>
              </a:rPr>
              <a:t>See</a:t>
            </a:r>
          </a:p>
        </p:txBody>
      </p:sp>
      <p:sp>
        <p:nvSpPr>
          <p:cNvPr id="18" name="Oval 17"/>
          <p:cNvSpPr/>
          <p:nvPr/>
        </p:nvSpPr>
        <p:spPr>
          <a:xfrm>
            <a:off x="4187952" y="3364991"/>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rgbClr val="FFFF1A"/>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r>
              <a:rPr sz="1200" b="1">
                <a:solidFill>
                  <a:srgbClr val="FFFFFF"/>
                </a:solidFill>
                <a:latin typeface="Noto Sans"/>
              </a:rPr>
              <a:t>Understand</a:t>
            </a:r>
          </a:p>
        </p:txBody>
      </p:sp>
      <p:sp>
        <p:nvSpPr>
          <p:cNvPr id="21" name="Oval 20"/>
          <p:cNvSpPr/>
          <p:nvPr/>
        </p:nvSpPr>
        <p:spPr>
          <a:xfrm>
            <a:off x="2587752" y="4965192"/>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rgbClr val="FFFF1A"/>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r>
              <a:rPr sz="1200" b="1">
                <a:solidFill>
                  <a:srgbClr val="FFFFFF"/>
                </a:solidFill>
                <a:latin typeface="Noto Sans"/>
              </a:rPr>
              <a:t>Decide</a:t>
            </a:r>
          </a:p>
        </p:txBody>
      </p:sp>
      <p:sp>
        <p:nvSpPr>
          <p:cNvPr id="24" name="Oval 23"/>
          <p:cNvSpPr/>
          <p:nvPr/>
        </p:nvSpPr>
        <p:spPr>
          <a:xfrm>
            <a:off x="987552" y="3364991"/>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rgbClr val="FFFF1A"/>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r>
              <a:rPr sz="1200" b="1">
                <a:solidFill>
                  <a:srgbClr val="FFFFFF"/>
                </a:solidFill>
                <a:latin typeface="Noto Sans"/>
              </a:rPr>
              <a:t>Anticipate</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rgbClr val="061866"/>
                </a:solidFill>
                <a:latin typeface="BIB Bold"/>
              </a:rPr>
              <a:t>We measure</a:t>
            </a:r>
          </a:p>
          <a:p>
            <a:pPr algn="l"/>
            <a:r>
              <a:rPr sz="1400" b="0">
                <a:solidFill>
                  <a:srgbClr val="6B6E80"/>
                </a:solidFill>
                <a:latin typeface="Noto Sans"/>
              </a:rPr>
              <a:t>every tire with 3D lasers</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rgbClr val="061866"/>
                </a:solidFill>
                <a:latin typeface="BIB Bold"/>
              </a:rPr>
              <a:t>We understand</a:t>
            </a:r>
          </a:p>
          <a:p>
            <a:pPr algn="l"/>
            <a:r>
              <a:rPr sz="1400" b="0">
                <a:solidFill>
                  <a:srgbClr val="6B6E80"/>
                </a:solidFill>
                <a:latin typeface="Noto Sans"/>
              </a:rPr>
              <a:t>real-time trends and alerts</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rgbClr val="061866"/>
                </a:solidFill>
                <a:latin typeface="BIB Bold"/>
              </a:rPr>
              <a:t>We correct</a:t>
            </a:r>
          </a:p>
          <a:p>
            <a:pPr algn="l"/>
            <a:r>
              <a:rPr sz="1400" b="0">
                <a:solidFill>
                  <a:srgbClr val="6B6E80"/>
                </a:solidFill>
                <a:latin typeface="Noto Sans"/>
              </a:rPr>
              <a:t>automatically with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rgbClr val="061866"/>
                </a:solidFill>
                <a:latin typeface="BIB Bold"/>
              </a:rPr>
              <a:t>We learn</a:t>
            </a:r>
          </a:p>
          <a:p>
            <a:pPr algn="l"/>
            <a:r>
              <a:rPr sz="1400" b="0">
                <a:solidFill>
                  <a:srgbClr val="6B6E80"/>
                </a:solidFill>
                <a:latin typeface="Noto Sans"/>
              </a:rPr>
              <a:t>patterns with Dataiku and AI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right information for every person</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The same data, turned into action at every level</a:t>
            </a:r>
          </a:p>
        </p:txBody>
      </p:sp>
      <p:sp>
        <p:nvSpPr>
          <p:cNvPr id="4" name="Rounded Rectangle 3"/>
          <p:cNvSpPr/>
          <p:nvPr/>
        </p:nvSpPr>
        <p:spPr>
          <a:xfrm>
            <a:off x="548640" y="1508760"/>
            <a:ext cx="356616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rgbClr val="061866"/>
                </a:solidFill>
                <a:latin typeface="BIB Bold"/>
              </a:rPr>
              <a:t>Operator</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r>
              <a:rPr sz="1400" b="0">
                <a:solidFill>
                  <a:srgbClr val="6B6E80"/>
                </a:solidFill>
                <a:latin typeface="Noto Sans"/>
              </a:rPr>
              <a:t>Sees the status of their station in real time.</a:t>
            </a:r>
          </a:p>
        </p:txBody>
      </p:sp>
      <p:sp>
        <p:nvSpPr>
          <p:cNvPr id="9" name="Rounded Rectangle 8"/>
          <p:cNvSpPr/>
          <p:nvPr/>
        </p:nvSpPr>
        <p:spPr>
          <a:xfrm>
            <a:off x="4311396" y="1508760"/>
            <a:ext cx="356616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rgbClr val="061866"/>
                </a:solidFill>
                <a:latin typeface="BIB Bold"/>
              </a:rPr>
              <a:t>Process and maintenance</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r>
              <a:rPr sz="1400" b="0">
                <a:solidFill>
                  <a:srgbClr val="6B6E80"/>
                </a:solidFill>
                <a:latin typeface="Noto Sans"/>
              </a:rPr>
              <a:t>Receive the alert and act on the machine.</a:t>
            </a:r>
          </a:p>
        </p:txBody>
      </p:sp>
      <p:sp>
        <p:nvSpPr>
          <p:cNvPr id="14" name="Rounded Rectangle 13"/>
          <p:cNvSpPr/>
          <p:nvPr/>
        </p:nvSpPr>
        <p:spPr>
          <a:xfrm>
            <a:off x="8074152" y="1508760"/>
            <a:ext cx="356616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rgbClr val="061866"/>
                </a:solidFill>
                <a:latin typeface="BIB Bold"/>
              </a:rPr>
              <a:t>Engineering and quality</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r>
              <a:rPr sz="1400" b="0">
                <a:solidFill>
                  <a:srgbClr val="6B6E80"/>
                </a:solidFill>
                <a:latin typeface="Noto Sans"/>
              </a:rPr>
              <a:t>Analyse trends and improve rules and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Every tire: seen, understood, decided and better every day</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rgbClr val="061866"/>
                </a:solidFill>
                <a:latin typeface="Noto Sans"/>
              </a:rPr>
              <a:t>See  ·  Understand  ·  Decide  ·  Anticipate</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rgbClr val="002C5F"/>
                </a:solidFill>
                <a:latin typeface="Arial"/>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r>
              <a:rPr sz="1400" b="1">
                <a:solidFill>
                  <a:srgbClr val="061866"/>
                </a:solidFill>
                <a:latin typeface="Noto Sans"/>
              </a:rPr>
              <a:t>&amp;  MICHELIN · Trusted partners for new technologies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Hyundai &amp; Michelin: quality decided in real time</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