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2"/>
  </p:notesMasterIdLst>
  <p:handoutMasterIdLst>
    <p:handoutMasterId r:id="rId33"/>
  </p:handoutMasterIdLst>
  <p:sldIdLst>
    <p:sldId id="256" r:id="rId7"/>
    <p:sldId id="281" r:id="rId40"/>
    <p:sldId id="257" r:id="rId8"/>
    <p:sldId id="258" r:id="rId9"/>
    <p:sldId id="259" r:id="rId10"/>
    <p:sldId id="260" r:id="rId11"/>
    <p:sldId id="261" r:id="rId12"/>
    <p:sldId id="263" r:id="rId13"/>
    <p:sldId id="262" r:id="rId14"/>
    <p:sldId id="267" r:id="rId15"/>
    <p:sldId id="264" r:id="rId16"/>
    <p:sldId id="265" r:id="rId17"/>
    <p:sldId id="266" r:id="rId18"/>
    <p:sldId id="268" r:id="rId19"/>
    <p:sldId id="269" r:id="rId20"/>
    <p:sldId id="270" r:id="rId21"/>
    <p:sldId id="271" r:id="rId22"/>
    <p:sldId id="272" r:id="rId23"/>
    <p:sldId id="273" r:id="rId24"/>
    <p:sldId id="274" r:id="rId25"/>
    <p:sldId id="275" r:id="rId26"/>
    <p:sldId id="282" r:id="rId41"/>
    <p:sldId id="276" r:id="rId27"/>
    <p:sldId id="277" r:id="rId28"/>
    <p:sldId id="278" r:id="rId29"/>
    <p:sldId id="279" r:id="rId30"/>
    <p:sldId id="280" r:id="rId3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256"/>
            <p14:sldId id="257"/>
            <p14:sldId id="258"/>
            <p14:sldId id="259"/>
            <p14:sldId id="260"/>
            <p14:sldId id="261"/>
            <p14:sldId id="263"/>
            <p14:sldId id="262"/>
            <p14:sldId id="267"/>
            <p14:sldId id="264"/>
            <p14:sldId id="265"/>
            <p14:sldId id="266"/>
            <p14:sldId id="268"/>
            <p14:sldId id="269"/>
            <p14:sldId id="270"/>
            <p14:sldId id="271"/>
            <p14:sldId id="272"/>
            <p14:sldId id="273"/>
            <p14:sldId id="274"/>
            <p14:sldId id="275"/>
            <p14:sldId id="276"/>
            <p14:sldId id="277"/>
            <p14:sldId id="278"/>
            <p14:sldId id="279"/>
            <p14:sldId id="280"/>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notesMaster" Target="notesMasters/notesMaster1.xml"/><Relationship Id="rId33" Type="http://schemas.openxmlformats.org/officeDocument/2006/relationships/handoutMaster" Target="handoutMasters/handoutMaster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5/10/relationships/revisionInfo" Target="revisionInfo.xml"/><Relationship Id="rId40" Type="http://schemas.openxmlformats.org/officeDocument/2006/relationships/slide" Target="slides/slide2.xml"/><Relationship Id="rId41"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21/10/2026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21/10/2026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Cuatro opciones claras, de menor a mayor firmeza. Alertar, ajustar y bloquear funcionan hoy; la segregación automática es la siguiente fase según el propio esquema de R4P. Ser transparentes refuerza la credibilidad.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5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58.jp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9.jpg"/><Relationship Id="rId4" Type="http://schemas.openxmlformats.org/officeDocument/2006/relationships/image" Target="../media/image4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xml"/><Relationship Id="rId3" Type="http://schemas.openxmlformats.org/officeDocument/2006/relationships/image" Target="../media/image4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9.xml"/><Relationship Id="rId3" Type="http://schemas.openxmlformats.org/officeDocument/2006/relationships/image" Target="../media/image4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1.xml"/><Relationship Id="rId3"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4.png"/><Relationship Id="rId4"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 Id="rId4"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5.jpg"/><Relationship Id="rId4" Type="http://schemas.openxmlformats.org/officeDocument/2006/relationships/image" Target="../media/image45.png"/><Relationship Id="rId5"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 Id="rId3" Type="http://schemas.openxmlformats.org/officeDocument/2006/relationships/image" Target="../media/image59.png"/><Relationship Id="rId4"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62.png"/><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t>Nuestro entorno digital de fabricación · OLM · PI System · R4P · Dataiku</a:t>
            </a:r>
          </a:p>
        </p:txBody>
      </p:sp>
      <p:sp>
        <p:nvSpPr>
          <p:cNvPr id="3" name="Title 2"/>
          <p:cNvSpPr>
            <a:spLocks noGrp="1"/>
          </p:cNvSpPr>
          <p:nvPr>
            <p:ph type="title"/>
          </p:nvPr>
        </p:nvSpPr>
        <p:spPr/>
        <p:txBody>
          <a:bodyPr/>
          <a:lstStyle/>
          <a:p>
            <a:r>
              <a:t>Calidad que se decide en tiempo real</a:t>
            </a:r>
          </a:p>
        </p:txBody>
      </p:sp>
      <p:pic>
        <p:nvPicPr>
          <p:cNvPr id="4" name="Picture 3" descr="hy_blue.png"/>
          <p:cNvPicPr>
            <a:picLocks noChangeAspect="1"/>
          </p:cNvPicPr>
          <p:nvPr/>
        </p:nvPicPr>
        <p:blipFill>
          <a:blip r:embed="rId3"/>
          <a:stretch>
            <a:fillRect/>
          </a:stretch>
        </p:blipFill>
        <p:spPr>
          <a:xfrm>
            <a:off x="6537960" y="274320"/>
            <a:ext cx="640435" cy="329184"/>
          </a:xfrm>
          <a:prstGeom prst="rect">
            <a:avLst/>
          </a:prstGeom>
        </p:spPr>
      </p:pic>
      <p:sp>
        <p:nvSpPr>
          <p:cNvPr id="5" name="TextBox 4"/>
          <p:cNvSpPr txBox="1"/>
          <p:nvPr/>
        </p:nvSpPr>
        <p:spPr>
          <a:xfrm>
            <a:off x="7288123" y="274320"/>
            <a:ext cx="2011680" cy="329184"/>
          </a:xfrm>
          <a:prstGeom prst="rect">
            <a:avLst/>
          </a:prstGeom>
          <a:noFill/>
        </p:spPr>
        <p:txBody>
          <a:bodyPr wrap="square" lIns="0" rIns="0" tIns="0" bIns="0" anchor="ctr">
            <a:spAutoFit/>
          </a:bodyPr>
          <a:lstStyle/>
          <a:p>
            <a:pPr algn="l"/>
            <a:r>
              <a:rPr sz="1700" b="1" i="0">
                <a:solidFill>
                  <a:srgbClr val="002C5F"/>
                </a:solidFill>
                <a:latin typeface="Arial"/>
              </a:rPr>
              <a:t>HYUNDAI</a:t>
            </a:r>
          </a:p>
        </p:txBody>
      </p:sp>
      <p:sp>
        <p:nvSpPr>
          <p:cNvPr id="6" name="TextBox 5"/>
          <p:cNvSpPr txBox="1"/>
          <p:nvPr/>
        </p:nvSpPr>
        <p:spPr>
          <a:xfrm>
            <a:off x="5486400" y="658368"/>
            <a:ext cx="3291840" cy="228600"/>
          </a:xfrm>
          <a:prstGeom prst="rect">
            <a:avLst/>
          </a:prstGeom>
          <a:noFill/>
        </p:spPr>
        <p:txBody>
          <a:bodyPr wrap="square" lIns="0" rIns="0" tIns="0" bIns="0" anchor="t">
            <a:spAutoFit/>
          </a:bodyPr>
          <a:lstStyle/>
          <a:p>
            <a:pPr algn="r"/>
            <a:r>
              <a:rPr sz="900" b="1" i="0">
                <a:solidFill>
                  <a:srgbClr val="002C5F"/>
                </a:solidFill>
                <a:latin typeface="Arial"/>
              </a:rPr>
              <a:t>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4206240" cy="457200"/>
          </a:xfrm>
        </p:spPr>
        <p:txBody>
          <a:bodyPr/>
          <a:lstStyle/>
          <a:p>
            <a:r>
              <a:rPr sz="2200"/>
              <a:t>Hyundai &amp; Michelin</a:t>
            </a:r>
          </a:p>
        </p:txBody>
      </p:sp>
      <p:sp>
        <p:nvSpPr>
          <p:cNvPr id="3" name="TextBox 2"/>
          <p:cNvSpPr txBox="1"/>
          <p:nvPr/>
        </p:nvSpPr>
        <p:spPr>
          <a:xfrm>
            <a:off x="457200" y="713232"/>
            <a:ext cx="4206240" cy="548640"/>
          </a:xfrm>
          <a:prstGeom prst="rect">
            <a:avLst/>
          </a:prstGeom>
          <a:noFill/>
        </p:spPr>
        <p:txBody>
          <a:bodyPr wrap="square" lIns="0" rIns="0" tIns="0" bIns="0" anchor="t">
            <a:spAutoFit/>
          </a:bodyPr>
          <a:lstStyle/>
          <a:p>
            <a:pPr algn="l"/>
            <a:r>
              <a:rPr sz="1200" b="0" i="0">
                <a:solidFill>
                  <a:srgbClr val="FCE500"/>
                </a:solidFill>
                <a:latin typeface="Arial"/>
              </a:rPr>
              <a:t>Una exitosa asociación a largo plazo para las prestaciones y la innovación</a:t>
            </a:r>
          </a:p>
        </p:txBody>
      </p:sp>
      <p:pic>
        <p:nvPicPr>
          <p:cNvPr id="4" name="Picture 3" descr="tucson.jpg"/>
          <p:cNvPicPr>
            <a:picLocks noChangeAspect="1"/>
          </p:cNvPicPr>
          <p:nvPr/>
        </p:nvPicPr>
        <p:blipFill>
          <a:blip r:embed="rId2"/>
          <a:srcRect l="10417" r="10417"/>
          <a:stretch>
            <a:fillRect/>
          </a:stretch>
        </p:blipFill>
        <p:spPr>
          <a:xfrm>
            <a:off x="4800600" y="0"/>
            <a:ext cx="4343400" cy="3154680"/>
          </a:xfrm>
          <a:prstGeom prst="rect">
            <a:avLst/>
          </a:prstGeom>
        </p:spPr>
      </p:pic>
      <p:pic>
        <p:nvPicPr>
          <p:cNvPr id="5" name="Picture 4" descr="tire.png"/>
          <p:cNvPicPr>
            <a:picLocks noChangeAspect="1"/>
          </p:cNvPicPr>
          <p:nvPr/>
        </p:nvPicPr>
        <p:blipFill>
          <a:blip r:embed="rId3"/>
          <a:stretch>
            <a:fillRect/>
          </a:stretch>
        </p:blipFill>
        <p:spPr>
          <a:xfrm>
            <a:off x="6903720" y="2057400"/>
            <a:ext cx="2103120" cy="2103120"/>
          </a:xfrm>
          <a:prstGeom prst="rect">
            <a:avLst/>
          </a:prstGeom>
        </p:spPr>
      </p:pic>
      <p:pic>
        <p:nvPicPr>
          <p:cNvPr id="6" name="Picture 5" descr="hy_white.png"/>
          <p:cNvPicPr>
            <a:picLocks noChangeAspect="1"/>
          </p:cNvPicPr>
          <p:nvPr/>
        </p:nvPicPr>
        <p:blipFill>
          <a:blip r:embed="rId4"/>
          <a:stretch>
            <a:fillRect/>
          </a:stretch>
        </p:blipFill>
        <p:spPr>
          <a:xfrm>
            <a:off x="457200" y="1463040"/>
            <a:ext cx="604856" cy="310896"/>
          </a:xfrm>
          <a:prstGeom prst="rect">
            <a:avLst/>
          </a:prstGeom>
        </p:spPr>
      </p:pic>
      <p:sp>
        <p:nvSpPr>
          <p:cNvPr id="7" name="TextBox 6"/>
          <p:cNvSpPr txBox="1"/>
          <p:nvPr/>
        </p:nvSpPr>
        <p:spPr>
          <a:xfrm>
            <a:off x="1171784" y="1463040"/>
            <a:ext cx="2011680" cy="310896"/>
          </a:xfrm>
          <a:prstGeom prst="rect">
            <a:avLst/>
          </a:prstGeom>
          <a:noFill/>
        </p:spPr>
        <p:txBody>
          <a:bodyPr wrap="square" lIns="0" rIns="0" tIns="0" bIns="0" anchor="ctr">
            <a:spAutoFit/>
          </a:bodyPr>
          <a:lstStyle/>
          <a:p>
            <a:pPr algn="l"/>
            <a:r>
              <a:rPr sz="1400" b="1" i="0">
                <a:solidFill>
                  <a:srgbClr val="FFFFFF"/>
                </a:solidFill>
                <a:latin typeface="Arial"/>
              </a:rPr>
              <a:t>HYUNDAI</a:t>
            </a:r>
          </a:p>
        </p:txBody>
      </p:sp>
      <p:sp>
        <p:nvSpPr>
          <p:cNvPr id="8" name="TextBox 7"/>
          <p:cNvSpPr txBox="1"/>
          <p:nvPr/>
        </p:nvSpPr>
        <p:spPr>
          <a:xfrm>
            <a:off x="457200" y="1965960"/>
            <a:ext cx="4206240" cy="274320"/>
          </a:xfrm>
          <a:prstGeom prst="rect">
            <a:avLst/>
          </a:prstGeom>
          <a:noFill/>
        </p:spPr>
        <p:txBody>
          <a:bodyPr wrap="square" lIns="0" rIns="0" tIns="0" bIns="0" anchor="t">
            <a:spAutoFit/>
          </a:bodyPr>
          <a:lstStyle/>
          <a:p>
            <a:pPr algn="l"/>
            <a:r>
              <a:rPr sz="950" b="1" i="0">
                <a:solidFill>
                  <a:srgbClr val="9FB3D6"/>
                </a:solidFill>
                <a:latin typeface="Michelin"/>
              </a:rPr>
              <a:t>SOCIOS DE CONFIANZA PARA NUEVAS TECNOLOGÍAS</a:t>
            </a:r>
          </a:p>
        </p:txBody>
      </p:sp>
      <p:sp>
        <p:nvSpPr>
          <p:cNvPr id="9" name="TextBox 8"/>
          <p:cNvSpPr txBox="1"/>
          <p:nvPr/>
        </p:nvSpPr>
        <p:spPr>
          <a:xfrm>
            <a:off x="457200" y="2331720"/>
            <a:ext cx="4206240" cy="822960"/>
          </a:xfrm>
          <a:prstGeom prst="rect">
            <a:avLst/>
          </a:prstGeom>
          <a:noFill/>
        </p:spPr>
        <p:txBody>
          <a:bodyPr wrap="square" lIns="0" rIns="0" tIns="0" bIns="0" anchor="t">
            <a:spAutoFit/>
          </a:bodyPr>
          <a:lstStyle/>
          <a:p>
            <a:pPr algn="l"/>
            <a:r>
              <a:rPr sz="1500" b="1" i="0">
                <a:solidFill>
                  <a:srgbClr val="FFFFFF"/>
                </a:solidFill>
                <a:latin typeface="Michelin"/>
              </a:rPr>
              <a:t>Michelin Primacy 5 Energy 235/45 R20</a:t>
            </a:r>
          </a:p>
          <a:p>
            <a:pPr algn="l"/>
            <a:r>
              <a:rPr sz="1200" b="0" i="0">
                <a:solidFill>
                  <a:srgbClr val="FFFFFF"/>
                </a:solidFill>
                <a:latin typeface="Arial"/>
              </a:rPr>
              <a:t>Equipado en el nuevo Hyundai Tucson 2027</a:t>
            </a:r>
          </a:p>
        </p:txBody>
      </p:sp>
      <p:sp>
        <p:nvSpPr>
          <p:cNvPr id="10" name="TextBox 9"/>
          <p:cNvSpPr txBox="1"/>
          <p:nvPr/>
        </p:nvSpPr>
        <p:spPr>
          <a:xfrm>
            <a:off x="457200" y="3108960"/>
            <a:ext cx="4206240" cy="228600"/>
          </a:xfrm>
          <a:prstGeom prst="rect">
            <a:avLst/>
          </a:prstGeom>
          <a:noFill/>
        </p:spPr>
        <p:txBody>
          <a:bodyPr wrap="square" lIns="0" rIns="0" tIns="0" bIns="0" anchor="t">
            <a:spAutoFit/>
          </a:bodyPr>
          <a:lstStyle/>
          <a:p>
            <a:pPr algn="l"/>
            <a:r>
              <a:rPr sz="900" b="0" i="0">
                <a:solidFill>
                  <a:srgbClr val="9FB3D6"/>
                </a:solidFill>
                <a:latin typeface="Arial"/>
              </a:rPr>
              <a:t>Código 5759 · CAI 514126A</a:t>
            </a:r>
          </a:p>
        </p:txBody>
      </p:sp>
      <p:sp>
        <p:nvSpPr>
          <p:cNvPr id="11" name="Rectangle 10"/>
          <p:cNvSpPr/>
          <p:nvPr/>
        </p:nvSpPr>
        <p:spPr>
          <a:xfrm>
            <a:off x="457200" y="3520440"/>
            <a:ext cx="6309360" cy="68580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3520440"/>
            <a:ext cx="6035040" cy="685800"/>
          </a:xfrm>
          <a:prstGeom prst="rect">
            <a:avLst/>
          </a:prstGeom>
          <a:noFill/>
        </p:spPr>
        <p:txBody>
          <a:bodyPr wrap="square" lIns="0" rIns="0" tIns="0" bIns="0" anchor="ctr">
            <a:spAutoFit/>
          </a:bodyPr>
          <a:lstStyle/>
          <a:p>
            <a:pPr algn="l"/>
            <a:r>
              <a:rPr sz="1200" b="0" i="0">
                <a:solidFill>
                  <a:srgbClr val="FFFFFF"/>
                </a:solidFill>
                <a:latin typeface="Arial"/>
              </a:rPr>
              <a:t>Cada uno de estos neumáticos nace en el entorno digital </a:t>
            </a:r>
            <a:r>
              <a:rPr sz="1200" b="1" i="0">
                <a:solidFill>
                  <a:srgbClr val="FCE500"/>
                </a:solidFill>
                <a:latin typeface="Arial"/>
              </a:rPr>
              <a:t>que les presentamos hoy.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¿Y si cada neumático pudiera contarnos cómo se fabricó?</a:t>
            </a:r>
          </a:p>
        </p:txBody>
      </p:sp>
      <p:sp>
        <p:nvSpPr>
          <p:cNvPr id="3" name="TextBox 2"/>
          <p:cNvSpPr txBox="1"/>
          <p:nvPr/>
        </p:nvSpPr>
        <p:spPr>
          <a:xfrm>
            <a:off x="528490" y="4269971"/>
            <a:ext cx="5943600" cy="365760"/>
          </a:xfrm>
          <a:prstGeom prst="rect">
            <a:avLst/>
          </a:prstGeom>
          <a:noFill/>
        </p:spPr>
        <p:txBody>
          <a:bodyPr wrap="square" lIns="0" tIns="0" rIns="0" bIns="0" anchor="t">
            <a:spAutoFit/>
          </a:bodyPr>
          <a:lstStyle/>
          <a:p>
            <a:pPr algn="l"/>
            <a:r>
              <a:rPr sz="1400" b="1" i="0">
                <a:solidFill>
                  <a:srgbClr val="FCE500"/>
                </a:solidFill>
                <a:latin typeface="Michelin"/>
              </a:rPr>
              <a:t>Hoy lo hace. Les enseñamos cómo.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Dos formas de controlar la calidad</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5268" y="1005840"/>
            <a:ext cx="3195624" cy="320040"/>
          </a:xfrm>
          <a:prstGeom prst="rect">
            <a:avLst/>
          </a:prstGeom>
          <a:noFill/>
        </p:spPr>
        <p:txBody>
          <a:bodyPr wrap="square" lIns="0" tIns="0" rIns="0" bIns="0" anchor="t">
            <a:spAutoFit/>
          </a:bodyPr>
          <a:lstStyle/>
          <a:p>
            <a:pPr algn="l"/>
            <a:r>
              <a:rPr sz="1300" b="1" i="0" cap="all" dirty="0">
                <a:solidFill>
                  <a:srgbClr val="6E6E6E"/>
                </a:solidFill>
                <a:latin typeface="Michelin"/>
              </a:rPr>
              <a:t>Control </a:t>
            </a:r>
            <a:r>
              <a:rPr sz="1300" b="1" i="0" cap="all" dirty="0" err="1">
                <a:solidFill>
                  <a:srgbClr val="6E6E6E"/>
                </a:solidFill>
                <a:latin typeface="Michelin"/>
              </a:rPr>
              <a:t>tradicional</a:t>
            </a:r>
            <a:endParaRPr sz="1300" b="1" i="0" cap="all" dirty="0">
              <a:solidFill>
                <a:srgbClr val="6E6E6E"/>
              </a:solidFill>
              <a:latin typeface="Michelin"/>
            </a:endParaRPr>
          </a:p>
        </p:txBody>
      </p:sp>
      <p:sp>
        <p:nvSpPr>
          <p:cNvPr id="6" name="TextBox 5"/>
          <p:cNvSpPr txBox="1"/>
          <p:nvPr/>
        </p:nvSpPr>
        <p:spPr>
          <a:xfrm>
            <a:off x="855268" y="1674911"/>
            <a:ext cx="1800351" cy="307777"/>
          </a:xfrm>
          <a:prstGeom prst="rect">
            <a:avLst/>
          </a:prstGeom>
          <a:noFill/>
        </p:spPr>
        <p:txBody>
          <a:bodyPr wrap="square" lIns="0" tIns="0" rIns="0" bIns="0" anchor="ctr">
            <a:spAutoFit/>
          </a:bodyPr>
          <a:lstStyle/>
          <a:p>
            <a:pPr algn="l"/>
            <a:r>
              <a:rPr sz="2000" b="1" i="0" dirty="0">
                <a:solidFill>
                  <a:srgbClr val="6E6E6E"/>
                </a:solidFill>
                <a:latin typeface="Michelin"/>
              </a:rPr>
              <a:t>1 </a:t>
            </a:r>
            <a:r>
              <a:rPr b="1" i="0" dirty="0" err="1">
                <a:solidFill>
                  <a:srgbClr val="6E6E6E"/>
                </a:solidFill>
                <a:latin typeface="Michelin"/>
              </a:rPr>
              <a:t>muestra</a:t>
            </a:r>
            <a:endParaRPr sz="2000" b="1" i="0" dirty="0">
              <a:solidFill>
                <a:srgbClr val="6E6E6E"/>
              </a:solidFill>
              <a:latin typeface="Michelin"/>
            </a:endParaRPr>
          </a:p>
        </p:txBody>
      </p:sp>
      <p:sp>
        <p:nvSpPr>
          <p:cNvPr id="7" name="TextBox 6"/>
          <p:cNvSpPr txBox="1"/>
          <p:nvPr/>
        </p:nvSpPr>
        <p:spPr>
          <a:xfrm>
            <a:off x="2700629" y="1554480"/>
            <a:ext cx="1440281" cy="548640"/>
          </a:xfrm>
          <a:prstGeom prst="rect">
            <a:avLst/>
          </a:prstGeom>
          <a:noFill/>
        </p:spPr>
        <p:txBody>
          <a:bodyPr wrap="square" lIns="0" tIns="0" rIns="0" bIns="0" anchor="ctr">
            <a:spAutoFit/>
          </a:bodyPr>
          <a:lstStyle/>
          <a:p>
            <a:pPr algn="l"/>
            <a:r>
              <a:rPr sz="1100" b="0" i="0">
                <a:solidFill>
                  <a:srgbClr val="6E6E6E"/>
                </a:solidFill>
                <a:latin typeface="Arial"/>
              </a:rPr>
              <a:t>por turno, de forma manual</a:t>
            </a:r>
          </a:p>
        </p:txBody>
      </p:sp>
      <p:sp>
        <p:nvSpPr>
          <p:cNvPr id="8" name="TextBox 7"/>
          <p:cNvSpPr txBox="1"/>
          <p:nvPr/>
        </p:nvSpPr>
        <p:spPr>
          <a:xfrm>
            <a:off x="855268" y="2558980"/>
            <a:ext cx="1800351" cy="276999"/>
          </a:xfrm>
          <a:prstGeom prst="rect">
            <a:avLst/>
          </a:prstGeom>
          <a:noFill/>
        </p:spPr>
        <p:txBody>
          <a:bodyPr wrap="square" lIns="0" tIns="0" rIns="0" bIns="0" anchor="ctr">
            <a:spAutoFit/>
          </a:bodyPr>
          <a:lstStyle/>
          <a:p>
            <a:pPr algn="l"/>
            <a:r>
              <a:rPr b="1" i="0" dirty="0">
                <a:solidFill>
                  <a:srgbClr val="6E6E6E"/>
                </a:solidFill>
                <a:latin typeface="Michelin"/>
              </a:rPr>
              <a:t>Horas</a:t>
            </a:r>
            <a:endParaRPr sz="2000" b="1" i="0" dirty="0">
              <a:solidFill>
                <a:srgbClr val="6E6E6E"/>
              </a:solidFill>
              <a:latin typeface="Michelin"/>
            </a:endParaRPr>
          </a:p>
        </p:txBody>
      </p:sp>
      <p:sp>
        <p:nvSpPr>
          <p:cNvPr id="9" name="TextBox 8"/>
          <p:cNvSpPr txBox="1"/>
          <p:nvPr/>
        </p:nvSpPr>
        <p:spPr>
          <a:xfrm>
            <a:off x="2700629" y="2423160"/>
            <a:ext cx="1440281" cy="548640"/>
          </a:xfrm>
          <a:prstGeom prst="rect">
            <a:avLst/>
          </a:prstGeom>
          <a:noFill/>
        </p:spPr>
        <p:txBody>
          <a:bodyPr wrap="square" lIns="0" tIns="0" rIns="0" bIns="0" anchor="ctr">
            <a:spAutoFit/>
          </a:bodyPr>
          <a:lstStyle/>
          <a:p>
            <a:pPr algn="l"/>
            <a:r>
              <a:rPr sz="1100" b="0" i="0" dirty="0">
                <a:solidFill>
                  <a:srgbClr val="6E6E6E"/>
                </a:solidFill>
                <a:latin typeface="Arial"/>
              </a:rPr>
              <a:t>hasta </a:t>
            </a:r>
            <a:r>
              <a:rPr sz="1100" b="0" i="0" dirty="0" err="1">
                <a:solidFill>
                  <a:srgbClr val="6E6E6E"/>
                </a:solidFill>
                <a:latin typeface="Arial"/>
              </a:rPr>
              <a:t>descubrir</a:t>
            </a:r>
            <a:r>
              <a:rPr sz="1100" b="0" i="0" dirty="0">
                <a:solidFill>
                  <a:srgbClr val="6E6E6E"/>
                </a:solidFill>
                <a:latin typeface="Arial"/>
              </a:rPr>
              <a:t> </a:t>
            </a:r>
            <a:r>
              <a:rPr sz="1100" b="0" i="0" dirty="0" err="1">
                <a:solidFill>
                  <a:srgbClr val="6E6E6E"/>
                </a:solidFill>
                <a:latin typeface="Arial"/>
              </a:rPr>
              <a:t>una</a:t>
            </a:r>
            <a:r>
              <a:rPr sz="1100" b="0" i="0" dirty="0">
                <a:solidFill>
                  <a:srgbClr val="6E6E6E"/>
                </a:solidFill>
                <a:latin typeface="Arial"/>
              </a:rPr>
              <a:t> </a:t>
            </a:r>
            <a:r>
              <a:rPr sz="1100" b="0" i="0" dirty="0" err="1">
                <a:solidFill>
                  <a:srgbClr val="6E6E6E"/>
                </a:solidFill>
                <a:latin typeface="Arial"/>
              </a:rPr>
              <a:t>desviación</a:t>
            </a:r>
            <a:endParaRPr sz="1100" b="0" i="0" dirty="0">
              <a:solidFill>
                <a:srgbClr val="6E6E6E"/>
              </a:solidFill>
              <a:latin typeface="Arial"/>
            </a:endParaRPr>
          </a:p>
        </p:txBody>
      </p:sp>
      <p:sp>
        <p:nvSpPr>
          <p:cNvPr id="10" name="TextBox 9"/>
          <p:cNvSpPr txBox="1"/>
          <p:nvPr/>
        </p:nvSpPr>
        <p:spPr>
          <a:xfrm>
            <a:off x="855268" y="3427659"/>
            <a:ext cx="1800351" cy="276999"/>
          </a:xfrm>
          <a:prstGeom prst="rect">
            <a:avLst/>
          </a:prstGeom>
          <a:noFill/>
        </p:spPr>
        <p:txBody>
          <a:bodyPr wrap="square" lIns="0" tIns="0" rIns="0" bIns="0" anchor="ctr">
            <a:spAutoFit/>
          </a:bodyPr>
          <a:lstStyle/>
          <a:p>
            <a:pPr algn="l"/>
            <a:r>
              <a:rPr b="1" i="0">
                <a:solidFill>
                  <a:srgbClr val="6E6E6E"/>
                </a:solidFill>
                <a:latin typeface="Michelin"/>
              </a:rPr>
              <a:t>Después</a:t>
            </a:r>
          </a:p>
        </p:txBody>
      </p:sp>
      <p:sp>
        <p:nvSpPr>
          <p:cNvPr id="11" name="TextBox 10"/>
          <p:cNvSpPr txBox="1"/>
          <p:nvPr/>
        </p:nvSpPr>
        <p:spPr>
          <a:xfrm>
            <a:off x="2700629" y="3291839"/>
            <a:ext cx="1440281" cy="548640"/>
          </a:xfrm>
          <a:prstGeom prst="rect">
            <a:avLst/>
          </a:prstGeom>
          <a:noFill/>
        </p:spPr>
        <p:txBody>
          <a:bodyPr wrap="square" lIns="0" tIns="0" rIns="0" bIns="0" anchor="ctr">
            <a:spAutoFit/>
          </a:bodyPr>
          <a:lstStyle/>
          <a:p>
            <a:pPr algn="l"/>
            <a:r>
              <a:rPr sz="1100" b="0" i="0">
                <a:solidFill>
                  <a:srgbClr val="6E6E6E"/>
                </a:solidFill>
                <a:latin typeface="Arial"/>
              </a:rPr>
              <a:t>se reacciona cuando el defecto ya existe</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21122" y="1005840"/>
            <a:ext cx="3195624" cy="320040"/>
          </a:xfrm>
          <a:prstGeom prst="rect">
            <a:avLst/>
          </a:prstGeom>
          <a:noFill/>
        </p:spPr>
        <p:txBody>
          <a:bodyPr wrap="square" lIns="0" tIns="0" rIns="0" bIns="0" anchor="t">
            <a:spAutoFit/>
          </a:bodyPr>
          <a:lstStyle/>
          <a:p>
            <a:pPr algn="l"/>
            <a:r>
              <a:rPr sz="1300" b="1" i="0" cap="all">
                <a:solidFill>
                  <a:srgbClr val="FCE500"/>
                </a:solidFill>
                <a:latin typeface="Michelin"/>
              </a:rPr>
              <a:t>Nuestro control digital</a:t>
            </a:r>
          </a:p>
        </p:txBody>
      </p:sp>
      <p:sp>
        <p:nvSpPr>
          <p:cNvPr id="14" name="TextBox 13"/>
          <p:cNvSpPr txBox="1"/>
          <p:nvPr/>
        </p:nvSpPr>
        <p:spPr>
          <a:xfrm>
            <a:off x="5221122" y="1674911"/>
            <a:ext cx="1800351" cy="307777"/>
          </a:xfrm>
          <a:prstGeom prst="rect">
            <a:avLst/>
          </a:prstGeom>
          <a:noFill/>
        </p:spPr>
        <p:txBody>
          <a:bodyPr wrap="square" lIns="0" tIns="0" rIns="0" bIns="0" anchor="ctr">
            <a:spAutoFit/>
          </a:bodyPr>
          <a:lstStyle/>
          <a:p>
            <a:pPr algn="l"/>
            <a:r>
              <a:rPr b="1" i="0" dirty="0">
                <a:solidFill>
                  <a:srgbClr val="FCE500"/>
                </a:solidFill>
                <a:latin typeface="Michelin"/>
              </a:rPr>
              <a:t>100</a:t>
            </a:r>
            <a:r>
              <a:rPr sz="2000" b="1" i="0" dirty="0">
                <a:solidFill>
                  <a:srgbClr val="FCE500"/>
                </a:solidFill>
                <a:latin typeface="Michelin"/>
              </a:rPr>
              <a:t> %</a:t>
            </a:r>
          </a:p>
        </p:txBody>
      </p:sp>
      <p:sp>
        <p:nvSpPr>
          <p:cNvPr id="15" name="TextBox 14"/>
          <p:cNvSpPr txBox="1"/>
          <p:nvPr/>
        </p:nvSpPr>
        <p:spPr>
          <a:xfrm>
            <a:off x="7066483" y="1659523"/>
            <a:ext cx="1440281" cy="338554"/>
          </a:xfrm>
          <a:prstGeom prst="rect">
            <a:avLst/>
          </a:prstGeom>
          <a:noFill/>
        </p:spPr>
        <p:txBody>
          <a:bodyPr wrap="square" lIns="0" tIns="0" rIns="0" bIns="0" anchor="ctr">
            <a:spAutoFit/>
          </a:bodyPr>
          <a:lstStyle/>
          <a:p>
            <a:pPr algn="l"/>
            <a:r>
              <a:rPr sz="1100" b="0" i="0" dirty="0">
                <a:solidFill>
                  <a:srgbClr val="FFFFFF"/>
                </a:solidFill>
                <a:latin typeface="Arial"/>
              </a:rPr>
              <a:t>de </a:t>
            </a:r>
            <a:r>
              <a:rPr sz="1100" b="0" i="0" dirty="0" err="1">
                <a:solidFill>
                  <a:srgbClr val="FFFFFF"/>
                </a:solidFill>
                <a:latin typeface="Arial"/>
              </a:rPr>
              <a:t>los</a:t>
            </a:r>
            <a:r>
              <a:rPr sz="1100" b="0" i="0" dirty="0">
                <a:solidFill>
                  <a:srgbClr val="FFFFFF"/>
                </a:solidFill>
                <a:latin typeface="Arial"/>
              </a:rPr>
              <a:t> </a:t>
            </a:r>
            <a:r>
              <a:rPr lang="es-ES" sz="1100" b="0" i="0" dirty="0">
                <a:solidFill>
                  <a:srgbClr val="FFFFFF"/>
                </a:solidFill>
                <a:latin typeface="Arial"/>
              </a:rPr>
              <a:t>productos</a:t>
            </a:r>
            <a:r>
              <a:rPr sz="1100" b="0" i="0" dirty="0">
                <a:solidFill>
                  <a:srgbClr val="FFFFFF"/>
                </a:solidFill>
                <a:latin typeface="Arial"/>
              </a:rPr>
              <a:t>, de forma </a:t>
            </a:r>
            <a:r>
              <a:rPr sz="1100" b="0" i="0" dirty="0" err="1">
                <a:solidFill>
                  <a:srgbClr val="FFFFFF"/>
                </a:solidFill>
                <a:latin typeface="Arial"/>
              </a:rPr>
              <a:t>automática</a:t>
            </a:r>
            <a:endParaRPr sz="1100" b="0" i="0" dirty="0">
              <a:solidFill>
                <a:srgbClr val="FFFFFF"/>
              </a:solidFill>
              <a:latin typeface="Arial"/>
            </a:endParaRPr>
          </a:p>
        </p:txBody>
      </p:sp>
      <p:sp>
        <p:nvSpPr>
          <p:cNvPr id="16" name="TextBox 15"/>
          <p:cNvSpPr txBox="1"/>
          <p:nvPr/>
        </p:nvSpPr>
        <p:spPr>
          <a:xfrm>
            <a:off x="5221122" y="2558980"/>
            <a:ext cx="1800351" cy="276999"/>
          </a:xfrm>
          <a:prstGeom prst="rect">
            <a:avLst/>
          </a:prstGeom>
          <a:noFill/>
        </p:spPr>
        <p:txBody>
          <a:bodyPr wrap="square" lIns="0" tIns="0" rIns="0" bIns="0" anchor="ctr">
            <a:spAutoFit/>
          </a:bodyPr>
          <a:lstStyle/>
          <a:p>
            <a:pPr algn="l"/>
            <a:r>
              <a:rPr b="1" i="0" dirty="0" err="1">
                <a:solidFill>
                  <a:srgbClr val="FCE500"/>
                </a:solidFill>
                <a:latin typeface="Michelin"/>
              </a:rPr>
              <a:t>Segundos</a:t>
            </a:r>
            <a:endParaRPr sz="2000" b="1" i="0" dirty="0">
              <a:solidFill>
                <a:srgbClr val="FCE500"/>
              </a:solidFill>
              <a:latin typeface="Michelin"/>
            </a:endParaRPr>
          </a:p>
        </p:txBody>
      </p:sp>
      <p:sp>
        <p:nvSpPr>
          <p:cNvPr id="17" name="TextBox 16"/>
          <p:cNvSpPr txBox="1"/>
          <p:nvPr/>
        </p:nvSpPr>
        <p:spPr>
          <a:xfrm>
            <a:off x="7066483" y="2423160"/>
            <a:ext cx="1440281" cy="548640"/>
          </a:xfrm>
          <a:prstGeom prst="rect">
            <a:avLst/>
          </a:prstGeom>
          <a:noFill/>
        </p:spPr>
        <p:txBody>
          <a:bodyPr wrap="square" lIns="0" tIns="0" rIns="0" bIns="0" anchor="ctr">
            <a:spAutoFit/>
          </a:bodyPr>
          <a:lstStyle/>
          <a:p>
            <a:pPr algn="l"/>
            <a:r>
              <a:rPr sz="1100" b="0" i="0" dirty="0">
                <a:solidFill>
                  <a:srgbClr val="FFFFFF"/>
                </a:solidFill>
                <a:latin typeface="Arial"/>
              </a:rPr>
              <a:t>para </a:t>
            </a:r>
            <a:r>
              <a:rPr sz="1100" b="0" i="0" dirty="0" err="1">
                <a:solidFill>
                  <a:srgbClr val="FFFFFF"/>
                </a:solidFill>
                <a:latin typeface="Arial"/>
              </a:rPr>
              <a:t>detectar</a:t>
            </a:r>
            <a:r>
              <a:rPr sz="1100" b="0" i="0" dirty="0">
                <a:solidFill>
                  <a:srgbClr val="FFFFFF"/>
                </a:solidFill>
                <a:latin typeface="Arial"/>
              </a:rPr>
              <a:t> </a:t>
            </a:r>
            <a:r>
              <a:rPr sz="1100" b="0" i="0" dirty="0" err="1">
                <a:solidFill>
                  <a:srgbClr val="FFFFFF"/>
                </a:solidFill>
                <a:latin typeface="Arial"/>
              </a:rPr>
              <a:t>una</a:t>
            </a:r>
            <a:r>
              <a:rPr sz="1100" b="0" i="0" dirty="0">
                <a:solidFill>
                  <a:srgbClr val="FFFFFF"/>
                </a:solidFill>
                <a:latin typeface="Arial"/>
              </a:rPr>
              <a:t> </a:t>
            </a:r>
            <a:r>
              <a:rPr sz="1100" b="0" i="0" dirty="0" err="1">
                <a:solidFill>
                  <a:srgbClr val="FFFFFF"/>
                </a:solidFill>
                <a:latin typeface="Arial"/>
              </a:rPr>
              <a:t>deriva</a:t>
            </a:r>
            <a:endParaRPr sz="1100" b="0" i="0" dirty="0">
              <a:solidFill>
                <a:srgbClr val="FFFFFF"/>
              </a:solidFill>
              <a:latin typeface="Arial"/>
            </a:endParaRPr>
          </a:p>
        </p:txBody>
      </p:sp>
      <p:sp>
        <p:nvSpPr>
          <p:cNvPr id="18" name="TextBox 17"/>
          <p:cNvSpPr txBox="1"/>
          <p:nvPr/>
        </p:nvSpPr>
        <p:spPr>
          <a:xfrm>
            <a:off x="5221122" y="3427659"/>
            <a:ext cx="1800351" cy="276999"/>
          </a:xfrm>
          <a:prstGeom prst="rect">
            <a:avLst/>
          </a:prstGeom>
          <a:noFill/>
        </p:spPr>
        <p:txBody>
          <a:bodyPr wrap="square" lIns="0" tIns="0" rIns="0" bIns="0" anchor="ctr">
            <a:spAutoFit/>
          </a:bodyPr>
          <a:lstStyle/>
          <a:p>
            <a:pPr algn="l"/>
            <a:r>
              <a:rPr b="1" i="0" dirty="0">
                <a:solidFill>
                  <a:srgbClr val="FCE500"/>
                </a:solidFill>
                <a:latin typeface="Michelin"/>
              </a:rPr>
              <a:t>Antes</a:t>
            </a:r>
            <a:endParaRPr sz="2000" b="1" i="0" dirty="0">
              <a:solidFill>
                <a:srgbClr val="FCE500"/>
              </a:solidFill>
              <a:latin typeface="Michelin"/>
            </a:endParaRPr>
          </a:p>
        </p:txBody>
      </p:sp>
      <p:sp>
        <p:nvSpPr>
          <p:cNvPr id="19" name="TextBox 18"/>
          <p:cNvSpPr txBox="1"/>
          <p:nvPr/>
        </p:nvSpPr>
        <p:spPr>
          <a:xfrm>
            <a:off x="7066483" y="3291839"/>
            <a:ext cx="1440281" cy="548640"/>
          </a:xfrm>
          <a:prstGeom prst="rect">
            <a:avLst/>
          </a:prstGeom>
          <a:noFill/>
        </p:spPr>
        <p:txBody>
          <a:bodyPr wrap="square" lIns="0" tIns="0" rIns="0" bIns="0" anchor="ctr">
            <a:spAutoFit/>
          </a:bodyPr>
          <a:lstStyle/>
          <a:p>
            <a:pPr algn="l"/>
            <a:r>
              <a:rPr sz="1100" b="0" i="0">
                <a:solidFill>
                  <a:srgbClr val="FFFFFF"/>
                </a:solidFill>
                <a:latin typeface="Arial"/>
              </a:rPr>
              <a:t>se corrige antes de que exista el defecto</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Nuestro sistema en un solo ciclo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Cuatro pasos que giran alrededor del IQF, nuestro indicador de calidad</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47672" y="2176272"/>
            <a:ext cx="1133856"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57400" y="1133856"/>
            <a:ext cx="914400" cy="365760"/>
          </a:xfrm>
          <a:prstGeom prst="rect">
            <a:avLst/>
          </a:prstGeom>
          <a:noFill/>
        </p:spPr>
        <p:txBody>
          <a:bodyPr wrap="square" lIns="0" tIns="0" r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tIns="0" rIns="0" bIns="0" anchor="t">
            <a:spAutoFit/>
          </a:bodyPr>
          <a:lstStyle/>
          <a:p>
            <a:pPr algn="ctr"/>
            <a:r>
              <a:rPr sz="850" b="1" i="0">
                <a:solidFill>
                  <a:srgbClr val="00205B"/>
                </a:solidFill>
                <a:latin typeface="Michelin"/>
              </a:rPr>
              <a:t>VER</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55848"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ENTENDER</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057400" y="3730752"/>
            <a:ext cx="914400" cy="365760"/>
          </a:xfrm>
          <a:prstGeom prst="rect">
            <a:avLst/>
          </a:prstGeom>
          <a:noFill/>
        </p:spPr>
        <p:txBody>
          <a:bodyPr wrap="square" lIns="0" tIns="0" r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tIns="0" rIns="0" bIns="0" anchor="t">
            <a:spAutoFit/>
          </a:bodyPr>
          <a:lstStyle/>
          <a:p>
            <a:pPr algn="ctr"/>
            <a:r>
              <a:rPr sz="850" b="1" i="0">
                <a:solidFill>
                  <a:srgbClr val="00205B"/>
                </a:solidFill>
                <a:latin typeface="Michelin"/>
              </a:rPr>
              <a:t>DECIDIR</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8952"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ANTICIPAR</a:t>
            </a:r>
          </a:p>
        </p:txBody>
      </p:sp>
      <p:sp>
        <p:nvSpPr>
          <p:cNvPr id="20" name="TextBox 19"/>
          <p:cNvSpPr txBox="1"/>
          <p:nvPr/>
        </p:nvSpPr>
        <p:spPr>
          <a:xfrm>
            <a:off x="4572000" y="1005840"/>
            <a:ext cx="411480" cy="365760"/>
          </a:xfrm>
          <a:prstGeom prst="rect">
            <a:avLst/>
          </a:prstGeom>
          <a:noFill/>
        </p:spPr>
        <p:txBody>
          <a:bodyPr wrap="square" lIns="0" tIns="0" r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461665"/>
          </a:xfrm>
          <a:prstGeom prst="rect">
            <a:avLst/>
          </a:prstGeom>
          <a:noFill/>
        </p:spPr>
        <p:txBody>
          <a:bodyPr wrap="square" lIns="0" tIns="0" rIns="0" bIns="0" anchor="t">
            <a:spAutoFit/>
          </a:bodyPr>
          <a:lstStyle/>
          <a:p>
            <a:pPr algn="l"/>
            <a:r>
              <a:rPr sz="1100" b="1" i="0" dirty="0">
                <a:solidFill>
                  <a:srgbClr val="FFFFFF"/>
                </a:solidFill>
                <a:latin typeface="Michelin"/>
              </a:rPr>
              <a:t>VER  </a:t>
            </a:r>
            <a:r>
              <a:rPr sz="1000" b="1" i="0" dirty="0" err="1">
                <a:solidFill>
                  <a:srgbClr val="FCE500"/>
                </a:solidFill>
                <a:latin typeface="Arial"/>
              </a:rPr>
              <a:t>Perfilómetros</a:t>
            </a:r>
            <a:r>
              <a:rPr sz="1000" b="1" i="0" dirty="0">
                <a:solidFill>
                  <a:srgbClr val="FCE500"/>
                </a:solidFill>
                <a:latin typeface="Arial"/>
              </a:rPr>
              <a:t> </a:t>
            </a:r>
            <a:r>
              <a:rPr sz="1000" b="1" i="0" dirty="0" err="1">
                <a:solidFill>
                  <a:srgbClr val="FCE500"/>
                </a:solidFill>
                <a:latin typeface="Arial"/>
              </a:rPr>
              <a:t>láser</a:t>
            </a:r>
            <a:r>
              <a:rPr sz="1000" b="1" i="0" dirty="0">
                <a:solidFill>
                  <a:srgbClr val="FCE500"/>
                </a:solidFill>
                <a:latin typeface="Arial"/>
              </a:rPr>
              <a:t> 3D</a:t>
            </a:r>
          </a:p>
          <a:p>
            <a:pPr algn="l"/>
            <a:r>
              <a:rPr sz="950" b="0" i="0" dirty="0">
                <a:solidFill>
                  <a:srgbClr val="D6E0F0"/>
                </a:solidFill>
                <a:latin typeface="Arial"/>
              </a:rPr>
              <a:t>Cada </a:t>
            </a:r>
            <a:r>
              <a:rPr lang="es-ES" sz="950" b="0" i="0" dirty="0">
                <a:solidFill>
                  <a:srgbClr val="D6E0F0"/>
                </a:solidFill>
                <a:latin typeface="Arial"/>
              </a:rPr>
              <a:t>producto</a:t>
            </a:r>
            <a:r>
              <a:rPr sz="950" b="0" i="0" dirty="0">
                <a:solidFill>
                  <a:srgbClr val="D6E0F0"/>
                </a:solidFill>
                <a:latin typeface="Arial"/>
              </a:rPr>
              <a:t>, </a:t>
            </a:r>
            <a:r>
              <a:rPr sz="950" b="0" i="0" dirty="0" err="1">
                <a:solidFill>
                  <a:srgbClr val="D6E0F0"/>
                </a:solidFill>
                <a:latin typeface="Arial"/>
              </a:rPr>
              <a:t>medido</a:t>
            </a:r>
            <a:r>
              <a:rPr sz="950" b="0" i="0" dirty="0">
                <a:solidFill>
                  <a:srgbClr val="D6E0F0"/>
                </a:solidFill>
                <a:latin typeface="Arial"/>
              </a:rPr>
              <a:t> </a:t>
            </a:r>
            <a:r>
              <a:rPr sz="950" b="0" i="0" dirty="0" err="1">
                <a:solidFill>
                  <a:srgbClr val="D6E0F0"/>
                </a:solidFill>
                <a:latin typeface="Arial"/>
              </a:rPr>
              <a:t>en</a:t>
            </a:r>
            <a:r>
              <a:rPr sz="950" b="0" i="0" dirty="0">
                <a:solidFill>
                  <a:srgbClr val="D6E0F0"/>
                </a:solidFill>
                <a:latin typeface="Arial"/>
              </a:rPr>
              <a:t> 3D </a:t>
            </a:r>
            <a:r>
              <a:rPr sz="950" b="0" i="0" dirty="0" err="1">
                <a:solidFill>
                  <a:srgbClr val="D6E0F0"/>
                </a:solidFill>
                <a:latin typeface="Arial"/>
              </a:rPr>
              <a:t>en</a:t>
            </a:r>
            <a:r>
              <a:rPr sz="950" b="0" i="0" dirty="0">
                <a:solidFill>
                  <a:srgbClr val="D6E0F0"/>
                </a:solidFill>
                <a:latin typeface="Arial"/>
              </a:rPr>
              <a:t> </a:t>
            </a:r>
            <a:r>
              <a:rPr sz="950" b="0" i="0" dirty="0" err="1">
                <a:solidFill>
                  <a:srgbClr val="D6E0F0"/>
                </a:solidFill>
                <a:latin typeface="Arial"/>
              </a:rPr>
              <a:t>cada</a:t>
            </a:r>
            <a:r>
              <a:rPr sz="950" b="0" i="0" dirty="0">
                <a:solidFill>
                  <a:srgbClr val="D6E0F0"/>
                </a:solidFill>
                <a:latin typeface="Arial"/>
              </a:rPr>
              <a:t> </a:t>
            </a:r>
            <a:r>
              <a:rPr sz="950" b="0" i="0" dirty="0" err="1">
                <a:solidFill>
                  <a:srgbClr val="D6E0F0"/>
                </a:solidFill>
                <a:latin typeface="Arial"/>
              </a:rPr>
              <a:t>neumático</a:t>
            </a:r>
            <a:r>
              <a:rPr sz="950" b="0" i="0" dirty="0">
                <a:solidFill>
                  <a:srgbClr val="D6E0F0"/>
                </a:solidFill>
                <a:latin typeface="Arial"/>
              </a:rPr>
              <a:t>.</a:t>
            </a:r>
          </a:p>
        </p:txBody>
      </p:sp>
      <p:sp>
        <p:nvSpPr>
          <p:cNvPr id="22" name="TextBox 21"/>
          <p:cNvSpPr txBox="1"/>
          <p:nvPr/>
        </p:nvSpPr>
        <p:spPr>
          <a:xfrm>
            <a:off x="4572000" y="1719072"/>
            <a:ext cx="411480" cy="365760"/>
          </a:xfrm>
          <a:prstGeom prst="rect">
            <a:avLst/>
          </a:prstGeom>
          <a:noFill/>
        </p:spPr>
        <p:txBody>
          <a:bodyPr wrap="square" lIns="0" tIns="0" r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tIns="0" rIns="0" bIns="0" anchor="t">
            <a:spAutoFit/>
          </a:bodyPr>
          <a:lstStyle/>
          <a:p>
            <a:pPr algn="l"/>
            <a:r>
              <a:rPr sz="1100" b="1" i="0">
                <a:solidFill>
                  <a:srgbClr val="FFFFFF"/>
                </a:solidFill>
                <a:latin typeface="Michelin"/>
              </a:rPr>
              <a:t>ENTENDER  </a:t>
            </a:r>
            <a:r>
              <a:rPr sz="1000" b="1" i="0">
                <a:solidFill>
                  <a:srgbClr val="FCE500"/>
                </a:solidFill>
                <a:latin typeface="Arial"/>
              </a:rPr>
              <a:t>PI System · PI Vision</a:t>
            </a:r>
          </a:p>
          <a:p>
            <a:pPr algn="l"/>
            <a:r>
              <a:rPr sz="950" b="0" i="0">
                <a:solidFill>
                  <a:srgbClr val="D6E0F0"/>
                </a:solidFill>
                <a:latin typeface="Arial"/>
              </a:rPr>
              <a:t>Datos e imágenes en tiempo real, con tendencias y alertas.</a:t>
            </a:r>
          </a:p>
        </p:txBody>
      </p:sp>
      <p:sp>
        <p:nvSpPr>
          <p:cNvPr id="24" name="TextBox 23"/>
          <p:cNvSpPr txBox="1"/>
          <p:nvPr/>
        </p:nvSpPr>
        <p:spPr>
          <a:xfrm>
            <a:off x="4572000" y="2432304"/>
            <a:ext cx="411480" cy="365760"/>
          </a:xfrm>
          <a:prstGeom prst="rect">
            <a:avLst/>
          </a:prstGeom>
          <a:noFill/>
        </p:spPr>
        <p:txBody>
          <a:bodyPr wrap="square" lIns="0" tIns="0" r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tIns="0" rIns="0" bIns="0" anchor="t">
            <a:spAutoFit/>
          </a:bodyPr>
          <a:lstStyle/>
          <a:p>
            <a:pPr algn="l"/>
            <a:r>
              <a:rPr sz="1100" b="1" i="0">
                <a:solidFill>
                  <a:srgbClr val="FFFFFF"/>
                </a:solidFill>
                <a:latin typeface="Michelin"/>
              </a:rPr>
              <a:t>DECIDIR  </a:t>
            </a:r>
            <a:r>
              <a:rPr sz="1000" b="1" i="0">
                <a:solidFill>
                  <a:srgbClr val="FCE500"/>
                </a:solidFill>
                <a:latin typeface="Arial"/>
              </a:rPr>
              <a:t>R4P</a:t>
            </a:r>
          </a:p>
          <a:p>
            <a:pPr algn="l"/>
            <a:r>
              <a:rPr sz="950" b="0" i="0">
                <a:solidFill>
                  <a:srgbClr val="D6E0F0"/>
                </a:solidFill>
                <a:latin typeface="Arial"/>
              </a:rPr>
              <a:t>Motor de reglas que corrige el proceso automáticamente.</a:t>
            </a:r>
          </a:p>
        </p:txBody>
      </p:sp>
      <p:sp>
        <p:nvSpPr>
          <p:cNvPr id="26" name="TextBox 25"/>
          <p:cNvSpPr txBox="1"/>
          <p:nvPr/>
        </p:nvSpPr>
        <p:spPr>
          <a:xfrm>
            <a:off x="4572000" y="3145536"/>
            <a:ext cx="411480" cy="365760"/>
          </a:xfrm>
          <a:prstGeom prst="rect">
            <a:avLst/>
          </a:prstGeom>
          <a:noFill/>
        </p:spPr>
        <p:txBody>
          <a:bodyPr wrap="square" lIns="0" tIns="0" r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tIns="0" rIns="0" bIns="0" anchor="t">
            <a:spAutoFit/>
          </a:bodyPr>
          <a:lstStyle/>
          <a:p>
            <a:pPr algn="l"/>
            <a:r>
              <a:rPr sz="1100" b="1" i="0">
                <a:solidFill>
                  <a:srgbClr val="FFFFFF"/>
                </a:solidFill>
                <a:latin typeface="Michelin"/>
              </a:rPr>
              <a:t>ANTICIPAR  </a:t>
            </a:r>
            <a:r>
              <a:rPr sz="1000" b="1" i="0">
                <a:solidFill>
                  <a:srgbClr val="FCE500"/>
                </a:solidFill>
                <a:latin typeface="Arial"/>
              </a:rPr>
              <a:t>Dataiku · IA</a:t>
            </a:r>
          </a:p>
          <a:p>
            <a:pPr algn="l"/>
            <a:r>
              <a:rPr sz="950" b="0" i="0">
                <a:solidFill>
                  <a:srgbClr val="D6E0F0"/>
                </a:solidFill>
                <a:latin typeface="Arial"/>
              </a:rPr>
              <a:t>Analítica avanzada para encontrar patrones y adelantarse.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dirty="0">
                <a:solidFill>
                  <a:srgbClr val="FCE500"/>
                </a:solidFill>
              </a:rPr>
              <a:t>01</a:t>
            </a:r>
            <a:br>
              <a:rPr lang="es-ES" sz="3200" dirty="0">
                <a:solidFill>
                  <a:srgbClr val="FCE500"/>
                </a:solidFill>
              </a:rPr>
            </a:br>
            <a:endParaRPr sz="3200" dirty="0">
              <a:solidFill>
                <a:srgbClr val="FCE500"/>
              </a:solidFill>
            </a:endParaRPr>
          </a:p>
          <a:p>
            <a:r>
              <a:rPr dirty="0"/>
              <a:t>Ver</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dirty="0">
                <a:solidFill>
                  <a:srgbClr val="FFFFFF"/>
                </a:solidFill>
                <a:latin typeface="Arial"/>
              </a:rPr>
              <a:t>Cada </a:t>
            </a:r>
            <a:r>
              <a:rPr sz="1200" b="0" i="0" dirty="0" err="1">
                <a:solidFill>
                  <a:srgbClr val="FFFFFF"/>
                </a:solidFill>
                <a:latin typeface="Arial"/>
              </a:rPr>
              <a:t>neumático</a:t>
            </a:r>
            <a:r>
              <a:rPr sz="1200" b="0" i="0" dirty="0">
                <a:solidFill>
                  <a:srgbClr val="FFFFFF"/>
                </a:solidFill>
                <a:latin typeface="Arial"/>
              </a:rPr>
              <a:t>, </a:t>
            </a:r>
            <a:r>
              <a:rPr sz="1200" b="0" i="0" dirty="0" err="1">
                <a:solidFill>
                  <a:srgbClr val="FFFFFF"/>
                </a:solidFill>
                <a:latin typeface="Arial"/>
              </a:rPr>
              <a:t>convertido</a:t>
            </a:r>
            <a:r>
              <a:rPr sz="1200" b="0" i="0" dirty="0">
                <a:solidFill>
                  <a:srgbClr val="FFFFFF"/>
                </a:solidFill>
                <a:latin typeface="Arial"/>
              </a:rPr>
              <a:t> </a:t>
            </a:r>
            <a:r>
              <a:rPr sz="1200" b="0" i="0" dirty="0" err="1">
                <a:solidFill>
                  <a:srgbClr val="FFFFFF"/>
                </a:solidFill>
                <a:latin typeface="Arial"/>
              </a:rPr>
              <a:t>en</a:t>
            </a:r>
            <a:r>
              <a:rPr sz="1200" b="0" i="0" dirty="0">
                <a:solidFill>
                  <a:srgbClr val="FFFFFF"/>
                </a:solidFill>
                <a:latin typeface="Arial"/>
              </a:rPr>
              <a:t> </a:t>
            </a:r>
            <a:r>
              <a:rPr sz="1200" b="0" i="0" dirty="0" err="1">
                <a:solidFill>
                  <a:srgbClr val="FFFFFF"/>
                </a:solidFill>
                <a:latin typeface="Arial"/>
              </a:rPr>
              <a:t>datos</a:t>
            </a:r>
            <a:endParaRPr sz="1200" b="0" i="0" dirty="0">
              <a:solidFill>
                <a:srgbClr val="FFFFFF"/>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Medimos</a:t>
            </a:r>
            <a:r>
              <a:rPr dirty="0"/>
              <a:t> </a:t>
            </a:r>
            <a:r>
              <a:rPr dirty="0" err="1"/>
              <a:t>cada</a:t>
            </a:r>
            <a:r>
              <a:rPr dirty="0"/>
              <a:t> product</a:t>
            </a:r>
            <a:r>
              <a:rPr lang="es-ES" dirty="0"/>
              <a:t>o</a:t>
            </a:r>
            <a:r>
              <a:rPr dirty="0"/>
              <a:t>.</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Perfilómetros láser 3D en cada puesto de la máquina</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tIns="0" rIns="0" bIns="0" anchor="t">
            <a:spAutoFit/>
          </a:bodyPr>
          <a:lstStyle/>
          <a:p>
            <a:pPr algn="l"/>
            <a:r>
              <a:rPr sz="800" b="0" i="0">
                <a:solidFill>
                  <a:srgbClr val="6E6E6E"/>
                </a:solidFill>
                <a:latin typeface="Arial"/>
              </a:rPr>
              <a:t>Escaneo 3D en la MAC: cada color es una altura</a:t>
            </a:r>
          </a:p>
        </p:txBody>
      </p:sp>
      <p:sp>
        <p:nvSpPr>
          <p:cNvPr id="15" name="TextBox 14"/>
          <p:cNvSpPr txBox="1"/>
          <p:nvPr/>
        </p:nvSpPr>
        <p:spPr>
          <a:xfrm>
            <a:off x="5851245" y="960120"/>
            <a:ext cx="2790545" cy="594360"/>
          </a:xfrm>
          <a:prstGeom prst="rect">
            <a:avLst/>
          </a:prstGeom>
          <a:noFill/>
        </p:spPr>
        <p:txBody>
          <a:bodyPr wrap="square" lIns="0" tIns="0" r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176972"/>
          </a:xfrm>
          <a:prstGeom prst="rect">
            <a:avLst/>
          </a:prstGeom>
          <a:noFill/>
        </p:spPr>
        <p:txBody>
          <a:bodyPr wrap="square" lIns="0" tIns="0" rIns="0" bIns="0" anchor="t">
            <a:spAutoFit/>
          </a:bodyPr>
          <a:lstStyle/>
          <a:p>
            <a:pPr algn="l"/>
            <a:r>
              <a:rPr sz="1150" b="0" i="0" dirty="0">
                <a:solidFill>
                  <a:srgbClr val="262626"/>
                </a:solidFill>
                <a:latin typeface="Arial"/>
              </a:rPr>
              <a:t>de </a:t>
            </a:r>
            <a:r>
              <a:rPr sz="1150" b="0" i="0" dirty="0" err="1">
                <a:solidFill>
                  <a:srgbClr val="262626"/>
                </a:solidFill>
                <a:latin typeface="Arial"/>
              </a:rPr>
              <a:t>los</a:t>
            </a:r>
            <a:r>
              <a:rPr sz="1150" b="0" i="0" dirty="0">
                <a:solidFill>
                  <a:srgbClr val="262626"/>
                </a:solidFill>
                <a:latin typeface="Arial"/>
              </a:rPr>
              <a:t> </a:t>
            </a:r>
            <a:r>
              <a:rPr lang="es-ES" sz="1150" b="0" i="0" dirty="0">
                <a:solidFill>
                  <a:srgbClr val="262626"/>
                </a:solidFill>
                <a:latin typeface="Arial"/>
              </a:rPr>
              <a:t>productos</a:t>
            </a:r>
            <a:r>
              <a:rPr sz="1150" b="0" i="0" dirty="0">
                <a:solidFill>
                  <a:srgbClr val="262626"/>
                </a:solidFill>
                <a:latin typeface="Arial"/>
              </a:rPr>
              <a:t>s </a:t>
            </a:r>
            <a:r>
              <a:rPr sz="1150" b="0" i="0" dirty="0" err="1">
                <a:solidFill>
                  <a:srgbClr val="262626"/>
                </a:solidFill>
                <a:latin typeface="Arial"/>
              </a:rPr>
              <a:t>medidos</a:t>
            </a:r>
            <a:endParaRPr sz="1150" b="0" i="0" dirty="0">
              <a:solidFill>
                <a:srgbClr val="262626"/>
              </a:solidFill>
              <a:latin typeface="Arial"/>
            </a:endParaRPr>
          </a:p>
        </p:txBody>
      </p:sp>
      <p:sp>
        <p:nvSpPr>
          <p:cNvPr id="17" name="TextBox 16"/>
          <p:cNvSpPr txBox="1"/>
          <p:nvPr/>
        </p:nvSpPr>
        <p:spPr>
          <a:xfrm>
            <a:off x="5851245" y="2148840"/>
            <a:ext cx="2790545" cy="594360"/>
          </a:xfrm>
          <a:prstGeom prst="rect">
            <a:avLst/>
          </a:prstGeom>
          <a:noFill/>
        </p:spPr>
        <p:txBody>
          <a:bodyPr wrap="square" lIns="0" tIns="0" r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tIns="0" rIns="0" bIns="0" anchor="t">
            <a:spAutoFit/>
          </a:bodyPr>
          <a:lstStyle/>
          <a:p>
            <a:pPr algn="l"/>
            <a:r>
              <a:rPr sz="1150" b="0" i="0">
                <a:solidFill>
                  <a:srgbClr val="262626"/>
                </a:solidFill>
                <a:latin typeface="Arial"/>
              </a:rPr>
              <a:t>perfil completo de cada componente</a:t>
            </a:r>
          </a:p>
        </p:txBody>
      </p:sp>
      <p:sp>
        <p:nvSpPr>
          <p:cNvPr id="19" name="TextBox 18"/>
          <p:cNvSpPr txBox="1"/>
          <p:nvPr/>
        </p:nvSpPr>
        <p:spPr>
          <a:xfrm>
            <a:off x="5851245" y="3337560"/>
            <a:ext cx="2790545" cy="594360"/>
          </a:xfrm>
          <a:prstGeom prst="rect">
            <a:avLst/>
          </a:prstGeom>
          <a:noFill/>
        </p:spPr>
        <p:txBody>
          <a:bodyPr wrap="square" lIns="0" tIns="0" rIns="0" bIns="0" anchor="t">
            <a:spAutoFit/>
          </a:bodyPr>
          <a:lstStyle/>
          <a:p>
            <a:pPr algn="l"/>
            <a:r>
              <a:rPr sz="3200" b="1" i="0" dirty="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tIns="0" rIns="0" bIns="0" anchor="t">
            <a:spAutoFit/>
          </a:bodyPr>
          <a:lstStyle/>
          <a:p>
            <a:pPr algn="l"/>
            <a:r>
              <a:rPr sz="1150" b="0" i="0">
                <a:solidFill>
                  <a:srgbClr val="262626"/>
                </a:solidFill>
                <a:latin typeface="Arial"/>
              </a:rPr>
              <a:t>sensores láser en 8 puestos de la MAC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Así medimos una soldadura NST en BNS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Del mapa 3D a la cifra que define la calidad de la unión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19802" y="15224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68547" y="2239365"/>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08237" y="344728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1245" y="93268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tIns="0" rIns="0" bIns="0" anchor="t">
            <a:spAutoFit/>
          </a:bodyPr>
          <a:lstStyle/>
          <a:p>
            <a:pPr algn="l"/>
            <a:r>
              <a:rPr sz="1100" b="1" i="0">
                <a:solidFill>
                  <a:srgbClr val="00205B"/>
                </a:solidFill>
                <a:latin typeface="Arial"/>
              </a:rPr>
              <a:t>Mapa 3D</a:t>
            </a:r>
          </a:p>
          <a:p>
            <a:pPr algn="l"/>
            <a:r>
              <a:rPr sz="950" b="0" i="0">
                <a:solidFill>
                  <a:srgbClr val="262626"/>
                </a:solidFill>
                <a:latin typeface="Arial"/>
              </a:rPr>
              <a:t>de la unión de la banda NST</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1245" y="1554480"/>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tIns="0" rIns="0" bIns="0" anchor="t">
            <a:spAutoFit/>
          </a:bodyPr>
          <a:lstStyle/>
          <a:p>
            <a:pPr algn="l"/>
            <a:r>
              <a:rPr sz="1100" b="1" i="0">
                <a:solidFill>
                  <a:srgbClr val="00205B"/>
                </a:solidFill>
                <a:latin typeface="Arial"/>
              </a:rPr>
              <a:t>Sección de medida</a:t>
            </a:r>
          </a:p>
          <a:p>
            <a:pPr algn="l"/>
            <a:r>
              <a:rPr sz="950" b="0" i="0">
                <a:solidFill>
                  <a:srgbClr val="262626"/>
                </a:solidFill>
                <a:latin typeface="Arial"/>
              </a:rPr>
              <a:t>trazada sobre la soldadura</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51245" y="2176272"/>
            <a:ext cx="270052"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tIns="0" rIns="0" bIns="0" anchor="t">
            <a:spAutoFit/>
          </a:bodyPr>
          <a:lstStyle/>
          <a:p>
            <a:pPr algn="l"/>
            <a:r>
              <a:rPr sz="1100" b="1" i="0">
                <a:solidFill>
                  <a:srgbClr val="00205B"/>
                </a:solidFill>
                <a:latin typeface="Arial"/>
              </a:rPr>
              <a:t>Perfil</a:t>
            </a:r>
          </a:p>
          <a:p>
            <a:pPr algn="l"/>
            <a:r>
              <a:rPr sz="950" b="0" i="0">
                <a:solidFill>
                  <a:srgbClr val="262626"/>
                </a:solidFill>
                <a:latin typeface="Arial"/>
              </a:rPr>
              <a:t>cuantifica la unión</a:t>
            </a:r>
          </a:p>
        </p:txBody>
      </p:sp>
      <p:sp>
        <p:nvSpPr>
          <p:cNvPr id="31" name="TextBox 30"/>
          <p:cNvSpPr txBox="1"/>
          <p:nvPr/>
        </p:nvSpPr>
        <p:spPr>
          <a:xfrm>
            <a:off x="5851245" y="2880360"/>
            <a:ext cx="2835554" cy="274320"/>
          </a:xfrm>
          <a:prstGeom prst="rect">
            <a:avLst/>
          </a:prstGeom>
          <a:noFill/>
        </p:spPr>
        <p:txBody>
          <a:bodyPr wrap="square" lIns="0" tIns="0" rIns="0" bIns="0" anchor="t">
            <a:spAutoFit/>
          </a:bodyPr>
          <a:lstStyle/>
          <a:p>
            <a:pPr algn="l"/>
            <a:r>
              <a:rPr sz="1000" b="1" i="0" cap="all">
                <a:solidFill>
                  <a:srgbClr val="27509B"/>
                </a:solidFill>
                <a:latin typeface="Michelin"/>
              </a:rPr>
              <a:t>Variables seguidas en continuo</a:t>
            </a:r>
          </a:p>
        </p:txBody>
      </p:sp>
      <p:sp>
        <p:nvSpPr>
          <p:cNvPr id="32" name="TextBox 31"/>
          <p:cNvSpPr txBox="1"/>
          <p:nvPr/>
        </p:nvSpPr>
        <p:spPr>
          <a:xfrm>
            <a:off x="5851245" y="3200400"/>
            <a:ext cx="2835554" cy="1280160"/>
          </a:xfrm>
          <a:prstGeom prst="rect">
            <a:avLst/>
          </a:prstGeom>
          <a:noFill/>
        </p:spPr>
        <p:txBody>
          <a:bodyPr wrap="square" lIns="0" tIns="0" rIns="0" bIns="0" anchor="t">
            <a:spAutoFit/>
          </a:bodyPr>
          <a:lstStyle/>
          <a:p>
            <a:pPr marL="182880" indent="-182880" algn="l">
              <a:spcAft>
                <a:spcPts val="300"/>
              </a:spcAft>
              <a:buClr>
                <a:srgbClr val="FCE500"/>
              </a:buClr>
              <a:buSzPct val="100000"/>
              <a:buFont typeface="Wingdings"/>
              <a:buChar char="§"/>
            </a:pPr>
            <a:r>
              <a:rPr sz="1050" b="0" i="0">
                <a:solidFill>
                  <a:srgbClr val="262626"/>
                </a:solidFill>
                <a:latin typeface="Arial"/>
              </a:rPr>
              <a:t>Superposición de la soldadura</a:t>
            </a:r>
          </a:p>
          <a:p>
            <a:pPr marL="182880" indent="-182880" algn="l">
              <a:spcAft>
                <a:spcPts val="300"/>
              </a:spcAft>
              <a:buClr>
                <a:srgbClr val="FCE500"/>
              </a:buClr>
              <a:buSzPct val="100000"/>
              <a:buFont typeface="Wingdings"/>
              <a:buChar char="§"/>
            </a:pPr>
            <a:r>
              <a:rPr sz="1050" b="0" i="0">
                <a:solidFill>
                  <a:srgbClr val="262626"/>
                </a:solidFill>
                <a:latin typeface="Arial"/>
              </a:rPr>
              <a:t>Altura de la soldadura</a:t>
            </a:r>
          </a:p>
          <a:p>
            <a:pPr marL="182880" indent="-182880" algn="l">
              <a:spcAft>
                <a:spcPts val="300"/>
              </a:spcAft>
              <a:buClr>
                <a:srgbClr val="FCE500"/>
              </a:buClr>
              <a:buSzPct val="100000"/>
              <a:buFont typeface="Wingdings"/>
              <a:buChar char="§"/>
            </a:pPr>
            <a:r>
              <a:rPr sz="1050" b="0" i="0">
                <a:solidFill>
                  <a:srgbClr val="262626"/>
                </a:solidFill>
                <a:latin typeface="Arial"/>
              </a:rPr>
              <a:t>Offset de la soldadura</a:t>
            </a:r>
          </a:p>
          <a:p>
            <a:pPr marL="182880" indent="-182880" algn="l">
              <a:spcAft>
                <a:spcPts val="300"/>
              </a:spcAft>
              <a:buClr>
                <a:srgbClr val="FCE500"/>
              </a:buClr>
              <a:buSzPct val="100000"/>
              <a:buFont typeface="Wingdings"/>
              <a:buChar char="§"/>
            </a:pPr>
            <a:r>
              <a:rPr sz="1050" b="0" i="0">
                <a:solidFill>
                  <a:srgbClr val="262626"/>
                </a:solidFill>
                <a:latin typeface="Arial"/>
              </a:rPr>
              <a:t>Calidad de la soldadura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Cada puesto, cada medida, en directo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Pantalla OLM de la MAC4: doce puestos, del P05 al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FCE500"/>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50768" y="160934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69325" y="992124"/>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34839" y="2514600"/>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34635" y="309067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Doce puestos</a:t>
            </a:r>
          </a:p>
          <a:p>
            <a:pPr algn="l"/>
            <a:r>
              <a:rPr sz="950" b="0" i="0">
                <a:solidFill>
                  <a:srgbClr val="D6E0F0"/>
                </a:solidFill>
                <a:latin typeface="Arial"/>
              </a:rPr>
              <a:t>del P05 al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9456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tIns="0" rIns="0" bIns="0" anchor="t">
            <a:spAutoFit/>
          </a:bodyPr>
          <a:lstStyle/>
          <a:p>
            <a:pPr algn="l"/>
            <a:r>
              <a:rPr sz="1100" b="1" i="0" dirty="0">
                <a:solidFill>
                  <a:srgbClr val="FFFFFF"/>
                </a:solidFill>
                <a:latin typeface="Arial"/>
              </a:rPr>
              <a:t>Código de </a:t>
            </a:r>
            <a:r>
              <a:rPr sz="1100" b="1" i="0" dirty="0" err="1">
                <a:solidFill>
                  <a:srgbClr val="FFFFFF"/>
                </a:solidFill>
                <a:latin typeface="Arial"/>
              </a:rPr>
              <a:t>estado</a:t>
            </a:r>
            <a:endParaRPr sz="1100" b="1" i="0" dirty="0">
              <a:solidFill>
                <a:srgbClr val="FFFFFF"/>
              </a:solidFill>
              <a:latin typeface="Arial"/>
            </a:endParaRPr>
          </a:p>
          <a:p>
            <a:pPr algn="l"/>
            <a:r>
              <a:rPr sz="950" b="0" i="0" dirty="0">
                <a:solidFill>
                  <a:srgbClr val="D6E0F0"/>
                </a:solidFill>
                <a:latin typeface="Arial"/>
              </a:rPr>
              <a:t>OK · </a:t>
            </a:r>
            <a:r>
              <a:rPr sz="950" b="0" i="0" dirty="0" err="1">
                <a:solidFill>
                  <a:srgbClr val="D6E0F0"/>
                </a:solidFill>
                <a:latin typeface="Arial"/>
              </a:rPr>
              <a:t>vigilancia</a:t>
            </a:r>
            <a:r>
              <a:rPr sz="950" b="0" i="0" dirty="0">
                <a:solidFill>
                  <a:srgbClr val="D6E0F0"/>
                </a:solidFill>
                <a:latin typeface="Arial"/>
              </a:rPr>
              <a:t> · control</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93192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Soldaduras</a:t>
            </a:r>
          </a:p>
          <a:p>
            <a:pPr algn="l"/>
            <a:r>
              <a:rPr sz="950" b="0" i="0">
                <a:solidFill>
                  <a:srgbClr val="D6E0F0"/>
                </a:solidFill>
                <a:latin typeface="Arial"/>
              </a:rPr>
              <a:t>medidas en cada puesto</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79"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Medida 100 %</a:t>
            </a:r>
          </a:p>
          <a:p>
            <a:pPr algn="l"/>
            <a:r>
              <a:rPr sz="950" b="0" i="0">
                <a:solidFill>
                  <a:srgbClr val="D6E0F0"/>
                </a:solidFill>
                <a:latin typeface="Arial"/>
              </a:rPr>
              <a:t>cada neumático medido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Toda la línea, de un vistazo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Pantalla OLM de la BNS62: NST1, NST2 y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11679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28800" y="1157401"/>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2142" y="14248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41063" y="96862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89473" y="25654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2084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tIns="0" rIns="0" bIns="0" anchor="t">
            <a:spAutoFit/>
          </a:bodyPr>
          <a:lstStyle/>
          <a:p>
            <a:pPr algn="l"/>
            <a:r>
              <a:rPr sz="1100" b="1" i="0">
                <a:solidFill>
                  <a:srgbClr val="FFFFFF"/>
                </a:solidFill>
                <a:latin typeface="Arial"/>
              </a:rPr>
              <a:t>Alerta y colores</a:t>
            </a:r>
          </a:p>
          <a:p>
            <a:pPr algn="l"/>
            <a:r>
              <a:rPr sz="950" b="0" i="0">
                <a:solidFill>
                  <a:srgbClr val="D6E0F0"/>
                </a:solidFill>
                <a:latin typeface="Arial"/>
              </a:rPr>
              <a:t>verde, naranja, rojo</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2084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tIns="0" rIns="0" bIns="0" anchor="t">
            <a:spAutoFit/>
          </a:bodyPr>
          <a:lstStyle/>
          <a:p>
            <a:pPr algn="l"/>
            <a:r>
              <a:rPr sz="1100" b="1" i="0">
                <a:solidFill>
                  <a:srgbClr val="FFFFFF"/>
                </a:solidFill>
                <a:latin typeface="Arial"/>
              </a:rPr>
              <a:t>Cada puesto</a:t>
            </a:r>
          </a:p>
          <a:p>
            <a:pPr algn="l"/>
            <a:r>
              <a:rPr sz="950" b="0" i="0">
                <a:solidFill>
                  <a:srgbClr val="D6E0F0"/>
                </a:solidFill>
                <a:latin typeface="Arial"/>
              </a:rPr>
              <a:t>centrado, anchura, soldadura</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2084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tIns="0" rIns="0" bIns="0" anchor="t">
            <a:spAutoFit/>
          </a:bodyPr>
          <a:lstStyle/>
          <a:p>
            <a:pPr algn="l"/>
            <a:r>
              <a:rPr sz="1100" b="1" i="0">
                <a:solidFill>
                  <a:srgbClr val="FFFFFF"/>
                </a:solidFill>
                <a:latin typeface="Arial"/>
              </a:rPr>
              <a:t>Un clic</a:t>
            </a:r>
          </a:p>
          <a:p>
            <a:pPr algn="l"/>
            <a:r>
              <a:rPr sz="950" b="0" i="0">
                <a:solidFill>
                  <a:srgbClr val="D6E0F0"/>
                </a:solidFill>
                <a:latin typeface="Arial"/>
              </a:rPr>
              <a:t>IQF, imágenes, alertas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72084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tIns="0" rIns="0" bIns="0" anchor="t">
            <a:spAutoFit/>
          </a:bodyPr>
          <a:lstStyle/>
          <a:p>
            <a:pPr algn="l"/>
            <a:r>
              <a:rPr sz="1100" b="1" i="0">
                <a:solidFill>
                  <a:srgbClr val="FFFFFF"/>
                </a:solidFill>
                <a:latin typeface="Arial"/>
              </a:rPr>
              <a:t>Soldadura KM</a:t>
            </a:r>
          </a:p>
          <a:p>
            <a:pPr algn="l"/>
            <a:r>
              <a:rPr sz="950" b="0" i="0">
                <a:solidFill>
                  <a:srgbClr val="D6E0F0"/>
                </a:solidFill>
                <a:latin typeface="Arial"/>
              </a:rPr>
              <a:t>altura, calidad, offset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02</a:t>
            </a:r>
          </a:p>
          <a:p>
            <a:r>
              <a:t>Entender</a:t>
            </a:r>
          </a:p>
        </p:txBody>
      </p:sp>
      <p:sp>
        <p:nvSpPr>
          <p:cNvPr id="3" name="TextBox 2"/>
          <p:cNvSpPr txBox="1"/>
          <p:nvPr/>
        </p:nvSpPr>
        <p:spPr>
          <a:xfrm>
            <a:off x="530352" y="3840480"/>
            <a:ext cx="5486400" cy="184666"/>
          </a:xfrm>
          <a:prstGeom prst="rect">
            <a:avLst/>
          </a:prstGeom>
          <a:noFill/>
        </p:spPr>
        <p:txBody>
          <a:bodyPr wrap="square" lIns="0" tIns="0" rIns="0" bIns="0" anchor="t">
            <a:spAutoFit/>
          </a:bodyPr>
          <a:lstStyle/>
          <a:p>
            <a:pPr algn="l"/>
            <a:r>
              <a:rPr sz="1200" b="0" i="0" dirty="0">
                <a:solidFill>
                  <a:srgbClr val="FFFFFF"/>
                </a:solidFill>
                <a:latin typeface="Arial"/>
              </a:rPr>
              <a:t>Del </a:t>
            </a:r>
            <a:r>
              <a:rPr sz="1200" b="0" i="0" dirty="0" err="1">
                <a:solidFill>
                  <a:srgbClr val="FFFFFF"/>
                </a:solidFill>
                <a:latin typeface="Arial"/>
              </a:rPr>
              <a:t>dato</a:t>
            </a:r>
            <a:r>
              <a:rPr lang="es-ES" sz="1200" b="0" i="0" dirty="0">
                <a:solidFill>
                  <a:srgbClr val="FFFFFF"/>
                </a:solidFill>
                <a:latin typeface="Arial"/>
              </a:rPr>
              <a:t>,</a:t>
            </a:r>
            <a:r>
              <a:rPr sz="1200" b="0" i="0" dirty="0">
                <a:solidFill>
                  <a:srgbClr val="FFFFFF"/>
                </a:solidFill>
                <a:latin typeface="Arial"/>
              </a:rPr>
              <a:t> a la </a:t>
            </a:r>
            <a:r>
              <a:rPr sz="1200" b="0" i="0" dirty="0" err="1">
                <a:solidFill>
                  <a:srgbClr val="FFFFFF"/>
                </a:solidFill>
                <a:latin typeface="Arial"/>
              </a:rPr>
              <a:t>tendencia</a:t>
            </a:r>
            <a:r>
              <a:rPr sz="1200" b="0" i="0" dirty="0">
                <a:solidFill>
                  <a:srgbClr val="FFFFFF"/>
                </a:solidFill>
                <a:latin typeface="Arial"/>
              </a:rPr>
              <a:t>, </a:t>
            </a:r>
            <a:r>
              <a:rPr sz="1200" b="0" i="0" dirty="0" err="1">
                <a:solidFill>
                  <a:srgbClr val="FFFFFF"/>
                </a:solidFill>
                <a:latin typeface="Arial"/>
              </a:rPr>
              <a:t>en</a:t>
            </a:r>
            <a:r>
              <a:rPr sz="1200" b="0" i="0" dirty="0">
                <a:solidFill>
                  <a:srgbClr val="FFFFFF"/>
                </a:solidFill>
                <a:latin typeface="Arial"/>
              </a:rPr>
              <a:t> </a:t>
            </a:r>
            <a:r>
              <a:rPr sz="1200" b="0" i="0" dirty="0" err="1">
                <a:solidFill>
                  <a:srgbClr val="FFFFFF"/>
                </a:solidFill>
                <a:latin typeface="Arial"/>
              </a:rPr>
              <a:t>tiempo</a:t>
            </a:r>
            <a:r>
              <a:rPr sz="1200" b="0" i="0" dirty="0">
                <a:solidFill>
                  <a:srgbClr val="FFFFFF"/>
                </a:solidFill>
                <a:latin typeface="Arial"/>
              </a:rPr>
              <a:t> real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Vemos la deriva antes que el defecto</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Pantalla real de PI Vision · MAC3 · puesto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5392" y="141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79875" y="139769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069640" y="151618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37672" y="102906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Cada neumático</a:t>
            </a:r>
          </a:p>
          <a:p>
            <a:pPr algn="l"/>
            <a:r>
              <a:rPr sz="950" b="0" i="0">
                <a:solidFill>
                  <a:srgbClr val="D6E0F0"/>
                </a:solidFill>
                <a:latin typeface="Arial"/>
              </a:rPr>
              <a:t>su valor individual</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La tendencia</a:t>
            </a:r>
          </a:p>
          <a:p>
            <a:pPr algn="l"/>
            <a:r>
              <a:rPr sz="950" b="0" i="0">
                <a:solidFill>
                  <a:srgbClr val="D6E0F0"/>
                </a:solidFill>
                <a:latin typeface="Arial"/>
              </a:rPr>
              <a:t>mediana de los 20 últimos</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Los límites</a:t>
            </a:r>
          </a:p>
          <a:p>
            <a:pPr algn="l"/>
            <a:r>
              <a:rPr sz="950" b="0" i="0">
                <a:solidFill>
                  <a:srgbClr val="D6E0F0"/>
                </a:solidFill>
                <a:latin typeface="Arial"/>
              </a:rPr>
              <a:t>tolerancias siempre visibles</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El objetivo</a:t>
            </a:r>
          </a:p>
          <a:p>
            <a:pPr algn="l"/>
            <a:r>
              <a:rPr sz="950" b="0" i="0">
                <a:solidFill>
                  <a:srgbClr val="D6E0F0"/>
                </a:solidFill>
                <a:latin typeface="Arial"/>
              </a:rPr>
              <a:t>valor teórico de referencia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Alerta antes de que exista el defecto</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La tendencia cruza el límite y la persona adecuada lo sabe al instante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2652" y="11851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08880" y="1568183"/>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430576" y="349300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tIns="0" rIns="0" bIns="0" anchor="t">
            <a:spAutoFit/>
          </a:bodyPr>
          <a:lstStyle/>
          <a:p>
            <a:pPr algn="l"/>
            <a:r>
              <a:rPr sz="1100" b="1" i="0">
                <a:solidFill>
                  <a:srgbClr val="00205B"/>
                </a:solidFill>
                <a:latin typeface="Arial"/>
              </a:rPr>
              <a:t>Entra en alerta</a:t>
            </a:r>
          </a:p>
          <a:p>
            <a:pPr algn="l"/>
            <a:r>
              <a:rPr sz="950" b="0" i="0">
                <a:solidFill>
                  <a:srgbClr val="262626"/>
                </a:solidFill>
                <a:latin typeface="Arial"/>
              </a:rPr>
              <a:t>la mediana sale de tolerancia</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30576" y="4041647"/>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tIns="0" rIns="0" bIns="0" anchor="t">
            <a:spAutoFit/>
          </a:bodyPr>
          <a:lstStyle/>
          <a:p>
            <a:pPr algn="l"/>
            <a:r>
              <a:rPr sz="1100" b="1" i="0">
                <a:solidFill>
                  <a:srgbClr val="00205B"/>
                </a:solidFill>
                <a:latin typeface="Arial"/>
              </a:rPr>
              <a:t>Sale de alerta</a:t>
            </a:r>
          </a:p>
          <a:p>
            <a:pPr algn="l"/>
            <a:r>
              <a:rPr sz="950" b="0" i="0">
                <a:solidFill>
                  <a:srgbClr val="262626"/>
                </a:solidFill>
                <a:latin typeface="Arial"/>
              </a:rPr>
              <a:t>vuelve al objetivo y queda registrado</a:t>
            </a:r>
          </a:p>
        </p:txBody>
      </p:sp>
      <p:sp>
        <p:nvSpPr>
          <p:cNvPr id="25" name="TextBox 24"/>
          <p:cNvSpPr txBox="1"/>
          <p:nvPr/>
        </p:nvSpPr>
        <p:spPr>
          <a:xfrm>
            <a:off x="5806236" y="3474720"/>
            <a:ext cx="2880563" cy="1097280"/>
          </a:xfrm>
          <a:prstGeom prst="rect">
            <a:avLst/>
          </a:prstGeom>
          <a:noFill/>
        </p:spPr>
        <p:txBody>
          <a:bodyPr wrap="square" lIns="0" tIns="0" rIns="0" bIns="0" anchor="t">
            <a:spAutoFit/>
          </a:bodyPr>
          <a:lstStyle/>
          <a:p>
            <a:pPr algn="l"/>
            <a:r>
              <a:rPr sz="1100" b="1" i="0">
                <a:solidFill>
                  <a:srgbClr val="00205B"/>
                </a:solidFill>
                <a:latin typeface="Arial"/>
              </a:rPr>
              <a:t>Aviso en pantalla y en el móvil</a:t>
            </a:r>
          </a:p>
          <a:p>
            <a:pPr algn="l"/>
            <a:r>
              <a:rPr sz="1100" b="0" i="0">
                <a:solidFill>
                  <a:srgbClr val="262626"/>
                </a:solidFill>
                <a:latin typeface="Arial"/>
              </a:rPr>
              <a:t>Al responsable de proceso (CARE) o de mantenimiento (TECH).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Cada imagen y cada alerta, guardadas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PI System conserva la historia completa de cada neumático</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Imagen de cada producto</a:t>
            </a:r>
          </a:p>
          <a:p>
            <a:pPr algn="l"/>
            <a:r>
              <a:rPr sz="950" b="0" i="0">
                <a:solidFill>
                  <a:srgbClr val="262626"/>
                </a:solidFill>
                <a:latin typeface="Arial"/>
              </a:rPr>
              <a:t>recuperable por puesto, fecha y hora</a:t>
            </a:r>
          </a:p>
        </p:txBody>
      </p:sp>
      <p:sp>
        <p:nvSpPr>
          <p:cNvPr id="16" name="TextBox 15"/>
          <p:cNvSpPr txBox="1"/>
          <p:nvPr/>
        </p:nvSpPr>
        <p:spPr>
          <a:xfrm>
            <a:off x="504108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Histórico de alertas</a:t>
            </a:r>
          </a:p>
          <a:p>
            <a:pPr algn="l"/>
            <a:r>
              <a:rPr sz="950" b="0" i="0">
                <a:solidFill>
                  <a:srgbClr val="262626"/>
                </a:solidFill>
                <a:latin typeface="Arial"/>
              </a:rPr>
              <a:t>puesto, tipo, inicio, fin y duración</a:t>
            </a:r>
          </a:p>
        </p:txBody>
      </p:sp>
      <p:sp>
        <p:nvSpPr>
          <p:cNvPr id="17" name="TextBox 16"/>
          <p:cNvSpPr txBox="1"/>
          <p:nvPr/>
        </p:nvSpPr>
        <p:spPr>
          <a:xfrm>
            <a:off x="6931456"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Base para la IA</a:t>
            </a:r>
          </a:p>
          <a:p>
            <a:pPr algn="l"/>
            <a:r>
              <a:rPr sz="950" b="0" i="0">
                <a:solidFill>
                  <a:srgbClr val="262626"/>
                </a:solidFill>
                <a:latin typeface="Arial"/>
              </a:rPr>
              <a:t>miles de imágenes reales para aprender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03</a:t>
            </a:r>
          </a:p>
          <a:p>
            <a:r>
              <a:t>Decidir: R4P</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El motor que convierte cada medida en una acción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R4P: el experto en cada neumático</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Motor de reglas en tiempo real conectado a la medida OLM</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tIns="0" rIns="0" bIns="0" anchor="t">
            <a:spAutoFit/>
          </a:bodyPr>
          <a:lstStyle/>
          <a:p>
            <a:pPr algn="l">
              <a:spcAft>
                <a:spcPts val="800"/>
              </a:spcAft>
            </a:pPr>
            <a:r>
              <a:rPr sz="2200" b="1" i="0">
                <a:solidFill>
                  <a:srgbClr val="27509B"/>
                </a:solidFill>
                <a:latin typeface="Michelin"/>
              </a:rPr>
              <a:t>Mide, </a:t>
            </a:r>
            <a:r>
              <a:rPr sz="2200" b="1" i="0">
                <a:solidFill>
                  <a:srgbClr val="00205B"/>
                </a:solidFill>
                <a:latin typeface="Michelin"/>
              </a:rPr>
              <a:t>decide </a:t>
            </a:r>
            <a:r>
              <a:rPr sz="2200" b="1" i="0">
                <a:solidFill>
                  <a:srgbClr val="27509B"/>
                </a:solidFill>
                <a:latin typeface="Michelin"/>
              </a:rPr>
              <a:t>y actúa</a:t>
            </a:r>
          </a:p>
          <a:p>
            <a:pPr algn="l">
              <a:spcAft>
                <a:spcPts val="800"/>
              </a:spcAft>
            </a:pPr>
            <a:r>
              <a:rPr sz="1300" b="0" i="0">
                <a:solidFill>
                  <a:srgbClr val="262626"/>
                </a:solidFill>
                <a:latin typeface="Arial"/>
              </a:rPr>
              <a:t>en segundos, sin esperar a nadie.</a:t>
            </a:r>
          </a:p>
        </p:txBody>
      </p:sp>
      <p:sp>
        <p:nvSpPr>
          <p:cNvPr id="15" name="TextBox 14"/>
          <p:cNvSpPr txBox="1"/>
          <p:nvPr/>
        </p:nvSpPr>
        <p:spPr>
          <a:xfrm>
            <a:off x="585216"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24/7</a:t>
            </a:r>
          </a:p>
        </p:txBody>
      </p:sp>
      <p:sp>
        <p:nvSpPr>
          <p:cNvPr id="16" name="TextBox 15"/>
          <p:cNvSpPr txBox="1"/>
          <p:nvPr/>
        </p:nvSpPr>
        <p:spPr>
          <a:xfrm>
            <a:off x="1485392" y="3634498"/>
            <a:ext cx="1215237" cy="502920"/>
          </a:xfrm>
          <a:prstGeom prst="rect">
            <a:avLst/>
          </a:prstGeom>
          <a:noFill/>
        </p:spPr>
        <p:txBody>
          <a:bodyPr wrap="square" lIns="0" tIns="0" rIns="0" bIns="0" anchor="ctr">
            <a:spAutoFit/>
          </a:bodyPr>
          <a:lstStyle/>
          <a:p>
            <a:pPr algn="l"/>
            <a:r>
              <a:rPr sz="1050" b="0" i="0" dirty="0" err="1">
                <a:solidFill>
                  <a:srgbClr val="262626"/>
                </a:solidFill>
                <a:latin typeface="Arial"/>
              </a:rPr>
              <a:t>en</a:t>
            </a:r>
            <a:r>
              <a:rPr sz="1050" b="0" i="0" dirty="0">
                <a:solidFill>
                  <a:srgbClr val="262626"/>
                </a:solidFill>
                <a:latin typeface="Arial"/>
              </a:rPr>
              <a:t> </a:t>
            </a:r>
            <a:r>
              <a:rPr sz="1050" b="0" i="0" dirty="0" err="1">
                <a:solidFill>
                  <a:srgbClr val="262626"/>
                </a:solidFill>
                <a:latin typeface="Arial"/>
              </a:rPr>
              <a:t>todos</a:t>
            </a:r>
            <a:r>
              <a:rPr sz="1050" b="0" i="0" dirty="0">
                <a:solidFill>
                  <a:srgbClr val="262626"/>
                </a:solidFill>
                <a:latin typeface="Arial"/>
              </a:rPr>
              <a:t> </a:t>
            </a:r>
            <a:r>
              <a:rPr sz="1050" b="0" i="0" dirty="0" err="1">
                <a:solidFill>
                  <a:srgbClr val="262626"/>
                </a:solidFill>
                <a:latin typeface="Arial"/>
              </a:rPr>
              <a:t>los</a:t>
            </a:r>
            <a:r>
              <a:rPr sz="1050" b="0" i="0" dirty="0">
                <a:solidFill>
                  <a:srgbClr val="262626"/>
                </a:solidFill>
                <a:latin typeface="Arial"/>
              </a:rPr>
              <a:t> </a:t>
            </a:r>
            <a:r>
              <a:rPr sz="1050" b="0" i="0" dirty="0" err="1">
                <a:solidFill>
                  <a:srgbClr val="262626"/>
                </a:solidFill>
                <a:latin typeface="Arial"/>
              </a:rPr>
              <a:t>turnos</a:t>
            </a:r>
            <a:endParaRPr sz="1050" b="0" i="0" dirty="0">
              <a:solidFill>
                <a:srgbClr val="262626"/>
              </a:solidFill>
              <a:latin typeface="Arial"/>
            </a:endParaRPr>
          </a:p>
        </p:txBody>
      </p:sp>
      <p:sp>
        <p:nvSpPr>
          <p:cNvPr id="17" name="TextBox 16"/>
          <p:cNvSpPr txBox="1"/>
          <p:nvPr/>
        </p:nvSpPr>
        <p:spPr>
          <a:xfrm>
            <a:off x="3330752"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100 %</a:t>
            </a:r>
          </a:p>
        </p:txBody>
      </p:sp>
      <p:sp>
        <p:nvSpPr>
          <p:cNvPr id="18" name="TextBox 17"/>
          <p:cNvSpPr txBox="1"/>
          <p:nvPr/>
        </p:nvSpPr>
        <p:spPr>
          <a:xfrm>
            <a:off x="4478476" y="3634498"/>
            <a:ext cx="1215237" cy="502920"/>
          </a:xfrm>
          <a:prstGeom prst="rect">
            <a:avLst/>
          </a:prstGeom>
          <a:noFill/>
        </p:spPr>
        <p:txBody>
          <a:bodyPr wrap="square" lIns="0" tIns="0" rIns="0" bIns="0" anchor="ctr">
            <a:spAutoFit/>
          </a:bodyPr>
          <a:lstStyle/>
          <a:p>
            <a:pPr algn="l"/>
            <a:r>
              <a:rPr sz="1050" b="0" i="0">
                <a:solidFill>
                  <a:srgbClr val="262626"/>
                </a:solidFill>
                <a:latin typeface="Arial"/>
              </a:rPr>
              <a:t>de los neumáticos</a:t>
            </a:r>
          </a:p>
        </p:txBody>
      </p:sp>
      <p:sp>
        <p:nvSpPr>
          <p:cNvPr id="19" name="TextBox 18"/>
          <p:cNvSpPr txBox="1"/>
          <p:nvPr/>
        </p:nvSpPr>
        <p:spPr>
          <a:xfrm>
            <a:off x="6076289"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Seg.</a:t>
            </a:r>
          </a:p>
        </p:txBody>
      </p:sp>
      <p:sp>
        <p:nvSpPr>
          <p:cNvPr id="20" name="TextBox 19"/>
          <p:cNvSpPr txBox="1"/>
          <p:nvPr/>
        </p:nvSpPr>
        <p:spPr>
          <a:xfrm>
            <a:off x="6962185" y="3782548"/>
            <a:ext cx="1596599" cy="161583"/>
          </a:xfrm>
          <a:prstGeom prst="rect">
            <a:avLst/>
          </a:prstGeom>
          <a:noFill/>
        </p:spPr>
        <p:txBody>
          <a:bodyPr wrap="square" lIns="0" tIns="0" rIns="0" bIns="0" anchor="ctr">
            <a:spAutoFit/>
          </a:bodyPr>
          <a:lstStyle/>
          <a:p>
            <a:pPr algn="l"/>
            <a:r>
              <a:rPr sz="1050" b="0" i="0" dirty="0">
                <a:solidFill>
                  <a:srgbClr val="262626"/>
                </a:solidFill>
                <a:latin typeface="Arial"/>
              </a:rPr>
              <a:t>de la </a:t>
            </a:r>
            <a:r>
              <a:rPr sz="1050" b="0" i="0" dirty="0" err="1">
                <a:solidFill>
                  <a:srgbClr val="262626"/>
                </a:solidFill>
                <a:latin typeface="Arial"/>
              </a:rPr>
              <a:t>medida</a:t>
            </a:r>
            <a:r>
              <a:rPr lang="es-ES" sz="1050" b="0" i="0" dirty="0">
                <a:solidFill>
                  <a:srgbClr val="262626"/>
                </a:solidFill>
                <a:latin typeface="Arial"/>
              </a:rPr>
              <a:t>,</a:t>
            </a:r>
            <a:r>
              <a:rPr sz="1050" b="0" i="0" dirty="0">
                <a:solidFill>
                  <a:srgbClr val="262626"/>
                </a:solidFill>
                <a:latin typeface="Arial"/>
              </a:rPr>
              <a:t> a la </a:t>
            </a:r>
            <a:r>
              <a:rPr sz="1050" b="0" i="0" dirty="0" err="1">
                <a:solidFill>
                  <a:srgbClr val="262626"/>
                </a:solidFill>
                <a:latin typeface="Arial"/>
              </a:rPr>
              <a:t>acción</a:t>
            </a:r>
            <a:endParaRPr sz="1050" b="0" i="0" dirty="0">
              <a:solidFill>
                <a:srgbClr val="262626"/>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Cuatro respuestas automáticas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De la más suave a la más firme, según lo que diga la medida</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Alertar</a:t>
            </a:r>
          </a:p>
        </p:txBody>
      </p:sp>
      <p:sp>
        <p:nvSpPr>
          <p:cNvPr id="18" name="TextBox 17"/>
          <p:cNvSpPr txBox="1"/>
          <p:nvPr/>
        </p:nvSpPr>
        <p:spPr>
          <a:xfrm>
            <a:off x="765251"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Avisa al operario y al responsable en pantalla y en el móvil.</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5251"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EN PRODUCCIÓN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c_adjust.png"/>
          <p:cNvPicPr>
            <a:picLocks noChangeAspect="1"/>
          </p:cNvPicPr>
          <p:nvPr/>
        </p:nvPicPr>
        <p:blipFill>
          <a:blip r:embed="rId4"/>
          <a:stretch>
            <a:fillRect/>
          </a:stretch>
        </p:blipFill>
        <p:spPr>
          <a:xfrm>
            <a:off x="3207613" y="1258417"/>
            <a:ext cx="615769" cy="659753"/>
          </a:xfrm>
          <a:prstGeom prst="rect">
            <a:avLst/>
          </a:prstGeom>
        </p:spPr>
      </p:pic>
      <p:sp>
        <p:nvSpPr>
          <p:cNvPr id="24" name="TextBox 23"/>
          <p:cNvSpPr txBox="1"/>
          <p:nvPr/>
        </p:nvSpPr>
        <p:spPr>
          <a:xfrm>
            <a:off x="2835656"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Ajustar</a:t>
            </a:r>
          </a:p>
        </p:txBody>
      </p:sp>
      <p:sp>
        <p:nvSpPr>
          <p:cNvPr id="26" name="TextBox 25"/>
          <p:cNvSpPr txBox="1"/>
          <p:nvPr/>
        </p:nvSpPr>
        <p:spPr>
          <a:xfrm>
            <a:off x="2835656" y="3108960"/>
            <a:ext cx="1530299" cy="484748"/>
          </a:xfrm>
          <a:prstGeom prst="rect">
            <a:avLst/>
          </a:prstGeom>
          <a:noFill/>
        </p:spPr>
        <p:txBody>
          <a:bodyPr wrap="square" lIns="0" tIns="0" rIns="0" bIns="0" anchor="t">
            <a:spAutoFit/>
          </a:bodyPr>
          <a:lstStyle/>
          <a:p>
            <a:pPr algn="l"/>
            <a:r>
              <a:rPr sz="1050" b="0" i="0" dirty="0" err="1">
                <a:solidFill>
                  <a:srgbClr val="262626"/>
                </a:solidFill>
                <a:latin typeface="Arial"/>
              </a:rPr>
              <a:t>Corrige</a:t>
            </a:r>
            <a:r>
              <a:rPr sz="1050" b="0" i="0" dirty="0">
                <a:solidFill>
                  <a:srgbClr val="262626"/>
                </a:solidFill>
                <a:latin typeface="Arial"/>
              </a:rPr>
              <a:t> el </a:t>
            </a:r>
            <a:r>
              <a:rPr sz="1050" b="0" i="0" dirty="0" err="1">
                <a:solidFill>
                  <a:srgbClr val="262626"/>
                </a:solidFill>
                <a:latin typeface="Arial"/>
              </a:rPr>
              <a:t>parámetro</a:t>
            </a:r>
            <a:r>
              <a:rPr sz="1050" b="0" i="0" dirty="0">
                <a:solidFill>
                  <a:srgbClr val="262626"/>
                </a:solidFill>
                <a:latin typeface="Arial"/>
              </a:rPr>
              <a:t> de la </a:t>
            </a:r>
            <a:r>
              <a:rPr sz="1050" b="0" i="0" dirty="0" err="1">
                <a:solidFill>
                  <a:srgbClr val="262626"/>
                </a:solidFill>
                <a:latin typeface="Arial"/>
              </a:rPr>
              <a:t>máquina</a:t>
            </a:r>
            <a:r>
              <a:rPr sz="1050" b="0" i="0" dirty="0">
                <a:solidFill>
                  <a:srgbClr val="262626"/>
                </a:solidFill>
                <a:latin typeface="Arial"/>
              </a:rPr>
              <a:t> (</a:t>
            </a:r>
            <a:r>
              <a:rPr sz="1050" b="0" i="0" dirty="0" err="1">
                <a:solidFill>
                  <a:srgbClr val="262626"/>
                </a:solidFill>
                <a:latin typeface="Arial"/>
              </a:rPr>
              <a:t>regulación</a:t>
            </a:r>
            <a:r>
              <a:rPr sz="1050" b="0" i="0" dirty="0">
                <a:solidFill>
                  <a:srgbClr val="262626"/>
                </a:solidFill>
                <a:latin typeface="Arial"/>
              </a:rPr>
              <a:t> </a:t>
            </a:r>
            <a:r>
              <a:rPr lang="es-ES" sz="1050" b="0" i="0" dirty="0">
                <a:solidFill>
                  <a:srgbClr val="262626"/>
                </a:solidFill>
                <a:latin typeface="Arial"/>
              </a:rPr>
              <a:t>R4P</a:t>
            </a:r>
            <a:r>
              <a:rPr sz="1050" b="0" i="0" dirty="0">
                <a:solidFill>
                  <a:srgbClr val="262626"/>
                </a:solidFill>
                <a:latin typeface="Arial"/>
              </a:rPr>
              <a:t>) sin </a:t>
            </a:r>
            <a:r>
              <a:rPr sz="1050" b="0" i="0" dirty="0" err="1">
                <a:solidFill>
                  <a:srgbClr val="262626"/>
                </a:solidFill>
                <a:latin typeface="Arial"/>
              </a:rPr>
              <a:t>intervención</a:t>
            </a:r>
            <a:r>
              <a:rPr sz="1050" b="0" i="0" dirty="0">
                <a:solidFill>
                  <a:srgbClr val="262626"/>
                </a:solidFill>
                <a:latin typeface="Arial"/>
              </a:rPr>
              <a:t>.</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835656"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EN PRODUCCIÓN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ic_block.png"/>
          <p:cNvPicPr>
            <a:picLocks noChangeAspect="1"/>
          </p:cNvPicPr>
          <p:nvPr/>
        </p:nvPicPr>
        <p:blipFill>
          <a:blip r:embed="rId5"/>
          <a:stretch>
            <a:fillRect/>
          </a:stretch>
        </p:blipFill>
        <p:spPr>
          <a:xfrm>
            <a:off x="5352387" y="1216853"/>
            <a:ext cx="569820" cy="701317"/>
          </a:xfrm>
          <a:prstGeom prst="rect">
            <a:avLst/>
          </a:prstGeom>
        </p:spPr>
      </p:pic>
      <p:sp>
        <p:nvSpPr>
          <p:cNvPr id="32" name="TextBox 31"/>
          <p:cNvSpPr txBox="1"/>
          <p:nvPr/>
        </p:nvSpPr>
        <p:spPr>
          <a:xfrm>
            <a:off x="4906060"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Bloquear</a:t>
            </a:r>
          </a:p>
        </p:txBody>
      </p:sp>
      <p:sp>
        <p:nvSpPr>
          <p:cNvPr id="34" name="TextBox 33"/>
          <p:cNvSpPr txBox="1"/>
          <p:nvPr/>
        </p:nvSpPr>
        <p:spPr>
          <a:xfrm>
            <a:off x="4906060"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Detiene la máquina si la desviación no se puede corregir.</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906060" y="4173566"/>
            <a:ext cx="1530299" cy="138499"/>
          </a:xfrm>
          <a:prstGeom prst="rect">
            <a:avLst/>
          </a:prstGeom>
          <a:noFill/>
        </p:spPr>
        <p:txBody>
          <a:bodyPr wrap="square" lIns="0" tIns="0" rIns="0" bIns="0" anchor="ctr">
            <a:spAutoFit/>
          </a:bodyPr>
          <a:lstStyle/>
          <a:p>
            <a:pPr algn="ctr"/>
            <a:r>
              <a:rPr sz="900" b="1" i="0" dirty="0">
                <a:solidFill>
                  <a:srgbClr val="FFFFFF"/>
                </a:solidFill>
                <a:latin typeface="Michelin"/>
              </a:rPr>
              <a:t>EN </a:t>
            </a:r>
            <a:r>
              <a:rPr lang="es-ES" sz="900" b="1" i="0" dirty="0">
                <a:solidFill>
                  <a:srgbClr val="FFFFFF"/>
                </a:solidFill>
                <a:latin typeface="Michelin"/>
              </a:rPr>
              <a:t>pruebas</a:t>
            </a:r>
            <a:endParaRPr sz="900" b="1" i="0" dirty="0">
              <a:solidFill>
                <a:srgbClr val="FFFFFF"/>
              </a:solidFill>
              <a:latin typeface="Michelin"/>
            </a:endParaRP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ic_segreg.png"/>
          <p:cNvPicPr>
            <a:picLocks noChangeAspect="1"/>
          </p:cNvPicPr>
          <p:nvPr/>
        </p:nvPicPr>
        <p:blipFill>
          <a:blip r:embed="rId6"/>
          <a:stretch>
            <a:fillRect/>
          </a:stretch>
        </p:blipFill>
        <p:spPr>
          <a:xfrm>
            <a:off x="7404810" y="1383792"/>
            <a:ext cx="673608" cy="673608"/>
          </a:xfrm>
          <a:prstGeom prst="rect">
            <a:avLst/>
          </a:prstGeom>
        </p:spPr>
      </p:pic>
      <p:sp>
        <p:nvSpPr>
          <p:cNvPr id="40" name="TextBox 39"/>
          <p:cNvSpPr txBox="1"/>
          <p:nvPr/>
        </p:nvSpPr>
        <p:spPr>
          <a:xfrm>
            <a:off x="6976465"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Segregar</a:t>
            </a:r>
          </a:p>
        </p:txBody>
      </p:sp>
      <p:sp>
        <p:nvSpPr>
          <p:cNvPr id="42" name="TextBox 41"/>
          <p:cNvSpPr txBox="1"/>
          <p:nvPr/>
        </p:nvSpPr>
        <p:spPr>
          <a:xfrm>
            <a:off x="6976465"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Apartará el producto afectado de la línea de forma automática.</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976465" y="4114800"/>
            <a:ext cx="1530299" cy="256032"/>
          </a:xfrm>
          <a:prstGeom prst="rect">
            <a:avLst/>
          </a:prstGeom>
          <a:noFill/>
        </p:spPr>
        <p:txBody>
          <a:bodyPr wrap="square" lIns="0" tIns="0" rIns="0" bIns="0" anchor="ctr">
            <a:spAutoFit/>
          </a:bodyPr>
          <a:lstStyle/>
          <a:p>
            <a:pPr algn="ctr"/>
            <a:r>
              <a:rPr sz="900" b="1" i="0">
                <a:solidFill>
                  <a:srgbClr val="00205B"/>
                </a:solidFill>
                <a:latin typeface="Michelin"/>
              </a:rPr>
              <a:t>PRÓXIMA FASE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78308"/>
            <a:ext cx="7696200" cy="411480"/>
          </a:xfrm>
        </p:spPr>
        <p:txBody>
          <a:bodyPr anchor="ctr"/>
          <a:lstStyle/>
          <a:p>
            <a:r>
              <a:rPr sz="1800" dirty="0"/>
              <a:t>R4P </a:t>
            </a:r>
            <a:r>
              <a:rPr sz="1800" dirty="0" err="1"/>
              <a:t>en</a:t>
            </a:r>
            <a:r>
              <a:rPr sz="1800" dirty="0"/>
              <a:t> </a:t>
            </a:r>
            <a:r>
              <a:rPr sz="1800" dirty="0" err="1"/>
              <a:t>acción</a:t>
            </a:r>
            <a:r>
              <a:rPr sz="1800" dirty="0"/>
              <a:t>: la </a:t>
            </a:r>
            <a:r>
              <a:rPr lang="es-ES" sz="1800" dirty="0"/>
              <a:t>deriva</a:t>
            </a:r>
            <a:r>
              <a:rPr sz="1800" dirty="0"/>
              <a:t> se </a:t>
            </a:r>
            <a:r>
              <a:rPr sz="1800" dirty="0" err="1"/>
              <a:t>corrige</a:t>
            </a:r>
            <a:r>
              <a:rPr sz="1800" dirty="0"/>
              <a:t> sola</a:t>
            </a:r>
          </a:p>
        </p:txBody>
      </p:sp>
      <p:sp>
        <p:nvSpPr>
          <p:cNvPr id="4" name="TextBox 3"/>
          <p:cNvSpPr txBox="1"/>
          <p:nvPr/>
        </p:nvSpPr>
        <p:spPr>
          <a:xfrm>
            <a:off x="448055" y="722376"/>
            <a:ext cx="4572000" cy="256032"/>
          </a:xfrm>
          <a:prstGeom prst="rect">
            <a:avLst/>
          </a:prstGeom>
          <a:noFill/>
        </p:spPr>
        <p:txBody>
          <a:bodyPr wrap="square" lIns="0" tIns="0" rIns="0" bIns="0" anchor="t">
            <a:spAutoFit/>
          </a:bodyPr>
          <a:lstStyle/>
          <a:p>
            <a:pPr algn="l"/>
            <a:r>
              <a:rPr sz="1050" b="0" i="0" dirty="0" err="1">
                <a:solidFill>
                  <a:srgbClr val="FCE500"/>
                </a:solidFill>
                <a:latin typeface="Arial"/>
              </a:rPr>
              <a:t>Pantalla</a:t>
            </a:r>
            <a:r>
              <a:rPr sz="1050" b="0" i="0" dirty="0">
                <a:solidFill>
                  <a:srgbClr val="FCE500"/>
                </a:solidFill>
                <a:latin typeface="Arial"/>
              </a:rPr>
              <a:t> real de </a:t>
            </a:r>
            <a:r>
              <a:rPr sz="1050" b="0" i="0" dirty="0" err="1">
                <a:solidFill>
                  <a:srgbClr val="FCE500"/>
                </a:solidFill>
                <a:latin typeface="Arial"/>
              </a:rPr>
              <a:t>regulación</a:t>
            </a:r>
            <a:r>
              <a:rPr sz="1050" b="0" i="0" dirty="0">
                <a:solidFill>
                  <a:srgbClr val="FCE500"/>
                </a:solidFill>
                <a:latin typeface="Arial"/>
              </a:rPr>
              <a:t> BJ · MAC6 · </a:t>
            </a:r>
            <a:r>
              <a:rPr sz="1050" b="0" i="0" dirty="0" err="1">
                <a:solidFill>
                  <a:srgbClr val="FCE500"/>
                </a:solidFill>
                <a:latin typeface="Arial"/>
              </a:rPr>
              <a:t>puesto</a:t>
            </a:r>
            <a:r>
              <a:rPr sz="1050" b="0" i="0" dirty="0">
                <a:solidFill>
                  <a:srgbClr val="FCE500"/>
                </a:solidFill>
                <a:latin typeface="Arial"/>
              </a:rPr>
              <a:t> P17</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dirty="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dirty="0">
                <a:solidFill>
                  <a:srgbClr val="FCE500"/>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ANTICIPAR</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4563"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3341" y="26243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81573" y="147218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86547"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Límite inferior</a:t>
            </a:r>
          </a:p>
          <a:p>
            <a:pPr algn="l"/>
            <a:r>
              <a:rPr sz="950" b="0" i="0">
                <a:solidFill>
                  <a:srgbClr val="D6E0F0"/>
                </a:solidFill>
                <a:latin typeface="Arial"/>
              </a:rPr>
              <a:t>el trusquín llega al límite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R4P actúa</a:t>
            </a:r>
          </a:p>
          <a:p>
            <a:pPr algn="l"/>
            <a:r>
              <a:rPr sz="950" b="0" i="0">
                <a:solidFill>
                  <a:srgbClr val="D6E0F0"/>
                </a:solidFill>
                <a:latin typeface="Arial"/>
              </a:rPr>
              <a:t>activa la corrección ODM</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Objetivo</a:t>
            </a:r>
          </a:p>
          <a:p>
            <a:pPr algn="l"/>
            <a:r>
              <a:rPr sz="950" b="0" i="0">
                <a:solidFill>
                  <a:srgbClr val="D6E0F0"/>
                </a:solidFill>
                <a:latin typeface="Arial"/>
              </a:rPr>
              <a:t>vuelve al valor teórico</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Sin corrección</a:t>
            </a:r>
          </a:p>
          <a:p>
            <a:pPr algn="l"/>
            <a:r>
              <a:rPr sz="950" b="0" i="0">
                <a:solidFill>
                  <a:srgbClr val="D6E0F0"/>
                </a:solidFill>
                <a:latin typeface="Arial"/>
              </a:rPr>
              <a:t>vuelve a derivar: la prueba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Por qué R4P marca la diferencia</a:t>
            </a:r>
          </a:p>
        </p:txBody>
      </p:sp>
      <p:sp>
        <p:nvSpPr>
          <p:cNvPr id="4" name="TextBox 3"/>
          <p:cNvSpPr txBox="1"/>
          <p:nvPr/>
        </p:nvSpPr>
        <p:spPr>
          <a:xfrm>
            <a:off x="585216" y="696293"/>
            <a:ext cx="4500879" cy="274320"/>
          </a:xfrm>
          <a:prstGeom prst="rect">
            <a:avLst/>
          </a:prstGeom>
          <a:noFill/>
        </p:spPr>
        <p:txBody>
          <a:bodyPr wrap="square" lIns="0" tIns="0" rIns="0" bIns="0" anchor="t">
            <a:spAutoFit/>
          </a:bodyPr>
          <a:lstStyle/>
          <a:p>
            <a:pPr algn="l"/>
            <a:r>
              <a:rPr sz="1050" b="0" i="0" dirty="0" err="1">
                <a:solidFill>
                  <a:srgbClr val="27509B"/>
                </a:solidFill>
                <a:latin typeface="Arial"/>
              </a:rPr>
              <a:t>Qué</a:t>
            </a:r>
            <a:r>
              <a:rPr sz="1050" b="0" i="0" dirty="0">
                <a:solidFill>
                  <a:srgbClr val="27509B"/>
                </a:solidFill>
                <a:latin typeface="Arial"/>
              </a:rPr>
              <a:t> </a:t>
            </a:r>
            <a:r>
              <a:rPr sz="1050" b="0" i="0" dirty="0" err="1">
                <a:solidFill>
                  <a:srgbClr val="27509B"/>
                </a:solidFill>
                <a:latin typeface="Arial"/>
              </a:rPr>
              <a:t>pasa</a:t>
            </a:r>
            <a:r>
              <a:rPr sz="1050" b="0" i="0" dirty="0">
                <a:solidFill>
                  <a:srgbClr val="27509B"/>
                </a:solidFill>
                <a:latin typeface="Arial"/>
              </a:rPr>
              <a:t> </a:t>
            </a:r>
            <a:r>
              <a:rPr sz="1050" b="0" i="0" dirty="0" err="1">
                <a:solidFill>
                  <a:srgbClr val="27509B"/>
                </a:solidFill>
                <a:latin typeface="Arial"/>
              </a:rPr>
              <a:t>cuando</a:t>
            </a:r>
            <a:r>
              <a:rPr sz="1050" b="0" i="0" dirty="0">
                <a:solidFill>
                  <a:srgbClr val="27509B"/>
                </a:solidFill>
                <a:latin typeface="Arial"/>
              </a:rPr>
              <a:t> </a:t>
            </a:r>
            <a:r>
              <a:rPr sz="1050" b="0" i="0" dirty="0" err="1">
                <a:solidFill>
                  <a:srgbClr val="27509B"/>
                </a:solidFill>
                <a:latin typeface="Arial"/>
              </a:rPr>
              <a:t>una</a:t>
            </a:r>
            <a:r>
              <a:rPr sz="1050" b="0" i="0" dirty="0">
                <a:solidFill>
                  <a:srgbClr val="27509B"/>
                </a:solidFill>
                <a:latin typeface="Arial"/>
              </a:rPr>
              <a:t> </a:t>
            </a:r>
            <a:r>
              <a:rPr sz="1050" b="0" i="0" dirty="0" err="1">
                <a:solidFill>
                  <a:srgbClr val="27509B"/>
                </a:solidFill>
                <a:latin typeface="Arial"/>
              </a:rPr>
              <a:t>medida</a:t>
            </a:r>
            <a:r>
              <a:rPr sz="1050" b="0" i="0" dirty="0">
                <a:solidFill>
                  <a:srgbClr val="27509B"/>
                </a:solidFill>
                <a:latin typeface="Arial"/>
              </a:rPr>
              <a:t> </a:t>
            </a:r>
            <a:r>
              <a:rPr sz="1050" b="0" i="0" dirty="0" err="1">
                <a:solidFill>
                  <a:srgbClr val="27509B"/>
                </a:solidFill>
                <a:latin typeface="Arial"/>
              </a:rPr>
              <a:t>empieza</a:t>
            </a:r>
            <a:r>
              <a:rPr sz="1050" b="0" i="0" dirty="0">
                <a:solidFill>
                  <a:srgbClr val="27509B"/>
                </a:solidFill>
                <a:latin typeface="Arial"/>
              </a:rPr>
              <a:t> a </a:t>
            </a:r>
            <a:r>
              <a:rPr sz="1050" b="0" i="0" dirty="0" err="1">
                <a:solidFill>
                  <a:srgbClr val="27509B"/>
                </a:solidFill>
                <a:latin typeface="Arial"/>
              </a:rPr>
              <a:t>derivar</a:t>
            </a:r>
            <a:endParaRPr sz="1050" b="0" i="0" dirty="0">
              <a:solidFill>
                <a:srgbClr val="27509B"/>
              </a:solidFill>
              <a:latin typeface="Arial"/>
            </a:endParaRP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ANTICIPAR</a:t>
            </a:r>
          </a:p>
        </p:txBody>
      </p:sp>
      <p:sp>
        <p:nvSpPr>
          <p:cNvPr id="13" name="Rectangle 12"/>
          <p:cNvSpPr/>
          <p:nvPr/>
        </p:nvSpPr>
        <p:spPr>
          <a:xfrm>
            <a:off x="585216" y="1005840"/>
            <a:ext cx="8101583" cy="118872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1234440"/>
            <a:ext cx="1440281" cy="365760"/>
          </a:xfrm>
          <a:prstGeom prst="rect">
            <a:avLst/>
          </a:prstGeom>
          <a:noFill/>
        </p:spPr>
        <p:txBody>
          <a:bodyPr wrap="square" lIns="0" tIns="0" rIns="0" bIns="0" anchor="t">
            <a:spAutoFit/>
          </a:bodyPr>
          <a:lstStyle/>
          <a:p>
            <a:pPr algn="l"/>
            <a:r>
              <a:rPr sz="1600" b="1" i="0" cap="all">
                <a:solidFill>
                  <a:srgbClr val="6E6E6E"/>
                </a:solidFill>
                <a:latin typeface="Michelin"/>
              </a:rPr>
              <a:t>Sin R4P</a:t>
            </a:r>
          </a:p>
        </p:txBody>
      </p:sp>
      <p:sp>
        <p:nvSpPr>
          <p:cNvPr id="15" name="TextBox 14"/>
          <p:cNvSpPr txBox="1"/>
          <p:nvPr/>
        </p:nvSpPr>
        <p:spPr>
          <a:xfrm>
            <a:off x="720242" y="1645920"/>
            <a:ext cx="1440281" cy="365760"/>
          </a:xfrm>
          <a:prstGeom prst="rect">
            <a:avLst/>
          </a:prstGeom>
          <a:noFill/>
        </p:spPr>
        <p:txBody>
          <a:bodyPr wrap="square" lIns="0" tIns="0" rIns="0" bIns="0" anchor="t">
            <a:spAutoFit/>
          </a:bodyPr>
          <a:lstStyle/>
          <a:p>
            <a:pPr algn="l"/>
            <a:r>
              <a:rPr sz="950" b="0" i="0" dirty="0" err="1">
                <a:solidFill>
                  <a:srgbClr val="6E6E6E"/>
                </a:solidFill>
                <a:latin typeface="Arial"/>
              </a:rPr>
              <a:t>Corrección</a:t>
            </a:r>
            <a:r>
              <a:rPr sz="950" b="0" i="0" dirty="0">
                <a:solidFill>
                  <a:srgbClr val="6E6E6E"/>
                </a:solidFill>
                <a:latin typeface="Arial"/>
              </a:rPr>
              <a:t> manual</a:t>
            </a:r>
          </a:p>
        </p:txBody>
      </p:sp>
      <p:cxnSp>
        <p:nvCxnSpPr>
          <p:cNvPr id="16" name="Connector 15"/>
          <p:cNvCxnSpPr/>
          <p:nvPr/>
        </p:nvCxnSpPr>
        <p:spPr>
          <a:xfrm>
            <a:off x="2250541" y="14173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Donut 16"/>
          <p:cNvSpPr/>
          <p:nvPr/>
        </p:nvSpPr>
        <p:spPr>
          <a:xfrm>
            <a:off x="225054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nut 17"/>
          <p:cNvSpPr/>
          <p:nvPr/>
        </p:nvSpPr>
        <p:spPr>
          <a:xfrm>
            <a:off x="2673624"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onut 18"/>
          <p:cNvSpPr/>
          <p:nvPr/>
        </p:nvSpPr>
        <p:spPr>
          <a:xfrm>
            <a:off x="3096707"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onut 19"/>
          <p:cNvSpPr/>
          <p:nvPr/>
        </p:nvSpPr>
        <p:spPr>
          <a:xfrm>
            <a:off x="3519789"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onut 20"/>
          <p:cNvSpPr/>
          <p:nvPr/>
        </p:nvSpPr>
        <p:spPr>
          <a:xfrm>
            <a:off x="3942872"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onut 21"/>
          <p:cNvSpPr/>
          <p:nvPr/>
        </p:nvSpPr>
        <p:spPr>
          <a:xfrm>
            <a:off x="4365955"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onut 22"/>
          <p:cNvSpPr/>
          <p:nvPr/>
        </p:nvSpPr>
        <p:spPr>
          <a:xfrm>
            <a:off x="4789037"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nut 23"/>
          <p:cNvSpPr/>
          <p:nvPr/>
        </p:nvSpPr>
        <p:spPr>
          <a:xfrm>
            <a:off x="5212120"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nut 24"/>
          <p:cNvSpPr/>
          <p:nvPr/>
        </p:nvSpPr>
        <p:spPr>
          <a:xfrm>
            <a:off x="5635203"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nut 25"/>
          <p:cNvSpPr/>
          <p:nvPr/>
        </p:nvSpPr>
        <p:spPr>
          <a:xfrm>
            <a:off x="6058286"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nut 26"/>
          <p:cNvSpPr/>
          <p:nvPr/>
        </p:nvSpPr>
        <p:spPr>
          <a:xfrm>
            <a:off x="6481368"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nut 27"/>
          <p:cNvSpPr/>
          <p:nvPr/>
        </p:nvSpPr>
        <p:spPr>
          <a:xfrm>
            <a:off x="690445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177722"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Empieza la deriva</a:t>
            </a:r>
          </a:p>
        </p:txBody>
      </p:sp>
      <p:sp>
        <p:nvSpPr>
          <p:cNvPr id="30" name="TextBox 29"/>
          <p:cNvSpPr txBox="1"/>
          <p:nvPr/>
        </p:nvSpPr>
        <p:spPr>
          <a:xfrm>
            <a:off x="4023888"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Salta la alerta</a:t>
            </a:r>
          </a:p>
        </p:txBody>
      </p:sp>
      <p:sp>
        <p:nvSpPr>
          <p:cNvPr id="31" name="TextBox 30"/>
          <p:cNvSpPr txBox="1"/>
          <p:nvPr/>
        </p:nvSpPr>
        <p:spPr>
          <a:xfrm>
            <a:off x="4870053"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El técnico llega</a:t>
            </a:r>
          </a:p>
        </p:txBody>
      </p:sp>
      <p:sp>
        <p:nvSpPr>
          <p:cNvPr id="32" name="TextBox 31"/>
          <p:cNvSpPr txBox="1"/>
          <p:nvPr/>
        </p:nvSpPr>
        <p:spPr>
          <a:xfrm>
            <a:off x="5716219"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Ajuste manual</a:t>
            </a:r>
          </a:p>
        </p:txBody>
      </p:sp>
      <p:sp>
        <p:nvSpPr>
          <p:cNvPr id="33" name="TextBox 32"/>
          <p:cNvSpPr txBox="1"/>
          <p:nvPr/>
        </p:nvSpPr>
        <p:spPr>
          <a:xfrm>
            <a:off x="7470750" y="1165860"/>
            <a:ext cx="1170228" cy="868680"/>
          </a:xfrm>
          <a:prstGeom prst="rect">
            <a:avLst/>
          </a:prstGeom>
          <a:noFill/>
        </p:spPr>
        <p:txBody>
          <a:bodyPr wrap="square" lIns="0" tIns="0" rIns="0" bIns="0" anchor="ctr">
            <a:spAutoFit/>
          </a:bodyPr>
          <a:lstStyle/>
          <a:p>
            <a:pPr algn="l"/>
            <a:r>
              <a:rPr sz="1000" b="1" i="0" dirty="0" err="1">
                <a:solidFill>
                  <a:srgbClr val="E30013"/>
                </a:solidFill>
                <a:latin typeface="Arial"/>
              </a:rPr>
              <a:t>Neumáticos</a:t>
            </a:r>
            <a:r>
              <a:rPr sz="1000" b="1" i="0" dirty="0">
                <a:solidFill>
                  <a:srgbClr val="E30013"/>
                </a:solidFill>
                <a:latin typeface="Arial"/>
              </a:rPr>
              <a:t> fuera de </a:t>
            </a:r>
            <a:r>
              <a:rPr sz="1000" b="1" i="0" dirty="0" err="1">
                <a:solidFill>
                  <a:srgbClr val="E30013"/>
                </a:solidFill>
                <a:latin typeface="Arial"/>
              </a:rPr>
              <a:t>objetivo</a:t>
            </a:r>
            <a:r>
              <a:rPr sz="1000" b="1" i="0" dirty="0">
                <a:solidFill>
                  <a:srgbClr val="E30013"/>
                </a:solidFill>
                <a:latin typeface="Arial"/>
              </a:rPr>
              <a:t> hasta </a:t>
            </a:r>
            <a:r>
              <a:rPr sz="1000" b="1" i="0" dirty="0" err="1">
                <a:solidFill>
                  <a:srgbClr val="E30013"/>
                </a:solidFill>
                <a:latin typeface="Arial"/>
              </a:rPr>
              <a:t>que</a:t>
            </a:r>
            <a:r>
              <a:rPr sz="1000" b="1" i="0" dirty="0">
                <a:solidFill>
                  <a:srgbClr val="E30013"/>
                </a:solidFill>
                <a:latin typeface="Arial"/>
              </a:rPr>
              <a:t> </a:t>
            </a:r>
            <a:r>
              <a:rPr sz="1000" b="1" i="0" dirty="0" err="1">
                <a:solidFill>
                  <a:srgbClr val="E30013"/>
                </a:solidFill>
                <a:latin typeface="Arial"/>
              </a:rPr>
              <a:t>alguien</a:t>
            </a:r>
            <a:r>
              <a:rPr sz="1000" b="1" i="0" dirty="0">
                <a:solidFill>
                  <a:srgbClr val="E30013"/>
                </a:solidFill>
                <a:latin typeface="Arial"/>
              </a:rPr>
              <a:t> </a:t>
            </a:r>
            <a:r>
              <a:rPr sz="1000" b="1" i="0" dirty="0" err="1">
                <a:solidFill>
                  <a:srgbClr val="E30013"/>
                </a:solidFill>
                <a:latin typeface="Arial"/>
              </a:rPr>
              <a:t>actúa</a:t>
            </a:r>
            <a:endParaRPr sz="1000" b="1" i="0" dirty="0">
              <a:solidFill>
                <a:srgbClr val="E30013"/>
              </a:solidFill>
              <a:latin typeface="Arial"/>
            </a:endParaRPr>
          </a:p>
        </p:txBody>
      </p:sp>
      <p:sp>
        <p:nvSpPr>
          <p:cNvPr id="34" name="Rectangle 33"/>
          <p:cNvSpPr/>
          <p:nvPr/>
        </p:nvSpPr>
        <p:spPr>
          <a:xfrm>
            <a:off x="585216" y="2377440"/>
            <a:ext cx="8101583" cy="1188720"/>
          </a:xfrm>
          <a:prstGeom prst="rect">
            <a:avLst/>
          </a:prstGeom>
          <a:solidFill>
            <a:srgbClr val="E4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0242" y="2606040"/>
            <a:ext cx="1440281" cy="365760"/>
          </a:xfrm>
          <a:prstGeom prst="rect">
            <a:avLst/>
          </a:prstGeom>
          <a:noFill/>
        </p:spPr>
        <p:txBody>
          <a:bodyPr wrap="square" lIns="0" tIns="0" rIns="0" bIns="0" anchor="t">
            <a:spAutoFit/>
          </a:bodyPr>
          <a:lstStyle/>
          <a:p>
            <a:pPr algn="l"/>
            <a:r>
              <a:rPr sz="1600" b="1" i="0" cap="all">
                <a:solidFill>
                  <a:srgbClr val="00205B"/>
                </a:solidFill>
                <a:latin typeface="Michelin"/>
              </a:rPr>
              <a:t>Con R4P</a:t>
            </a:r>
          </a:p>
        </p:txBody>
      </p:sp>
      <p:sp>
        <p:nvSpPr>
          <p:cNvPr id="36" name="TextBox 35"/>
          <p:cNvSpPr txBox="1"/>
          <p:nvPr/>
        </p:nvSpPr>
        <p:spPr>
          <a:xfrm>
            <a:off x="720242" y="3017520"/>
            <a:ext cx="1440281" cy="365760"/>
          </a:xfrm>
          <a:prstGeom prst="rect">
            <a:avLst/>
          </a:prstGeom>
          <a:noFill/>
        </p:spPr>
        <p:txBody>
          <a:bodyPr wrap="square" lIns="0" tIns="0" rIns="0" bIns="0" anchor="t">
            <a:spAutoFit/>
          </a:bodyPr>
          <a:lstStyle/>
          <a:p>
            <a:pPr algn="l"/>
            <a:r>
              <a:rPr sz="950" b="0" i="0">
                <a:solidFill>
                  <a:srgbClr val="27509B"/>
                </a:solidFill>
                <a:latin typeface="Arial"/>
              </a:rPr>
              <a:t>Corrección automática</a:t>
            </a:r>
          </a:p>
        </p:txBody>
      </p:sp>
      <p:cxnSp>
        <p:nvCxnSpPr>
          <p:cNvPr id="37" name="Connector 36"/>
          <p:cNvCxnSpPr/>
          <p:nvPr/>
        </p:nvCxnSpPr>
        <p:spPr>
          <a:xfrm>
            <a:off x="2250541" y="27889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25054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Donut 38"/>
          <p:cNvSpPr/>
          <p:nvPr/>
        </p:nvSpPr>
        <p:spPr>
          <a:xfrm>
            <a:off x="2673624"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Donut 39"/>
          <p:cNvSpPr/>
          <p:nvPr/>
        </p:nvSpPr>
        <p:spPr>
          <a:xfrm>
            <a:off x="309670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onut 40"/>
          <p:cNvSpPr/>
          <p:nvPr/>
        </p:nvSpPr>
        <p:spPr>
          <a:xfrm>
            <a:off x="3519789" y="26334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Donut 41"/>
          <p:cNvSpPr/>
          <p:nvPr/>
        </p:nvSpPr>
        <p:spPr>
          <a:xfrm>
            <a:off x="3942872"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onut 42"/>
          <p:cNvSpPr/>
          <p:nvPr/>
        </p:nvSpPr>
        <p:spPr>
          <a:xfrm>
            <a:off x="4365955"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Donut 43"/>
          <p:cNvSpPr/>
          <p:nvPr/>
        </p:nvSpPr>
        <p:spPr>
          <a:xfrm>
            <a:off x="478903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Donut 44"/>
          <p:cNvSpPr/>
          <p:nvPr/>
        </p:nvSpPr>
        <p:spPr>
          <a:xfrm>
            <a:off x="5212120"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Donut 45"/>
          <p:cNvSpPr/>
          <p:nvPr/>
        </p:nvSpPr>
        <p:spPr>
          <a:xfrm>
            <a:off x="5635203"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onut 46"/>
          <p:cNvSpPr/>
          <p:nvPr/>
        </p:nvSpPr>
        <p:spPr>
          <a:xfrm>
            <a:off x="6058286"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onut 47"/>
          <p:cNvSpPr/>
          <p:nvPr/>
        </p:nvSpPr>
        <p:spPr>
          <a:xfrm>
            <a:off x="6481368"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Donut 48"/>
          <p:cNvSpPr/>
          <p:nvPr/>
        </p:nvSpPr>
        <p:spPr>
          <a:xfrm>
            <a:off x="690445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177722" y="3035808"/>
            <a:ext cx="990193" cy="457200"/>
          </a:xfrm>
          <a:prstGeom prst="rect">
            <a:avLst/>
          </a:prstGeom>
          <a:noFill/>
        </p:spPr>
        <p:txBody>
          <a:bodyPr wrap="square" lIns="0" tIns="0" rIns="0" bIns="0" anchor="t">
            <a:spAutoFit/>
          </a:bodyPr>
          <a:lstStyle/>
          <a:p>
            <a:pPr algn="ctr"/>
            <a:r>
              <a:rPr sz="800" b="0" i="0">
                <a:solidFill>
                  <a:srgbClr val="00205B"/>
                </a:solidFill>
                <a:latin typeface="Arial"/>
              </a:rPr>
              <a:t>Empieza la deriva</a:t>
            </a:r>
          </a:p>
        </p:txBody>
      </p:sp>
      <p:sp>
        <p:nvSpPr>
          <p:cNvPr id="51" name="Down Arrow 50"/>
          <p:cNvSpPr/>
          <p:nvPr/>
        </p:nvSpPr>
        <p:spPr>
          <a:xfrm>
            <a:off x="3924868" y="2404872"/>
            <a:ext cx="342066" cy="201168"/>
          </a:xfrm>
          <a:prstGeom prst="downArrow">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320946" y="2395728"/>
            <a:ext cx="1980387" cy="228600"/>
          </a:xfrm>
          <a:prstGeom prst="rect">
            <a:avLst/>
          </a:prstGeom>
          <a:noFill/>
        </p:spPr>
        <p:txBody>
          <a:bodyPr wrap="square" lIns="0" tIns="0" rIns="0" bIns="0" anchor="t">
            <a:spAutoFit/>
          </a:bodyPr>
          <a:lstStyle/>
          <a:p>
            <a:pPr algn="l"/>
            <a:r>
              <a:rPr sz="900" b="1" i="0">
                <a:solidFill>
                  <a:srgbClr val="00205B"/>
                </a:solidFill>
                <a:latin typeface="Arial"/>
              </a:rPr>
              <a:t>R4P corrige al instante</a:t>
            </a:r>
          </a:p>
        </p:txBody>
      </p:sp>
      <p:sp>
        <p:nvSpPr>
          <p:cNvPr id="53" name="TextBox 52"/>
          <p:cNvSpPr txBox="1"/>
          <p:nvPr/>
        </p:nvSpPr>
        <p:spPr>
          <a:xfrm>
            <a:off x="7471562" y="2560320"/>
            <a:ext cx="1170228" cy="868680"/>
          </a:xfrm>
          <a:prstGeom prst="rect">
            <a:avLst/>
          </a:prstGeom>
          <a:noFill/>
        </p:spPr>
        <p:txBody>
          <a:bodyPr wrap="square" lIns="0" tIns="0" rIns="0" bIns="0" anchor="ctr">
            <a:spAutoFit/>
          </a:bodyPr>
          <a:lstStyle/>
          <a:p>
            <a:pPr algn="l"/>
            <a:r>
              <a:rPr sz="1000" b="1" i="0">
                <a:solidFill>
                  <a:srgbClr val="00963F"/>
                </a:solidFill>
                <a:latin typeface="Arial"/>
              </a:rPr>
              <a:t>La producción vuelve al objetivo de inmediato</a:t>
            </a:r>
          </a:p>
        </p:txBody>
      </p:sp>
      <p:sp>
        <p:nvSpPr>
          <p:cNvPr id="54" name="Rectangle 53"/>
          <p:cNvSpPr/>
          <p:nvPr/>
        </p:nvSpPr>
        <p:spPr>
          <a:xfrm>
            <a:off x="3465779" y="1207008"/>
            <a:ext cx="2961579" cy="457200"/>
          </a:xfrm>
          <a:prstGeom prst="rect">
            <a:avLst/>
          </a:prstGeom>
          <a:noFill/>
          <a:ln w="19050">
            <a:solidFill>
              <a:srgbClr val="E3001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585216"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7265" y="4081231"/>
            <a:ext cx="2340457" cy="161583"/>
          </a:xfrm>
          <a:prstGeom prst="rect">
            <a:avLst/>
          </a:prstGeom>
          <a:noFill/>
        </p:spPr>
        <p:txBody>
          <a:bodyPr wrap="square" lIns="0" tIns="0" rIns="0" bIns="0" anchor="t">
            <a:spAutoFit/>
          </a:bodyPr>
          <a:lstStyle/>
          <a:p>
            <a:pPr algn="l"/>
            <a:r>
              <a:rPr sz="1050" b="1" i="0" dirty="0">
                <a:solidFill>
                  <a:srgbClr val="FCE500"/>
                </a:solidFill>
                <a:latin typeface="Michelin"/>
              </a:rPr>
              <a:t>Mismas </a:t>
            </a:r>
            <a:r>
              <a:rPr sz="1050" b="1" i="0" dirty="0" err="1">
                <a:solidFill>
                  <a:srgbClr val="FCE500"/>
                </a:solidFill>
                <a:latin typeface="Michelin"/>
              </a:rPr>
              <a:t>reglas</a:t>
            </a:r>
            <a:r>
              <a:rPr sz="1050" b="1" i="0" dirty="0">
                <a:solidFill>
                  <a:srgbClr val="FCE500"/>
                </a:solidFill>
                <a:latin typeface="Michelin"/>
              </a:rPr>
              <a:t> 24/7</a:t>
            </a:r>
          </a:p>
        </p:txBody>
      </p:sp>
      <p:sp>
        <p:nvSpPr>
          <p:cNvPr id="57" name="Rectangle 56"/>
          <p:cNvSpPr/>
          <p:nvPr/>
        </p:nvSpPr>
        <p:spPr>
          <a:xfrm>
            <a:off x="3330752"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492784"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Experiencia convertida en reglas</a:t>
            </a:r>
          </a:p>
          <a:p>
            <a:pPr algn="l"/>
            <a:r>
              <a:rPr sz="950" b="0" i="0">
                <a:solidFill>
                  <a:srgbClr val="FFFFFF"/>
                </a:solidFill>
                <a:latin typeface="Arial"/>
              </a:rPr>
              <a:t>Lo que sabe el mejor técnico, aplicado siempre.</a:t>
            </a:r>
          </a:p>
        </p:txBody>
      </p:sp>
      <p:sp>
        <p:nvSpPr>
          <p:cNvPr id="59" name="Rectangle 58"/>
          <p:cNvSpPr/>
          <p:nvPr/>
        </p:nvSpPr>
        <p:spPr>
          <a:xfrm>
            <a:off x="6076289"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238321"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Cada decisión, registrada</a:t>
            </a:r>
          </a:p>
          <a:p>
            <a:pPr algn="l"/>
            <a:r>
              <a:rPr sz="950" b="0" i="0">
                <a:solidFill>
                  <a:srgbClr val="FFFFFF"/>
                </a:solidFill>
                <a:latin typeface="Arial"/>
              </a:rPr>
              <a:t>Trazabilidad completa en PI System.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04</a:t>
            </a:r>
          </a:p>
          <a:p>
            <a:r>
              <a:t>Anticipar</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Analítica avanzada e inteligencia artificial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Dataiku: de millones de datos a patrones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Analítica avanzada para entender cada problema de calidad</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ANTICIPAR</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01  Unir</a:t>
            </a:r>
          </a:p>
        </p:txBody>
      </p:sp>
      <p:sp>
        <p:nvSpPr>
          <p:cNvPr id="15" name="TextBox 14"/>
          <p:cNvSpPr txBox="1"/>
          <p:nvPr/>
        </p:nvSpPr>
        <p:spPr>
          <a:xfrm>
            <a:off x="720242"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Medidas PI, imágenes y resultados de calidad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79684"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02  Explorar</a:t>
            </a:r>
          </a:p>
        </p:txBody>
      </p:sp>
      <p:sp>
        <p:nvSpPr>
          <p:cNvPr id="18" name="TextBox 17"/>
          <p:cNvSpPr txBox="1"/>
          <p:nvPr/>
        </p:nvSpPr>
        <p:spPr>
          <a:xfrm>
            <a:off x="2772643"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Correlaciones entre parámetros, puestos y turnos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32085"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03  Descubrir</a:t>
            </a:r>
          </a:p>
        </p:txBody>
      </p:sp>
      <p:sp>
        <p:nvSpPr>
          <p:cNvPr id="21" name="TextBox 20"/>
          <p:cNvSpPr txBox="1"/>
          <p:nvPr/>
        </p:nvSpPr>
        <p:spPr>
          <a:xfrm>
            <a:off x="4825044"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Patrones que se repiten antes de una deriva</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84486"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04  Actuar</a:t>
            </a:r>
          </a:p>
        </p:txBody>
      </p:sp>
      <p:sp>
        <p:nvSpPr>
          <p:cNvPr id="24" name="TextBox 23"/>
          <p:cNvSpPr txBox="1"/>
          <p:nvPr/>
        </p:nvSpPr>
        <p:spPr>
          <a:xfrm>
            <a:off x="6877446"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Nuevas reglas, alertas y mejoras de proceso</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5268" y="2724912"/>
            <a:ext cx="2700528" cy="274320"/>
          </a:xfrm>
          <a:prstGeom prst="rect">
            <a:avLst/>
          </a:prstGeom>
          <a:noFill/>
        </p:spPr>
        <p:txBody>
          <a:bodyPr wrap="square" lIns="0" tIns="0" rIns="0" bIns="0" anchor="t">
            <a:spAutoFit/>
          </a:bodyPr>
          <a:lstStyle/>
          <a:p>
            <a:pPr algn="l"/>
            <a:r>
              <a:rPr sz="1000" b="1" i="0" cap="all">
                <a:solidFill>
                  <a:srgbClr val="27509B"/>
                </a:solidFill>
                <a:latin typeface="Michelin"/>
              </a:rPr>
              <a:t>Una pregunta típica</a:t>
            </a:r>
          </a:p>
        </p:txBody>
      </p:sp>
      <p:sp>
        <p:nvSpPr>
          <p:cNvPr id="27" name="TextBox 26"/>
          <p:cNvSpPr txBox="1"/>
          <p:nvPr/>
        </p:nvSpPr>
        <p:spPr>
          <a:xfrm>
            <a:off x="855268" y="3035808"/>
            <a:ext cx="3600703" cy="1280160"/>
          </a:xfrm>
          <a:prstGeom prst="rect">
            <a:avLst/>
          </a:prstGeom>
          <a:noFill/>
        </p:spPr>
        <p:txBody>
          <a:bodyPr wrap="square" lIns="0" tIns="0" rIns="0" bIns="0" anchor="t">
            <a:spAutoFit/>
          </a:bodyPr>
          <a:lstStyle/>
          <a:p>
            <a:pPr algn="l"/>
            <a:r>
              <a:rPr sz="1500" b="1" i="0">
                <a:solidFill>
                  <a:srgbClr val="00205B"/>
                </a:solidFill>
                <a:latin typeface="Michelin"/>
              </a:rPr>
              <a:t>«¿Qué tienen en común los neumáticos en los que la soldadura empezó a derivar?»</a:t>
            </a:r>
          </a:p>
        </p:txBody>
      </p:sp>
      <p:sp>
        <p:nvSpPr>
          <p:cNvPr id="28" name="TextBox 27"/>
          <p:cNvSpPr txBox="1"/>
          <p:nvPr/>
        </p:nvSpPr>
        <p:spPr>
          <a:xfrm>
            <a:off x="4816043" y="2724912"/>
            <a:ext cx="3600703" cy="274320"/>
          </a:xfrm>
          <a:prstGeom prst="rect">
            <a:avLst/>
          </a:prstGeom>
          <a:noFill/>
        </p:spPr>
        <p:txBody>
          <a:bodyPr wrap="square" lIns="0" tIns="0" rIns="0" bIns="0" anchor="t">
            <a:spAutoFit/>
          </a:bodyPr>
          <a:lstStyle/>
          <a:p>
            <a:pPr algn="l"/>
            <a:r>
              <a:rPr sz="1000" b="1" i="0" cap="all">
                <a:solidFill>
                  <a:srgbClr val="27509B"/>
                </a:solidFill>
                <a:latin typeface="Michelin"/>
              </a:rPr>
              <a:t>Lo que responde Dataiku</a:t>
            </a:r>
          </a:p>
        </p:txBody>
      </p:sp>
      <p:sp>
        <p:nvSpPr>
          <p:cNvPr id="29" name="TextBox 28"/>
          <p:cNvSpPr txBox="1"/>
          <p:nvPr/>
        </p:nvSpPr>
        <p:spPr>
          <a:xfrm>
            <a:off x="4816043" y="3035808"/>
            <a:ext cx="3690721" cy="1371600"/>
          </a:xfrm>
          <a:prstGeom prst="rect">
            <a:avLst/>
          </a:prstGeom>
          <a:noFill/>
        </p:spPr>
        <p:txBody>
          <a:bodyPr wrap="square" lIns="0" tIns="0" rIns="0" bIns="0" anchor="t">
            <a:spAutoFit/>
          </a:bodyPr>
          <a:lstStyle/>
          <a:p>
            <a:pPr marL="182880" indent="-182880" algn="l">
              <a:spcAft>
                <a:spcPts val="400"/>
              </a:spcAft>
              <a:buClr>
                <a:srgbClr val="FCE500"/>
              </a:buClr>
              <a:buSzPct val="100000"/>
              <a:buFont typeface="Wingdings"/>
              <a:buChar char="§"/>
            </a:pPr>
            <a:r>
              <a:rPr sz="1100" b="0" i="0">
                <a:solidFill>
                  <a:srgbClr val="262626"/>
                </a:solidFill>
                <a:latin typeface="Arial"/>
              </a:rPr>
              <a:t>Qué parámetros se movieron antes</a:t>
            </a:r>
          </a:p>
          <a:p>
            <a:pPr marL="182880" indent="-182880" algn="l">
              <a:spcAft>
                <a:spcPts val="400"/>
              </a:spcAft>
              <a:buClr>
                <a:srgbClr val="FCE500"/>
              </a:buClr>
              <a:buSzPct val="100000"/>
              <a:buFont typeface="Wingdings"/>
              <a:buChar char="§"/>
            </a:pPr>
            <a:r>
              <a:rPr sz="1100" b="0" i="0">
                <a:solidFill>
                  <a:srgbClr val="262626"/>
                </a:solidFill>
                <a:latin typeface="Arial"/>
              </a:rPr>
              <a:t>En qué puestos, turnos o lotes se concentra</a:t>
            </a:r>
          </a:p>
          <a:p>
            <a:pPr marL="182880" indent="-182880" algn="l">
              <a:spcAft>
                <a:spcPts val="400"/>
              </a:spcAft>
              <a:buClr>
                <a:srgbClr val="FCE500"/>
              </a:buClr>
              <a:buSzPct val="100000"/>
              <a:buFont typeface="Wingdings"/>
              <a:buChar char="§"/>
            </a:pPr>
            <a:r>
              <a:rPr sz="1100" b="0" i="0">
                <a:solidFill>
                  <a:srgbClr val="262626"/>
                </a:solidFill>
                <a:latin typeface="Arial"/>
              </a:rPr>
              <a:t>Qué regla nueva lo habría evitado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IA sobre nuestras imágenes láser</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El láser mide; la IA reconoce lo que no se puede medir con una cota</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sp>
        <p:nvSpPr>
          <p:cNvPr id="12" name="Rectangle 11"/>
          <p:cNvSpPr/>
          <p:nvPr/>
        </p:nvSpPr>
        <p:spPr>
          <a:xfrm>
            <a:off x="457200" y="1005840"/>
            <a:ext cx="3291840" cy="30632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097280"/>
            <a:ext cx="3017520" cy="274320"/>
          </a:xfrm>
          <a:prstGeom prst="rect">
            <a:avLst/>
          </a:prstGeom>
          <a:noFill/>
        </p:spPr>
        <p:txBody>
          <a:bodyPr wrap="square" lIns="0" rIns="0" tIns="0" bIns="0" anchor="t">
            <a:spAutoFit/>
          </a:bodyPr>
          <a:lstStyle/>
          <a:p>
            <a:pPr algn="l"/>
            <a:r>
              <a:rPr sz="1100" b="1" i="0">
                <a:solidFill>
                  <a:srgbClr val="FCE500"/>
                </a:solidFill>
                <a:latin typeface="Michelin"/>
              </a:rPr>
              <a:t>MEDIR · LÁSER Y COTAS</a:t>
            </a:r>
          </a:p>
        </p:txBody>
      </p:sp>
      <p:sp>
        <p:nvSpPr>
          <p:cNvPr id="14" name="Rectangle 13"/>
          <p:cNvSpPr/>
          <p:nvPr/>
        </p:nvSpPr>
        <p:spPr>
          <a:xfrm>
            <a:off x="621792" y="1417320"/>
            <a:ext cx="2962656" cy="173736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jpg"/>
          <p:cNvPicPr>
            <a:picLocks noChangeAspect="1"/>
          </p:cNvPicPr>
          <p:nvPr/>
        </p:nvPicPr>
        <p:blipFill>
          <a:blip r:embed="rId3"/>
          <a:stretch>
            <a:fillRect/>
          </a:stretch>
        </p:blipFill>
        <p:spPr>
          <a:xfrm>
            <a:off x="775817" y="1444752"/>
            <a:ext cx="2654604" cy="1682496"/>
          </a:xfrm>
          <a:prstGeom prst="rect">
            <a:avLst/>
          </a:prstGeom>
        </p:spPr>
      </p:pic>
      <p:sp>
        <p:nvSpPr>
          <p:cNvPr id="16" name="TextBox 15"/>
          <p:cNvSpPr txBox="1"/>
          <p:nvPr/>
        </p:nvSpPr>
        <p:spPr>
          <a:xfrm>
            <a:off x="621792" y="3246120"/>
            <a:ext cx="2962656" cy="777240"/>
          </a:xfrm>
          <a:prstGeom prst="rect">
            <a:avLst/>
          </a:prstGeom>
          <a:noFill/>
        </p:spPr>
        <p:txBody>
          <a:bodyPr wrap="square" lIns="0" rIns="0" tIns="0" bIns="0" anchor="t">
            <a:spAutoFit/>
          </a:bodyPr>
          <a:lstStyle/>
          <a:p>
            <a:pPr algn="l"/>
            <a:r>
              <a:rPr sz="1000" b="1" i="0">
                <a:solidFill>
                  <a:srgbClr val="FFFFFF"/>
                </a:solidFill>
                <a:latin typeface="Arial"/>
              </a:rPr>
              <a:t>Hoy y siempre. </a:t>
            </a:r>
          </a:p>
          <a:p>
            <a:pPr algn="l"/>
            <a:r>
              <a:rPr sz="1000" b="0" i="0">
                <a:solidFill>
                  <a:srgbClr val="D6E0F0"/>
                </a:solidFill>
                <a:latin typeface="Arial"/>
              </a:rPr>
              <a:t>Anchura, trusquín, centrado y soldadura, con sus tolerancias.</a:t>
            </a:r>
          </a:p>
        </p:txBody>
      </p:sp>
      <p:sp>
        <p:nvSpPr>
          <p:cNvPr id="17" name="TextBox 16"/>
          <p:cNvSpPr txBox="1"/>
          <p:nvPr/>
        </p:nvSpPr>
        <p:spPr>
          <a:xfrm>
            <a:off x="3794759" y="2240280"/>
            <a:ext cx="365760" cy="457200"/>
          </a:xfrm>
          <a:prstGeom prst="rect">
            <a:avLst/>
          </a:prstGeom>
          <a:noFill/>
        </p:spPr>
        <p:txBody>
          <a:bodyPr wrap="square" lIns="0" rIns="0" tIns="0" bIns="0" anchor="ctr">
            <a:spAutoFit/>
          </a:bodyPr>
          <a:lstStyle/>
          <a:p>
            <a:pPr algn="ctr"/>
            <a:r>
              <a:rPr sz="3000" b="1" i="0">
                <a:solidFill>
                  <a:srgbClr val="FCE500"/>
                </a:solidFill>
                <a:latin typeface="Michelin"/>
              </a:rPr>
              <a:t>+</a:t>
            </a:r>
          </a:p>
        </p:txBody>
      </p:sp>
      <p:sp>
        <p:nvSpPr>
          <p:cNvPr id="18" name="Rectangle 17"/>
          <p:cNvSpPr/>
          <p:nvPr/>
        </p:nvSpPr>
        <p:spPr>
          <a:xfrm>
            <a:off x="4206240" y="1005840"/>
            <a:ext cx="3154680" cy="3063240"/>
          </a:xfrm>
          <a:prstGeom prst="rect">
            <a:avLst/>
          </a:prstGeom>
          <a:solidFill>
            <a:srgbClr val="00205B"/>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0831" y="1097280"/>
            <a:ext cx="2880360" cy="274320"/>
          </a:xfrm>
          <a:prstGeom prst="rect">
            <a:avLst/>
          </a:prstGeom>
          <a:noFill/>
        </p:spPr>
        <p:txBody>
          <a:bodyPr wrap="square" lIns="0" rIns="0" tIns="0" bIns="0" anchor="t">
            <a:spAutoFit/>
          </a:bodyPr>
          <a:lstStyle/>
          <a:p>
            <a:pPr algn="l"/>
            <a:r>
              <a:rPr sz="1100" b="1" i="0">
                <a:solidFill>
                  <a:srgbClr val="FCE500"/>
                </a:solidFill>
                <a:latin typeface="Michelin"/>
              </a:rPr>
              <a:t>RECONOCER · IA</a:t>
            </a:r>
          </a:p>
        </p:txBody>
      </p:sp>
      <p:pic>
        <p:nvPicPr>
          <p:cNvPr id="20" name="Picture 19" descr="ai_strip.jpg"/>
          <p:cNvPicPr>
            <a:picLocks noChangeAspect="1"/>
          </p:cNvPicPr>
          <p:nvPr/>
        </p:nvPicPr>
        <p:blipFill>
          <a:blip r:embed="rId4"/>
          <a:stretch>
            <a:fillRect/>
          </a:stretch>
        </p:blipFill>
        <p:spPr>
          <a:xfrm>
            <a:off x="4370831" y="1468744"/>
            <a:ext cx="2825496" cy="400070"/>
          </a:xfrm>
          <a:prstGeom prst="rect">
            <a:avLst/>
          </a:prstGeom>
        </p:spPr>
      </p:pic>
      <p:sp>
        <p:nvSpPr>
          <p:cNvPr id="21" name="TextBox 20"/>
          <p:cNvSpPr txBox="1"/>
          <p:nvPr/>
        </p:nvSpPr>
        <p:spPr>
          <a:xfrm>
            <a:off x="4370831" y="2011680"/>
            <a:ext cx="2825496" cy="274320"/>
          </a:xfrm>
          <a:prstGeom prst="rect">
            <a:avLst/>
          </a:prstGeom>
          <a:noFill/>
        </p:spPr>
        <p:txBody>
          <a:bodyPr wrap="square" lIns="0" rIns="0" tIns="0" bIns="0" anchor="t">
            <a:spAutoFit/>
          </a:bodyPr>
          <a:lstStyle/>
          <a:p>
            <a:pPr algn="l"/>
            <a:r>
              <a:rPr sz="1000" b="1" i="0">
                <a:solidFill>
                  <a:srgbClr val="FFFFFF"/>
                </a:solidFill>
                <a:latin typeface="Arial"/>
              </a:rPr>
              <a:t>Lo que no tiene cota:</a:t>
            </a:r>
          </a:p>
        </p:txBody>
      </p:sp>
      <p:sp>
        <p:nvSpPr>
          <p:cNvPr id="22" name="TextBox 21"/>
          <p:cNvSpPr txBox="1"/>
          <p:nvPr/>
        </p:nvSpPr>
        <p:spPr>
          <a:xfrm>
            <a:off x="4370831" y="2304288"/>
            <a:ext cx="2825496"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050" b="0" i="0">
                <a:solidFill>
                  <a:srgbClr val="FFFFFF"/>
                </a:solidFill>
                <a:latin typeface="Arial"/>
              </a:rPr>
              <a:t>Rugosidades y textura de la superficie</a:t>
            </a:r>
          </a:p>
          <a:p>
            <a:pPr algn="l" marL="182880" indent="-182880">
              <a:spcAft>
                <a:spcPts val="400"/>
              </a:spcAft>
              <a:buClr>
                <a:srgbClr val="FCE500"/>
              </a:buClr>
              <a:buSzPct val="100000"/>
              <a:buFont typeface="Wingdings"/>
              <a:buChar char="§"/>
            </a:pPr>
            <a:r>
              <a:rPr sz="1050" b="0" i="0">
                <a:solidFill>
                  <a:srgbClr val="FFFFFF"/>
                </a:solidFill>
                <a:latin typeface="Arial"/>
              </a:rPr>
              <a:t>Posibles materias extrañas</a:t>
            </a:r>
          </a:p>
          <a:p>
            <a:pPr algn="l" marL="182880" indent="-182880">
              <a:spcAft>
                <a:spcPts val="400"/>
              </a:spcAft>
              <a:buClr>
                <a:srgbClr val="FCE500"/>
              </a:buClr>
              <a:buSzPct val="100000"/>
              <a:buFont typeface="Wingdings"/>
              <a:buChar char="§"/>
            </a:pPr>
            <a:r>
              <a:rPr sz="1050" b="0" i="0">
                <a:solidFill>
                  <a:srgbClr val="FFFFFF"/>
                </a:solidFill>
                <a:latin typeface="Arial"/>
              </a:rPr>
              <a:t>Goma mal dispersa</a:t>
            </a:r>
          </a:p>
          <a:p>
            <a:pPr algn="l" marL="182880" indent="-182880">
              <a:spcAft>
                <a:spcPts val="400"/>
              </a:spcAft>
              <a:buClr>
                <a:srgbClr val="FCE500"/>
              </a:buClr>
              <a:buSzPct val="100000"/>
              <a:buFont typeface="Wingdings"/>
              <a:buChar char="§"/>
            </a:pPr>
            <a:r>
              <a:rPr sz="1050" b="0" i="0">
                <a:solidFill>
                  <a:srgbClr val="FFFFFF"/>
                </a:solidFill>
                <a:latin typeface="Arial"/>
              </a:rPr>
              <a:t>Otras características del producto</a:t>
            </a:r>
          </a:p>
        </p:txBody>
      </p:sp>
      <p:sp>
        <p:nvSpPr>
          <p:cNvPr id="23" name="TextBox 22"/>
          <p:cNvSpPr txBox="1"/>
          <p:nvPr/>
        </p:nvSpPr>
        <p:spPr>
          <a:xfrm>
            <a:off x="4370831" y="3611880"/>
            <a:ext cx="2825496" cy="411480"/>
          </a:xfrm>
          <a:prstGeom prst="rect">
            <a:avLst/>
          </a:prstGeom>
          <a:noFill/>
        </p:spPr>
        <p:txBody>
          <a:bodyPr wrap="square" lIns="0" rIns="0" tIns="0" bIns="0" anchor="t">
            <a:spAutoFit/>
          </a:bodyPr>
          <a:lstStyle/>
          <a:p>
            <a:pPr algn="l"/>
            <a:r>
              <a:rPr sz="900" b="0" i="0">
                <a:solidFill>
                  <a:srgbClr val="D6E0F0"/>
                </a:solidFill>
                <a:latin typeface="Arial"/>
              </a:rPr>
              <a:t>Aprende cómo es un producto correcto y señala lo que se sale de lo normal.</a:t>
            </a:r>
          </a:p>
        </p:txBody>
      </p:sp>
      <p:sp>
        <p:nvSpPr>
          <p:cNvPr id="24" name="Rectangle 23"/>
          <p:cNvSpPr/>
          <p:nvPr/>
        </p:nvSpPr>
        <p:spPr>
          <a:xfrm>
            <a:off x="457200" y="4206240"/>
            <a:ext cx="6903720" cy="36576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206240"/>
            <a:ext cx="6675120" cy="365760"/>
          </a:xfrm>
          <a:prstGeom prst="rect">
            <a:avLst/>
          </a:prstGeom>
          <a:noFill/>
        </p:spPr>
        <p:txBody>
          <a:bodyPr wrap="square" lIns="0" rIns="0" tIns="0" bIns="0" anchor="ctr">
            <a:spAutoFit/>
          </a:bodyPr>
          <a:lstStyle/>
          <a:p>
            <a:pPr algn="l"/>
            <a:r>
              <a:rPr sz="1000" b="1" i="0">
                <a:solidFill>
                  <a:srgbClr val="FCE500"/>
                </a:solidFill>
                <a:latin typeface="Arial"/>
              </a:rPr>
              <a:t>La base ya existe: </a:t>
            </a:r>
            <a:r>
              <a:rPr sz="1000" b="0" i="0">
                <a:solidFill>
                  <a:srgbClr val="FFFFFF"/>
                </a:solidFill>
                <a:latin typeface="Arial"/>
              </a:rPr>
              <a:t>miles de imágenes reales archivadas en PI, asociadas a sus medidas y alertas.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Dominio del proceso y mejora continua</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Cada vuelta del ciclo nos hace un poco mejores</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ANTICIPAR</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187529" y="2130552"/>
            <a:ext cx="1116218"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95550" y="1060704"/>
            <a:ext cx="900175" cy="365760"/>
          </a:xfrm>
          <a:prstGeom prst="rect">
            <a:avLst/>
          </a:prstGeom>
          <a:noFill/>
        </p:spPr>
        <p:txBody>
          <a:bodyPr wrap="square" lIns="0" tIns="0" r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tIns="0" rIns="0" bIns="0" anchor="t">
            <a:spAutoFit/>
          </a:bodyPr>
          <a:lstStyle/>
          <a:p>
            <a:pPr algn="ctr"/>
            <a:r>
              <a:rPr sz="850" b="1" i="0">
                <a:solidFill>
                  <a:srgbClr val="FFFFFF"/>
                </a:solidFill>
                <a:latin typeface="Michelin"/>
              </a:rPr>
              <a:t>VER</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0080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ENTENDER</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295550" y="3712464"/>
            <a:ext cx="900175" cy="365760"/>
          </a:xfrm>
          <a:prstGeom prst="rect">
            <a:avLst/>
          </a:prstGeom>
          <a:noFill/>
        </p:spPr>
        <p:txBody>
          <a:bodyPr wrap="square" lIns="0" tIns="0" r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tIns="0" rIns="0" bIns="0" anchor="t">
            <a:spAutoFit/>
          </a:bodyPr>
          <a:lstStyle/>
          <a:p>
            <a:pPr algn="ctr"/>
            <a:r>
              <a:rPr sz="850" b="1" i="0">
                <a:solidFill>
                  <a:srgbClr val="FFFFFF"/>
                </a:solidFill>
                <a:latin typeface="Michelin"/>
              </a:rPr>
              <a:t>DECIDIR</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9029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ANTICIPAR</a:t>
            </a:r>
          </a:p>
        </p:txBody>
      </p:sp>
      <p:sp>
        <p:nvSpPr>
          <p:cNvPr id="28" name="TextBox 27"/>
          <p:cNvSpPr txBox="1"/>
          <p:nvPr/>
        </p:nvSpPr>
        <p:spPr>
          <a:xfrm>
            <a:off x="4906060" y="960120"/>
            <a:ext cx="3780739" cy="777240"/>
          </a:xfrm>
          <a:prstGeom prst="rect">
            <a:avLst/>
          </a:prstGeom>
          <a:noFill/>
        </p:spPr>
        <p:txBody>
          <a:bodyPr wrap="square" lIns="0" tIns="0" rIns="0" bIns="0" anchor="t">
            <a:spAutoFit/>
          </a:bodyPr>
          <a:lstStyle/>
          <a:p>
            <a:pPr algn="l"/>
            <a:r>
              <a:rPr sz="1400" b="1" i="0">
                <a:solidFill>
                  <a:srgbClr val="00205B"/>
                </a:solidFill>
                <a:latin typeface="Michelin"/>
              </a:rPr>
              <a:t>Medimos</a:t>
            </a:r>
          </a:p>
          <a:p>
            <a:pPr algn="l"/>
            <a:r>
              <a:rPr sz="1100" b="0" i="0">
                <a:solidFill>
                  <a:srgbClr val="262626"/>
                </a:solidFill>
                <a:latin typeface="Arial"/>
              </a:rPr>
              <a:t>cada neumático con láser 3D</a:t>
            </a:r>
          </a:p>
        </p:txBody>
      </p:sp>
      <p:sp>
        <p:nvSpPr>
          <p:cNvPr id="29" name="TextBox 28"/>
          <p:cNvSpPr txBox="1"/>
          <p:nvPr/>
        </p:nvSpPr>
        <p:spPr>
          <a:xfrm>
            <a:off x="4906060" y="1828800"/>
            <a:ext cx="3780739" cy="777240"/>
          </a:xfrm>
          <a:prstGeom prst="rect">
            <a:avLst/>
          </a:prstGeom>
          <a:noFill/>
        </p:spPr>
        <p:txBody>
          <a:bodyPr wrap="square" lIns="0" tIns="0" rIns="0" bIns="0" anchor="t">
            <a:spAutoFit/>
          </a:bodyPr>
          <a:lstStyle/>
          <a:p>
            <a:pPr algn="l"/>
            <a:r>
              <a:rPr sz="1400" b="1" i="0">
                <a:solidFill>
                  <a:srgbClr val="00205B"/>
                </a:solidFill>
                <a:latin typeface="Michelin"/>
              </a:rPr>
              <a:t>Comprendemos</a:t>
            </a:r>
          </a:p>
          <a:p>
            <a:pPr algn="l"/>
            <a:r>
              <a:rPr sz="1100" b="0" i="0">
                <a:solidFill>
                  <a:srgbClr val="262626"/>
                </a:solidFill>
                <a:latin typeface="Arial"/>
              </a:rPr>
              <a:t>tendencias y alertas en tiempo real</a:t>
            </a:r>
          </a:p>
        </p:txBody>
      </p:sp>
      <p:sp>
        <p:nvSpPr>
          <p:cNvPr id="30" name="TextBox 29"/>
          <p:cNvSpPr txBox="1"/>
          <p:nvPr/>
        </p:nvSpPr>
        <p:spPr>
          <a:xfrm>
            <a:off x="4906060" y="2697480"/>
            <a:ext cx="3780739" cy="777240"/>
          </a:xfrm>
          <a:prstGeom prst="rect">
            <a:avLst/>
          </a:prstGeom>
          <a:noFill/>
        </p:spPr>
        <p:txBody>
          <a:bodyPr wrap="square" lIns="0" tIns="0" rIns="0" bIns="0" anchor="t">
            <a:spAutoFit/>
          </a:bodyPr>
          <a:lstStyle/>
          <a:p>
            <a:pPr algn="l"/>
            <a:r>
              <a:rPr sz="1400" b="1" i="0">
                <a:solidFill>
                  <a:srgbClr val="00205B"/>
                </a:solidFill>
                <a:latin typeface="Michelin"/>
              </a:rPr>
              <a:t>Corregimos</a:t>
            </a:r>
          </a:p>
          <a:p>
            <a:pPr algn="l"/>
            <a:r>
              <a:rPr sz="1100" b="0" i="0">
                <a:solidFill>
                  <a:srgbClr val="262626"/>
                </a:solidFill>
                <a:latin typeface="Arial"/>
              </a:rPr>
              <a:t>automáticamente con R4P</a:t>
            </a:r>
          </a:p>
        </p:txBody>
      </p:sp>
      <p:sp>
        <p:nvSpPr>
          <p:cNvPr id="31" name="TextBox 30"/>
          <p:cNvSpPr txBox="1"/>
          <p:nvPr/>
        </p:nvSpPr>
        <p:spPr>
          <a:xfrm>
            <a:off x="4906060" y="3566159"/>
            <a:ext cx="3780739" cy="777240"/>
          </a:xfrm>
          <a:prstGeom prst="rect">
            <a:avLst/>
          </a:prstGeom>
          <a:noFill/>
        </p:spPr>
        <p:txBody>
          <a:bodyPr wrap="square" lIns="0" tIns="0" rIns="0" bIns="0" anchor="t">
            <a:spAutoFit/>
          </a:bodyPr>
          <a:lstStyle/>
          <a:p>
            <a:pPr algn="l"/>
            <a:r>
              <a:rPr sz="1400" b="1" i="0">
                <a:solidFill>
                  <a:srgbClr val="00205B"/>
                </a:solidFill>
                <a:latin typeface="Michelin"/>
              </a:rPr>
              <a:t>Aprendemos</a:t>
            </a:r>
          </a:p>
          <a:p>
            <a:pPr algn="l"/>
            <a:r>
              <a:rPr sz="1100" b="0" i="0">
                <a:solidFill>
                  <a:srgbClr val="262626"/>
                </a:solidFill>
                <a:latin typeface="Arial"/>
              </a:rPr>
              <a:t>patrones con Dataiku e IA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La </a:t>
            </a:r>
            <a:r>
              <a:rPr dirty="0" err="1"/>
              <a:t>información</a:t>
            </a:r>
            <a:r>
              <a:rPr dirty="0"/>
              <a:t> </a:t>
            </a:r>
            <a:r>
              <a:rPr dirty="0" err="1"/>
              <a:t>adecuada</a:t>
            </a:r>
            <a:r>
              <a:rPr dirty="0"/>
              <a:t> para </a:t>
            </a:r>
            <a:r>
              <a:rPr dirty="0" err="1"/>
              <a:t>cada</a:t>
            </a:r>
            <a:r>
              <a:rPr dirty="0"/>
              <a:t> </a:t>
            </a:r>
            <a:r>
              <a:rPr sz="1400" dirty="0"/>
              <a:t>persona</a:t>
            </a:r>
            <a:endParaRPr dirty="0"/>
          </a:p>
        </p:txBody>
      </p:sp>
      <p:sp>
        <p:nvSpPr>
          <p:cNvPr id="4" name="TextBox 3"/>
          <p:cNvSpPr txBox="1"/>
          <p:nvPr/>
        </p:nvSpPr>
        <p:spPr>
          <a:xfrm>
            <a:off x="585216" y="642091"/>
            <a:ext cx="4500879" cy="274320"/>
          </a:xfrm>
          <a:prstGeom prst="rect">
            <a:avLst/>
          </a:prstGeom>
          <a:noFill/>
        </p:spPr>
        <p:txBody>
          <a:bodyPr wrap="square" lIns="0" tIns="0" rIns="0" bIns="0" anchor="t">
            <a:spAutoFit/>
          </a:bodyPr>
          <a:lstStyle/>
          <a:p>
            <a:pPr algn="l"/>
            <a:r>
              <a:rPr sz="1050" b="0" i="0" dirty="0">
                <a:solidFill>
                  <a:srgbClr val="27509B"/>
                </a:solidFill>
                <a:latin typeface="Arial"/>
              </a:rPr>
              <a:t>El </a:t>
            </a:r>
            <a:r>
              <a:rPr sz="1050" b="0" i="0" dirty="0" err="1">
                <a:solidFill>
                  <a:srgbClr val="27509B"/>
                </a:solidFill>
                <a:latin typeface="Arial"/>
              </a:rPr>
              <a:t>mismo</a:t>
            </a:r>
            <a:r>
              <a:rPr sz="1050" b="0" i="0" dirty="0">
                <a:solidFill>
                  <a:srgbClr val="27509B"/>
                </a:solidFill>
                <a:latin typeface="Arial"/>
              </a:rPr>
              <a:t> </a:t>
            </a:r>
            <a:r>
              <a:rPr sz="1050" b="0" i="0" dirty="0" err="1">
                <a:solidFill>
                  <a:srgbClr val="27509B"/>
                </a:solidFill>
                <a:latin typeface="Arial"/>
              </a:rPr>
              <a:t>dato</a:t>
            </a:r>
            <a:r>
              <a:rPr sz="1050" b="0" i="0" dirty="0">
                <a:solidFill>
                  <a:srgbClr val="27509B"/>
                </a:solidFill>
                <a:latin typeface="Arial"/>
              </a:rPr>
              <a:t>, </a:t>
            </a:r>
            <a:r>
              <a:rPr sz="1050" b="0" i="0" dirty="0" err="1">
                <a:solidFill>
                  <a:srgbClr val="27509B"/>
                </a:solidFill>
                <a:latin typeface="Arial"/>
              </a:rPr>
              <a:t>convertido</a:t>
            </a:r>
            <a:r>
              <a:rPr sz="1050" b="0" i="0" dirty="0">
                <a:solidFill>
                  <a:srgbClr val="27509B"/>
                </a:solidFill>
                <a:latin typeface="Arial"/>
              </a:rPr>
              <a:t> </a:t>
            </a:r>
            <a:r>
              <a:rPr sz="1050" b="0" i="0" dirty="0" err="1">
                <a:solidFill>
                  <a:srgbClr val="27509B"/>
                </a:solidFill>
                <a:latin typeface="Arial"/>
              </a:rPr>
              <a:t>en</a:t>
            </a:r>
            <a:r>
              <a:rPr sz="1050" b="0" i="0" dirty="0">
                <a:solidFill>
                  <a:srgbClr val="27509B"/>
                </a:solidFill>
                <a:latin typeface="Arial"/>
              </a:rPr>
              <a:t> </a:t>
            </a:r>
            <a:r>
              <a:rPr sz="1050" b="0" i="0" dirty="0" err="1">
                <a:solidFill>
                  <a:srgbClr val="27509B"/>
                </a:solidFill>
                <a:latin typeface="Arial"/>
              </a:rPr>
              <a:t>acción</a:t>
            </a:r>
            <a:r>
              <a:rPr sz="1050" b="0" i="0" dirty="0">
                <a:solidFill>
                  <a:srgbClr val="27509B"/>
                </a:solidFill>
                <a:latin typeface="Arial"/>
              </a:rPr>
              <a:t> </a:t>
            </a:r>
            <a:r>
              <a:rPr sz="1050" b="0" i="0" dirty="0" err="1">
                <a:solidFill>
                  <a:srgbClr val="27509B"/>
                </a:solidFill>
                <a:latin typeface="Arial"/>
              </a:rPr>
              <a:t>en</a:t>
            </a:r>
            <a:r>
              <a:rPr sz="1050" b="0" i="0" dirty="0">
                <a:solidFill>
                  <a:srgbClr val="27509B"/>
                </a:solidFill>
                <a:latin typeface="Arial"/>
              </a:rPr>
              <a:t> </a:t>
            </a:r>
            <a:r>
              <a:rPr sz="1050" b="0" i="0" dirty="0" err="1">
                <a:solidFill>
                  <a:srgbClr val="27509B"/>
                </a:solidFill>
                <a:latin typeface="Arial"/>
              </a:rPr>
              <a:t>cada</a:t>
            </a:r>
            <a:r>
              <a:rPr sz="1050" b="0" i="0" dirty="0">
                <a:solidFill>
                  <a:srgbClr val="27509B"/>
                </a:solidFill>
                <a:latin typeface="Arial"/>
              </a:rPr>
              <a:t> </a:t>
            </a:r>
            <a:r>
              <a:rPr sz="1050" b="0" i="0" dirty="0" err="1">
                <a:solidFill>
                  <a:srgbClr val="27509B"/>
                </a:solidFill>
                <a:latin typeface="Arial"/>
              </a:rPr>
              <a:t>nivel</a:t>
            </a:r>
            <a:endParaRPr sz="1050" b="0" i="0" dirty="0">
              <a:solidFill>
                <a:srgbClr val="27509B"/>
              </a:solidFill>
              <a:latin typeface="Arial"/>
            </a:endParaRP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Operario</a:t>
            </a:r>
          </a:p>
        </p:txBody>
      </p:sp>
      <p:sp>
        <p:nvSpPr>
          <p:cNvPr id="8" name="TextBox 7"/>
          <p:cNvSpPr txBox="1"/>
          <p:nvPr/>
        </p:nvSpPr>
        <p:spPr>
          <a:xfrm>
            <a:off x="585216"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Ve el estado de su puesto en tiempo real.</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Proceso y mantenimiento</a:t>
            </a:r>
          </a:p>
        </p:txBody>
      </p:sp>
      <p:sp>
        <p:nvSpPr>
          <p:cNvPr id="12" name="TextBox 11"/>
          <p:cNvSpPr txBox="1"/>
          <p:nvPr/>
        </p:nvSpPr>
        <p:spPr>
          <a:xfrm>
            <a:off x="3353257"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Reciben la alerta y actúan sobre la máquina.</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Ingeniería y calidad</a:t>
            </a:r>
          </a:p>
        </p:txBody>
      </p:sp>
      <p:sp>
        <p:nvSpPr>
          <p:cNvPr id="16" name="TextBox 15"/>
          <p:cNvSpPr txBox="1"/>
          <p:nvPr/>
        </p:nvSpPr>
        <p:spPr>
          <a:xfrm>
            <a:off x="6121298"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Analizan tendencias y mejoran reglas e IQF.</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Cada neumático: visto, entendido, decidido y cada día mejor</a:t>
            </a:r>
          </a:p>
        </p:txBody>
      </p:sp>
      <p:sp>
        <p:nvSpPr>
          <p:cNvPr id="3" name="TextBox 2"/>
          <p:cNvSpPr txBox="1"/>
          <p:nvPr/>
        </p:nvSpPr>
        <p:spPr>
          <a:xfrm>
            <a:off x="530352" y="3840480"/>
            <a:ext cx="6400800" cy="365760"/>
          </a:xfrm>
          <a:prstGeom prst="rect">
            <a:avLst/>
          </a:prstGeom>
          <a:noFill/>
        </p:spPr>
        <p:txBody>
          <a:bodyPr wrap="square" lIns="0" tIns="0" rIns="0" bIns="0" anchor="t">
            <a:spAutoFit/>
          </a:bodyPr>
          <a:lstStyle/>
          <a:p>
            <a:pPr algn="l"/>
            <a:r>
              <a:rPr sz="1600" b="1" i="0">
                <a:solidFill>
                  <a:srgbClr val="FCE500"/>
                </a:solidFill>
                <a:latin typeface="Michelin"/>
              </a:rPr>
              <a:t>Ver  ·  Entender  ·  Decidir  ·  Anticipar</a:t>
            </a:r>
          </a:p>
        </p:txBody>
      </p:sp>
      <p:pic>
        <p:nvPicPr>
          <p:cNvPr id="4" name="Picture 3" descr="tire.png"/>
          <p:cNvPicPr>
            <a:picLocks noChangeAspect="1"/>
          </p:cNvPicPr>
          <p:nvPr/>
        </p:nvPicPr>
        <p:blipFill>
          <a:blip r:embed="rId3"/>
          <a:stretch>
            <a:fillRect/>
          </a:stretch>
        </p:blipFill>
        <p:spPr>
          <a:xfrm>
            <a:off x="6400800" y="914400"/>
            <a:ext cx="2194560" cy="2194560"/>
          </a:xfrm>
          <a:prstGeom prst="rect">
            <a:avLst/>
          </a:prstGeom>
        </p:spPr>
      </p:pic>
      <p:pic>
        <p:nvPicPr>
          <p:cNvPr id="5" name="Picture 4" descr="hy_white.png"/>
          <p:cNvPicPr>
            <a:picLocks noChangeAspect="1"/>
          </p:cNvPicPr>
          <p:nvPr/>
        </p:nvPicPr>
        <p:blipFill>
          <a:blip r:embed="rId4"/>
          <a:stretch>
            <a:fillRect/>
          </a:stretch>
        </p:blipFill>
        <p:spPr>
          <a:xfrm>
            <a:off x="530352" y="4224528"/>
            <a:ext cx="533696" cy="274320"/>
          </a:xfrm>
          <a:prstGeom prst="rect">
            <a:avLst/>
          </a:prstGeom>
        </p:spPr>
      </p:pic>
      <p:sp>
        <p:nvSpPr>
          <p:cNvPr id="6" name="TextBox 5"/>
          <p:cNvSpPr txBox="1"/>
          <p:nvPr/>
        </p:nvSpPr>
        <p:spPr>
          <a:xfrm>
            <a:off x="1173776" y="4224528"/>
            <a:ext cx="2011680" cy="274320"/>
          </a:xfrm>
          <a:prstGeom prst="rect">
            <a:avLst/>
          </a:prstGeom>
          <a:noFill/>
        </p:spPr>
        <p:txBody>
          <a:bodyPr wrap="square" lIns="0" rIns="0" tIns="0" bIns="0" anchor="ctr">
            <a:spAutoFit/>
          </a:bodyPr>
          <a:lstStyle/>
          <a:p>
            <a:pPr algn="l"/>
            <a:r>
              <a:rPr sz="1200" b="1" i="0">
                <a:solidFill>
                  <a:srgbClr val="FFFFFF"/>
                </a:solidFill>
                <a:latin typeface="Arial"/>
              </a:rPr>
              <a:t>HYUNDAI</a:t>
            </a:r>
          </a:p>
        </p:txBody>
      </p:sp>
      <p:sp>
        <p:nvSpPr>
          <p:cNvPr id="7" name="TextBox 6"/>
          <p:cNvSpPr txBox="1"/>
          <p:nvPr/>
        </p:nvSpPr>
        <p:spPr>
          <a:xfrm>
            <a:off x="1920240" y="4224528"/>
            <a:ext cx="4389120" cy="274320"/>
          </a:xfrm>
          <a:prstGeom prst="rect">
            <a:avLst/>
          </a:prstGeom>
          <a:noFill/>
        </p:spPr>
        <p:txBody>
          <a:bodyPr wrap="square" lIns="0" rIns="0" tIns="0" bIns="0" anchor="ctr">
            <a:spAutoFit/>
          </a:bodyPr>
          <a:lstStyle/>
          <a:p>
            <a:pPr algn="l"/>
            <a:r>
              <a:rPr sz="1050" b="1" i="0">
                <a:solidFill>
                  <a:srgbClr val="FFFFFF"/>
                </a:solidFill>
                <a:latin typeface="Michelin"/>
              </a:rPr>
              <a:t>&amp;  MICHELIN · Socios de confianza para nuevas tecnologías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lstStyle/>
          <a:p>
            <a:r>
              <a:rPr sz="1800"/>
              <a:t>Dataiku: un flujo real de datos</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La característica de calidad CQ 38.1, de la confección a la cocción</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sp>
        <p:nvSpPr>
          <p:cNvPr id="12" name="Rectangle 11"/>
          <p:cNvSpPr/>
          <p:nvPr/>
        </p:nvSpPr>
        <p:spPr>
          <a:xfrm>
            <a:off x="457200" y="960120"/>
            <a:ext cx="8229600"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475488" y="981394"/>
            <a:ext cx="8193024" cy="2929250"/>
          </a:xfrm>
          <a:prstGeom prst="rect">
            <a:avLst/>
          </a:prstGeom>
        </p:spPr>
      </p:pic>
      <p:sp>
        <p:nvSpPr>
          <p:cNvPr id="14" name="Oval 13"/>
          <p:cNvSpPr/>
          <p:nvPr/>
        </p:nvSpPr>
        <p:spPr>
          <a:xfrm>
            <a:off x="1108472" y="213310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08472" y="213310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001511" y="213310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01511" y="213310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2861779" y="227956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1779" y="227956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1681983" y="194270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81983" y="194270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5164019" y="18108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4019" y="18108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5</a:t>
            </a:r>
          </a:p>
        </p:txBody>
      </p:sp>
      <p:sp>
        <p:nvSpPr>
          <p:cNvPr id="24" name="Oval 23"/>
          <p:cNvSpPr/>
          <p:nvPr/>
        </p:nvSpPr>
        <p:spPr>
          <a:xfrm>
            <a:off x="45720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6" name="TextBox 25"/>
          <p:cNvSpPr txBox="1"/>
          <p:nvPr/>
        </p:nvSpPr>
        <p:spPr>
          <a:xfrm>
            <a:off x="841247"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Plugin PI</a:t>
            </a:r>
          </a:p>
          <a:p>
            <a:pPr algn="l"/>
            <a:r>
              <a:rPr sz="850" b="0" i="0">
                <a:solidFill>
                  <a:srgbClr val="D6E0F0"/>
                </a:solidFill>
                <a:latin typeface="Arial"/>
              </a:rPr>
              <a:t>lee las medidas de cada puesto</a:t>
            </a:r>
          </a:p>
        </p:txBody>
      </p:sp>
      <p:sp>
        <p:nvSpPr>
          <p:cNvPr id="27" name="Oval 26"/>
          <p:cNvSpPr/>
          <p:nvPr/>
        </p:nvSpPr>
        <p:spPr>
          <a:xfrm>
            <a:off x="1874519"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74519"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9" name="TextBox 28"/>
          <p:cNvSpPr txBox="1"/>
          <p:nvPr/>
        </p:nvSpPr>
        <p:spPr>
          <a:xfrm>
            <a:off x="225856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Preparación</a:t>
            </a:r>
          </a:p>
          <a:p>
            <a:pPr algn="l"/>
            <a:r>
              <a:rPr sz="850" b="0" i="0">
                <a:solidFill>
                  <a:srgbClr val="D6E0F0"/>
                </a:solidFill>
                <a:latin typeface="Arial"/>
              </a:rPr>
              <a:t>limpieza automática</a:t>
            </a:r>
          </a:p>
        </p:txBody>
      </p:sp>
      <p:sp>
        <p:nvSpPr>
          <p:cNvPr id="30" name="Oval 29"/>
          <p:cNvSpPr/>
          <p:nvPr/>
        </p:nvSpPr>
        <p:spPr>
          <a:xfrm>
            <a:off x="329184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9184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2" name="TextBox 31"/>
          <p:cNvSpPr txBox="1"/>
          <p:nvPr/>
        </p:nvSpPr>
        <p:spPr>
          <a:xfrm>
            <a:off x="367588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Unión</a:t>
            </a:r>
          </a:p>
          <a:p>
            <a:pPr algn="l"/>
            <a:r>
              <a:rPr sz="850" b="0" i="0">
                <a:solidFill>
                  <a:srgbClr val="D6E0F0"/>
                </a:solidFill>
                <a:latin typeface="Arial"/>
              </a:rPr>
              <a:t>series temporales entre puestos</a:t>
            </a:r>
          </a:p>
        </p:txBody>
      </p:sp>
      <p:sp>
        <p:nvSpPr>
          <p:cNvPr id="33" name="Oval 32"/>
          <p:cNvSpPr/>
          <p:nvPr/>
        </p:nvSpPr>
        <p:spPr>
          <a:xfrm>
            <a:off x="470916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0916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5" name="TextBox 34"/>
          <p:cNvSpPr txBox="1"/>
          <p:nvPr/>
        </p:nvSpPr>
        <p:spPr>
          <a:xfrm>
            <a:off x="509320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Matrícula</a:t>
            </a:r>
          </a:p>
          <a:p>
            <a:pPr algn="l"/>
            <a:r>
              <a:rPr sz="850" b="0" i="0">
                <a:solidFill>
                  <a:srgbClr val="D6E0F0"/>
                </a:solidFill>
                <a:latin typeface="Arial"/>
              </a:rPr>
              <a:t>la identidad del neumático</a:t>
            </a:r>
          </a:p>
        </p:txBody>
      </p:sp>
      <p:sp>
        <p:nvSpPr>
          <p:cNvPr id="36" name="Oval 35"/>
          <p:cNvSpPr/>
          <p:nvPr/>
        </p:nvSpPr>
        <p:spPr>
          <a:xfrm>
            <a:off x="612648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5</a:t>
            </a:r>
          </a:p>
        </p:txBody>
      </p:sp>
      <p:sp>
        <p:nvSpPr>
          <p:cNvPr id="38" name="TextBox 37"/>
          <p:cNvSpPr txBox="1"/>
          <p:nvPr/>
        </p:nvSpPr>
        <p:spPr>
          <a:xfrm>
            <a:off x="651052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Cocción C11</a:t>
            </a:r>
          </a:p>
          <a:p>
            <a:pPr algn="l"/>
            <a:r>
              <a:rPr sz="850" b="0" i="0">
                <a:solidFill>
                  <a:srgbClr val="D6E0F0"/>
                </a:solidFill>
                <a:latin typeface="Arial"/>
              </a:rPr>
              <a:t>se completa su historia</a:t>
            </a:r>
          </a:p>
        </p:txBody>
      </p:sp>
      <p:sp>
        <p:nvSpPr>
          <p:cNvPr id="39" name="TextBox 38"/>
          <p:cNvSpPr txBox="1"/>
          <p:nvPr/>
        </p:nvSpPr>
        <p:spPr>
          <a:xfrm>
            <a:off x="2194560" y="1060704"/>
            <a:ext cx="2194560" cy="201168"/>
          </a:xfrm>
          <a:prstGeom prst="rect">
            <a:avLst/>
          </a:prstGeom>
          <a:noFill/>
        </p:spPr>
        <p:txBody>
          <a:bodyPr wrap="square" lIns="0" rIns="0" tIns="0" bIns="0" anchor="t">
            <a:spAutoFit/>
          </a:bodyPr>
          <a:lstStyle/>
          <a:p>
            <a:pPr algn="l"/>
            <a:r>
              <a:rPr sz="800" b="1" i="0">
                <a:solidFill>
                  <a:srgbClr val="00205B"/>
                </a:solidFill>
                <a:latin typeface="Michelin"/>
              </a:rPr>
              <a:t>ZONA CQ 38.1</a:t>
            </a:r>
          </a:p>
        </p:txBody>
      </p:sp>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94B55E-88C1-4C38-974C-5A1CAEEDB19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26</TotalTime>
  <Words>2676</Words>
  <Application>Microsoft Office PowerPoint</Application>
  <PresentationFormat>Personalizado</PresentationFormat>
  <Paragraphs>362</Paragraphs>
  <Slides>25</Slides>
  <Notes>24</Notes>
  <HiddenSlides>0</HiddenSlides>
  <MMClips>0</MMClips>
  <ScaleCrop>false</ScaleCrop>
  <HeadingPairs>
    <vt:vector size="6" baseType="variant">
      <vt:variant>
        <vt:lpstr>Fuentes usadas</vt:lpstr>
      </vt:variant>
      <vt:variant>
        <vt:i4>10</vt:i4>
      </vt:variant>
      <vt:variant>
        <vt:lpstr>Tema</vt:lpstr>
      </vt:variant>
      <vt:variant>
        <vt:i4>3</vt:i4>
      </vt:variant>
      <vt:variant>
        <vt:lpstr>Títulos de diapositiva</vt:lpstr>
      </vt:variant>
      <vt:variant>
        <vt:i4>25</vt:i4>
      </vt:variant>
    </vt:vector>
  </HeadingPairs>
  <TitlesOfParts>
    <vt:vector size="38" baseType="lpstr">
      <vt:lpstr>Aptos</vt:lpstr>
      <vt:lpstr>Arial</vt:lpstr>
      <vt:lpstr>Arial Black</vt:lpstr>
      <vt:lpstr>Calibri</vt:lpstr>
      <vt:lpstr>Lucida Grande</vt:lpstr>
      <vt:lpstr>Michelin</vt:lpstr>
      <vt:lpstr>Michelin Light</vt:lpstr>
      <vt:lpstr>Michelin SemiBold</vt:lpstr>
      <vt:lpstr>Wingdings</vt:lpstr>
      <vt:lpstr>Wingdings 3</vt:lpstr>
      <vt:lpstr>2_Thème Office</vt:lpstr>
      <vt:lpstr>1_Thème Office</vt:lpstr>
      <vt:lpstr>3_Thème Office</vt:lpstr>
      <vt:lpstr>Calidad que se decide en tiempo real</vt:lpstr>
      <vt:lpstr>¿Y si cada neumático pudiera contarnos cómo se fabricó?</vt:lpstr>
      <vt:lpstr>Dos formas de controlar la calidad</vt:lpstr>
      <vt:lpstr>Nuestro sistema en un solo ciclo</vt:lpstr>
      <vt:lpstr>01  Ver</vt:lpstr>
      <vt:lpstr>Medimos cada producto.</vt:lpstr>
      <vt:lpstr>Así medimos una soldadura NST en BNS</vt:lpstr>
      <vt:lpstr>Cada puesto, cada medida, en directo</vt:lpstr>
      <vt:lpstr>Toda la línea, de un vistazo</vt:lpstr>
      <vt:lpstr>02 Entender</vt:lpstr>
      <vt:lpstr>Vemos la deriva antes que el defecto</vt:lpstr>
      <vt:lpstr>Alerta antes de que exista el defecto</vt:lpstr>
      <vt:lpstr>Cada imagen y cada alerta, guardadas</vt:lpstr>
      <vt:lpstr>03 Decidir: R4P</vt:lpstr>
      <vt:lpstr>R4P: el experto en cada neumático</vt:lpstr>
      <vt:lpstr>Cuatro respuestas automáticas</vt:lpstr>
      <vt:lpstr>R4P en acción: la deriva se corrige sola</vt:lpstr>
      <vt:lpstr>Por qué R4P marca la diferencia</vt:lpstr>
      <vt:lpstr>04 Anticipar</vt:lpstr>
      <vt:lpstr>Dataiku: de millones de datos a patrones</vt:lpstr>
      <vt:lpstr>IA sobre nuestras imágenes láser</vt:lpstr>
      <vt:lpstr>Dominio del proceso y mejora continua</vt:lpstr>
      <vt:lpstr>La información adecuada para cada persona</vt:lpstr>
      <vt:lpstr>Cada neumático: visto, entendido, decidido y cada día mejor</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Christelle Garot</dc:creator>
  <cp:lastModifiedBy>Asier Del Pozo Perez</cp:lastModifiedBy>
  <cp:revision>36</cp:revision>
  <dcterms:modified xsi:type="dcterms:W3CDTF">2026-10-21T06:18:05Z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