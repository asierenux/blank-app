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con calma y con orgullo. El título resume la promesa: la calidad no se inspecciona al final, se decide en cada segundo de la fabricación.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Personalización para Hyundai: conectar desde el principio con su producto. Es el mismo mensaje del folleto del Tucson 2027 (Primacy 5 Energy 235/45 R20, código 5759, CAI 514126A). La frase de abajo hace de puente con el resto: todo lo que van a ver se aplica a los neumáticos de su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Gancho de curiosidad: lanzar la pregunta y esperar dos segundos. Una pregunta abre la mente del oyente mucho más que una afirmación. Después: 'Hoy lo hace. Les enseñamos cómo'.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Principio de contraste: primero el modelo tradicional, que el cliente conoce bien; después el nuestro. Sin criticar a nadie: el contraste habla solo y ancla la percepción de valor.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Mapa mental de toda la presentación. El cerebro recuerda mejor una estructura simple y circular: Ver, Entender, Decidir, Anticipar. En el centro, el IQF: todo el sistema trabaja para proteger nuestro indicador de calidad. Las herramientas de cada paso: perfilómetros láser Gocator (ver), PI System y PI Vision (entender), R4P (decidir), Dataiku e IA (anticipar).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paso del ciclo: Ver. Mantener la estructura de cuatro verbos durante toda la presentación ayuda a que el cliente no se pierda y recuerde el mensaje.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Perfilómetros láser 3D Gocator (LMI): hasta 5.000 perfiles por segundo y repetibilidad de micras según modelo. En la MAC: 8 puestos, 16 sensores, 1 PLC y 4 PCs. Explicar el mapa de color: cada color es una altura; un relieve anómalo salta a la vista.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mide una soldadura de NST en la línea BNS: el perfilómetro genera un mapa 3D de la unión (1), se traza una sección de medida sobre la soldadura (2) y el perfil resultante (3) cuantifica la unión. En la pantalla BNS62 estas medidas se siguen en continuo: superposición, altura, offset y calidad de soldadura.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MAC4 (marzo de 2026). Cada columna es un puesto de la máquina (GI, RFI, NC1, BT, TT, PS, BJ, PT, FE...), con sus medidas de trusquín, anchura, diámetro y soldadura. El código de colores distingue vigilancia y control, y el indicador 'Medida 100 %' confirma que se mide cada neumático.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BNS62 (marzo de 2026). Arriba, la regla de alerta y el código de colores (1). Cada bloque es un puesto con centrado, anchura y soldadura (2). Desde la propia pantalla se accede al IQF, a las imágenes y al histórico de alertas (3). En el KM se siguen altura, calidad y offset de soldadura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paso: Entender. Los datos solos no sirven; lo que vale es leerlos a tiempo y que la persona adecuada lo sepa.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los números sobre la pantalla real. Transparencia total: es la pantalla que usan nuestros equipos. La mediana de las 20 últimas medidas filtra el ruido y muestra la tendencia; las tolerancias y el valor teórico están siempre a la vista.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la gráfica como una historia: la tendencia sube y cruza la tolerancia (1): salta la alerta y llega al móvil del responsable. Se actúa y la tendencia vuelve (2). Regla de alerta: mediana de las últimas 20 medidas fuera de tolerancia en MAC; de las últimas 10 en BNS. Las alertas se dirigen al equipo adecuado: proceso (CARE) o mantenimiento (TECH).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Trazabilidad: en PI Vision se selecciona un puesto y se recupera la imagen de cada producto con su fecha y hora; el histórico de alertas registra puesto, tipo, inicio, fin y duración. Este archivo de imágenes y datos es además la base sobre la que entrenaremos la 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Clímax de la presentación. A partir de aquí el mensaje cambia: no solo vemos y entendemos; el sistema decide y actúa por sí mismo.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Metáfora: R4P es como tener a nuestro mejor técnico de proceso vigilando cada neumático, en cada turno, sin cansarse. Sus reglas recogen el conocimiento experto y lo aplican automáticamente.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opciones claras, de menor a mayor firmeza. Alertar y ajustar funcionan hoy, bloquear está en pruebas; la segregación automática es la siguiente fase según el propio esquema de R4P. Ser transparentes refuerza la credibilidad.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el caso en cuatro pasos sobre la pantalla real (MAC6, P17, enero de 2026). 1: el trusquín llega al límite inferior. 2: R4P activa la corrección ODM. 3: la medida vuelve al valor teórico. 4: cuando la corrección se desactiva, la medida vuelve a derivar. Ese contraste es la mejor prueba de que la corrección funciona.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clave para vender R4P. Esquema ilustrativo (no son datos reales): cada círculo es un neumático que sale de la máquina. Sin R4P, desde que empieza la deriva hasta que alguien ve la alerta, llega a la máquina y ajusta, se siguen fabricando neumáticos fuera de su objetivo. Con R4P, la regla actúa en cuanto la medida se desvía y la producción vuelve al objetivo de inmediato. Cada minuto que ahorra R4P son neumáticos que nunca salen de su valor teórico. Además, las reglas son las mismas en todos los turnos y cada decisión queda registrada en PI.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Cuarto paso, el futuro: mirar hacia delante genera ilusión y confianza (proyección de futuro). El cliente compra también hacia dónde vamos.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es una plataforma de analítica avanzada y ciencia de datos. Nos permite unir en un mismo flujo los datos de medida de PI System, las imágenes y los resultados de calidad (IQF), y buscar los patrones que se repiten antes de un problema de calidad o de una deriva. Lo más valioso: la usan nuestros propios técnicos e ingenieros de proceso y calidad, no solo especialistas en datos. Lo que encontramos se convierte en nuevas reglas, alertas y mejoras de proceso.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del Flow de un proyecto Dataiku dedicado a la característica de calidad CQ 38.1 (zona verde). Se lee de izquierda a derecha. 1) Las fuentes: el plugin de PI (iconos rojos) lee directamente de PI System las medidas de cada puesto de la máquina (por ejemplo FE, PT y BJ). 2) Recetas de preparación (iconos amarillos de brocha): limpian y ordenan los datos de forma automática, siempre igual. 3) Recetas de series temporales y de unión: alinean en el tiempo las medidas de los distintos puestos y las juntan. 4) La matrícula: une todas las medidas con la identidad de cada neumático. 5) Zona 'Cocción Prensa C11': se añaden los datos de la prensa de cocción, de modo que cada neumático queda con su historia completa, de la confección a la cocción. El resultado es una tabla lista para buscar patrones (qué condiciones aparecen antes de una deriva o de un problema de calidad) y para cruzarla con el IQF. Todo el flujo se reejecuta solo cuando llegan datos nuevos (botón Build), sin trabajo manual. El proyecto tiene 154 elementos.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Mensaje clave: la IA no sustituye a la medida. Las medidas se hacen siempre con los perfilómetros láser y sus cotas y tolerancias (anchura, trusquín, centrado, soldadura). La IA trabaja sobre esas mismas imágenes para detectar características del producto que no se pueden expresar con una cota: rugosidades y textura de la superficie, posibles materias extrañas, goma mal dispersa y otros aspectos del producto. Se entrena con imágenes de producto correcto y señala lo que se sale de lo normal. La base ya existe: miles de imágenes reales archivadas en PI. Estado: en estudio.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la parte técnica con el ciclo completo, el mismo del principio (repetición = recuerdo). Cada vuelta aporta conocimiento: lo que descubrimos con Dataiku y la IA se convierte en nuevas reglas de R4P y en un IQF mejor. Es un sistema vivo, que aprende.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sobre las personas, sin exagerar: el sistema no sustituye a nadie, da a cada perfil lo que necesita para actuar. Operario: estado de su puesto en tiempo real. Técnicos de proceso (CARE) y mantenimiento (TECH): alertas en pantalla y en el móvil. Ingeniería y calidad: pantallas de análisis técnico para estudiar tendencias, mejorar las reglas y el IQF.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memorable: repetir los cuatro verbos. Dejar un silencio al final. Es la frase que queremos que recuerden.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Calidad que se decide en tiempo real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6.xml"/><Relationship Id="rId4" Type="http://schemas.openxmlformats.org/officeDocument/2006/relationships/image" Target="../media/image3.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image" Target="../media/image37.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image" Target="../media/image24.png"/><Relationship Id="rId4" Type="http://schemas.openxmlformats.org/officeDocument/2006/relationships/image" Target="../media/image39.jpg"/><Relationship Id="rId5" Type="http://schemas.openxmlformats.org/officeDocument/2006/relationships/notesSlide" Target="../notesSlides/notesSlide25.xml"/><Relationship Id="rId6" Type="http://schemas.openxmlformats.org/officeDocument/2006/relationships/image" Target="../media/image4.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Calidad que se decide en tiempo real</a:t>
            </a:r>
          </a:p>
        </p:txBody>
      </p:sp>
      <p:pic>
        <p:nvPicPr>
          <p:cNvPr id="3" name="Picture 2" descr="hy_blue.png"/>
          <p:cNvPicPr>
            <a:picLocks noChangeAspect="1"/>
          </p:cNvPicPr>
          <p:nvPr/>
        </p:nvPicPr>
        <p:blipFill>
          <a:blip r:embed="rId2"/>
          <a:stretch>
            <a:fillRect/>
          </a:stretch>
        </p:blipFill>
        <p:spPr>
          <a:xfrm>
            <a:off x="4993940" y="5120640"/>
            <a:ext cx="747175" cy="384048"/>
          </a:xfrm>
          <a:prstGeom prst="rect">
            <a:avLst/>
          </a:prstGeom>
        </p:spPr>
      </p:pic>
      <p:sp>
        <p:nvSpPr>
          <p:cNvPr id="4" name="TextBox 3"/>
          <p:cNvSpPr txBox="1"/>
          <p:nvPr/>
        </p:nvSpPr>
        <p:spPr>
          <a:xfrm>
            <a:off x="5878275" y="5120640"/>
            <a:ext cx="2743200" cy="384048"/>
          </a:xfrm>
          <a:prstGeom prst="rect">
            <a:avLst/>
          </a:prstGeom>
          <a:noFill/>
        </p:spPr>
        <p:txBody>
          <a:bodyPr wrap="square" lIns="0" rIns="0" tIns="0" bIns="0" anchor="ctr">
            <a:spAutoFit/>
          </a:bodyPr>
          <a:lstStyle/>
          <a:p>
            <a:pPr algn="l"/>
            <a:r>
              <a:rPr sz="1800" b="1">
                <a:solidFill>
                  <a:schemeClr val="tx1"/>
                </a:solidFill>
                <a:latin typeface="BIB Bold"/>
              </a:rPr>
              <a:t>Hyundai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l="15079" r="15079"/>
          <a:stretch>
            <a:fillRect/>
          </a:stretch>
        </p:blipFill>
        <p:spPr/>
      </p:pic>
      <p:sp>
        <p:nvSpPr>
          <p:cNvPr id="3" name="Title 2"/>
          <p:cNvSpPr>
            <a:spLocks noGrp="1"/>
          </p:cNvSpPr>
          <p:nvPr>
            <p:ph type="title"/>
          </p:nvPr>
        </p:nvSpPr>
        <p:spPr/>
        <p:txBody>
          <a:bodyPr/>
          <a:lstStyle/>
          <a:p>
            <a:r>
              <a:t>Hyundai &amp; Michelin</a:t>
            </a:r>
          </a:p>
        </p:txBody>
      </p:sp>
      <p:pic>
        <p:nvPicPr>
          <p:cNvPr id="4" name="Picture 3" descr="tire.png"/>
          <p:cNvPicPr>
            <a:picLocks noChangeAspect="1"/>
          </p:cNvPicPr>
          <p:nvPr/>
        </p:nvPicPr>
        <p:blipFill>
          <a:blip r:embed="rId3"/>
          <a:stretch>
            <a:fillRect/>
          </a:stretch>
        </p:blipFill>
        <p:spPr>
          <a:xfrm>
            <a:off x="4572000" y="4343400"/>
            <a:ext cx="2103120" cy="2103120"/>
          </a:xfrm>
          <a:prstGeom prst="rect">
            <a:avLst/>
          </a:prstGeom>
        </p:spPr>
      </p:pic>
      <p:sp>
        <p:nvSpPr>
          <p:cNvPr id="5" name="TextBox 4"/>
          <p:cNvSpPr txBox="1"/>
          <p:nvPr/>
        </p:nvSpPr>
        <p:spPr>
          <a:xfrm>
            <a:off x="7296912" y="1920240"/>
            <a:ext cx="4343400" cy="73152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Una exitosa asociación a largo plazo para las prestaciones y la innovación</a:t>
            </a:r>
          </a:p>
        </p:txBody>
      </p:sp>
      <p:pic>
        <p:nvPicPr>
          <p:cNvPr id="6" name="Picture 5" descr="hy_blue.png"/>
          <p:cNvPicPr>
            <a:picLocks noChangeAspect="1"/>
          </p:cNvPicPr>
          <p:nvPr/>
        </p:nvPicPr>
        <p:blipFill>
          <a:blip r:embed="rId4"/>
          <a:stretch>
            <a:fillRect/>
          </a:stretch>
        </p:blipFill>
        <p:spPr>
          <a:xfrm>
            <a:off x="7296912" y="2788920"/>
            <a:ext cx="711595" cy="365760"/>
          </a:xfrm>
          <a:prstGeom prst="rect">
            <a:avLst/>
          </a:prstGeom>
        </p:spPr>
      </p:pic>
      <p:sp>
        <p:nvSpPr>
          <p:cNvPr id="7" name="TextBox 6"/>
          <p:cNvSpPr txBox="1"/>
          <p:nvPr/>
        </p:nvSpPr>
        <p:spPr>
          <a:xfrm>
            <a:off x="8145667" y="2788920"/>
            <a:ext cx="2743200" cy="365760"/>
          </a:xfrm>
          <a:prstGeom prst="rect">
            <a:avLst/>
          </a:prstGeom>
          <a:noFill/>
        </p:spPr>
        <p:txBody>
          <a:bodyPr wrap="square" lIns="0" rIns="0" tIns="0" bIns="0" anchor="ctr">
            <a:spAutoFit/>
          </a:bodyPr>
          <a:lstStyle/>
          <a:p>
            <a:pPr algn="l"/>
            <a:r>
              <a:rPr sz="1600" b="1">
                <a:solidFill>
                  <a:schemeClr val="tx1"/>
                </a:solidFill>
                <a:latin typeface="BIB Bold"/>
              </a:rPr>
              <a:t>Hyundai</a:t>
            </a:r>
          </a:p>
        </p:txBody>
      </p:sp>
      <p:sp>
        <p:nvSpPr>
          <p:cNvPr id="8" name="TextBox 7"/>
          <p:cNvSpPr txBox="1"/>
          <p:nvPr/>
        </p:nvSpPr>
        <p:spPr>
          <a:xfrm>
            <a:off x="7296912" y="3337560"/>
            <a:ext cx="4343400" cy="274320"/>
          </a:xfrm>
          <a:prstGeom prst="rect">
            <a:avLst/>
          </a:prstGeom>
          <a:noFill/>
        </p:spPr>
        <p:txBody>
          <a:bodyPr wrap="square" lIns="0" rIns="0" tIns="0" bIns="0" anchor="t">
            <a:spAutoFit/>
          </a:bodyPr>
          <a:lstStyle/>
          <a:p>
            <a:pPr algn="l">
              <a:lnSpc>
                <a:spcPts val="1800"/>
              </a:lnSpc>
            </a:pPr>
            <a:r>
              <a:rPr sz="1200" b="1">
                <a:solidFill>
                  <a:schemeClr val="tx1">
                    <a:lumMod val="65000"/>
                    <a:lumOff val="35000"/>
                  </a:schemeClr>
                </a:solidFill>
                <a:latin typeface="Noto Sans"/>
              </a:rPr>
              <a:t>Socios de confianza para nuevas tecnologías</a:t>
            </a:r>
          </a:p>
        </p:txBody>
      </p:sp>
      <p:sp>
        <p:nvSpPr>
          <p:cNvPr id="9" name="TextBox 8"/>
          <p:cNvSpPr txBox="1"/>
          <p:nvPr/>
        </p:nvSpPr>
        <p:spPr>
          <a:xfrm>
            <a:off x="7296912" y="3657600"/>
            <a:ext cx="4343400" cy="914400"/>
          </a:xfrm>
          <a:prstGeom prst="rect">
            <a:avLst/>
          </a:prstGeom>
          <a:noFill/>
        </p:spPr>
        <p:txBody>
          <a:bodyPr wrap="square" lIns="0" rIns="0" tIns="0" bIns="0" anchor="t">
            <a:spAutoFit/>
          </a:bodyPr>
          <a:lstStyle/>
          <a:p>
            <a:pPr algn="l"/>
            <a:r>
              <a:rPr sz="1800" b="1">
                <a:solidFill>
                  <a:schemeClr val="tx1"/>
                </a:solidFill>
                <a:latin typeface="BIB Bold"/>
              </a:rPr>
              <a:t>Michelin Primacy 5 Energy 235/45 R20</a:t>
            </a:r>
          </a:p>
          <a:p>
            <a:pPr algn="l">
              <a:lnSpc>
                <a:spcPts val="2100"/>
              </a:lnSpc>
            </a:pPr>
            <a:r>
              <a:rPr sz="1400" b="0">
                <a:solidFill>
                  <a:schemeClr val="tx1"/>
                </a:solidFill>
                <a:latin typeface="Noto Sans"/>
              </a:rPr>
              <a:t>Equipado en el nuevo Hyundai Tucson 2027</a:t>
            </a:r>
          </a:p>
        </p:txBody>
      </p:sp>
      <p:sp>
        <p:nvSpPr>
          <p:cNvPr id="10" name="TextBox 9"/>
          <p:cNvSpPr txBox="1"/>
          <p:nvPr/>
        </p:nvSpPr>
        <p:spPr>
          <a:xfrm>
            <a:off x="7296912" y="4572000"/>
            <a:ext cx="434340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Código 5759 · CAI 514126A</a:t>
            </a:r>
          </a:p>
        </p:txBody>
      </p:sp>
      <p:sp>
        <p:nvSpPr>
          <p:cNvPr id="11" name="Rounded Rectangle 10"/>
          <p:cNvSpPr/>
          <p:nvPr/>
        </p:nvSpPr>
        <p:spPr>
          <a:xfrm>
            <a:off x="7296912" y="5074920"/>
            <a:ext cx="4343400" cy="10515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5074920"/>
            <a:ext cx="3977639" cy="105156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Cada uno de estos neumáticos nace en el entorno digital </a:t>
            </a:r>
            <a:r>
              <a:rPr sz="1400" b="1">
                <a:solidFill>
                  <a:schemeClr val="accent2"/>
                </a:solidFill>
                <a:latin typeface="Noto Sans"/>
              </a:rPr>
              <a:t>que les presentamos hoy.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¿Y si cada neumático pudiera contarnos cómo se fabricó?</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Hoy lo hace. Les enseñamos cómo.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dpi="0" rotWithShape="1">
          <a:blip r:embed="rId3"/>
          <a:stretch>
            <a:fillRect/>
          </a:stretch>
        </a:blipFill>
        <a:effectLst/>
      </p:bgPr>
    </p:bg>
    <p:spTree>
      <p:nvGrpSpPr>
        <p:cNvPr id="1" name=""/>
        <p:cNvGrpSpPr/>
        <p:nvPr/>
      </p:nvGrpSpPr>
      <p:grpSpPr/>
      <p:sp>
        <p:nvSpPr>
          <p:cNvPr id="2" name="Title 1"/>
          <p:cNvSpPr>
            <a:spLocks noGrp="1"/>
          </p:cNvSpPr>
          <p:nvPr>
            <p:ph type="title"/>
          </p:nvPr>
        </p:nvSpPr>
        <p:spPr/>
        <p:txBody>
          <a:bodyPr/>
          <a:lstStyle/>
          <a:p>
            <a:r>
              <a:t>Dos formas de controlar la calidad</a:t>
            </a:r>
          </a:p>
        </p:txBody>
      </p:sp>
      <p:sp>
        <p:nvSpPr>
          <p:cNvPr id="3" name="Rounded Rectangle 2"/>
          <p:cNvSpPr/>
          <p:nvPr/>
        </p:nvSpPr>
        <p:spPr>
          <a:xfrm>
            <a:off x="548640" y="1508760"/>
            <a:ext cx="5120640" cy="466344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783080"/>
            <a:ext cx="4297679" cy="411480"/>
          </a:xfrm>
          <a:prstGeom prst="rect">
            <a:avLst/>
          </a:prstGeom>
          <a:noFill/>
        </p:spPr>
        <p:txBody>
          <a:bodyPr wrap="square" lIns="0" rIns="0" tIns="0" bIns="0" anchor="t">
            <a:spAutoFit/>
          </a:bodyPr>
          <a:lstStyle/>
          <a:p>
            <a:pPr algn="l"/>
            <a:r>
              <a:rPr sz="1800" b="1">
                <a:solidFill>
                  <a:schemeClr val="tx1">
                    <a:lumMod val="65000"/>
                    <a:lumOff val="35000"/>
                  </a:schemeClr>
                </a:solidFill>
                <a:latin typeface="BIB Bold"/>
              </a:rPr>
              <a:t>Control tradicional</a:t>
            </a:r>
          </a:p>
        </p:txBody>
      </p:sp>
      <p:sp>
        <p:nvSpPr>
          <p:cNvPr id="5" name="TextBox 4"/>
          <p:cNvSpPr txBox="1"/>
          <p:nvPr/>
        </p:nvSpPr>
        <p:spPr>
          <a:xfrm>
            <a:off x="960120" y="2560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1 muestra</a:t>
            </a:r>
          </a:p>
        </p:txBody>
      </p:sp>
      <p:sp>
        <p:nvSpPr>
          <p:cNvPr id="6" name="TextBox 5"/>
          <p:cNvSpPr txBox="1"/>
          <p:nvPr/>
        </p:nvSpPr>
        <p:spPr>
          <a:xfrm>
            <a:off x="3200400" y="2560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por turno, de forma manual</a:t>
            </a:r>
          </a:p>
        </p:txBody>
      </p:sp>
      <p:sp>
        <p:nvSpPr>
          <p:cNvPr id="7" name="TextBox 6"/>
          <p:cNvSpPr txBox="1"/>
          <p:nvPr/>
        </p:nvSpPr>
        <p:spPr>
          <a:xfrm>
            <a:off x="960120" y="3703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Horas</a:t>
            </a:r>
          </a:p>
        </p:txBody>
      </p:sp>
      <p:sp>
        <p:nvSpPr>
          <p:cNvPr id="8" name="TextBox 7"/>
          <p:cNvSpPr txBox="1"/>
          <p:nvPr/>
        </p:nvSpPr>
        <p:spPr>
          <a:xfrm>
            <a:off x="3200400" y="3703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hasta descubrir una desviación</a:t>
            </a:r>
          </a:p>
        </p:txBody>
      </p:sp>
      <p:sp>
        <p:nvSpPr>
          <p:cNvPr id="9" name="TextBox 8"/>
          <p:cNvSpPr txBox="1"/>
          <p:nvPr/>
        </p:nvSpPr>
        <p:spPr>
          <a:xfrm>
            <a:off x="960120" y="4846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Después</a:t>
            </a:r>
          </a:p>
        </p:txBody>
      </p:sp>
      <p:sp>
        <p:nvSpPr>
          <p:cNvPr id="10" name="TextBox 9"/>
          <p:cNvSpPr txBox="1"/>
          <p:nvPr/>
        </p:nvSpPr>
        <p:spPr>
          <a:xfrm>
            <a:off x="3200400" y="4846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se reacciona cuando el defecto ya existe</a:t>
            </a:r>
          </a:p>
        </p:txBody>
      </p:sp>
      <p:sp>
        <p:nvSpPr>
          <p:cNvPr id="11" name="Rounded Rectangle 10"/>
          <p:cNvSpPr/>
          <p:nvPr/>
        </p:nvSpPr>
        <p:spPr>
          <a:xfrm>
            <a:off x="6519671" y="1508760"/>
            <a:ext cx="5120640" cy="46634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1151" y="1783080"/>
            <a:ext cx="4297679" cy="411480"/>
          </a:xfrm>
          <a:prstGeom prst="rect">
            <a:avLst/>
          </a:prstGeom>
          <a:noFill/>
        </p:spPr>
        <p:txBody>
          <a:bodyPr wrap="square" lIns="0" rIns="0" tIns="0" bIns="0" anchor="t">
            <a:spAutoFit/>
          </a:bodyPr>
          <a:lstStyle/>
          <a:p>
            <a:pPr algn="l"/>
            <a:r>
              <a:rPr sz="1800" b="1">
                <a:solidFill>
                  <a:schemeClr val="accent2"/>
                </a:solidFill>
                <a:latin typeface="BIB Bold"/>
              </a:rPr>
              <a:t>Nuestro control digital</a:t>
            </a:r>
          </a:p>
        </p:txBody>
      </p:sp>
      <p:sp>
        <p:nvSpPr>
          <p:cNvPr id="13" name="TextBox 12"/>
          <p:cNvSpPr txBox="1"/>
          <p:nvPr/>
        </p:nvSpPr>
        <p:spPr>
          <a:xfrm>
            <a:off x="6931151" y="2560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100 %</a:t>
            </a:r>
          </a:p>
        </p:txBody>
      </p:sp>
      <p:sp>
        <p:nvSpPr>
          <p:cNvPr id="14" name="TextBox 13"/>
          <p:cNvSpPr txBox="1"/>
          <p:nvPr/>
        </p:nvSpPr>
        <p:spPr>
          <a:xfrm>
            <a:off x="9171432" y="2560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de los productos, de forma automática</a:t>
            </a:r>
          </a:p>
        </p:txBody>
      </p:sp>
      <p:sp>
        <p:nvSpPr>
          <p:cNvPr id="15" name="TextBox 14"/>
          <p:cNvSpPr txBox="1"/>
          <p:nvPr/>
        </p:nvSpPr>
        <p:spPr>
          <a:xfrm>
            <a:off x="6931151" y="3703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Segundos</a:t>
            </a:r>
          </a:p>
        </p:txBody>
      </p:sp>
      <p:sp>
        <p:nvSpPr>
          <p:cNvPr id="16" name="TextBox 15"/>
          <p:cNvSpPr txBox="1"/>
          <p:nvPr/>
        </p:nvSpPr>
        <p:spPr>
          <a:xfrm>
            <a:off x="9171432" y="3703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para detectar una deriva</a:t>
            </a:r>
          </a:p>
        </p:txBody>
      </p:sp>
      <p:sp>
        <p:nvSpPr>
          <p:cNvPr id="17" name="TextBox 16"/>
          <p:cNvSpPr txBox="1"/>
          <p:nvPr/>
        </p:nvSpPr>
        <p:spPr>
          <a:xfrm>
            <a:off x="6931151" y="4846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Antes</a:t>
            </a:r>
          </a:p>
        </p:txBody>
      </p:sp>
      <p:sp>
        <p:nvSpPr>
          <p:cNvPr id="18" name="TextBox 17"/>
          <p:cNvSpPr txBox="1"/>
          <p:nvPr/>
        </p:nvSpPr>
        <p:spPr>
          <a:xfrm>
            <a:off x="9171432" y="4846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se corrige antes de que exista el defecto</a:t>
            </a:r>
          </a:p>
        </p:txBody>
      </p:sp>
      <p:sp>
        <p:nvSpPr>
          <p:cNvPr id="19" name="Chevron 18"/>
          <p:cNvSpPr/>
          <p:nvPr/>
        </p:nvSpPr>
        <p:spPr>
          <a:xfrm>
            <a:off x="5916167" y="3474720"/>
            <a:ext cx="365760" cy="731520"/>
          </a:xfrm>
          <a:prstGeom prst="chevron">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dpi="0" rotWithShape="1">
          <a:blip r:embed="rId3"/>
          <a:stretch>
            <a:fillRect/>
          </a:stretch>
        </a:blipFill>
        <a:effectLst/>
      </p:bgPr>
    </p:bg>
    <p:spTree>
      <p:nvGrpSpPr>
        <p:cNvPr id="1" name=""/>
        <p:cNvGrpSpPr/>
        <p:nvPr/>
      </p:nvGrpSpPr>
      <p:grpSpPr/>
      <p:sp>
        <p:nvSpPr>
          <p:cNvPr id="2" name="Title 1"/>
          <p:cNvSpPr>
            <a:spLocks noGrp="1"/>
          </p:cNvSpPr>
          <p:nvPr>
            <p:ph type="title"/>
          </p:nvPr>
        </p:nvSpPr>
        <p:spPr/>
        <p:txBody>
          <a:bodyPr/>
          <a:lstStyle/>
          <a:p>
            <a:r>
              <a:t>Nuestro sistema en un solo ciclo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Cuatro pasos que giran alrededor del IQF, nuestro indicador de calidad</a:t>
            </a:r>
          </a:p>
        </p:txBody>
      </p:sp>
      <p:sp>
        <p:nvSpPr>
          <p:cNvPr id="4" name="Oval 3"/>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7" name="Oval 6"/>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9" name="TextBox 8"/>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Ver</a:t>
            </a:r>
          </a:p>
        </p:txBody>
      </p:sp>
      <p:sp>
        <p:nvSpPr>
          <p:cNvPr id="10" name="Oval 9"/>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12" name="TextBox 11"/>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Entender</a:t>
            </a:r>
          </a:p>
        </p:txBody>
      </p:sp>
      <p:sp>
        <p:nvSpPr>
          <p:cNvPr id="13" name="Oval 12"/>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15" name="TextBox 14"/>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Decidir</a:t>
            </a:r>
          </a:p>
        </p:txBody>
      </p:sp>
      <p:sp>
        <p:nvSpPr>
          <p:cNvPr id="16" name="Oval 15"/>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18" name="TextBox 17"/>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Anticipar</a:t>
            </a:r>
          </a:p>
        </p:txBody>
      </p:sp>
      <p:sp>
        <p:nvSpPr>
          <p:cNvPr id="19" name="TextBox 18"/>
          <p:cNvSpPr txBox="1"/>
          <p:nvPr/>
        </p:nvSpPr>
        <p:spPr>
          <a:xfrm>
            <a:off x="6035040" y="1645920"/>
            <a:ext cx="640080" cy="457200"/>
          </a:xfrm>
          <a:prstGeom prst="rect">
            <a:avLst/>
          </a:prstGeom>
          <a:noFill/>
        </p:spPr>
        <p:txBody>
          <a:bodyPr wrap="square" lIns="0" rIns="0" tIns="0" bIns="0" anchor="t">
            <a:spAutoFit/>
          </a:bodyPr>
          <a:lstStyle/>
          <a:p>
            <a:pPr algn="l"/>
            <a:r>
              <a:rPr sz="2400" b="1">
                <a:solidFill>
                  <a:schemeClr val="tx1"/>
                </a:solidFill>
                <a:latin typeface="BIB Bold"/>
              </a:rPr>
              <a:t>01</a:t>
            </a:r>
          </a:p>
        </p:txBody>
      </p:sp>
      <p:sp>
        <p:nvSpPr>
          <p:cNvPr id="20" name="TextBox 19"/>
          <p:cNvSpPr txBox="1"/>
          <p:nvPr/>
        </p:nvSpPr>
        <p:spPr>
          <a:xfrm>
            <a:off x="6766560" y="1645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Ver  </a:t>
            </a:r>
            <a:r>
              <a:rPr sz="1400" b="1">
                <a:solidFill>
                  <a:schemeClr val="tx1">
                    <a:lumMod val="65000"/>
                    <a:lumOff val="35000"/>
                  </a:schemeClr>
                </a:solidFill>
                <a:latin typeface="Noto Sans"/>
              </a:rPr>
              <a:t>Perfilómetros láser 3D</a:t>
            </a:r>
          </a:p>
          <a:p>
            <a:pPr algn="l">
              <a:lnSpc>
                <a:spcPts val="2000"/>
              </a:lnSpc>
            </a:pPr>
            <a:r>
              <a:rPr sz="1300" b="0">
                <a:solidFill>
                  <a:schemeClr val="tx1"/>
                </a:solidFill>
                <a:latin typeface="Noto Sans"/>
              </a:rPr>
              <a:t>Cada producto, medido en 3D en cada neumático.</a:t>
            </a:r>
          </a:p>
        </p:txBody>
      </p:sp>
      <p:sp>
        <p:nvSpPr>
          <p:cNvPr id="21" name="TextBox 20"/>
          <p:cNvSpPr txBox="1"/>
          <p:nvPr/>
        </p:nvSpPr>
        <p:spPr>
          <a:xfrm>
            <a:off x="6035040" y="2788920"/>
            <a:ext cx="640080" cy="457200"/>
          </a:xfrm>
          <a:prstGeom prst="rect">
            <a:avLst/>
          </a:prstGeom>
          <a:noFill/>
        </p:spPr>
        <p:txBody>
          <a:bodyPr wrap="square" lIns="0" rIns="0" tIns="0" bIns="0" anchor="t">
            <a:spAutoFit/>
          </a:bodyPr>
          <a:lstStyle/>
          <a:p>
            <a:pPr algn="l"/>
            <a:r>
              <a:rPr sz="2400" b="1">
                <a:solidFill>
                  <a:schemeClr val="tx1"/>
                </a:solidFill>
                <a:latin typeface="BIB Bold"/>
              </a:rPr>
              <a:t>02</a:t>
            </a:r>
          </a:p>
        </p:txBody>
      </p:sp>
      <p:sp>
        <p:nvSpPr>
          <p:cNvPr id="22" name="TextBox 21"/>
          <p:cNvSpPr txBox="1"/>
          <p:nvPr/>
        </p:nvSpPr>
        <p:spPr>
          <a:xfrm>
            <a:off x="6766560" y="2788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Entender  </a:t>
            </a:r>
            <a:r>
              <a:rPr sz="1400" b="1">
                <a:solidFill>
                  <a:schemeClr val="tx1">
                    <a:lumMod val="65000"/>
                    <a:lumOff val="35000"/>
                  </a:schemeClr>
                </a:solidFill>
                <a:latin typeface="Noto Sans"/>
              </a:rPr>
              <a:t>PI System · PI Vision</a:t>
            </a:r>
          </a:p>
          <a:p>
            <a:pPr algn="l">
              <a:lnSpc>
                <a:spcPts val="2000"/>
              </a:lnSpc>
            </a:pPr>
            <a:r>
              <a:rPr sz="1300" b="0">
                <a:solidFill>
                  <a:schemeClr val="tx1"/>
                </a:solidFill>
                <a:latin typeface="Noto Sans"/>
              </a:rPr>
              <a:t>Datos e imágenes en tiempo real, con tendencias y alertas.</a:t>
            </a:r>
          </a:p>
        </p:txBody>
      </p:sp>
      <p:sp>
        <p:nvSpPr>
          <p:cNvPr id="23" name="TextBox 22"/>
          <p:cNvSpPr txBox="1"/>
          <p:nvPr/>
        </p:nvSpPr>
        <p:spPr>
          <a:xfrm>
            <a:off x="6035040" y="3931920"/>
            <a:ext cx="640080" cy="457200"/>
          </a:xfrm>
          <a:prstGeom prst="rect">
            <a:avLst/>
          </a:prstGeom>
          <a:noFill/>
        </p:spPr>
        <p:txBody>
          <a:bodyPr wrap="square" lIns="0" rIns="0" tIns="0" bIns="0" anchor="t">
            <a:spAutoFit/>
          </a:bodyPr>
          <a:lstStyle/>
          <a:p>
            <a:pPr algn="l"/>
            <a:r>
              <a:rPr sz="2400" b="1">
                <a:solidFill>
                  <a:schemeClr val="tx1"/>
                </a:solidFill>
                <a:latin typeface="BIB Bold"/>
              </a:rPr>
              <a:t>03</a:t>
            </a:r>
          </a:p>
        </p:txBody>
      </p:sp>
      <p:sp>
        <p:nvSpPr>
          <p:cNvPr id="24" name="TextBox 23"/>
          <p:cNvSpPr txBox="1"/>
          <p:nvPr/>
        </p:nvSpPr>
        <p:spPr>
          <a:xfrm>
            <a:off x="6766560" y="3931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Decidir  </a:t>
            </a:r>
            <a:r>
              <a:rPr sz="1400" b="1">
                <a:solidFill>
                  <a:schemeClr val="tx1">
                    <a:lumMod val="65000"/>
                    <a:lumOff val="35000"/>
                  </a:schemeClr>
                </a:solidFill>
                <a:latin typeface="Noto Sans"/>
              </a:rPr>
              <a:t>R4P</a:t>
            </a:r>
          </a:p>
          <a:p>
            <a:pPr algn="l">
              <a:lnSpc>
                <a:spcPts val="2000"/>
              </a:lnSpc>
            </a:pPr>
            <a:r>
              <a:rPr sz="1300" b="0">
                <a:solidFill>
                  <a:schemeClr val="tx1"/>
                </a:solidFill>
                <a:latin typeface="Noto Sans"/>
              </a:rPr>
              <a:t>Motor de reglas que corrige el proceso automáticamente.</a:t>
            </a:r>
          </a:p>
        </p:txBody>
      </p:sp>
      <p:sp>
        <p:nvSpPr>
          <p:cNvPr id="25" name="TextBox 24"/>
          <p:cNvSpPr txBox="1"/>
          <p:nvPr/>
        </p:nvSpPr>
        <p:spPr>
          <a:xfrm>
            <a:off x="6035040" y="5074920"/>
            <a:ext cx="640080" cy="457200"/>
          </a:xfrm>
          <a:prstGeom prst="rect">
            <a:avLst/>
          </a:prstGeom>
          <a:noFill/>
        </p:spPr>
        <p:txBody>
          <a:bodyPr wrap="square" lIns="0" rIns="0" tIns="0" bIns="0" anchor="t">
            <a:spAutoFit/>
          </a:bodyPr>
          <a:lstStyle/>
          <a:p>
            <a:pPr algn="l"/>
            <a:r>
              <a:rPr sz="2400" b="1">
                <a:solidFill>
                  <a:schemeClr val="tx1"/>
                </a:solidFill>
                <a:latin typeface="BIB Bold"/>
              </a:rPr>
              <a:t>04</a:t>
            </a:r>
          </a:p>
        </p:txBody>
      </p:sp>
      <p:sp>
        <p:nvSpPr>
          <p:cNvPr id="26" name="TextBox 25"/>
          <p:cNvSpPr txBox="1"/>
          <p:nvPr/>
        </p:nvSpPr>
        <p:spPr>
          <a:xfrm>
            <a:off x="6766560" y="5074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Anticipar  </a:t>
            </a:r>
            <a:r>
              <a:rPr sz="1400" b="1">
                <a:solidFill>
                  <a:schemeClr val="tx1">
                    <a:lumMod val="65000"/>
                    <a:lumOff val="35000"/>
                  </a:schemeClr>
                </a:solidFill>
                <a:latin typeface="Noto Sans"/>
              </a:rPr>
              <a:t>Dataiku · IA</a:t>
            </a:r>
          </a:p>
          <a:p>
            <a:pPr algn="l">
              <a:lnSpc>
                <a:spcPts val="2000"/>
              </a:lnSpc>
            </a:pPr>
            <a:r>
              <a:rPr sz="1300" b="0">
                <a:solidFill>
                  <a:schemeClr val="tx1"/>
                </a:solidFill>
                <a:latin typeface="Noto Sans"/>
              </a:rPr>
              <a:t>Analítica avanzada para encontrar patrones y adelantarse.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Ver</a:t>
            </a:r>
          </a:p>
          <a:p>
            <a:r>
              <a:rPr sz="2000" b="0">
                <a:latin typeface="Noto Sans"/>
              </a:rPr>
              <a:t>Cada neumático, convertido en datos</a:t>
            </a:r>
          </a:p>
        </p:txBody>
      </p:sp>
      <p:sp>
        <p:nvSpPr>
          <p:cNvPr id="3" name="Text Placeholder 2"/>
          <p:cNvSpPr>
            <a:spLocks noGrp="1"/>
          </p:cNvSpPr>
          <p:nvPr>
            <p:ph type="body" idx="13" sz="quarter"/>
          </p:nvPr>
        </p:nvSpPr>
        <p:spPr/>
        <p:txBody>
          <a:bodyPr/>
          <a:lstStyle/>
          <a:p>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Medimos cada producto</a:t>
            </a:r>
          </a:p>
        </p:txBody>
      </p:sp>
      <p:pic>
        <p:nvPicPr>
          <p:cNvPr id="3" name="Picture Placeholder 2" descr="d2.jpg"/>
          <p:cNvPicPr>
            <a:picLocks noGrp="1" noChangeAspect="1"/>
          </p:cNvPicPr>
          <p:nvPr>
            <p:ph type="pic" idx="16" sz="quarter"/>
          </p:nvPr>
        </p:nvPicPr>
        <p:blipFill>
          <a:blip r:embed="rId2"/>
          <a:srcRect l="18967" r="18967"/>
          <a:stretch>
            <a:fillRect/>
          </a:stretch>
        </p:blipFill>
        <p:spPr/>
      </p:pic>
      <p:sp>
        <p:nvSpPr>
          <p:cNvPr id="4" name="TextBox 3"/>
          <p:cNvSpPr txBox="1"/>
          <p:nvPr/>
        </p:nvSpPr>
        <p:spPr>
          <a:xfrm>
            <a:off x="548640" y="987552"/>
            <a:ext cx="640080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Perfilómetros láser 3D en cada puesto de la máquina</a:t>
            </a:r>
          </a:p>
        </p:txBody>
      </p:sp>
      <p:sp>
        <p:nvSpPr>
          <p:cNvPr id="5" name="Oval 4"/>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7" name="Oval 6"/>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9" name="Oval 8"/>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1" name="Oval 10"/>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3" name="TextBox 12"/>
          <p:cNvSpPr txBox="1"/>
          <p:nvPr/>
        </p:nvSpPr>
        <p:spPr>
          <a:xfrm>
            <a:off x="6309360" y="1691640"/>
            <a:ext cx="5120640" cy="731520"/>
          </a:xfrm>
          <a:prstGeom prst="rect">
            <a:avLst/>
          </a:prstGeom>
          <a:noFill/>
        </p:spPr>
        <p:txBody>
          <a:bodyPr wrap="square" lIns="0" rIns="0" tIns="0" bIns="0" anchor="t">
            <a:spAutoFit/>
          </a:bodyPr>
          <a:lstStyle/>
          <a:p>
            <a:pPr algn="l"/>
            <a:r>
              <a:rPr sz="4400" b="1">
                <a:solidFill>
                  <a:schemeClr val="tx1"/>
                </a:solidFill>
                <a:latin typeface="BIB Bold"/>
              </a:rPr>
              <a:t>100 %</a:t>
            </a:r>
          </a:p>
        </p:txBody>
      </p:sp>
      <p:sp>
        <p:nvSpPr>
          <p:cNvPr id="14" name="TextBox 13"/>
          <p:cNvSpPr txBox="1"/>
          <p:nvPr/>
        </p:nvSpPr>
        <p:spPr>
          <a:xfrm>
            <a:off x="6309360" y="24231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de los productos medidos</a:t>
            </a:r>
          </a:p>
        </p:txBody>
      </p:sp>
      <p:sp>
        <p:nvSpPr>
          <p:cNvPr id="15" name="TextBox 14"/>
          <p:cNvSpPr txBox="1"/>
          <p:nvPr/>
        </p:nvSpPr>
        <p:spPr>
          <a:xfrm>
            <a:off x="6309360" y="3063240"/>
            <a:ext cx="5120640" cy="731520"/>
          </a:xfrm>
          <a:prstGeom prst="rect">
            <a:avLst/>
          </a:prstGeom>
          <a:noFill/>
        </p:spPr>
        <p:txBody>
          <a:bodyPr wrap="square" lIns="0" rIns="0" tIns="0" bIns="0" anchor="t">
            <a:spAutoFit/>
          </a:bodyPr>
          <a:lstStyle/>
          <a:p>
            <a:pPr algn="l"/>
            <a:r>
              <a:rPr sz="4400" b="1">
                <a:solidFill>
                  <a:schemeClr val="tx1"/>
                </a:solidFill>
                <a:latin typeface="BIB Bold"/>
              </a:rPr>
              <a:t>3D</a:t>
            </a:r>
          </a:p>
        </p:txBody>
      </p:sp>
      <p:sp>
        <p:nvSpPr>
          <p:cNvPr id="16" name="TextBox 15"/>
          <p:cNvSpPr txBox="1"/>
          <p:nvPr/>
        </p:nvSpPr>
        <p:spPr>
          <a:xfrm>
            <a:off x="6309360" y="37947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perfil completo de cada componente</a:t>
            </a:r>
          </a:p>
        </p:txBody>
      </p:sp>
      <p:sp>
        <p:nvSpPr>
          <p:cNvPr id="17" name="TextBox 16"/>
          <p:cNvSpPr txBox="1"/>
          <p:nvPr/>
        </p:nvSpPr>
        <p:spPr>
          <a:xfrm>
            <a:off x="6309360" y="4434840"/>
            <a:ext cx="5120640" cy="731520"/>
          </a:xfrm>
          <a:prstGeom prst="rect">
            <a:avLst/>
          </a:prstGeom>
          <a:noFill/>
        </p:spPr>
        <p:txBody>
          <a:bodyPr wrap="square" lIns="0" rIns="0" tIns="0" bIns="0" anchor="t">
            <a:spAutoFit/>
          </a:bodyPr>
          <a:lstStyle/>
          <a:p>
            <a:pPr algn="l"/>
            <a:r>
              <a:rPr sz="4400" b="1">
                <a:solidFill>
                  <a:schemeClr val="tx1"/>
                </a:solidFill>
                <a:latin typeface="BIB Bold"/>
              </a:rPr>
              <a:t>16</a:t>
            </a:r>
          </a:p>
        </p:txBody>
      </p:sp>
      <p:sp>
        <p:nvSpPr>
          <p:cNvPr id="18" name="TextBox 17"/>
          <p:cNvSpPr txBox="1"/>
          <p:nvPr/>
        </p:nvSpPr>
        <p:spPr>
          <a:xfrm>
            <a:off x="6309360" y="5166359"/>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sensores láser en 8 puestos de la MAC</a:t>
            </a:r>
          </a:p>
        </p:txBody>
      </p:sp>
      <p:sp>
        <p:nvSpPr>
          <p:cNvPr id="19" name="TextBox 18"/>
          <p:cNvSpPr txBox="1"/>
          <p:nvPr/>
        </p:nvSpPr>
        <p:spPr>
          <a:xfrm>
            <a:off x="6309360" y="5897880"/>
            <a:ext cx="512064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Escaneo 3D en la MAC: cada color es una altura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Así medimos una soldadura NST en BNS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Del mapa 3D a la cifra que define la calidad de la unión</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6400800" cy="47091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k_map.jpg"/>
          <p:cNvPicPr>
            <a:picLocks noChangeAspect="1"/>
          </p:cNvPicPr>
          <p:nvPr/>
        </p:nvPicPr>
        <p:blipFill>
          <a:blip r:embed="rId2"/>
          <a:stretch>
            <a:fillRect/>
          </a:stretch>
        </p:blipFill>
        <p:spPr>
          <a:xfrm>
            <a:off x="1304159" y="1645920"/>
            <a:ext cx="4889761" cy="2926080"/>
          </a:xfrm>
          <a:prstGeom prst="rect">
            <a:avLst/>
          </a:prstGeom>
        </p:spPr>
      </p:pic>
      <p:sp>
        <p:nvSpPr>
          <p:cNvPr id="14" name="Oval 13"/>
          <p:cNvSpPr/>
          <p:nvPr/>
        </p:nvSpPr>
        <p:spPr>
          <a:xfrm>
            <a:off x="2606495" y="235915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495" y="2359151"/>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584447" y="3295497"/>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7" y="3295497"/>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ok_sec.jpg"/>
          <p:cNvPicPr>
            <a:picLocks noChangeAspect="1"/>
          </p:cNvPicPr>
          <p:nvPr/>
        </p:nvPicPr>
        <p:blipFill>
          <a:blip r:embed="rId3"/>
          <a:stretch>
            <a:fillRect/>
          </a:stretch>
        </p:blipFill>
        <p:spPr>
          <a:xfrm>
            <a:off x="1625981" y="4663440"/>
            <a:ext cx="4246116" cy="1463040"/>
          </a:xfrm>
          <a:prstGeom prst="rect">
            <a:avLst/>
          </a:prstGeom>
        </p:spPr>
      </p:pic>
      <p:sp>
        <p:nvSpPr>
          <p:cNvPr id="19" name="Oval 18"/>
          <p:cNvSpPr/>
          <p:nvPr/>
        </p:nvSpPr>
        <p:spPr>
          <a:xfrm>
            <a:off x="4009058" y="486460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09058" y="486460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1" name="Oval 20"/>
          <p:cNvSpPr/>
          <p:nvPr/>
        </p:nvSpPr>
        <p:spPr>
          <a:xfrm>
            <a:off x="7315200" y="1600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160020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3" name="TextBox 22"/>
          <p:cNvSpPr txBox="1"/>
          <p:nvPr/>
        </p:nvSpPr>
        <p:spPr>
          <a:xfrm>
            <a:off x="7772400" y="158191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Mapa 3D</a:t>
            </a:r>
          </a:p>
          <a:p>
            <a:pPr algn="l">
              <a:lnSpc>
                <a:spcPts val="1800"/>
              </a:lnSpc>
            </a:pPr>
            <a:r>
              <a:rPr sz="1200" b="0">
                <a:solidFill>
                  <a:schemeClr val="tx1">
                    <a:lumMod val="65000"/>
                    <a:lumOff val="35000"/>
                  </a:schemeClr>
                </a:solidFill>
                <a:latin typeface="Noto Sans"/>
              </a:rPr>
              <a:t>de la unión de la banda NST</a:t>
            </a:r>
          </a:p>
        </p:txBody>
      </p:sp>
      <p:sp>
        <p:nvSpPr>
          <p:cNvPr id="24" name="Oval 23"/>
          <p:cNvSpPr/>
          <p:nvPr/>
        </p:nvSpPr>
        <p:spPr>
          <a:xfrm>
            <a:off x="7315200" y="24231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24231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6" name="TextBox 25"/>
          <p:cNvSpPr txBox="1"/>
          <p:nvPr/>
        </p:nvSpPr>
        <p:spPr>
          <a:xfrm>
            <a:off x="7772400" y="240487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Sección de medida</a:t>
            </a:r>
          </a:p>
          <a:p>
            <a:pPr algn="l">
              <a:lnSpc>
                <a:spcPts val="1800"/>
              </a:lnSpc>
            </a:pPr>
            <a:r>
              <a:rPr sz="1200" b="0">
                <a:solidFill>
                  <a:schemeClr val="tx1">
                    <a:lumMod val="65000"/>
                    <a:lumOff val="35000"/>
                  </a:schemeClr>
                </a:solidFill>
                <a:latin typeface="Noto Sans"/>
              </a:rPr>
              <a:t>trazada sobre la soldadura</a:t>
            </a:r>
          </a:p>
        </p:txBody>
      </p:sp>
      <p:sp>
        <p:nvSpPr>
          <p:cNvPr id="27" name="Oval 26"/>
          <p:cNvSpPr/>
          <p:nvPr/>
        </p:nvSpPr>
        <p:spPr>
          <a:xfrm>
            <a:off x="7315200" y="32461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0" y="324612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9" name="TextBox 28"/>
          <p:cNvSpPr txBox="1"/>
          <p:nvPr/>
        </p:nvSpPr>
        <p:spPr>
          <a:xfrm>
            <a:off x="7772400" y="322783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Perfil</a:t>
            </a:r>
          </a:p>
          <a:p>
            <a:pPr algn="l">
              <a:lnSpc>
                <a:spcPts val="1800"/>
              </a:lnSpc>
            </a:pPr>
            <a:r>
              <a:rPr sz="1200" b="0">
                <a:solidFill>
                  <a:schemeClr val="tx1">
                    <a:lumMod val="65000"/>
                    <a:lumOff val="35000"/>
                  </a:schemeClr>
                </a:solidFill>
                <a:latin typeface="Noto Sans"/>
              </a:rPr>
              <a:t>cuantifica la unión</a:t>
            </a:r>
          </a:p>
        </p:txBody>
      </p:sp>
      <p:sp>
        <p:nvSpPr>
          <p:cNvPr id="30" name="TextBox 29"/>
          <p:cNvSpPr txBox="1"/>
          <p:nvPr/>
        </p:nvSpPr>
        <p:spPr>
          <a:xfrm>
            <a:off x="7315200" y="4206240"/>
            <a:ext cx="4297680" cy="365760"/>
          </a:xfrm>
          <a:prstGeom prst="rect">
            <a:avLst/>
          </a:prstGeom>
          <a:noFill/>
        </p:spPr>
        <p:txBody>
          <a:bodyPr wrap="square" lIns="0" rIns="0" tIns="0" bIns="0" anchor="t">
            <a:spAutoFit/>
          </a:bodyPr>
          <a:lstStyle/>
          <a:p>
            <a:pPr algn="l"/>
            <a:r>
              <a:rPr sz="1600" b="1">
                <a:solidFill>
                  <a:schemeClr val="tx1"/>
                </a:solidFill>
                <a:latin typeface="BIB Bold"/>
              </a:rPr>
              <a:t>Variables seguidas en continuo</a:t>
            </a:r>
          </a:p>
        </p:txBody>
      </p:sp>
      <p:sp>
        <p:nvSpPr>
          <p:cNvPr id="31" name="TextBox 30"/>
          <p:cNvSpPr txBox="1"/>
          <p:nvPr/>
        </p:nvSpPr>
        <p:spPr>
          <a:xfrm>
            <a:off x="7315200" y="4617720"/>
            <a:ext cx="4297680" cy="164592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Superposición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Altura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Offset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Calidad de la soldadura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puesto, cada medida, en directo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OLM de la MAC4: doce puestos, del P05 al P18</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3931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c4.jpg"/>
          <p:cNvPicPr>
            <a:picLocks noChangeAspect="1"/>
          </p:cNvPicPr>
          <p:nvPr/>
        </p:nvPicPr>
        <p:blipFill>
          <a:blip r:embed="rId2"/>
          <a:stretch>
            <a:fillRect/>
          </a:stretch>
        </p:blipFill>
        <p:spPr>
          <a:xfrm>
            <a:off x="1370853" y="1627632"/>
            <a:ext cx="9447244" cy="3703320"/>
          </a:xfrm>
          <a:prstGeom prst="rect">
            <a:avLst/>
          </a:prstGeom>
        </p:spPr>
      </p:pic>
      <p:sp>
        <p:nvSpPr>
          <p:cNvPr id="14" name="Oval 13"/>
          <p:cNvSpPr/>
          <p:nvPr/>
        </p:nvSpPr>
        <p:spPr>
          <a:xfrm>
            <a:off x="1631386" y="246293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31386" y="2462936"/>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681438" y="162968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1438" y="162968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929883" y="368503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9883" y="3685032"/>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874607" y="446272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4607" y="446272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100584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Doce puestos</a:t>
            </a:r>
          </a:p>
          <a:p>
            <a:pPr algn="l">
              <a:lnSpc>
                <a:spcPts val="1800"/>
              </a:lnSpc>
            </a:pPr>
            <a:r>
              <a:rPr sz="1200" b="0">
                <a:solidFill>
                  <a:schemeClr val="tx1">
                    <a:lumMod val="65000"/>
                    <a:lumOff val="35000"/>
                  </a:schemeClr>
                </a:solidFill>
                <a:latin typeface="Noto Sans"/>
              </a:rPr>
              <a:t>del P05 al P18</a:t>
            </a:r>
          </a:p>
        </p:txBody>
      </p:sp>
      <p:sp>
        <p:nvSpPr>
          <p:cNvPr id="25" name="Oval 24"/>
          <p:cNvSpPr/>
          <p:nvPr/>
        </p:nvSpPr>
        <p:spPr>
          <a:xfrm>
            <a:off x="333756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379476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Código de estado</a:t>
            </a:r>
          </a:p>
          <a:p>
            <a:pPr algn="l">
              <a:lnSpc>
                <a:spcPts val="1800"/>
              </a:lnSpc>
            </a:pPr>
            <a:r>
              <a:rPr sz="1200" b="0">
                <a:solidFill>
                  <a:schemeClr val="tx1">
                    <a:lumMod val="65000"/>
                    <a:lumOff val="35000"/>
                  </a:schemeClr>
                </a:solidFill>
                <a:latin typeface="Noto Sans"/>
              </a:rPr>
              <a:t>OK · vigilancia · control</a:t>
            </a:r>
          </a:p>
        </p:txBody>
      </p:sp>
      <p:sp>
        <p:nvSpPr>
          <p:cNvPr id="28" name="Oval 27"/>
          <p:cNvSpPr/>
          <p:nvPr/>
        </p:nvSpPr>
        <p:spPr>
          <a:xfrm>
            <a:off x="612647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7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658367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Soldaduras</a:t>
            </a:r>
          </a:p>
          <a:p>
            <a:pPr algn="l">
              <a:lnSpc>
                <a:spcPts val="1800"/>
              </a:lnSpc>
            </a:pPr>
            <a:r>
              <a:rPr sz="1200" b="0">
                <a:solidFill>
                  <a:schemeClr val="tx1">
                    <a:lumMod val="65000"/>
                    <a:lumOff val="35000"/>
                  </a:schemeClr>
                </a:solidFill>
                <a:latin typeface="Noto Sans"/>
              </a:rPr>
              <a:t>medidas en cada puesto</a:t>
            </a:r>
          </a:p>
        </p:txBody>
      </p:sp>
      <p:sp>
        <p:nvSpPr>
          <p:cNvPr id="31" name="Oval 30"/>
          <p:cNvSpPr/>
          <p:nvPr/>
        </p:nvSpPr>
        <p:spPr>
          <a:xfrm>
            <a:off x="891539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39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37259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Medida 100 %</a:t>
            </a:r>
          </a:p>
          <a:p>
            <a:pPr algn="l">
              <a:lnSpc>
                <a:spcPts val="1800"/>
              </a:lnSpc>
            </a:pPr>
            <a:r>
              <a:rPr sz="1200" b="0">
                <a:solidFill>
                  <a:schemeClr val="tx1">
                    <a:lumMod val="65000"/>
                    <a:lumOff val="35000"/>
                  </a:schemeClr>
                </a:solidFill>
                <a:latin typeface="Noto Sans"/>
              </a:rPr>
              <a:t>cada neumático medido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 la línea, de un vistazo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OLM de la BNS62: NST1, NST2 y KM</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ns62.jpg"/>
          <p:cNvPicPr>
            <a:picLocks noChangeAspect="1"/>
          </p:cNvPicPr>
          <p:nvPr/>
        </p:nvPicPr>
        <p:blipFill>
          <a:blip r:embed="rId2"/>
          <a:stretch>
            <a:fillRect/>
          </a:stretch>
        </p:blipFill>
        <p:spPr>
          <a:xfrm>
            <a:off x="685800" y="2048713"/>
            <a:ext cx="7680960" cy="3629253"/>
          </a:xfrm>
          <a:prstGeom prst="rect">
            <a:avLst/>
          </a:prstGeom>
        </p:spPr>
      </p:pic>
      <p:sp>
        <p:nvSpPr>
          <p:cNvPr id="14" name="Oval 13"/>
          <p:cNvSpPr/>
          <p:nvPr/>
        </p:nvSpPr>
        <p:spPr>
          <a:xfrm>
            <a:off x="2441448" y="19748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19748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982065" y="257367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2065" y="257367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129784" y="199299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99299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973214" y="40253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3214" y="402538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Alerta y colores</a:t>
            </a:r>
          </a:p>
          <a:p>
            <a:pPr algn="l">
              <a:lnSpc>
                <a:spcPts val="1800"/>
              </a:lnSpc>
            </a:pPr>
            <a:r>
              <a:rPr sz="1200" b="0">
                <a:solidFill>
                  <a:schemeClr val="tx1">
                    <a:lumMod val="65000"/>
                    <a:lumOff val="35000"/>
                  </a:schemeClr>
                </a:solidFill>
                <a:latin typeface="Noto Sans"/>
              </a:rPr>
              <a:t>verde, naranja, rojo</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Cada puesto</a:t>
            </a:r>
          </a:p>
          <a:p>
            <a:pPr algn="l">
              <a:lnSpc>
                <a:spcPts val="1800"/>
              </a:lnSpc>
            </a:pPr>
            <a:r>
              <a:rPr sz="1200" b="0">
                <a:solidFill>
                  <a:schemeClr val="tx1">
                    <a:lumMod val="65000"/>
                    <a:lumOff val="35000"/>
                  </a:schemeClr>
                </a:solidFill>
                <a:latin typeface="Noto Sans"/>
              </a:rPr>
              <a:t>centrado, anchura, soldadura</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Un clic</a:t>
            </a:r>
          </a:p>
          <a:p>
            <a:pPr algn="l">
              <a:lnSpc>
                <a:spcPts val="1800"/>
              </a:lnSpc>
            </a:pPr>
            <a:r>
              <a:rPr sz="1200" b="0">
                <a:solidFill>
                  <a:schemeClr val="tx1">
                    <a:lumMod val="65000"/>
                    <a:lumOff val="35000"/>
                  </a:schemeClr>
                </a:solidFill>
                <a:latin typeface="Noto Sans"/>
              </a:rPr>
              <a:t>IQF, imágenes, alertas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Soldadura KM</a:t>
            </a:r>
          </a:p>
          <a:p>
            <a:pPr algn="l">
              <a:lnSpc>
                <a:spcPts val="1800"/>
              </a:lnSpc>
            </a:pPr>
            <a:r>
              <a:rPr sz="1200" b="0">
                <a:solidFill>
                  <a:schemeClr val="tx1">
                    <a:lumMod val="65000"/>
                    <a:lumOff val="35000"/>
                  </a:schemeClr>
                </a:solidFill>
                <a:latin typeface="Noto Sans"/>
              </a:rPr>
              <a:t>altura, calidad,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Entender</a:t>
            </a:r>
          </a:p>
          <a:p>
            <a:r>
              <a:rPr sz="2000" b="0">
                <a:latin typeface="Noto Sans"/>
              </a:rPr>
              <a:t>Del dato, a la tendencia, en tiempo real</a:t>
            </a:r>
          </a:p>
        </p:txBody>
      </p:sp>
      <p:sp>
        <p:nvSpPr>
          <p:cNvPr id="3" name="Text Placeholder 2"/>
          <p:cNvSpPr>
            <a:spLocks noGrp="1"/>
          </p:cNvSpPr>
          <p:nvPr>
            <p:ph type="body" idx="13" sz="quarter"/>
          </p:nvPr>
        </p:nvSpPr>
        <p:spPr/>
        <p:txBody>
          <a:bodyPr/>
          <a:lstStyle/>
          <a:p>
            <a:r>
              <a:t>02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Vemos la deriva antes que el defecto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real de PI Vision · MAC3 · puesto P14</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png"/>
          <p:cNvPicPr>
            <a:picLocks noChangeAspect="1"/>
          </p:cNvPicPr>
          <p:nvPr/>
        </p:nvPicPr>
        <p:blipFill>
          <a:blip r:embed="rId2"/>
          <a:stretch>
            <a:fillRect/>
          </a:stretch>
        </p:blipFill>
        <p:spPr>
          <a:xfrm>
            <a:off x="685800" y="2079650"/>
            <a:ext cx="7680960" cy="3567379"/>
          </a:xfrm>
          <a:prstGeom prst="rect">
            <a:avLst/>
          </a:prstGeom>
        </p:spPr>
      </p:pic>
      <p:sp>
        <p:nvSpPr>
          <p:cNvPr id="14" name="Oval 13"/>
          <p:cNvSpPr/>
          <p:nvPr/>
        </p:nvSpPr>
        <p:spPr>
          <a:xfrm>
            <a:off x="1558137" y="257502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58137" y="2575023"/>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4937760" y="255718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57186"/>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4246473" y="271771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6473" y="271771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4338645" y="205775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38645" y="205775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Cada neumático</a:t>
            </a:r>
          </a:p>
          <a:p>
            <a:pPr algn="l">
              <a:lnSpc>
                <a:spcPts val="1800"/>
              </a:lnSpc>
            </a:pPr>
            <a:r>
              <a:rPr sz="1200" b="0">
                <a:solidFill>
                  <a:schemeClr val="tx1">
                    <a:lumMod val="65000"/>
                    <a:lumOff val="35000"/>
                  </a:schemeClr>
                </a:solidFill>
                <a:latin typeface="Noto Sans"/>
              </a:rPr>
              <a:t>su valor individual</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La tendencia</a:t>
            </a:r>
          </a:p>
          <a:p>
            <a:pPr algn="l">
              <a:lnSpc>
                <a:spcPts val="1800"/>
              </a:lnSpc>
            </a:pPr>
            <a:r>
              <a:rPr sz="1200" b="0">
                <a:solidFill>
                  <a:schemeClr val="tx1">
                    <a:lumMod val="65000"/>
                    <a:lumOff val="35000"/>
                  </a:schemeClr>
                </a:solidFill>
                <a:latin typeface="Noto Sans"/>
              </a:rPr>
              <a:t>mediana de los 20 últimos</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Los límites</a:t>
            </a:r>
          </a:p>
          <a:p>
            <a:pPr algn="l">
              <a:lnSpc>
                <a:spcPts val="1800"/>
              </a:lnSpc>
            </a:pPr>
            <a:r>
              <a:rPr sz="1200" b="0">
                <a:solidFill>
                  <a:schemeClr val="tx1">
                    <a:lumMod val="65000"/>
                    <a:lumOff val="35000"/>
                  </a:schemeClr>
                </a:solidFill>
                <a:latin typeface="Noto Sans"/>
              </a:rPr>
              <a:t>tolerancias siempre visibles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El objetivo</a:t>
            </a:r>
          </a:p>
          <a:p>
            <a:pPr algn="l">
              <a:lnSpc>
                <a:spcPts val="1800"/>
              </a:lnSpc>
            </a:pPr>
            <a:r>
              <a:rPr sz="1200" b="0">
                <a:solidFill>
                  <a:schemeClr val="tx1">
                    <a:lumMod val="65000"/>
                    <a:lumOff val="35000"/>
                  </a:schemeClr>
                </a:solidFill>
                <a:latin typeface="Noto Sans"/>
              </a:rPr>
              <a:t>valor teórico de referencia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Alerta antes de que exista el defecto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La tendencia cruza el límite y la persona adecuada lo sabe al instante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342900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an.png"/>
          <p:cNvPicPr>
            <a:picLocks noChangeAspect="1"/>
          </p:cNvPicPr>
          <p:nvPr/>
        </p:nvPicPr>
        <p:blipFill>
          <a:blip r:embed="rId2"/>
          <a:stretch>
            <a:fillRect/>
          </a:stretch>
        </p:blipFill>
        <p:spPr>
          <a:xfrm>
            <a:off x="685800" y="1625242"/>
            <a:ext cx="10817352" cy="3196035"/>
          </a:xfrm>
          <a:prstGeom prst="rect">
            <a:avLst/>
          </a:prstGeom>
        </p:spPr>
      </p:pic>
      <p:sp>
        <p:nvSpPr>
          <p:cNvPr id="14" name="Oval 13"/>
          <p:cNvSpPr/>
          <p:nvPr/>
        </p:nvSpPr>
        <p:spPr>
          <a:xfrm>
            <a:off x="1862559" y="2003975"/>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62559" y="2003975"/>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38765" y="251534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38765" y="2515341"/>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alertmob.png"/>
          <p:cNvPicPr>
            <a:picLocks noChangeAspect="1"/>
          </p:cNvPicPr>
          <p:nvPr/>
        </p:nvPicPr>
        <p:blipFill>
          <a:blip r:embed="rId3"/>
          <a:stretch>
            <a:fillRect/>
          </a:stretch>
        </p:blipFill>
        <p:spPr>
          <a:xfrm>
            <a:off x="632942" y="5120640"/>
            <a:ext cx="1660195" cy="1234440"/>
          </a:xfrm>
          <a:prstGeom prst="rect">
            <a:avLst/>
          </a:prstGeom>
        </p:spPr>
      </p:pic>
      <p:sp>
        <p:nvSpPr>
          <p:cNvPr id="19" name="Oval 18"/>
          <p:cNvSpPr/>
          <p:nvPr/>
        </p:nvSpPr>
        <p:spPr>
          <a:xfrm>
            <a:off x="2697480" y="51663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51663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1" name="TextBox 20"/>
          <p:cNvSpPr txBox="1"/>
          <p:nvPr/>
        </p:nvSpPr>
        <p:spPr>
          <a:xfrm>
            <a:off x="3154680" y="514807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Entra en alerta</a:t>
            </a:r>
          </a:p>
          <a:p>
            <a:pPr algn="l">
              <a:lnSpc>
                <a:spcPts val="1800"/>
              </a:lnSpc>
            </a:pPr>
            <a:r>
              <a:rPr sz="1200" b="0">
                <a:solidFill>
                  <a:schemeClr val="tx1">
                    <a:lumMod val="65000"/>
                    <a:lumOff val="35000"/>
                  </a:schemeClr>
                </a:solidFill>
                <a:latin typeface="Noto Sans"/>
              </a:rPr>
              <a:t>la mediana sale de tolerancia</a:t>
            </a:r>
          </a:p>
        </p:txBody>
      </p:sp>
      <p:sp>
        <p:nvSpPr>
          <p:cNvPr id="22" name="Oval 21"/>
          <p:cNvSpPr/>
          <p:nvPr/>
        </p:nvSpPr>
        <p:spPr>
          <a:xfrm>
            <a:off x="2697480" y="57607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7480" y="576072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4" name="TextBox 23"/>
          <p:cNvSpPr txBox="1"/>
          <p:nvPr/>
        </p:nvSpPr>
        <p:spPr>
          <a:xfrm>
            <a:off x="3154680" y="574243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Sale de alerta</a:t>
            </a:r>
          </a:p>
          <a:p>
            <a:pPr algn="l">
              <a:lnSpc>
                <a:spcPts val="1800"/>
              </a:lnSpc>
            </a:pPr>
            <a:r>
              <a:rPr sz="1200" b="0">
                <a:solidFill>
                  <a:schemeClr val="tx1">
                    <a:lumMod val="65000"/>
                    <a:lumOff val="35000"/>
                  </a:schemeClr>
                </a:solidFill>
                <a:latin typeface="Noto Sans"/>
              </a:rPr>
              <a:t>vuelve al objetivo y queda registrado</a:t>
            </a:r>
          </a:p>
        </p:txBody>
      </p:sp>
      <p:sp>
        <p:nvSpPr>
          <p:cNvPr id="25" name="TextBox 24"/>
          <p:cNvSpPr txBox="1"/>
          <p:nvPr/>
        </p:nvSpPr>
        <p:spPr>
          <a:xfrm>
            <a:off x="7498079" y="5166360"/>
            <a:ext cx="411480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Aviso en pantalla y en el móvil</a:t>
            </a:r>
          </a:p>
          <a:p>
            <a:pPr algn="l">
              <a:lnSpc>
                <a:spcPts val="2100"/>
              </a:lnSpc>
            </a:pPr>
            <a:r>
              <a:rPr sz="1400" b="0">
                <a:solidFill>
                  <a:schemeClr val="tx1">
                    <a:lumMod val="65000"/>
                    <a:lumOff val="35000"/>
                  </a:schemeClr>
                </a:solidFill>
                <a:latin typeface="Noto Sans"/>
              </a:rPr>
              <a:t>Al responsable de proceso (CARE) o de mantenimiento (TECH).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imagen y cada alerta, guardadas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PI System conserva la historia completa de cada neumático</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31089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iimg.jpg"/>
          <p:cNvPicPr>
            <a:picLocks noChangeAspect="1"/>
          </p:cNvPicPr>
          <p:nvPr/>
        </p:nvPicPr>
        <p:blipFill>
          <a:blip r:embed="rId2"/>
          <a:stretch>
            <a:fillRect/>
          </a:stretch>
        </p:blipFill>
        <p:spPr>
          <a:xfrm>
            <a:off x="733285" y="1645920"/>
            <a:ext cx="2739669" cy="4434840"/>
          </a:xfrm>
          <a:prstGeom prst="rect">
            <a:avLst/>
          </a:prstGeom>
        </p:spPr>
      </p:pic>
      <p:sp>
        <p:nvSpPr>
          <p:cNvPr id="14" name="Rounded Rectangle 13"/>
          <p:cNvSpPr/>
          <p:nvPr/>
        </p:nvSpPr>
        <p:spPr>
          <a:xfrm>
            <a:off x="3931920" y="1508760"/>
            <a:ext cx="7708392" cy="3566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png"/>
          <p:cNvPicPr>
            <a:picLocks noChangeAspect="1"/>
          </p:cNvPicPr>
          <p:nvPr/>
        </p:nvPicPr>
        <p:blipFill>
          <a:blip r:embed="rId3"/>
          <a:stretch>
            <a:fillRect/>
          </a:stretch>
        </p:blipFill>
        <p:spPr>
          <a:xfrm>
            <a:off x="4297395" y="1645920"/>
            <a:ext cx="6977440" cy="3291839"/>
          </a:xfrm>
          <a:prstGeom prst="rect">
            <a:avLst/>
          </a:prstGeom>
        </p:spPr>
      </p:pic>
      <p:sp>
        <p:nvSpPr>
          <p:cNvPr id="16" name="TextBox 15"/>
          <p:cNvSpPr txBox="1"/>
          <p:nvPr/>
        </p:nvSpPr>
        <p:spPr>
          <a:xfrm>
            <a:off x="393192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Imagen de cada producto</a:t>
            </a:r>
          </a:p>
          <a:p>
            <a:pPr algn="l">
              <a:lnSpc>
                <a:spcPts val="1800"/>
              </a:lnSpc>
            </a:pPr>
            <a:r>
              <a:rPr sz="1200" b="0">
                <a:solidFill>
                  <a:schemeClr val="tx1">
                    <a:lumMod val="65000"/>
                    <a:lumOff val="35000"/>
                  </a:schemeClr>
                </a:solidFill>
                <a:latin typeface="Noto Sans"/>
              </a:rPr>
              <a:t>recuperable por puesto, fecha y hora</a:t>
            </a:r>
          </a:p>
        </p:txBody>
      </p:sp>
      <p:sp>
        <p:nvSpPr>
          <p:cNvPr id="17" name="TextBox 16"/>
          <p:cNvSpPr txBox="1"/>
          <p:nvPr/>
        </p:nvSpPr>
        <p:spPr>
          <a:xfrm>
            <a:off x="653796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Histórico de alertas</a:t>
            </a:r>
          </a:p>
          <a:p>
            <a:pPr algn="l">
              <a:lnSpc>
                <a:spcPts val="1800"/>
              </a:lnSpc>
            </a:pPr>
            <a:r>
              <a:rPr sz="1200" b="0">
                <a:solidFill>
                  <a:schemeClr val="tx1">
                    <a:lumMod val="65000"/>
                    <a:lumOff val="35000"/>
                  </a:schemeClr>
                </a:solidFill>
                <a:latin typeface="Noto Sans"/>
              </a:rPr>
              <a:t>puesto, tipo, inicio, fin y duración</a:t>
            </a:r>
          </a:p>
        </p:txBody>
      </p:sp>
      <p:sp>
        <p:nvSpPr>
          <p:cNvPr id="18" name="TextBox 17"/>
          <p:cNvSpPr txBox="1"/>
          <p:nvPr/>
        </p:nvSpPr>
        <p:spPr>
          <a:xfrm>
            <a:off x="914400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Base para la IA</a:t>
            </a:r>
          </a:p>
          <a:p>
            <a:pPr algn="l">
              <a:lnSpc>
                <a:spcPts val="1800"/>
              </a:lnSpc>
            </a:pPr>
            <a:r>
              <a:rPr sz="1200" b="0">
                <a:solidFill>
                  <a:schemeClr val="tx1">
                    <a:lumMod val="65000"/>
                    <a:lumOff val="35000"/>
                  </a:schemeClr>
                </a:solidFill>
                <a:latin typeface="Noto Sans"/>
              </a:rPr>
              <a:t>miles de imágenes reales para aprender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Decidir: R4P</a:t>
            </a:r>
          </a:p>
          <a:p>
            <a:r>
              <a:rPr sz="2000" b="0">
                <a:latin typeface="Noto Sans"/>
              </a:rPr>
              <a:t>El motor que convierte cada medida en una acción</a:t>
            </a:r>
          </a:p>
        </p:txBody>
      </p:sp>
      <p:sp>
        <p:nvSpPr>
          <p:cNvPr id="3" name="Text Placeholder 2"/>
          <p:cNvSpPr>
            <a:spLocks noGrp="1"/>
          </p:cNvSpPr>
          <p:nvPr>
            <p:ph type="body" idx="13" sz="quarter"/>
          </p:nvPr>
        </p:nvSpPr>
        <p:spPr/>
        <p:txBody>
          <a:bodyPr/>
          <a:lstStyle/>
          <a:p>
            <a:r>
              <a:t>03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dpi="0" rotWithShape="1">
          <a:blip r:embed="rId4"/>
          <a:stretch>
            <a:fillRect/>
          </a:stretch>
        </a:blipFill>
        <a:effectLst/>
      </p:bgPr>
    </p:bg>
    <p:spTree>
      <p:nvGrpSpPr>
        <p:cNvPr id="1" name=""/>
        <p:cNvGrpSpPr/>
        <p:nvPr/>
      </p:nvGrpSpPr>
      <p:grpSpPr/>
      <p:sp>
        <p:nvSpPr>
          <p:cNvPr id="2" name="Title 1"/>
          <p:cNvSpPr>
            <a:spLocks noGrp="1"/>
          </p:cNvSpPr>
          <p:nvPr>
            <p:ph type="title"/>
          </p:nvPr>
        </p:nvSpPr>
        <p:spPr/>
        <p:txBody>
          <a:bodyPr/>
          <a:lstStyle/>
          <a:p>
            <a:r>
              <a:t>R4P: el experto en cada neumático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Motor de reglas en tiempo real conectado a la medida OLM</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pic>
        <p:nvPicPr>
          <p:cNvPr id="12" name="Picture 11" descr="r4p.png"/>
          <p:cNvPicPr>
            <a:picLocks noChangeAspect="1"/>
          </p:cNvPicPr>
          <p:nvPr/>
        </p:nvPicPr>
        <p:blipFill>
          <a:blip r:embed="rId2"/>
          <a:stretch>
            <a:fillRect/>
          </a:stretch>
        </p:blipFill>
        <p:spPr>
          <a:xfrm>
            <a:off x="548640" y="1599959"/>
            <a:ext cx="6949440" cy="3109440"/>
          </a:xfrm>
          <a:prstGeom prst="rect">
            <a:avLst/>
          </a:prstGeom>
        </p:spPr>
      </p:pic>
      <p:sp>
        <p:nvSpPr>
          <p:cNvPr id="13" name="TextBox 12"/>
          <p:cNvSpPr txBox="1"/>
          <p:nvPr/>
        </p:nvSpPr>
        <p:spPr>
          <a:xfrm>
            <a:off x="7955279" y="1828800"/>
            <a:ext cx="3657600" cy="2377440"/>
          </a:xfrm>
          <a:prstGeom prst="rect">
            <a:avLst/>
          </a:prstGeom>
          <a:noFill/>
        </p:spPr>
        <p:txBody>
          <a:bodyPr wrap="square" lIns="0" rIns="0" tIns="0" bIns="0" anchor="t">
            <a:spAutoFit/>
          </a:bodyPr>
          <a:lstStyle/>
          <a:p>
            <a:pPr algn="l">
              <a:spcAft>
                <a:spcPts val="1000"/>
              </a:spcAft>
            </a:pPr>
            <a:r>
              <a:rPr sz="3200" b="1">
                <a:solidFill>
                  <a:schemeClr val="tx1"/>
                </a:solidFill>
                <a:latin typeface="BIB Bold"/>
              </a:rPr>
              <a:t>Mide, decide y actúa</a:t>
            </a:r>
          </a:p>
          <a:p>
            <a:pPr algn="l">
              <a:lnSpc>
                <a:spcPts val="2400"/>
              </a:lnSpc>
              <a:spcAft>
                <a:spcPts val="1000"/>
              </a:spcAft>
            </a:pPr>
            <a:r>
              <a:rPr sz="1600" b="0">
                <a:solidFill>
                  <a:schemeClr val="tx1">
                    <a:lumMod val="65000"/>
                    <a:lumOff val="35000"/>
                  </a:schemeClr>
                </a:solidFill>
                <a:latin typeface="Noto Sans"/>
              </a:rPr>
              <a:t>en segundos, sin esperar a nadie.</a:t>
            </a:r>
          </a:p>
        </p:txBody>
      </p:sp>
      <p:sp>
        <p:nvSpPr>
          <p:cNvPr id="14" name="Rounded Rectangle 13"/>
          <p:cNvSpPr/>
          <p:nvPr/>
        </p:nvSpPr>
        <p:spPr>
          <a:xfrm>
            <a:off x="548640" y="5120640"/>
            <a:ext cx="3566160" cy="109728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24/7</a:t>
            </a:r>
          </a:p>
        </p:txBody>
      </p:sp>
      <p:sp>
        <p:nvSpPr>
          <p:cNvPr id="16" name="TextBox 15"/>
          <p:cNvSpPr txBox="1"/>
          <p:nvPr/>
        </p:nvSpPr>
        <p:spPr>
          <a:xfrm>
            <a:off x="2377440"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en todos los turnos</a:t>
            </a:r>
          </a:p>
        </p:txBody>
      </p:sp>
      <p:sp>
        <p:nvSpPr>
          <p:cNvPr id="17" name="Rounded Rectangle 16"/>
          <p:cNvSpPr/>
          <p:nvPr/>
        </p:nvSpPr>
        <p:spPr>
          <a:xfrm>
            <a:off x="4297679" y="5120640"/>
            <a:ext cx="3566160" cy="109728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100 %</a:t>
            </a:r>
          </a:p>
        </p:txBody>
      </p:sp>
      <p:sp>
        <p:nvSpPr>
          <p:cNvPr id="19" name="TextBox 18"/>
          <p:cNvSpPr txBox="1"/>
          <p:nvPr/>
        </p:nvSpPr>
        <p:spPr>
          <a:xfrm>
            <a:off x="612647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de los neumáticos</a:t>
            </a:r>
          </a:p>
        </p:txBody>
      </p:sp>
      <p:sp>
        <p:nvSpPr>
          <p:cNvPr id="20" name="Rounded Rectangle 19"/>
          <p:cNvSpPr/>
          <p:nvPr/>
        </p:nvSpPr>
        <p:spPr>
          <a:xfrm>
            <a:off x="8046719" y="5120640"/>
            <a:ext cx="3566160" cy="109728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Seg.</a:t>
            </a:r>
          </a:p>
        </p:txBody>
      </p:sp>
      <p:sp>
        <p:nvSpPr>
          <p:cNvPr id="22" name="TextBox 21"/>
          <p:cNvSpPr txBox="1"/>
          <p:nvPr/>
        </p:nvSpPr>
        <p:spPr>
          <a:xfrm>
            <a:off x="987551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de la medida, a la acción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Cuatro respuestas automáticas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De la más suave a la más firme, según lo que diga la medida</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lert.png"/>
          <p:cNvPicPr>
            <a:picLocks noChangeAspect="1"/>
          </p:cNvPicPr>
          <p:nvPr/>
        </p:nvPicPr>
        <p:blipFill>
          <a:blip r:embed="rId2"/>
          <a:stretch>
            <a:fillRect/>
          </a:stretch>
        </p:blipFill>
        <p:spPr>
          <a:xfrm>
            <a:off x="868680" y="1931669"/>
            <a:ext cx="1965960" cy="982980"/>
          </a:xfrm>
          <a:prstGeom prst="rect">
            <a:avLst/>
          </a:prstGeom>
        </p:spPr>
      </p:pic>
      <p:sp>
        <p:nvSpPr>
          <p:cNvPr id="15" name="TextBox 14"/>
          <p:cNvSpPr txBox="1"/>
          <p:nvPr/>
        </p:nvSpPr>
        <p:spPr>
          <a:xfrm>
            <a:off x="777240"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01</a:t>
            </a:r>
          </a:p>
        </p:txBody>
      </p:sp>
      <p:sp>
        <p:nvSpPr>
          <p:cNvPr id="16" name="TextBox 15"/>
          <p:cNvSpPr txBox="1"/>
          <p:nvPr/>
        </p:nvSpPr>
        <p:spPr>
          <a:xfrm>
            <a:off x="777240"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Alertar</a:t>
            </a:r>
          </a:p>
        </p:txBody>
      </p:sp>
      <p:sp>
        <p:nvSpPr>
          <p:cNvPr id="17" name="TextBox 16"/>
          <p:cNvSpPr txBox="1"/>
          <p:nvPr/>
        </p:nvSpPr>
        <p:spPr>
          <a:xfrm>
            <a:off x="777240"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Avisa al operario y al responsable en pantalla y en el móvil.</a:t>
            </a:r>
          </a:p>
        </p:txBody>
      </p:sp>
      <p:sp>
        <p:nvSpPr>
          <p:cNvPr id="18" name="Rounded Rectangle 17"/>
          <p:cNvSpPr/>
          <p:nvPr/>
        </p:nvSpPr>
        <p:spPr>
          <a:xfrm>
            <a:off x="777240"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PRODUCCIÓN</a:t>
            </a:r>
          </a:p>
        </p:txBody>
      </p:sp>
      <p:sp>
        <p:nvSpPr>
          <p:cNvPr id="20" name="Rounded Rectangle 19"/>
          <p:cNvSpPr/>
          <p:nvPr/>
        </p:nvSpPr>
        <p:spPr>
          <a:xfrm>
            <a:off x="3376879"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59759"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adjust.png"/>
          <p:cNvPicPr>
            <a:picLocks noChangeAspect="1"/>
          </p:cNvPicPr>
          <p:nvPr/>
        </p:nvPicPr>
        <p:blipFill>
          <a:blip r:embed="rId3"/>
          <a:stretch>
            <a:fillRect/>
          </a:stretch>
        </p:blipFill>
        <p:spPr>
          <a:xfrm>
            <a:off x="4082491" y="1783080"/>
            <a:ext cx="1194816" cy="1280160"/>
          </a:xfrm>
          <a:prstGeom prst="rect">
            <a:avLst/>
          </a:prstGeom>
        </p:spPr>
      </p:pic>
      <p:sp>
        <p:nvSpPr>
          <p:cNvPr id="23" name="TextBox 22"/>
          <p:cNvSpPr txBox="1"/>
          <p:nvPr/>
        </p:nvSpPr>
        <p:spPr>
          <a:xfrm>
            <a:off x="3605479"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02</a:t>
            </a:r>
          </a:p>
        </p:txBody>
      </p:sp>
      <p:sp>
        <p:nvSpPr>
          <p:cNvPr id="24" name="TextBox 23"/>
          <p:cNvSpPr txBox="1"/>
          <p:nvPr/>
        </p:nvSpPr>
        <p:spPr>
          <a:xfrm>
            <a:off x="3605479"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Ajustar</a:t>
            </a:r>
          </a:p>
        </p:txBody>
      </p:sp>
      <p:sp>
        <p:nvSpPr>
          <p:cNvPr id="25" name="TextBox 24"/>
          <p:cNvSpPr txBox="1"/>
          <p:nvPr/>
        </p:nvSpPr>
        <p:spPr>
          <a:xfrm>
            <a:off x="3605479"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Corrige el parámetro de la máquina (regulación R4P) sin intervención.</a:t>
            </a:r>
          </a:p>
        </p:txBody>
      </p:sp>
      <p:sp>
        <p:nvSpPr>
          <p:cNvPr id="26" name="Rounded Rectangle 25"/>
          <p:cNvSpPr/>
          <p:nvPr/>
        </p:nvSpPr>
        <p:spPr>
          <a:xfrm>
            <a:off x="3605479"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5479"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PRODUCCIÓN</a:t>
            </a:r>
          </a:p>
        </p:txBody>
      </p:sp>
      <p:sp>
        <p:nvSpPr>
          <p:cNvPr id="28" name="Rounded Rectangle 27"/>
          <p:cNvSpPr/>
          <p:nvPr/>
        </p:nvSpPr>
        <p:spPr>
          <a:xfrm>
            <a:off x="6205118"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87998"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block.png"/>
          <p:cNvPicPr>
            <a:picLocks noChangeAspect="1"/>
          </p:cNvPicPr>
          <p:nvPr/>
        </p:nvPicPr>
        <p:blipFill>
          <a:blip r:embed="rId4"/>
          <a:stretch>
            <a:fillRect/>
          </a:stretch>
        </p:blipFill>
        <p:spPr>
          <a:xfrm>
            <a:off x="6988073" y="1783080"/>
            <a:ext cx="1040130" cy="1280160"/>
          </a:xfrm>
          <a:prstGeom prst="rect">
            <a:avLst/>
          </a:prstGeom>
        </p:spPr>
      </p:pic>
      <p:sp>
        <p:nvSpPr>
          <p:cNvPr id="31" name="TextBox 30"/>
          <p:cNvSpPr txBox="1"/>
          <p:nvPr/>
        </p:nvSpPr>
        <p:spPr>
          <a:xfrm>
            <a:off x="6433718"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03</a:t>
            </a:r>
          </a:p>
        </p:txBody>
      </p:sp>
      <p:sp>
        <p:nvSpPr>
          <p:cNvPr id="32" name="TextBox 31"/>
          <p:cNvSpPr txBox="1"/>
          <p:nvPr/>
        </p:nvSpPr>
        <p:spPr>
          <a:xfrm>
            <a:off x="6433718"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Bloquear</a:t>
            </a:r>
          </a:p>
        </p:txBody>
      </p:sp>
      <p:sp>
        <p:nvSpPr>
          <p:cNvPr id="33" name="TextBox 32"/>
          <p:cNvSpPr txBox="1"/>
          <p:nvPr/>
        </p:nvSpPr>
        <p:spPr>
          <a:xfrm>
            <a:off x="6433718"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Detiene la máquina si la desviación no se puede corregir.</a:t>
            </a:r>
          </a:p>
        </p:txBody>
      </p:sp>
      <p:sp>
        <p:nvSpPr>
          <p:cNvPr id="34" name="Rounded Rectangle 33"/>
          <p:cNvSpPr/>
          <p:nvPr/>
        </p:nvSpPr>
        <p:spPr>
          <a:xfrm>
            <a:off x="6433718"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3718"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PRUEBAS</a:t>
            </a:r>
          </a:p>
        </p:txBody>
      </p:sp>
      <p:sp>
        <p:nvSpPr>
          <p:cNvPr id="36" name="Rounded Rectangle 35"/>
          <p:cNvSpPr/>
          <p:nvPr/>
        </p:nvSpPr>
        <p:spPr>
          <a:xfrm>
            <a:off x="9033357" y="1508760"/>
            <a:ext cx="2606040" cy="4709160"/>
          </a:xfrm>
          <a:prstGeom prst="roundRect">
            <a:avLst>
              <a:gd name="adj" fmla="val 4000"/>
            </a:avLst>
          </a:prstGeom>
          <a:solidFill>
            <a:schemeClr val="bg1"/>
          </a:solidFill>
          <a:ln w="15875">
            <a:solidFill>
              <a:schemeClr val="tx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16237"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egreg.png"/>
          <p:cNvPicPr>
            <a:picLocks noChangeAspect="1"/>
          </p:cNvPicPr>
          <p:nvPr/>
        </p:nvPicPr>
        <p:blipFill>
          <a:blip r:embed="rId5"/>
          <a:stretch>
            <a:fillRect/>
          </a:stretch>
        </p:blipFill>
        <p:spPr>
          <a:xfrm>
            <a:off x="9696297" y="1783080"/>
            <a:ext cx="1280160" cy="1280160"/>
          </a:xfrm>
          <a:prstGeom prst="rect">
            <a:avLst/>
          </a:prstGeom>
        </p:spPr>
      </p:pic>
      <p:sp>
        <p:nvSpPr>
          <p:cNvPr id="39" name="TextBox 38"/>
          <p:cNvSpPr txBox="1"/>
          <p:nvPr/>
        </p:nvSpPr>
        <p:spPr>
          <a:xfrm>
            <a:off x="9261957"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04</a:t>
            </a:r>
          </a:p>
        </p:txBody>
      </p:sp>
      <p:sp>
        <p:nvSpPr>
          <p:cNvPr id="40" name="TextBox 39"/>
          <p:cNvSpPr txBox="1"/>
          <p:nvPr/>
        </p:nvSpPr>
        <p:spPr>
          <a:xfrm>
            <a:off x="9261957"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Segregar</a:t>
            </a:r>
          </a:p>
        </p:txBody>
      </p:sp>
      <p:sp>
        <p:nvSpPr>
          <p:cNvPr id="41" name="TextBox 40"/>
          <p:cNvSpPr txBox="1"/>
          <p:nvPr/>
        </p:nvSpPr>
        <p:spPr>
          <a:xfrm>
            <a:off x="9261957"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Apartará el producto afectado de la línea de forma automática.</a:t>
            </a:r>
          </a:p>
        </p:txBody>
      </p:sp>
      <p:sp>
        <p:nvSpPr>
          <p:cNvPr id="42" name="Rounded Rectangle 41"/>
          <p:cNvSpPr/>
          <p:nvPr/>
        </p:nvSpPr>
        <p:spPr>
          <a:xfrm>
            <a:off x="9261957" y="5669280"/>
            <a:ext cx="1828800" cy="32918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61957" y="5669280"/>
            <a:ext cx="1828800" cy="329184"/>
          </a:xfrm>
          <a:prstGeom prst="rect">
            <a:avLst/>
          </a:prstGeom>
          <a:noFill/>
        </p:spPr>
        <p:txBody>
          <a:bodyPr wrap="square" lIns="0" rIns="0" tIns="0" bIns="0" anchor="ctr">
            <a:spAutoFit/>
          </a:bodyPr>
          <a:lstStyle/>
          <a:p>
            <a:pPr algn="ctr">
              <a:lnSpc>
                <a:spcPts val="1500"/>
              </a:lnSpc>
            </a:pPr>
            <a:r>
              <a:rPr sz="1000" b="1">
                <a:solidFill>
                  <a:schemeClr val="tx1"/>
                </a:solidFill>
                <a:latin typeface="Noto Sans"/>
              </a:rPr>
              <a:t>PRÓXIMA FASE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en acción: la deriva se corrige sola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real de regulación BJ · MAC6 · puesto P17</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g.png"/>
          <p:cNvPicPr>
            <a:picLocks noChangeAspect="1"/>
          </p:cNvPicPr>
          <p:nvPr/>
        </p:nvPicPr>
        <p:blipFill>
          <a:blip r:embed="rId2"/>
          <a:stretch>
            <a:fillRect/>
          </a:stretch>
        </p:blipFill>
        <p:spPr>
          <a:xfrm>
            <a:off x="685800" y="2000707"/>
            <a:ext cx="7680960" cy="3725265"/>
          </a:xfrm>
          <a:prstGeom prst="rect">
            <a:avLst/>
          </a:prstGeom>
        </p:spPr>
      </p:pic>
      <p:sp>
        <p:nvSpPr>
          <p:cNvPr id="14" name="Oval 13"/>
          <p:cNvSpPr/>
          <p:nvPr/>
        </p:nvSpPr>
        <p:spPr>
          <a:xfrm>
            <a:off x="866851"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851"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1028151" y="4220284"/>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8151" y="4220284"/>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1826971" y="265567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6971" y="2655673"/>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3055924"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5924"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Límite inferior</a:t>
            </a:r>
          </a:p>
          <a:p>
            <a:pPr algn="l">
              <a:lnSpc>
                <a:spcPts val="1800"/>
              </a:lnSpc>
            </a:pPr>
            <a:r>
              <a:rPr sz="1200" b="0">
                <a:solidFill>
                  <a:schemeClr val="tx1">
                    <a:lumMod val="65000"/>
                    <a:lumOff val="35000"/>
                  </a:schemeClr>
                </a:solidFill>
                <a:latin typeface="Noto Sans"/>
              </a:rPr>
              <a:t>el trusquín llega al límite</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R4P actúa</a:t>
            </a:r>
          </a:p>
          <a:p>
            <a:pPr algn="l">
              <a:lnSpc>
                <a:spcPts val="1800"/>
              </a:lnSpc>
            </a:pPr>
            <a:r>
              <a:rPr sz="1200" b="0">
                <a:solidFill>
                  <a:schemeClr val="tx1">
                    <a:lumMod val="65000"/>
                    <a:lumOff val="35000"/>
                  </a:schemeClr>
                </a:solidFill>
                <a:latin typeface="Noto Sans"/>
              </a:rPr>
              <a:t>activa la corrección ODM</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Objetivo</a:t>
            </a:r>
          </a:p>
          <a:p>
            <a:pPr algn="l">
              <a:lnSpc>
                <a:spcPts val="1800"/>
              </a:lnSpc>
            </a:pPr>
            <a:r>
              <a:rPr sz="1200" b="0">
                <a:solidFill>
                  <a:schemeClr val="tx1">
                    <a:lumMod val="65000"/>
                    <a:lumOff val="35000"/>
                  </a:schemeClr>
                </a:solidFill>
                <a:latin typeface="Noto Sans"/>
              </a:rPr>
              <a:t>vuelve al valor teórico</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Sin corrección</a:t>
            </a:r>
          </a:p>
          <a:p>
            <a:pPr algn="l">
              <a:lnSpc>
                <a:spcPts val="1800"/>
              </a:lnSpc>
            </a:pPr>
            <a:r>
              <a:rPr sz="1200" b="0">
                <a:solidFill>
                  <a:schemeClr val="tx1">
                    <a:lumMod val="65000"/>
                    <a:lumOff val="35000"/>
                  </a:schemeClr>
                </a:solidFill>
                <a:latin typeface="Noto Sans"/>
              </a:rPr>
              <a:t>vuelve a derivar: la prueba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 qué R4P marca la diferencia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Qué pasa cuando una medida empieza a derivar</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1828800"/>
            <a:ext cx="1920240" cy="411480"/>
          </a:xfrm>
          <a:prstGeom prst="rect">
            <a:avLst/>
          </a:prstGeom>
          <a:noFill/>
        </p:spPr>
        <p:txBody>
          <a:bodyPr wrap="square" lIns="0" rIns="0" tIns="0" bIns="0" anchor="t">
            <a:spAutoFit/>
          </a:bodyPr>
          <a:lstStyle/>
          <a:p>
            <a:pPr algn="l"/>
            <a:r>
              <a:rPr sz="2000" b="1">
                <a:solidFill>
                  <a:schemeClr val="tx1">
                    <a:lumMod val="65000"/>
                    <a:lumOff val="35000"/>
                  </a:schemeClr>
                </a:solidFill>
                <a:latin typeface="BIB Bold"/>
              </a:rPr>
              <a:t>Sin R4P</a:t>
            </a:r>
          </a:p>
        </p:txBody>
      </p:sp>
      <p:sp>
        <p:nvSpPr>
          <p:cNvPr id="14" name="TextBox 13"/>
          <p:cNvSpPr txBox="1"/>
          <p:nvPr/>
        </p:nvSpPr>
        <p:spPr>
          <a:xfrm>
            <a:off x="822959" y="233172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Corrección manual</a:t>
            </a:r>
          </a:p>
        </p:txBody>
      </p:sp>
      <p:cxnSp>
        <p:nvCxnSpPr>
          <p:cNvPr id="15" name="Connector 14"/>
          <p:cNvCxnSpPr/>
          <p:nvPr/>
        </p:nvCxnSpPr>
        <p:spPr>
          <a:xfrm>
            <a:off x="2697480" y="212140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6" name="Donut 15"/>
          <p:cNvSpPr/>
          <p:nvPr/>
        </p:nvSpPr>
        <p:spPr>
          <a:xfrm>
            <a:off x="269748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nut 16"/>
          <p:cNvSpPr/>
          <p:nvPr/>
        </p:nvSpPr>
        <p:spPr>
          <a:xfrm>
            <a:off x="328269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3867912"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4453128"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503834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623560"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6208776"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6793992"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7379208"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796442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854964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913485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Empieza la deriva</a:t>
            </a:r>
          </a:p>
        </p:txBody>
      </p:sp>
      <p:sp>
        <p:nvSpPr>
          <p:cNvPr id="29" name="TextBox 28"/>
          <p:cNvSpPr txBox="1"/>
          <p:nvPr/>
        </p:nvSpPr>
        <p:spPr>
          <a:xfrm>
            <a:off x="5257800"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Salta la alerta</a:t>
            </a:r>
          </a:p>
        </p:txBody>
      </p:sp>
      <p:sp>
        <p:nvSpPr>
          <p:cNvPr id="30" name="TextBox 29"/>
          <p:cNvSpPr txBox="1"/>
          <p:nvPr/>
        </p:nvSpPr>
        <p:spPr>
          <a:xfrm>
            <a:off x="6428232"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El técnico llega</a:t>
            </a:r>
          </a:p>
        </p:txBody>
      </p:sp>
      <p:sp>
        <p:nvSpPr>
          <p:cNvPr id="31" name="TextBox 30"/>
          <p:cNvSpPr txBox="1"/>
          <p:nvPr/>
        </p:nvSpPr>
        <p:spPr>
          <a:xfrm>
            <a:off x="7598664"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Ajuste manual</a:t>
            </a:r>
          </a:p>
        </p:txBody>
      </p:sp>
      <p:sp>
        <p:nvSpPr>
          <p:cNvPr id="32" name="Rectangle 31"/>
          <p:cNvSpPr/>
          <p:nvPr/>
        </p:nvSpPr>
        <p:spPr>
          <a:xfrm>
            <a:off x="4379976" y="1801368"/>
            <a:ext cx="4023360" cy="640080"/>
          </a:xfrm>
          <a:prstGeom prst="rect">
            <a:avLst/>
          </a:prstGeom>
          <a:noFill/>
          <a:ln w="15875">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21240" y="1691639"/>
            <a:ext cx="1600200" cy="1325880"/>
          </a:xfrm>
          <a:prstGeom prst="rect">
            <a:avLst/>
          </a:prstGeom>
          <a:noFill/>
        </p:spPr>
        <p:txBody>
          <a:bodyPr wrap="square" lIns="0" rIns="0" tIns="0" bIns="0" anchor="ctr">
            <a:spAutoFit/>
          </a:bodyPr>
          <a:lstStyle/>
          <a:p>
            <a:pPr algn="l">
              <a:lnSpc>
                <a:spcPts val="1800"/>
              </a:lnSpc>
            </a:pPr>
            <a:r>
              <a:rPr sz="1200" b="1">
                <a:solidFill>
                  <a:schemeClr val="accent5"/>
                </a:solidFill>
                <a:latin typeface="Noto Sans"/>
              </a:rPr>
              <a:t>Neumáticos fuera de objetivo hasta que alguien actúa</a:t>
            </a:r>
          </a:p>
        </p:txBody>
      </p:sp>
      <p:sp>
        <p:nvSpPr>
          <p:cNvPr id="34" name="Rounded Rectangle 33"/>
          <p:cNvSpPr/>
          <p:nvPr/>
        </p:nvSpPr>
        <p:spPr>
          <a:xfrm>
            <a:off x="548640" y="3383279"/>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 y="3703320"/>
            <a:ext cx="1920240" cy="411480"/>
          </a:xfrm>
          <a:prstGeom prst="rect">
            <a:avLst/>
          </a:prstGeom>
          <a:noFill/>
        </p:spPr>
        <p:txBody>
          <a:bodyPr wrap="square" lIns="0" rIns="0" tIns="0" bIns="0" anchor="t">
            <a:spAutoFit/>
          </a:bodyPr>
          <a:lstStyle/>
          <a:p>
            <a:pPr algn="l"/>
            <a:r>
              <a:rPr sz="2000" b="1">
                <a:solidFill>
                  <a:schemeClr val="tx1"/>
                </a:solidFill>
                <a:latin typeface="BIB Bold"/>
              </a:rPr>
              <a:t>Con R4P</a:t>
            </a:r>
          </a:p>
        </p:txBody>
      </p:sp>
      <p:sp>
        <p:nvSpPr>
          <p:cNvPr id="36" name="TextBox 35"/>
          <p:cNvSpPr txBox="1"/>
          <p:nvPr/>
        </p:nvSpPr>
        <p:spPr>
          <a:xfrm>
            <a:off x="822959" y="420624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Corrección automática</a:t>
            </a:r>
          </a:p>
        </p:txBody>
      </p:sp>
      <p:cxnSp>
        <p:nvCxnSpPr>
          <p:cNvPr id="37" name="Connector 36"/>
          <p:cNvCxnSpPr/>
          <p:nvPr/>
        </p:nvCxnSpPr>
        <p:spPr>
          <a:xfrm>
            <a:off x="2697480" y="399592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69748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328269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86791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4453128" y="3767328"/>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503834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562356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620877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679399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7379208"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796442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854964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913485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87368" y="434340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Empieza la deriva</a:t>
            </a:r>
          </a:p>
        </p:txBody>
      </p:sp>
      <p:sp>
        <p:nvSpPr>
          <p:cNvPr id="51" name="Down Arrow 50"/>
          <p:cNvSpPr/>
          <p:nvPr/>
        </p:nvSpPr>
        <p:spPr>
          <a:xfrm>
            <a:off x="5084064" y="3456432"/>
            <a:ext cx="365760" cy="256032"/>
          </a:xfrm>
          <a:prstGeom prst="downArrow">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541264" y="3456432"/>
            <a:ext cx="2743200" cy="274320"/>
          </a:xfrm>
          <a:prstGeom prst="rect">
            <a:avLst/>
          </a:prstGeom>
          <a:noFill/>
        </p:spPr>
        <p:txBody>
          <a:bodyPr wrap="square" lIns="0" rIns="0" tIns="0" bIns="0" anchor="t">
            <a:spAutoFit/>
          </a:bodyPr>
          <a:lstStyle/>
          <a:p>
            <a:pPr algn="l">
              <a:lnSpc>
                <a:spcPts val="1800"/>
              </a:lnSpc>
            </a:pPr>
            <a:r>
              <a:rPr sz="1200" b="1">
                <a:solidFill>
                  <a:schemeClr val="tx1"/>
                </a:solidFill>
                <a:latin typeface="Noto Sans"/>
              </a:rPr>
              <a:t>R4P corrige al instante</a:t>
            </a:r>
          </a:p>
        </p:txBody>
      </p:sp>
      <p:sp>
        <p:nvSpPr>
          <p:cNvPr id="53" name="TextBox 52"/>
          <p:cNvSpPr txBox="1"/>
          <p:nvPr/>
        </p:nvSpPr>
        <p:spPr>
          <a:xfrm>
            <a:off x="9921240" y="3566160"/>
            <a:ext cx="1600200" cy="1325880"/>
          </a:xfrm>
          <a:prstGeom prst="rect">
            <a:avLst/>
          </a:prstGeom>
          <a:noFill/>
        </p:spPr>
        <p:txBody>
          <a:bodyPr wrap="square" lIns="0" rIns="0" tIns="0" bIns="0" anchor="ctr">
            <a:spAutoFit/>
          </a:bodyPr>
          <a:lstStyle/>
          <a:p>
            <a:pPr algn="l">
              <a:lnSpc>
                <a:spcPts val="1800"/>
              </a:lnSpc>
            </a:pPr>
            <a:r>
              <a:rPr sz="1200" b="1">
                <a:solidFill>
                  <a:schemeClr val="tx1"/>
                </a:solidFill>
                <a:latin typeface="Noto Sans"/>
              </a:rPr>
              <a:t>La producción vuelve al objetivo de inmediato</a:t>
            </a:r>
          </a:p>
        </p:txBody>
      </p:sp>
      <p:sp>
        <p:nvSpPr>
          <p:cNvPr id="54" name="Rounded Rectangle 53"/>
          <p:cNvSpPr/>
          <p:nvPr/>
        </p:nvSpPr>
        <p:spPr>
          <a:xfrm>
            <a:off x="548640"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Mismas reglas 24/7</a:t>
            </a:r>
          </a:p>
          <a:p>
            <a:pPr algn="l">
              <a:lnSpc>
                <a:spcPts val="1800"/>
              </a:lnSpc>
            </a:pPr>
            <a:r>
              <a:rPr sz="1200" b="0">
                <a:solidFill>
                  <a:schemeClr val="bg1"/>
                </a:solidFill>
                <a:latin typeface="Noto Sans"/>
              </a:rPr>
              <a:t>La calidad no depende del turno ni de la hora.</a:t>
            </a:r>
          </a:p>
        </p:txBody>
      </p:sp>
      <p:sp>
        <p:nvSpPr>
          <p:cNvPr id="56" name="Rounded Rectangle 55"/>
          <p:cNvSpPr/>
          <p:nvPr/>
        </p:nvSpPr>
        <p:spPr>
          <a:xfrm>
            <a:off x="429767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7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Experiencia convertida en reglas</a:t>
            </a:r>
          </a:p>
          <a:p>
            <a:pPr algn="l">
              <a:lnSpc>
                <a:spcPts val="1800"/>
              </a:lnSpc>
            </a:pPr>
            <a:r>
              <a:rPr sz="1200" b="0">
                <a:solidFill>
                  <a:schemeClr val="bg1"/>
                </a:solidFill>
                <a:latin typeface="Noto Sans"/>
              </a:rPr>
              <a:t>Lo que sabe el mejor técnico, aplicado siempre.</a:t>
            </a:r>
          </a:p>
        </p:txBody>
      </p:sp>
      <p:sp>
        <p:nvSpPr>
          <p:cNvPr id="58" name="Rounded Rectangle 57"/>
          <p:cNvSpPr/>
          <p:nvPr/>
        </p:nvSpPr>
        <p:spPr>
          <a:xfrm>
            <a:off x="804671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1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Cada decisión, registrada</a:t>
            </a:r>
          </a:p>
          <a:p>
            <a:pPr algn="l">
              <a:lnSpc>
                <a:spcPts val="1800"/>
              </a:lnSpc>
            </a:pPr>
            <a:r>
              <a:rPr sz="1200" b="0">
                <a:solidFill>
                  <a:schemeClr val="bg1"/>
                </a:solidFill>
                <a:latin typeface="Noto Sans"/>
              </a:rPr>
              <a:t>Trazabilidad completa en PI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Anticipar</a:t>
            </a:r>
          </a:p>
          <a:p>
            <a:r>
              <a:rPr sz="2000" b="0">
                <a:latin typeface="Noto Sans"/>
              </a:rPr>
              <a:t>Analítica avanzada e inteligencia artificial</a:t>
            </a:r>
          </a:p>
        </p:txBody>
      </p:sp>
      <p:sp>
        <p:nvSpPr>
          <p:cNvPr id="3" name="Text Placeholder 2"/>
          <p:cNvSpPr>
            <a:spLocks noGrp="1"/>
          </p:cNvSpPr>
          <p:nvPr>
            <p:ph type="body" idx="13" sz="quarter"/>
          </p:nvPr>
        </p:nvSpPr>
        <p:spPr/>
        <p:txBody>
          <a:bodyPr/>
          <a:lstStyle/>
          <a:p>
            <a:r>
              <a:t>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blipFill dpi="0" rotWithShape="1">
          <a:blip r:embed="rId3"/>
          <a:stretch>
            <a:fillRect/>
          </a:stretch>
        </a:blipFill>
        <a:effectLst/>
      </p:bgPr>
    </p:bg>
    <p:spTree>
      <p:nvGrpSpPr>
        <p:cNvPr id="1" name=""/>
        <p:cNvGrpSpPr/>
        <p:nvPr/>
      </p:nvGrpSpPr>
      <p:grpSpPr/>
      <p:sp>
        <p:nvSpPr>
          <p:cNvPr id="2" name="Title 1"/>
          <p:cNvSpPr>
            <a:spLocks noGrp="1"/>
          </p:cNvSpPr>
          <p:nvPr>
            <p:ph type="title"/>
          </p:nvPr>
        </p:nvSpPr>
        <p:spPr/>
        <p:txBody>
          <a:bodyPr/>
          <a:lstStyle/>
          <a:p>
            <a:r>
              <a:t>Dataiku: de millones de datos a patrones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Analítica avanzada para entender cada problema de calidad</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Pentagon 11"/>
          <p:cNvSpPr/>
          <p:nvPr/>
        </p:nvSpPr>
        <p:spPr>
          <a:xfrm>
            <a:off x="548640" y="1554480"/>
            <a:ext cx="2834640" cy="685800"/>
          </a:xfrm>
          <a:prstGeom prst="homePlate">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01  Unir</a:t>
            </a:r>
          </a:p>
        </p:txBody>
      </p:sp>
      <p:sp>
        <p:nvSpPr>
          <p:cNvPr id="14" name="TextBox 13"/>
          <p:cNvSpPr txBox="1"/>
          <p:nvPr/>
        </p:nvSpPr>
        <p:spPr>
          <a:xfrm>
            <a:off x="777240"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Medidas PI, imágenes y resultados de calidad (IQF)</a:t>
            </a:r>
          </a:p>
        </p:txBody>
      </p:sp>
      <p:sp>
        <p:nvSpPr>
          <p:cNvPr id="15" name="Chevron 14"/>
          <p:cNvSpPr/>
          <p:nvPr/>
        </p:nvSpPr>
        <p:spPr>
          <a:xfrm>
            <a:off x="3310128"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02  Explorar</a:t>
            </a:r>
          </a:p>
        </p:txBody>
      </p:sp>
      <p:sp>
        <p:nvSpPr>
          <p:cNvPr id="17" name="TextBox 16"/>
          <p:cNvSpPr txBox="1"/>
          <p:nvPr/>
        </p:nvSpPr>
        <p:spPr>
          <a:xfrm>
            <a:off x="3538728"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Correlaciones entre parámetros, puestos y turnos</a:t>
            </a:r>
          </a:p>
        </p:txBody>
      </p:sp>
      <p:sp>
        <p:nvSpPr>
          <p:cNvPr id="18" name="Chevron 17"/>
          <p:cNvSpPr/>
          <p:nvPr/>
        </p:nvSpPr>
        <p:spPr>
          <a:xfrm>
            <a:off x="6071616"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03  Descubrir</a:t>
            </a:r>
          </a:p>
        </p:txBody>
      </p:sp>
      <p:sp>
        <p:nvSpPr>
          <p:cNvPr id="20" name="TextBox 19"/>
          <p:cNvSpPr txBox="1"/>
          <p:nvPr/>
        </p:nvSpPr>
        <p:spPr>
          <a:xfrm>
            <a:off x="6300216"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Patrones que se repiten antes de una deriva</a:t>
            </a:r>
          </a:p>
        </p:txBody>
      </p:sp>
      <p:sp>
        <p:nvSpPr>
          <p:cNvPr id="21" name="Chevron 20"/>
          <p:cNvSpPr/>
          <p:nvPr/>
        </p:nvSpPr>
        <p:spPr>
          <a:xfrm>
            <a:off x="8833104"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4"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04  Actuar</a:t>
            </a:r>
          </a:p>
        </p:txBody>
      </p:sp>
      <p:sp>
        <p:nvSpPr>
          <p:cNvPr id="23" name="TextBox 22"/>
          <p:cNvSpPr txBox="1"/>
          <p:nvPr/>
        </p:nvSpPr>
        <p:spPr>
          <a:xfrm>
            <a:off x="9061704"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Nuevas reglas, alertas y mejoras de proceso</a:t>
            </a:r>
          </a:p>
        </p:txBody>
      </p:sp>
      <p:sp>
        <p:nvSpPr>
          <p:cNvPr id="24" name="Rounded Rectangle 23"/>
          <p:cNvSpPr/>
          <p:nvPr/>
        </p:nvSpPr>
        <p:spPr>
          <a:xfrm>
            <a:off x="548640" y="3429000"/>
            <a:ext cx="11091672" cy="278892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703320"/>
            <a:ext cx="512064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Una pregunta típica</a:t>
            </a:r>
          </a:p>
        </p:txBody>
      </p:sp>
      <p:sp>
        <p:nvSpPr>
          <p:cNvPr id="26" name="TextBox 25"/>
          <p:cNvSpPr txBox="1"/>
          <p:nvPr/>
        </p:nvSpPr>
        <p:spPr>
          <a:xfrm>
            <a:off x="960120" y="4069080"/>
            <a:ext cx="5120640" cy="1920240"/>
          </a:xfrm>
          <a:prstGeom prst="rect">
            <a:avLst/>
          </a:prstGeom>
          <a:noFill/>
        </p:spPr>
        <p:txBody>
          <a:bodyPr wrap="square" lIns="0" rIns="0" tIns="0" bIns="0" anchor="t">
            <a:spAutoFit/>
          </a:bodyPr>
          <a:lstStyle/>
          <a:p>
            <a:pPr algn="l"/>
            <a:r>
              <a:rPr sz="2200" b="1">
                <a:solidFill>
                  <a:schemeClr val="tx1"/>
                </a:solidFill>
                <a:latin typeface="BIB Bold"/>
              </a:rPr>
              <a:t>«¿Qué tienen en común los neumáticos en los que la soldadura empezó a derivar?»</a:t>
            </a:r>
          </a:p>
        </p:txBody>
      </p:sp>
      <p:sp>
        <p:nvSpPr>
          <p:cNvPr id="27" name="TextBox 26"/>
          <p:cNvSpPr txBox="1"/>
          <p:nvPr/>
        </p:nvSpPr>
        <p:spPr>
          <a:xfrm>
            <a:off x="6400800" y="3703320"/>
            <a:ext cx="493776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Lo que responde Dataiku</a:t>
            </a:r>
          </a:p>
        </p:txBody>
      </p:sp>
      <p:sp>
        <p:nvSpPr>
          <p:cNvPr id="28" name="TextBox 27"/>
          <p:cNvSpPr txBox="1"/>
          <p:nvPr/>
        </p:nvSpPr>
        <p:spPr>
          <a:xfrm>
            <a:off x="6400800" y="4114800"/>
            <a:ext cx="4937760" cy="1828800"/>
          </a:xfrm>
          <a:prstGeom prst="rect">
            <a:avLst/>
          </a:prstGeom>
          <a:noFill/>
        </p:spPr>
        <p:txBody>
          <a:bodyPr wrap="square" lIns="0" rIns="0" tIns="0" bIns="0" anchor="t">
            <a:spAutoFit/>
          </a:bodyPr>
          <a:lstStyle/>
          <a:p>
            <a:pPr algn="l" marL="144000" indent="-144000">
              <a:lnSpc>
                <a:spcPts val="2200"/>
              </a:lnSpc>
              <a:spcAft>
                <a:spcPts val="800"/>
              </a:spcAft>
              <a:buClr>
                <a:schemeClr val="accent1"/>
              </a:buClr>
              <a:buFont typeface="Wingdings 2"/>
              <a:buChar char=""/>
            </a:pPr>
            <a:r>
              <a:rPr sz="1500" b="0">
                <a:solidFill>
                  <a:schemeClr val="tx1"/>
                </a:solidFill>
                <a:latin typeface="Noto Sans"/>
              </a:rPr>
              <a:t>Qué parámetros se movieron antes</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En qué puestos, turnos o lotes se concentra</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Qué regla nueva lo habría evitado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un flujo real de datos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La característica de calidad CQ 38.1, de la confección a la cocción</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Rounded Rectangle 11"/>
          <p:cNvSpPr/>
          <p:nvPr/>
        </p:nvSpPr>
        <p:spPr>
          <a:xfrm>
            <a:off x="548640" y="1508760"/>
            <a:ext cx="11091672" cy="397763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787561" y="1600200"/>
            <a:ext cx="10613828" cy="3794760"/>
          </a:xfrm>
          <a:prstGeom prst="rect">
            <a:avLst/>
          </a:prstGeom>
        </p:spPr>
      </p:pic>
      <p:sp>
        <p:nvSpPr>
          <p:cNvPr id="14" name="Oval 13"/>
          <p:cNvSpPr/>
          <p:nvPr/>
        </p:nvSpPr>
        <p:spPr>
          <a:xfrm>
            <a:off x="1620668"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20668"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77576"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7576"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3892028" y="329504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92028" y="329504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2363636" y="285864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63636" y="285864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6874513" y="268787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4513" y="2687878"/>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24" name="TextBox 23"/>
          <p:cNvSpPr txBox="1"/>
          <p:nvPr/>
        </p:nvSpPr>
        <p:spPr>
          <a:xfrm>
            <a:off x="2379635" y="1632204"/>
            <a:ext cx="2377440" cy="228600"/>
          </a:xfrm>
          <a:prstGeom prst="rect">
            <a:avLst/>
          </a:prstGeom>
          <a:noFill/>
        </p:spPr>
        <p:txBody>
          <a:bodyPr wrap="square" lIns="0" rIns="0" tIns="0" bIns="0" anchor="t">
            <a:spAutoFit/>
          </a:bodyPr>
          <a:lstStyle/>
          <a:p>
            <a:pPr algn="l">
              <a:lnSpc>
                <a:spcPts val="1600"/>
              </a:lnSpc>
            </a:pPr>
            <a:r>
              <a:rPr sz="1100" b="1">
                <a:solidFill>
                  <a:schemeClr val="tx1"/>
                </a:solidFill>
                <a:latin typeface="Noto Sans"/>
              </a:rPr>
              <a:t>Zona CQ 38.1</a:t>
            </a:r>
          </a:p>
        </p:txBody>
      </p:sp>
      <p:sp>
        <p:nvSpPr>
          <p:cNvPr id="25" name="Oval 24"/>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7" name="TextBox 26"/>
          <p:cNvSpPr txBox="1"/>
          <p:nvPr/>
        </p:nvSpPr>
        <p:spPr>
          <a:xfrm>
            <a:off x="1005840"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Plugin PI</a:t>
            </a:r>
          </a:p>
          <a:p>
            <a:pPr algn="l">
              <a:lnSpc>
                <a:spcPts val="1600"/>
              </a:lnSpc>
            </a:pPr>
            <a:r>
              <a:rPr sz="1100" b="0">
                <a:solidFill>
                  <a:schemeClr val="tx1">
                    <a:lumMod val="65000"/>
                    <a:lumOff val="35000"/>
                  </a:schemeClr>
                </a:solidFill>
                <a:latin typeface="Noto Sans"/>
              </a:rPr>
              <a:t>lee las medidas de cada puesto</a:t>
            </a:r>
          </a:p>
        </p:txBody>
      </p:sp>
      <p:sp>
        <p:nvSpPr>
          <p:cNvPr id="28" name="Oval 27"/>
          <p:cNvSpPr/>
          <p:nvPr/>
        </p:nvSpPr>
        <p:spPr>
          <a:xfrm>
            <a:off x="2779776"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9776"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30" name="TextBox 29"/>
          <p:cNvSpPr txBox="1"/>
          <p:nvPr/>
        </p:nvSpPr>
        <p:spPr>
          <a:xfrm>
            <a:off x="3236976"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Preparación</a:t>
            </a:r>
          </a:p>
          <a:p>
            <a:pPr algn="l">
              <a:lnSpc>
                <a:spcPts val="1600"/>
              </a:lnSpc>
            </a:pPr>
            <a:r>
              <a:rPr sz="1100" b="0">
                <a:solidFill>
                  <a:schemeClr val="tx1">
                    <a:lumMod val="65000"/>
                    <a:lumOff val="35000"/>
                  </a:schemeClr>
                </a:solidFill>
                <a:latin typeface="Noto Sans"/>
              </a:rPr>
              <a:t>limpieza automática</a:t>
            </a:r>
          </a:p>
        </p:txBody>
      </p:sp>
      <p:sp>
        <p:nvSpPr>
          <p:cNvPr id="31" name="Oval 30"/>
          <p:cNvSpPr/>
          <p:nvPr/>
        </p:nvSpPr>
        <p:spPr>
          <a:xfrm>
            <a:off x="5010912"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3" name="TextBox 32"/>
          <p:cNvSpPr txBox="1"/>
          <p:nvPr/>
        </p:nvSpPr>
        <p:spPr>
          <a:xfrm>
            <a:off x="5468112"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Unión</a:t>
            </a:r>
          </a:p>
          <a:p>
            <a:pPr algn="l">
              <a:lnSpc>
                <a:spcPts val="1600"/>
              </a:lnSpc>
            </a:pPr>
            <a:r>
              <a:rPr sz="1100" b="0">
                <a:solidFill>
                  <a:schemeClr val="tx1">
                    <a:lumMod val="65000"/>
                    <a:lumOff val="35000"/>
                  </a:schemeClr>
                </a:solidFill>
                <a:latin typeface="Noto Sans"/>
              </a:rPr>
              <a:t>series temporales entre puestos</a:t>
            </a:r>
          </a:p>
        </p:txBody>
      </p:sp>
      <p:sp>
        <p:nvSpPr>
          <p:cNvPr id="34" name="Oval 33"/>
          <p:cNvSpPr/>
          <p:nvPr/>
        </p:nvSpPr>
        <p:spPr>
          <a:xfrm>
            <a:off x="7242048"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42048"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6" name="TextBox 35"/>
          <p:cNvSpPr txBox="1"/>
          <p:nvPr/>
        </p:nvSpPr>
        <p:spPr>
          <a:xfrm>
            <a:off x="7699248"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Matrícula</a:t>
            </a:r>
          </a:p>
          <a:p>
            <a:pPr algn="l">
              <a:lnSpc>
                <a:spcPts val="1600"/>
              </a:lnSpc>
            </a:pPr>
            <a:r>
              <a:rPr sz="1100" b="0">
                <a:solidFill>
                  <a:schemeClr val="tx1">
                    <a:lumMod val="65000"/>
                    <a:lumOff val="35000"/>
                  </a:schemeClr>
                </a:solidFill>
                <a:latin typeface="Noto Sans"/>
              </a:rPr>
              <a:t>la identidad del neumático</a:t>
            </a:r>
          </a:p>
        </p:txBody>
      </p:sp>
      <p:sp>
        <p:nvSpPr>
          <p:cNvPr id="37" name="Oval 36"/>
          <p:cNvSpPr/>
          <p:nvPr/>
        </p:nvSpPr>
        <p:spPr>
          <a:xfrm>
            <a:off x="9473184"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73184"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39" name="TextBox 38"/>
          <p:cNvSpPr txBox="1"/>
          <p:nvPr/>
        </p:nvSpPr>
        <p:spPr>
          <a:xfrm>
            <a:off x="9930384"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Cocción C11</a:t>
            </a:r>
          </a:p>
          <a:p>
            <a:pPr algn="l">
              <a:lnSpc>
                <a:spcPts val="1600"/>
              </a:lnSpc>
            </a:pPr>
            <a:r>
              <a:rPr sz="1100" b="0">
                <a:solidFill>
                  <a:schemeClr val="tx1">
                    <a:lumMod val="65000"/>
                    <a:lumOff val="35000"/>
                  </a:schemeClr>
                </a:solidFill>
                <a:latin typeface="Noto Sans"/>
              </a:rPr>
              <a:t>se completa su historia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IA sobre nuestras imágenes láser</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El láser mide; la IA reconoce lo que no se puede medir con una cota</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Rounded Rectangle 11"/>
          <p:cNvSpPr/>
          <p:nvPr/>
        </p:nvSpPr>
        <p:spPr>
          <a:xfrm>
            <a:off x="548640" y="1508760"/>
            <a:ext cx="5120640" cy="42062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691640"/>
            <a:ext cx="4480559" cy="365760"/>
          </a:xfrm>
          <a:prstGeom prst="rect">
            <a:avLst/>
          </a:prstGeom>
          <a:noFill/>
        </p:spPr>
        <p:txBody>
          <a:bodyPr wrap="square" lIns="0" rIns="0" tIns="0" bIns="0" anchor="t">
            <a:spAutoFit/>
          </a:bodyPr>
          <a:lstStyle/>
          <a:p>
            <a:pPr algn="l"/>
            <a:r>
              <a:rPr sz="1800" b="1">
                <a:solidFill>
                  <a:schemeClr val="accent2"/>
                </a:solidFill>
                <a:latin typeface="BIB Bold"/>
              </a:rPr>
              <a:t>Medir: láser y cotas</a:t>
            </a:r>
          </a:p>
        </p:txBody>
      </p:sp>
      <p:sp>
        <p:nvSpPr>
          <p:cNvPr id="14" name="Rectangle 13"/>
          <p:cNvSpPr/>
          <p:nvPr/>
        </p:nvSpPr>
        <p:spPr>
          <a:xfrm>
            <a:off x="868680" y="2194560"/>
            <a:ext cx="4480559" cy="233172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i_rule.jpg"/>
          <p:cNvPicPr>
            <a:picLocks noChangeAspect="1"/>
          </p:cNvPicPr>
          <p:nvPr/>
        </p:nvPicPr>
        <p:blipFill>
          <a:blip r:embed="rId2"/>
          <a:stretch>
            <a:fillRect/>
          </a:stretch>
        </p:blipFill>
        <p:spPr>
          <a:xfrm>
            <a:off x="1341628" y="2240280"/>
            <a:ext cx="3534664" cy="2240280"/>
          </a:xfrm>
          <a:prstGeom prst="rect">
            <a:avLst/>
          </a:prstGeom>
        </p:spPr>
      </p:pic>
      <p:sp>
        <p:nvSpPr>
          <p:cNvPr id="16" name="TextBox 15"/>
          <p:cNvSpPr txBox="1"/>
          <p:nvPr/>
        </p:nvSpPr>
        <p:spPr>
          <a:xfrm>
            <a:off x="868680" y="4663440"/>
            <a:ext cx="4480559" cy="914400"/>
          </a:xfrm>
          <a:prstGeom prst="rect">
            <a:avLst/>
          </a:prstGeom>
          <a:noFill/>
        </p:spPr>
        <p:txBody>
          <a:bodyPr wrap="square" lIns="0" rIns="0" tIns="0" bIns="0" anchor="t">
            <a:spAutoFit/>
          </a:bodyPr>
          <a:lstStyle/>
          <a:p>
            <a:pPr algn="l">
              <a:lnSpc>
                <a:spcPts val="2100"/>
              </a:lnSpc>
            </a:pPr>
            <a:r>
              <a:rPr sz="1400" b="1">
                <a:solidFill>
                  <a:schemeClr val="bg1"/>
                </a:solidFill>
                <a:latin typeface="Noto Sans"/>
              </a:rPr>
              <a:t>Hoy y siempre. </a:t>
            </a:r>
          </a:p>
          <a:p>
            <a:pPr algn="l">
              <a:lnSpc>
                <a:spcPts val="2100"/>
              </a:lnSpc>
            </a:pPr>
            <a:r>
              <a:rPr sz="1400" b="0">
                <a:solidFill>
                  <a:schemeClr val="bg1"/>
                </a:solidFill>
                <a:latin typeface="Noto Sans"/>
              </a:rPr>
              <a:t>Anchura, trusquín, centrado y soldadura, con sus tolerancias.</a:t>
            </a:r>
          </a:p>
        </p:txBody>
      </p:sp>
      <p:sp>
        <p:nvSpPr>
          <p:cNvPr id="17" name="TextBox 16"/>
          <p:cNvSpPr txBox="1"/>
          <p:nvPr/>
        </p:nvSpPr>
        <p:spPr>
          <a:xfrm>
            <a:off x="5714999" y="3246120"/>
            <a:ext cx="777240" cy="731520"/>
          </a:xfrm>
          <a:prstGeom prst="rect">
            <a:avLst/>
          </a:prstGeom>
          <a:noFill/>
        </p:spPr>
        <p:txBody>
          <a:bodyPr wrap="square" lIns="0" rIns="0" tIns="0" bIns="0" anchor="ctr">
            <a:spAutoFit/>
          </a:bodyPr>
          <a:lstStyle/>
          <a:p>
            <a:pPr algn="ctr"/>
            <a:r>
              <a:rPr sz="4400" b="1">
                <a:solidFill>
                  <a:schemeClr val="tx1"/>
                </a:solidFill>
                <a:latin typeface="BIB Bold"/>
              </a:rPr>
              <a:t>+</a:t>
            </a:r>
          </a:p>
        </p:txBody>
      </p:sp>
      <p:sp>
        <p:nvSpPr>
          <p:cNvPr id="18" name="Rounded Rectangle 17"/>
          <p:cNvSpPr/>
          <p:nvPr/>
        </p:nvSpPr>
        <p:spPr>
          <a:xfrm>
            <a:off x="6537959" y="1508760"/>
            <a:ext cx="5102352" cy="42062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9" y="1691640"/>
            <a:ext cx="4462272" cy="365760"/>
          </a:xfrm>
          <a:prstGeom prst="rect">
            <a:avLst/>
          </a:prstGeom>
          <a:noFill/>
        </p:spPr>
        <p:txBody>
          <a:bodyPr wrap="square" lIns="0" rIns="0" tIns="0" bIns="0" anchor="t">
            <a:spAutoFit/>
          </a:bodyPr>
          <a:lstStyle/>
          <a:p>
            <a:pPr algn="l"/>
            <a:r>
              <a:rPr sz="1800" b="1">
                <a:solidFill>
                  <a:schemeClr val="tx1"/>
                </a:solidFill>
                <a:latin typeface="BIB Bold"/>
              </a:rPr>
              <a:t>Reconocer: IA</a:t>
            </a:r>
          </a:p>
        </p:txBody>
      </p:sp>
      <p:pic>
        <p:nvPicPr>
          <p:cNvPr id="20" name="Picture 19" descr="ai_strip.jpg"/>
          <p:cNvPicPr>
            <a:picLocks noChangeAspect="1"/>
          </p:cNvPicPr>
          <p:nvPr/>
        </p:nvPicPr>
        <p:blipFill>
          <a:blip r:embed="rId3"/>
          <a:stretch>
            <a:fillRect/>
          </a:stretch>
        </p:blipFill>
        <p:spPr>
          <a:xfrm>
            <a:off x="6857999" y="2244406"/>
            <a:ext cx="4462272" cy="631826"/>
          </a:xfrm>
          <a:prstGeom prst="rect">
            <a:avLst/>
          </a:prstGeom>
        </p:spPr>
      </p:pic>
      <p:sp>
        <p:nvSpPr>
          <p:cNvPr id="21" name="TextBox 20"/>
          <p:cNvSpPr txBox="1"/>
          <p:nvPr/>
        </p:nvSpPr>
        <p:spPr>
          <a:xfrm>
            <a:off x="6857999" y="3063240"/>
            <a:ext cx="4462272" cy="32004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 que no tiene cota:</a:t>
            </a:r>
          </a:p>
        </p:txBody>
      </p:sp>
      <p:sp>
        <p:nvSpPr>
          <p:cNvPr id="22" name="TextBox 21"/>
          <p:cNvSpPr txBox="1"/>
          <p:nvPr/>
        </p:nvSpPr>
        <p:spPr>
          <a:xfrm>
            <a:off x="6857999" y="3429000"/>
            <a:ext cx="4462272" cy="155448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Rugosidades y textura de la superficie</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Posibles materias extrañas</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Goma mal dispersa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Otras características del producto</a:t>
            </a:r>
          </a:p>
        </p:txBody>
      </p:sp>
      <p:sp>
        <p:nvSpPr>
          <p:cNvPr id="23" name="TextBox 22"/>
          <p:cNvSpPr txBox="1"/>
          <p:nvPr/>
        </p:nvSpPr>
        <p:spPr>
          <a:xfrm>
            <a:off x="6857999" y="5074920"/>
            <a:ext cx="4462272" cy="54864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Aprende cómo es un producto correcto y señala lo que se sale de lo normal.</a:t>
            </a:r>
          </a:p>
        </p:txBody>
      </p:sp>
      <p:sp>
        <p:nvSpPr>
          <p:cNvPr id="24" name="Rounded Rectangle 23"/>
          <p:cNvSpPr/>
          <p:nvPr/>
        </p:nvSpPr>
        <p:spPr>
          <a:xfrm>
            <a:off x="548640" y="5852160"/>
            <a:ext cx="11091672" cy="457200"/>
          </a:xfrm>
          <a:prstGeom prst="roundRect">
            <a:avLst>
              <a:gd name="adj" fmla="val 4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852160"/>
            <a:ext cx="10543032" cy="457200"/>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La base ya existe: </a:t>
            </a:r>
            <a:r>
              <a:rPr sz="1400" b="0">
                <a:solidFill>
                  <a:schemeClr val="tx1"/>
                </a:solidFill>
                <a:latin typeface="Noto Sans"/>
              </a:rPr>
              <a:t>miles de imágenes reales archivadas en PI, asociadas a sus medidas y alertas.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blipFill dpi="0" rotWithShape="1">
          <a:blip r:embed="rId3"/>
          <a:stretch>
            <a:fillRect/>
          </a:stretch>
        </a:blipFill>
        <a:effectLst/>
      </p:bgPr>
    </p:bg>
    <p:spTree>
      <p:nvGrpSpPr>
        <p:cNvPr id="1" name=""/>
        <p:cNvGrpSpPr/>
        <p:nvPr/>
      </p:nvGrpSpPr>
      <p:grpSpPr/>
      <p:sp>
        <p:nvSpPr>
          <p:cNvPr id="2" name="Title 1"/>
          <p:cNvSpPr>
            <a:spLocks noGrp="1"/>
          </p:cNvSpPr>
          <p:nvPr>
            <p:ph type="title"/>
          </p:nvPr>
        </p:nvSpPr>
        <p:spPr/>
        <p:txBody>
          <a:bodyPr/>
          <a:lstStyle/>
          <a:p>
            <a:r>
              <a:t>Dominio del proceso y mejora continua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Cada vuelta del ciclo nos hace un poco mejores</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Oval 11"/>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15" name="Oval 14"/>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17" name="TextBox 16"/>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Ver</a:t>
            </a:r>
          </a:p>
        </p:txBody>
      </p:sp>
      <p:sp>
        <p:nvSpPr>
          <p:cNvPr id="18" name="Oval 17"/>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20" name="TextBox 19"/>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Entender</a:t>
            </a:r>
          </a:p>
        </p:txBody>
      </p:sp>
      <p:sp>
        <p:nvSpPr>
          <p:cNvPr id="21" name="Oval 20"/>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23" name="TextBox 22"/>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Decidir</a:t>
            </a:r>
          </a:p>
        </p:txBody>
      </p:sp>
      <p:sp>
        <p:nvSpPr>
          <p:cNvPr id="24" name="Oval 23"/>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26" name="TextBox 25"/>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Anticipar</a:t>
            </a:r>
          </a:p>
        </p:txBody>
      </p:sp>
      <p:sp>
        <p:nvSpPr>
          <p:cNvPr id="27" name="TextBox 26"/>
          <p:cNvSpPr txBox="1"/>
          <p:nvPr/>
        </p:nvSpPr>
        <p:spPr>
          <a:xfrm>
            <a:off x="6035040" y="1645920"/>
            <a:ext cx="5486400" cy="1005840"/>
          </a:xfrm>
          <a:prstGeom prst="rect">
            <a:avLst/>
          </a:prstGeom>
          <a:noFill/>
        </p:spPr>
        <p:txBody>
          <a:bodyPr wrap="square" lIns="0" rIns="0" tIns="0" bIns="0" anchor="t">
            <a:spAutoFit/>
          </a:bodyPr>
          <a:lstStyle/>
          <a:p>
            <a:pPr algn="l"/>
            <a:r>
              <a:rPr sz="2000" b="1">
                <a:solidFill>
                  <a:schemeClr val="tx1"/>
                </a:solidFill>
                <a:latin typeface="BIB Bold"/>
              </a:rPr>
              <a:t>Medimos</a:t>
            </a:r>
          </a:p>
          <a:p>
            <a:pPr algn="l">
              <a:lnSpc>
                <a:spcPts val="2100"/>
              </a:lnSpc>
            </a:pPr>
            <a:r>
              <a:rPr sz="1400" b="0">
                <a:solidFill>
                  <a:schemeClr val="tx1">
                    <a:lumMod val="65000"/>
                    <a:lumOff val="35000"/>
                  </a:schemeClr>
                </a:solidFill>
                <a:latin typeface="Noto Sans"/>
              </a:rPr>
              <a:t>cada neumático con láser 3D</a:t>
            </a:r>
          </a:p>
        </p:txBody>
      </p:sp>
      <p:sp>
        <p:nvSpPr>
          <p:cNvPr id="28" name="TextBox 27"/>
          <p:cNvSpPr txBox="1"/>
          <p:nvPr/>
        </p:nvSpPr>
        <p:spPr>
          <a:xfrm>
            <a:off x="6035040" y="2788920"/>
            <a:ext cx="5486400" cy="1005840"/>
          </a:xfrm>
          <a:prstGeom prst="rect">
            <a:avLst/>
          </a:prstGeom>
          <a:noFill/>
        </p:spPr>
        <p:txBody>
          <a:bodyPr wrap="square" lIns="0" rIns="0" tIns="0" bIns="0" anchor="t">
            <a:spAutoFit/>
          </a:bodyPr>
          <a:lstStyle/>
          <a:p>
            <a:pPr algn="l"/>
            <a:r>
              <a:rPr sz="2000" b="1">
                <a:solidFill>
                  <a:schemeClr val="tx1"/>
                </a:solidFill>
                <a:latin typeface="BIB Bold"/>
              </a:rPr>
              <a:t>Comprendemos</a:t>
            </a:r>
          </a:p>
          <a:p>
            <a:pPr algn="l">
              <a:lnSpc>
                <a:spcPts val="2100"/>
              </a:lnSpc>
            </a:pPr>
            <a:r>
              <a:rPr sz="1400" b="0">
                <a:solidFill>
                  <a:schemeClr val="tx1">
                    <a:lumMod val="65000"/>
                    <a:lumOff val="35000"/>
                  </a:schemeClr>
                </a:solidFill>
                <a:latin typeface="Noto Sans"/>
              </a:rPr>
              <a:t>tendencias y alertas en tiempo real</a:t>
            </a:r>
          </a:p>
        </p:txBody>
      </p:sp>
      <p:sp>
        <p:nvSpPr>
          <p:cNvPr id="29" name="TextBox 28"/>
          <p:cNvSpPr txBox="1"/>
          <p:nvPr/>
        </p:nvSpPr>
        <p:spPr>
          <a:xfrm>
            <a:off x="6035040" y="3931920"/>
            <a:ext cx="5486400" cy="1005840"/>
          </a:xfrm>
          <a:prstGeom prst="rect">
            <a:avLst/>
          </a:prstGeom>
          <a:noFill/>
        </p:spPr>
        <p:txBody>
          <a:bodyPr wrap="square" lIns="0" rIns="0" tIns="0" bIns="0" anchor="t">
            <a:spAutoFit/>
          </a:bodyPr>
          <a:lstStyle/>
          <a:p>
            <a:pPr algn="l"/>
            <a:r>
              <a:rPr sz="2000" b="1">
                <a:solidFill>
                  <a:schemeClr val="tx1"/>
                </a:solidFill>
                <a:latin typeface="BIB Bold"/>
              </a:rPr>
              <a:t>Corregimos</a:t>
            </a:r>
          </a:p>
          <a:p>
            <a:pPr algn="l">
              <a:lnSpc>
                <a:spcPts val="2100"/>
              </a:lnSpc>
            </a:pPr>
            <a:r>
              <a:rPr sz="1400" b="0">
                <a:solidFill>
                  <a:schemeClr val="tx1">
                    <a:lumMod val="65000"/>
                    <a:lumOff val="35000"/>
                  </a:schemeClr>
                </a:solidFill>
                <a:latin typeface="Noto Sans"/>
              </a:rPr>
              <a:t>automáticamente con R4P</a:t>
            </a:r>
          </a:p>
        </p:txBody>
      </p:sp>
      <p:sp>
        <p:nvSpPr>
          <p:cNvPr id="30" name="TextBox 29"/>
          <p:cNvSpPr txBox="1"/>
          <p:nvPr/>
        </p:nvSpPr>
        <p:spPr>
          <a:xfrm>
            <a:off x="6035040" y="5074920"/>
            <a:ext cx="5486400" cy="1005840"/>
          </a:xfrm>
          <a:prstGeom prst="rect">
            <a:avLst/>
          </a:prstGeom>
          <a:noFill/>
        </p:spPr>
        <p:txBody>
          <a:bodyPr wrap="square" lIns="0" rIns="0" tIns="0" bIns="0" anchor="t">
            <a:spAutoFit/>
          </a:bodyPr>
          <a:lstStyle/>
          <a:p>
            <a:pPr algn="l"/>
            <a:r>
              <a:rPr sz="2000" b="1">
                <a:solidFill>
                  <a:schemeClr val="tx1"/>
                </a:solidFill>
                <a:latin typeface="BIB Bold"/>
              </a:rPr>
              <a:t>Aprendemos</a:t>
            </a:r>
          </a:p>
          <a:p>
            <a:pPr algn="l">
              <a:lnSpc>
                <a:spcPts val="2100"/>
              </a:lnSpc>
            </a:pPr>
            <a:r>
              <a:rPr sz="1400" b="0">
                <a:solidFill>
                  <a:schemeClr val="tx1">
                    <a:lumMod val="65000"/>
                    <a:lumOff val="35000"/>
                  </a:schemeClr>
                </a:solidFill>
                <a:latin typeface="Noto Sans"/>
              </a:rPr>
              <a:t>patrones con Dataiku e IA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blipFill dpi="0" rotWithShape="1">
          <a:blip r:embed="rId6"/>
          <a:stretch>
            <a:fillRect/>
          </a:stretch>
        </a:blipFill>
        <a:effectLst/>
      </p:bgPr>
    </p:bg>
    <p:spTree>
      <p:nvGrpSpPr>
        <p:cNvPr id="1" name=""/>
        <p:cNvGrpSpPr/>
        <p:nvPr/>
      </p:nvGrpSpPr>
      <p:grpSpPr/>
      <p:sp>
        <p:nvSpPr>
          <p:cNvPr id="2" name="Title 1"/>
          <p:cNvSpPr>
            <a:spLocks noGrp="1"/>
          </p:cNvSpPr>
          <p:nvPr>
            <p:ph type="title"/>
          </p:nvPr>
        </p:nvSpPr>
        <p:spPr/>
        <p:txBody>
          <a:bodyPr/>
          <a:lstStyle/>
          <a:p>
            <a:r>
              <a:t>La información adecuada para cada persona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El mismo dato, convertido en acción en cada nivel</a:t>
            </a:r>
          </a:p>
        </p:txBody>
      </p:sp>
      <p:sp>
        <p:nvSpPr>
          <p:cNvPr id="4" name="Rounded Rectangle 3"/>
          <p:cNvSpPr/>
          <p:nvPr/>
        </p:nvSpPr>
        <p:spPr>
          <a:xfrm>
            <a:off x="548640" y="1508760"/>
            <a:ext cx="3566160" cy="470916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2"/>
          <a:stretch>
            <a:fillRect/>
          </a:stretch>
        </p:blipFill>
        <p:spPr>
          <a:xfrm>
            <a:off x="822959" y="2286434"/>
            <a:ext cx="3017520" cy="1553610"/>
          </a:xfrm>
          <a:prstGeom prst="rect">
            <a:avLst/>
          </a:prstGeom>
        </p:spPr>
      </p:pic>
      <p:sp>
        <p:nvSpPr>
          <p:cNvPr id="7" name="TextBox 6"/>
          <p:cNvSpPr txBox="1"/>
          <p:nvPr/>
        </p:nvSpPr>
        <p:spPr>
          <a:xfrm>
            <a:off x="822959"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Operario</a:t>
            </a:r>
          </a:p>
        </p:txBody>
      </p:sp>
      <p:sp>
        <p:nvSpPr>
          <p:cNvPr id="8" name="TextBox 7"/>
          <p:cNvSpPr txBox="1"/>
          <p:nvPr/>
        </p:nvSpPr>
        <p:spPr>
          <a:xfrm>
            <a:off x="822959"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Ve el estado de su puesto en tiempo real.</a:t>
            </a:r>
          </a:p>
        </p:txBody>
      </p:sp>
      <p:sp>
        <p:nvSpPr>
          <p:cNvPr id="9" name="Rounded Rectangle 8"/>
          <p:cNvSpPr/>
          <p:nvPr/>
        </p:nvSpPr>
        <p:spPr>
          <a:xfrm>
            <a:off x="4311396" y="1508760"/>
            <a:ext cx="3566160" cy="470916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94276"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mob.png"/>
          <p:cNvPicPr>
            <a:picLocks noChangeAspect="1"/>
          </p:cNvPicPr>
          <p:nvPr/>
        </p:nvPicPr>
        <p:blipFill>
          <a:blip r:embed="rId3"/>
          <a:stretch>
            <a:fillRect/>
          </a:stretch>
        </p:blipFill>
        <p:spPr>
          <a:xfrm>
            <a:off x="4585716" y="1941400"/>
            <a:ext cx="3017520" cy="2243679"/>
          </a:xfrm>
          <a:prstGeom prst="rect">
            <a:avLst/>
          </a:prstGeom>
        </p:spPr>
      </p:pic>
      <p:sp>
        <p:nvSpPr>
          <p:cNvPr id="12" name="TextBox 11"/>
          <p:cNvSpPr txBox="1"/>
          <p:nvPr/>
        </p:nvSpPr>
        <p:spPr>
          <a:xfrm>
            <a:off x="4585716"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Proceso y mantenimiento</a:t>
            </a:r>
          </a:p>
        </p:txBody>
      </p:sp>
      <p:sp>
        <p:nvSpPr>
          <p:cNvPr id="13" name="TextBox 12"/>
          <p:cNvSpPr txBox="1"/>
          <p:nvPr/>
        </p:nvSpPr>
        <p:spPr>
          <a:xfrm>
            <a:off x="4585716"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Reciben la alerta y actúan sobre la máquina.</a:t>
            </a:r>
          </a:p>
        </p:txBody>
      </p:sp>
      <p:sp>
        <p:nvSpPr>
          <p:cNvPr id="14" name="Rounded Rectangle 13"/>
          <p:cNvSpPr/>
          <p:nvPr/>
        </p:nvSpPr>
        <p:spPr>
          <a:xfrm>
            <a:off x="8074152" y="1508760"/>
            <a:ext cx="3566160" cy="470916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57031"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xpl.jpg"/>
          <p:cNvPicPr>
            <a:picLocks noChangeAspect="1"/>
          </p:cNvPicPr>
          <p:nvPr/>
        </p:nvPicPr>
        <p:blipFill>
          <a:blip r:embed="rId4"/>
          <a:stretch>
            <a:fillRect/>
          </a:stretch>
        </p:blipFill>
        <p:spPr>
          <a:xfrm>
            <a:off x="8348472" y="2323918"/>
            <a:ext cx="3017520" cy="1478643"/>
          </a:xfrm>
          <a:prstGeom prst="rect">
            <a:avLst/>
          </a:prstGeom>
        </p:spPr>
      </p:pic>
      <p:sp>
        <p:nvSpPr>
          <p:cNvPr id="17" name="TextBox 16"/>
          <p:cNvSpPr txBox="1"/>
          <p:nvPr/>
        </p:nvSpPr>
        <p:spPr>
          <a:xfrm>
            <a:off x="8348472"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Ingeniería y calidad</a:t>
            </a:r>
          </a:p>
        </p:txBody>
      </p:sp>
      <p:sp>
        <p:nvSpPr>
          <p:cNvPr id="18" name="TextBox 17"/>
          <p:cNvSpPr txBox="1"/>
          <p:nvPr/>
        </p:nvSpPr>
        <p:spPr>
          <a:xfrm>
            <a:off x="8348472"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Analizan tendencias y mejoran reglas e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Cada neumático: visto, entendido, decidido y cada día mejor</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Ver  ·  Entender  ·  Decidir  ·  Anticipar</a:t>
            </a:r>
          </a:p>
        </p:txBody>
      </p:sp>
      <p:pic>
        <p:nvPicPr>
          <p:cNvPr id="4" name="Picture 3" descr="hy_blue.png"/>
          <p:cNvPicPr>
            <a:picLocks noChangeAspect="1"/>
          </p:cNvPicPr>
          <p:nvPr/>
        </p:nvPicPr>
        <p:blipFill>
          <a:blip r:embed="rId2"/>
          <a:stretch>
            <a:fillRect/>
          </a:stretch>
        </p:blipFill>
        <p:spPr>
          <a:xfrm>
            <a:off x="2926080" y="5394960"/>
            <a:ext cx="640435" cy="329184"/>
          </a:xfrm>
          <a:prstGeom prst="rect">
            <a:avLst/>
          </a:prstGeom>
        </p:spPr>
      </p:pic>
      <p:sp>
        <p:nvSpPr>
          <p:cNvPr id="5" name="TextBox 4"/>
          <p:cNvSpPr txBox="1"/>
          <p:nvPr/>
        </p:nvSpPr>
        <p:spPr>
          <a:xfrm>
            <a:off x="3703675" y="5394960"/>
            <a:ext cx="2743200" cy="329184"/>
          </a:xfrm>
          <a:prstGeom prst="rect">
            <a:avLst/>
          </a:prstGeom>
          <a:noFill/>
        </p:spPr>
        <p:txBody>
          <a:bodyPr wrap="square" lIns="0" rIns="0" tIns="0" bIns="0" anchor="ctr">
            <a:spAutoFit/>
          </a:bodyPr>
          <a:lstStyle/>
          <a:p>
            <a:pPr algn="l"/>
            <a:r>
              <a:rPr sz="1500" b="1">
                <a:solidFill>
                  <a:schemeClr val="tx1"/>
                </a:solidFill>
                <a:latin typeface="BIB Bold"/>
              </a:rPr>
              <a:t>Hyundai</a:t>
            </a:r>
          </a:p>
        </p:txBody>
      </p:sp>
      <p:sp>
        <p:nvSpPr>
          <p:cNvPr id="6" name="TextBox 5"/>
          <p:cNvSpPr txBox="1"/>
          <p:nvPr/>
        </p:nvSpPr>
        <p:spPr>
          <a:xfrm>
            <a:off x="4755235" y="5394960"/>
            <a:ext cx="5486400" cy="329184"/>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&amp;  Michelin · Socios de confianza para nuevas tecnologías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