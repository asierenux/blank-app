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Personalización para Hyundai: conectar desde el principio con su producto. Es el mismo mensaje del folleto del Tucson 2027 (Primacy 5 Energy 235/45 R20, código 5759, CAI 514126A). La frase de abajo hace de puente con el resto: todo lo que van a ver se aplica a los neumáticos de su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e IA en estudio (ver), PI System y PI Vision (entender), R4P (decidir), Dataiku (anticipar).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Mensaje clave: la IA no sustituye a la medida. Las medidas se hacen siempre con los perfilómetros láser y sus cotas y tolerancias (anchura, trusquín, centrado, soldadura). La IA trabaja sobre esas mismas imágenes para detectar características del producto que no se pueden expresar con una cota: rugosidades y textura de la superficie, posibles materias extrañas, goma mal dispersa y otros aspectos del producto. Se entrena con imágenes de producto correcto y señala lo que se sale de lo normal. La base ya existe: miles de imágenes reales archivadas en PI. Estado: en estudio. Por su función pertenece a Ver: amplía lo que el sistema es capaz de ver.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opciones claras, de menor a mayor firmeza. Alertar y ajustar funcionan hoy, bloquear está en pruebas; la segregación automática es la siguiente fase según el propio esquema de R4P. Ser transparentes refuerza la credibilidad.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clave para vender R4P. Esquema ilustrativo (no son datos reales): cada círculo es un neumático que sale de la máquina. Sin R4P, desde que empieza la deriva hasta que alguien ve la alerta, llega a la máquina y ajusta, se siguen fabricando neumáticos fuera de su objetivo. Con R4P, la regla actúa en cuanto la medida se desvía y la producción vuelve al objetivo de inmediato. Cada minuto que ahorra R4P son neumáticos que nunca salen de su valor teórico. Además, las reglas son las mismas en todos los turnos y cada decisión queda registrada en PI.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del Flow de un proyecto Dataiku dedicado a la característica de calidad CQ 38.1 (zona verde). Se lee de izquierda a derecha. 1) Las fuentes: el plugin de PI (iconos rojos) lee directamente de PI System las medidas de cada puesto de la máquina (por ejemplo FE, PT y BJ). 2) Recetas de preparación (iconos amarillos de brocha): limpian y ordenan los datos de forma automática, siempre igual. 3) Recetas de series temporales y de unión: alinean en el tiempo las medidas de los distintos puestos y las juntan. 4) La matrícula: une todas las medidas con la identidad de cada neumático. 5) Zona 'Cocción Prensa C11': se añaden los datos de la prensa de cocción, de modo que cada neumático queda con su historia completa, de la confección a la cocción. El resultado es una tabla lista para buscar patrones (qué condiciones aparecen antes de una deriva o de un problema de calidad) y para cruzarla con el IQF. Todo el flujo se reejecuta solo cuando llegan datos nuevos (botón Build), sin trabajo manual. El proyecto tiene 154 elementos.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Calidad que se decide en tiempo real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24.png"/><Relationship Id="rId4" Type="http://schemas.openxmlformats.org/officeDocument/2006/relationships/image" Target="../media/image35.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Calidad que se decide en tiempo real</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BIB Bold"/>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Una exitosa asociación a largo plazo para las prestaciones y la innovación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BIB Bold"/>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Noto Sans"/>
              </a:rPr>
              <a:t>Socios de confianza para nuevas tecnologías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r>
              <a:rPr sz="1800" b="1">
                <a:solidFill>
                  <a:schemeClr val="tx1"/>
                </a:solidFill>
                <a:latin typeface="BIB Bold"/>
              </a:rPr>
              <a:t>Michelin Primacy 5 Energy 235/45 R20</a:t>
            </a:r>
          </a:p>
          <a:p>
            <a:pPr algn="l">
              <a:lnSpc>
                <a:spcPts val="2100"/>
              </a:lnSpc>
            </a:pPr>
            <a:r>
              <a:rPr sz="1400" b="0">
                <a:solidFill>
                  <a:schemeClr val="tx1"/>
                </a:solidFill>
                <a:latin typeface="Noto Sans"/>
              </a:rPr>
              <a:t>Equipado en el nuevo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Código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Cada uno de estos neumáticos nace en el entorno digital </a:t>
            </a:r>
            <a:r>
              <a:rPr sz="1400" b="1">
                <a:solidFill>
                  <a:schemeClr val="accent2"/>
                </a:solidFill>
                <a:latin typeface="Noto Sans"/>
              </a:rPr>
              <a:t>que les presentamos hoy.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¿Y si cada neumático pudiera contarnos cómo se fabricó?</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Hoy lo hace. Les enseñamos cómo.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Dos formas de controlar la calidad</a:t>
            </a:r>
          </a:p>
        </p:txBody>
      </p:sp>
      <p:sp>
        <p:nvSpPr>
          <p:cNvPr id="3" name="Rounded Rectangle 2"/>
          <p:cNvSpPr/>
          <p:nvPr/>
        </p:nvSpPr>
        <p:spPr>
          <a:xfrm>
            <a:off x="548640" y="1508760"/>
            <a:ext cx="5120640" cy="46634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BIB Bold"/>
              </a:rPr>
              <a:t>Control tradicional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1 muestra</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por turno, de forma manual</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Horas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hasta descubrir una desviación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Después</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se reacciona cuando el defecto ya existe</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BIB Bold"/>
              </a:rPr>
              <a:t>Nuestro control digital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de los productos, de forma automática</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Segundos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para detectar una deriva</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Antes</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se corrige antes de que exista el defecto</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Nuestro sistema en un solo ciclo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Cuatro pasos que giran alrededor del IQF, nuestro indicador de calidad</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Ver</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Entender</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Decidir</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Anticipar</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Ver  </a:t>
            </a:r>
            <a:r>
              <a:rPr sz="1400" b="1">
                <a:solidFill>
                  <a:schemeClr val="tx1">
                    <a:lumMod val="65000"/>
                    <a:lumOff val="35000"/>
                  </a:schemeClr>
                </a:solidFill>
                <a:latin typeface="Noto Sans"/>
              </a:rPr>
              <a:t>Perfilómetros láser 3D · IA (en estudio)</a:t>
            </a:r>
          </a:p>
          <a:p>
            <a:pPr algn="l">
              <a:lnSpc>
                <a:spcPts val="2000"/>
              </a:lnSpc>
            </a:pPr>
            <a:r>
              <a:rPr sz="1300" b="0">
                <a:solidFill>
                  <a:schemeClr val="tx1"/>
                </a:solidFill>
                <a:latin typeface="Noto Sans"/>
              </a:rPr>
              <a:t>Cada producto medido en 3D; la IA verá lo que no tiene cota.</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Entender  </a:t>
            </a:r>
            <a:r>
              <a:rPr sz="1400" b="1">
                <a:solidFill>
                  <a:schemeClr val="tx1">
                    <a:lumMod val="65000"/>
                    <a:lumOff val="35000"/>
                  </a:schemeClr>
                </a:solidFill>
                <a:latin typeface="Noto Sans"/>
              </a:rPr>
              <a:t>PI System · PI Vision</a:t>
            </a:r>
          </a:p>
          <a:p>
            <a:pPr algn="l">
              <a:lnSpc>
                <a:spcPts val="2000"/>
              </a:lnSpc>
            </a:pPr>
            <a:r>
              <a:rPr sz="1300" b="0">
                <a:solidFill>
                  <a:schemeClr val="tx1"/>
                </a:solidFill>
                <a:latin typeface="Noto Sans"/>
              </a:rPr>
              <a:t>Datos e imágenes en tiempo real, con tendencias y alertas.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Decidir  </a:t>
            </a:r>
            <a:r>
              <a:rPr sz="1400" b="1">
                <a:solidFill>
                  <a:schemeClr val="tx1">
                    <a:lumMod val="65000"/>
                    <a:lumOff val="35000"/>
                  </a:schemeClr>
                </a:solidFill>
                <a:latin typeface="Noto Sans"/>
              </a:rPr>
              <a:t>R4P</a:t>
            </a:r>
          </a:p>
          <a:p>
            <a:pPr algn="l">
              <a:lnSpc>
                <a:spcPts val="2000"/>
              </a:lnSpc>
            </a:pPr>
            <a:r>
              <a:rPr sz="1300" b="0">
                <a:solidFill>
                  <a:schemeClr val="tx1"/>
                </a:solidFill>
                <a:latin typeface="Noto Sans"/>
              </a:rPr>
              <a:t>Motor de reglas que corrige el proceso automáticamente.</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Anticipar  </a:t>
            </a:r>
            <a:r>
              <a:rPr sz="1400" b="1">
                <a:solidFill>
                  <a:schemeClr val="tx1">
                    <a:lumMod val="65000"/>
                    <a:lumOff val="35000"/>
                  </a:schemeClr>
                </a:solidFill>
                <a:latin typeface="Noto Sans"/>
              </a:rPr>
              <a:t>Dataiku</a:t>
            </a:r>
          </a:p>
          <a:p>
            <a:pPr algn="l">
              <a:lnSpc>
                <a:spcPts val="2000"/>
              </a:lnSpc>
            </a:pPr>
            <a:r>
              <a:rPr sz="1300" b="0">
                <a:solidFill>
                  <a:schemeClr val="tx1"/>
                </a:solidFill>
                <a:latin typeface="Noto Sans"/>
              </a:rPr>
              <a:t>Analítica avanzada para encontrar patrones y adelantarse.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Ver</a:t>
            </a:r>
          </a:p>
          <a:p>
            <a:r>
              <a:rPr sz="2000" b="0">
                <a:latin typeface="Noto Sans"/>
              </a:rPr>
              <a:t>Cada neumático, convertido en datos</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Medimos cada producto</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Perfilómetros láser 3D en cada puesto de la máquina</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de los productos medidos</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perfil completo de cada componente</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sensores láser en 8 puestos de la MAC</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Escaneo 3D en la MAC: cada color es una altura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Así medimos una soldadura NST en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Del mapa 3D a la cifra que define la calidad de la unión</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Mapa 3D</a:t>
            </a:r>
          </a:p>
          <a:p>
            <a:pPr algn="l">
              <a:lnSpc>
                <a:spcPts val="1800"/>
              </a:lnSpc>
            </a:pPr>
            <a:r>
              <a:rPr sz="1200" b="0">
                <a:solidFill>
                  <a:schemeClr val="tx1">
                    <a:lumMod val="65000"/>
                    <a:lumOff val="35000"/>
                  </a:schemeClr>
                </a:solidFill>
                <a:latin typeface="Noto Sans"/>
              </a:rPr>
              <a:t>de la unión de la banda NST</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Sección de medida</a:t>
            </a:r>
          </a:p>
          <a:p>
            <a:pPr algn="l">
              <a:lnSpc>
                <a:spcPts val="1800"/>
              </a:lnSpc>
            </a:pPr>
            <a:r>
              <a:rPr sz="1200" b="0">
                <a:solidFill>
                  <a:schemeClr val="tx1">
                    <a:lumMod val="65000"/>
                    <a:lumOff val="35000"/>
                  </a:schemeClr>
                </a:solidFill>
                <a:latin typeface="Noto Sans"/>
              </a:rPr>
              <a:t>trazada sobre la soldadura</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Perfil</a:t>
            </a:r>
          </a:p>
          <a:p>
            <a:pPr algn="l">
              <a:lnSpc>
                <a:spcPts val="1800"/>
              </a:lnSpc>
            </a:pPr>
            <a:r>
              <a:rPr sz="1200" b="0">
                <a:solidFill>
                  <a:schemeClr val="tx1">
                    <a:lumMod val="65000"/>
                    <a:lumOff val="35000"/>
                  </a:schemeClr>
                </a:solidFill>
                <a:latin typeface="Noto Sans"/>
              </a:rPr>
              <a:t>cuantifica la unión</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BIB Bold"/>
              </a:rPr>
              <a:t>Variables seguidas en continuo</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Superposición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Altura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Offset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Calidad de la soldadura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puesto, cada medida, en directo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OLM de la MAC4: doce puestos, del P05 al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Doce puestos</a:t>
            </a:r>
          </a:p>
          <a:p>
            <a:pPr algn="l">
              <a:lnSpc>
                <a:spcPts val="1800"/>
              </a:lnSpc>
            </a:pPr>
            <a:r>
              <a:rPr sz="1200" b="0">
                <a:solidFill>
                  <a:schemeClr val="tx1">
                    <a:lumMod val="65000"/>
                    <a:lumOff val="35000"/>
                  </a:schemeClr>
                </a:solidFill>
                <a:latin typeface="Noto Sans"/>
              </a:rPr>
              <a:t>del P05 al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Código de estado</a:t>
            </a:r>
          </a:p>
          <a:p>
            <a:pPr algn="l">
              <a:lnSpc>
                <a:spcPts val="1800"/>
              </a:lnSpc>
            </a:pPr>
            <a:r>
              <a:rPr sz="1200" b="0">
                <a:solidFill>
                  <a:schemeClr val="tx1">
                    <a:lumMod val="65000"/>
                    <a:lumOff val="35000"/>
                  </a:schemeClr>
                </a:solidFill>
                <a:latin typeface="Noto Sans"/>
              </a:rPr>
              <a:t>OK · vigilancia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Soldaduras</a:t>
            </a:r>
          </a:p>
          <a:p>
            <a:pPr algn="l">
              <a:lnSpc>
                <a:spcPts val="1800"/>
              </a:lnSpc>
            </a:pPr>
            <a:r>
              <a:rPr sz="1200" b="0">
                <a:solidFill>
                  <a:schemeClr val="tx1">
                    <a:lumMod val="65000"/>
                    <a:lumOff val="35000"/>
                  </a:schemeClr>
                </a:solidFill>
                <a:latin typeface="Noto Sans"/>
              </a:rPr>
              <a:t>medidas en cada puesto</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Medida 100 %</a:t>
            </a:r>
          </a:p>
          <a:p>
            <a:pPr algn="l">
              <a:lnSpc>
                <a:spcPts val="1800"/>
              </a:lnSpc>
            </a:pPr>
            <a:r>
              <a:rPr sz="1200" b="0">
                <a:solidFill>
                  <a:schemeClr val="tx1">
                    <a:lumMod val="65000"/>
                    <a:lumOff val="35000"/>
                  </a:schemeClr>
                </a:solidFill>
                <a:latin typeface="Noto Sans"/>
              </a:rPr>
              <a:t>cada neumático medido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 la línea, de un vistazo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OLM de la BNS62: NST1, NST2 y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Alerta y colores</a:t>
            </a:r>
          </a:p>
          <a:p>
            <a:pPr algn="l">
              <a:lnSpc>
                <a:spcPts val="1800"/>
              </a:lnSpc>
            </a:pPr>
            <a:r>
              <a:rPr sz="1200" b="0">
                <a:solidFill>
                  <a:schemeClr val="tx1">
                    <a:lumMod val="65000"/>
                    <a:lumOff val="35000"/>
                  </a:schemeClr>
                </a:solidFill>
                <a:latin typeface="Noto Sans"/>
              </a:rPr>
              <a:t>verde, naranja, rojo</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Cada puesto</a:t>
            </a:r>
          </a:p>
          <a:p>
            <a:pPr algn="l">
              <a:lnSpc>
                <a:spcPts val="1800"/>
              </a:lnSpc>
            </a:pPr>
            <a:r>
              <a:rPr sz="1200" b="0">
                <a:solidFill>
                  <a:schemeClr val="tx1">
                    <a:lumMod val="65000"/>
                    <a:lumOff val="35000"/>
                  </a:schemeClr>
                </a:solidFill>
                <a:latin typeface="Noto Sans"/>
              </a:rPr>
              <a:t>centrado, anchura, soldadura</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Un clic</a:t>
            </a:r>
          </a:p>
          <a:p>
            <a:pPr algn="l">
              <a:lnSpc>
                <a:spcPts val="1800"/>
              </a:lnSpc>
            </a:pPr>
            <a:r>
              <a:rPr sz="1200" b="0">
                <a:solidFill>
                  <a:schemeClr val="tx1">
                    <a:lumMod val="65000"/>
                    <a:lumOff val="35000"/>
                  </a:schemeClr>
                </a:solidFill>
                <a:latin typeface="Noto Sans"/>
              </a:rPr>
              <a:t>IQF, imágenes, alertas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Soldadura KM</a:t>
            </a:r>
          </a:p>
          <a:p>
            <a:pPr algn="l">
              <a:lnSpc>
                <a:spcPts val="1800"/>
              </a:lnSpc>
            </a:pPr>
            <a:r>
              <a:rPr sz="1200" b="0">
                <a:solidFill>
                  <a:schemeClr val="tx1">
                    <a:lumMod val="65000"/>
                    <a:lumOff val="35000"/>
                  </a:schemeClr>
                </a:solidFill>
                <a:latin typeface="Noto Sans"/>
              </a:rPr>
              <a:t>altura, calidad,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IA ve lo que no tiene cota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El láser mide; la IA ve lo que no tiene cota</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BIB Bold"/>
              </a:rPr>
              <a:t>Medir: láser y cotas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Noto Sans"/>
              </a:rPr>
              <a:t>Hoy y siempre. </a:t>
            </a:r>
          </a:p>
          <a:p>
            <a:pPr algn="l">
              <a:lnSpc>
                <a:spcPts val="2100"/>
              </a:lnSpc>
            </a:pPr>
            <a:r>
              <a:rPr sz="1400" b="0">
                <a:solidFill>
                  <a:schemeClr val="bg1"/>
                </a:solidFill>
                <a:latin typeface="Noto Sans"/>
              </a:rPr>
              <a:t>Anchura, trusquín, centrado y soldadura, con sus tolerancias.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BIB Bold"/>
              </a:rPr>
              <a:t>Ver más: IA (en estudio)</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 que no tiene cota:</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Rugosidades y textura de la superficie</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Posibles materias extrañas</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Goma mal dispersa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Otras características del producto</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Aprende cómo es un producto correcto y señala lo que se sale de lo normal.</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La base ya existe: </a:t>
            </a:r>
            <a:r>
              <a:rPr sz="1400" b="0">
                <a:solidFill>
                  <a:schemeClr val="tx1"/>
                </a:solidFill>
                <a:latin typeface="Noto Sans"/>
              </a:rPr>
              <a:t>miles de imágenes reales archivadas en PI, asociadas a sus medidas y alertas.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Entender</a:t>
            </a:r>
          </a:p>
          <a:p>
            <a:r>
              <a:rPr sz="2000" b="0">
                <a:latin typeface="Noto Sans"/>
              </a:rPr>
              <a:t>Del dato, a la tendencia, en tiempo real</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Vemos la deriva antes que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real de PI Vision · MAC3 · puesto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Cada neumático</a:t>
            </a:r>
          </a:p>
          <a:p>
            <a:pPr algn="l">
              <a:lnSpc>
                <a:spcPts val="1800"/>
              </a:lnSpc>
            </a:pPr>
            <a:r>
              <a:rPr sz="1200" b="0">
                <a:solidFill>
                  <a:schemeClr val="tx1">
                    <a:lumMod val="65000"/>
                    <a:lumOff val="35000"/>
                  </a:schemeClr>
                </a:solidFill>
                <a:latin typeface="Noto Sans"/>
              </a:rPr>
              <a:t>su valor individual</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La tendencia</a:t>
            </a:r>
          </a:p>
          <a:p>
            <a:pPr algn="l">
              <a:lnSpc>
                <a:spcPts val="1800"/>
              </a:lnSpc>
            </a:pPr>
            <a:r>
              <a:rPr sz="1200" b="0">
                <a:solidFill>
                  <a:schemeClr val="tx1">
                    <a:lumMod val="65000"/>
                    <a:lumOff val="35000"/>
                  </a:schemeClr>
                </a:solidFill>
                <a:latin typeface="Noto Sans"/>
              </a:rPr>
              <a:t>mediana de los 20 últimos</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Los límites</a:t>
            </a:r>
          </a:p>
          <a:p>
            <a:pPr algn="l">
              <a:lnSpc>
                <a:spcPts val="1800"/>
              </a:lnSpc>
            </a:pPr>
            <a:r>
              <a:rPr sz="1200" b="0">
                <a:solidFill>
                  <a:schemeClr val="tx1">
                    <a:lumMod val="65000"/>
                    <a:lumOff val="35000"/>
                  </a:schemeClr>
                </a:solidFill>
                <a:latin typeface="Noto Sans"/>
              </a:rPr>
              <a:t>tolerancias siempre visibles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El objetivo</a:t>
            </a:r>
          </a:p>
          <a:p>
            <a:pPr algn="l">
              <a:lnSpc>
                <a:spcPts val="1800"/>
              </a:lnSpc>
            </a:pPr>
            <a:r>
              <a:rPr sz="1200" b="0">
                <a:solidFill>
                  <a:schemeClr val="tx1">
                    <a:lumMod val="65000"/>
                    <a:lumOff val="35000"/>
                  </a:schemeClr>
                </a:solidFill>
                <a:latin typeface="Noto Sans"/>
              </a:rPr>
              <a:t>valor teórico de referencia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Alerta antes de que exista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La tendencia cruza el límite y la persona adecuada lo sabe al instante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Entra en alerta</a:t>
            </a:r>
          </a:p>
          <a:p>
            <a:pPr algn="l">
              <a:lnSpc>
                <a:spcPts val="1800"/>
              </a:lnSpc>
            </a:pPr>
            <a:r>
              <a:rPr sz="1200" b="0">
                <a:solidFill>
                  <a:schemeClr val="tx1">
                    <a:lumMod val="65000"/>
                    <a:lumOff val="35000"/>
                  </a:schemeClr>
                </a:solidFill>
                <a:latin typeface="Noto Sans"/>
              </a:rPr>
              <a:t>la mediana sale de tolerancia</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Sale de alerta</a:t>
            </a:r>
          </a:p>
          <a:p>
            <a:pPr algn="l">
              <a:lnSpc>
                <a:spcPts val="1800"/>
              </a:lnSpc>
            </a:pPr>
            <a:r>
              <a:rPr sz="1200" b="0">
                <a:solidFill>
                  <a:schemeClr val="tx1">
                    <a:lumMod val="65000"/>
                    <a:lumOff val="35000"/>
                  </a:schemeClr>
                </a:solidFill>
                <a:latin typeface="Noto Sans"/>
              </a:rPr>
              <a:t>vuelve al objetivo y queda registrado</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Aviso en pantalla y en el móvil</a:t>
            </a:r>
          </a:p>
          <a:p>
            <a:pPr algn="l">
              <a:lnSpc>
                <a:spcPts val="2100"/>
              </a:lnSpc>
            </a:pPr>
            <a:r>
              <a:rPr sz="1400" b="0">
                <a:solidFill>
                  <a:schemeClr val="tx1">
                    <a:lumMod val="65000"/>
                    <a:lumOff val="35000"/>
                  </a:schemeClr>
                </a:solidFill>
                <a:latin typeface="Noto Sans"/>
              </a:rPr>
              <a:t>Al responsable de proceso (CARE) o de mantenimiento (TECH).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imagen y cada alerta, guardadas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PI System conserva la historia completa de cada neumático</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Imagen de cada producto</a:t>
            </a:r>
          </a:p>
          <a:p>
            <a:pPr algn="l">
              <a:lnSpc>
                <a:spcPts val="1800"/>
              </a:lnSpc>
            </a:pPr>
            <a:r>
              <a:rPr sz="1200" b="0">
                <a:solidFill>
                  <a:schemeClr val="tx1">
                    <a:lumMod val="65000"/>
                    <a:lumOff val="35000"/>
                  </a:schemeClr>
                </a:solidFill>
                <a:latin typeface="Noto Sans"/>
              </a:rPr>
              <a:t>recuperable por puesto, fecha y hora</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Histórico de alertas</a:t>
            </a:r>
          </a:p>
          <a:p>
            <a:pPr algn="l">
              <a:lnSpc>
                <a:spcPts val="1800"/>
              </a:lnSpc>
            </a:pPr>
            <a:r>
              <a:rPr sz="1200" b="0">
                <a:solidFill>
                  <a:schemeClr val="tx1">
                    <a:lumMod val="65000"/>
                    <a:lumOff val="35000"/>
                  </a:schemeClr>
                </a:solidFill>
                <a:latin typeface="Noto Sans"/>
              </a:rPr>
              <a:t>puesto, tipo, inicio, fin y duración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Base para la IA</a:t>
            </a:r>
          </a:p>
          <a:p>
            <a:pPr algn="l">
              <a:lnSpc>
                <a:spcPts val="1800"/>
              </a:lnSpc>
            </a:pPr>
            <a:r>
              <a:rPr sz="1200" b="0">
                <a:solidFill>
                  <a:schemeClr val="tx1">
                    <a:lumMod val="65000"/>
                    <a:lumOff val="35000"/>
                  </a:schemeClr>
                </a:solidFill>
                <a:latin typeface="Noto Sans"/>
              </a:rPr>
              <a:t>miles de imágenes reales para aprender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Decidir: R4P</a:t>
            </a:r>
          </a:p>
          <a:p>
            <a:r>
              <a:rPr sz="2000" b="0">
                <a:latin typeface="Noto Sans"/>
              </a:rPr>
              <a:t>El motor que convierte cada medida en una acción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el experto en cada neumático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Motor de reglas en tiempo real conectado a la medida OLM</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BIB Bold"/>
              </a:rPr>
              <a:t>Mide, decide y actúa</a:t>
            </a:r>
          </a:p>
          <a:p>
            <a:pPr algn="l">
              <a:lnSpc>
                <a:spcPts val="2400"/>
              </a:lnSpc>
              <a:spcAft>
                <a:spcPts val="1000"/>
              </a:spcAft>
            </a:pPr>
            <a:r>
              <a:rPr sz="1600" b="0">
                <a:solidFill>
                  <a:schemeClr val="tx1">
                    <a:lumMod val="65000"/>
                    <a:lumOff val="35000"/>
                  </a:schemeClr>
                </a:solidFill>
                <a:latin typeface="Noto Sans"/>
              </a:rPr>
              <a:t>en segundos, sin esperar a nadie.</a:t>
            </a:r>
          </a:p>
        </p:txBody>
      </p:sp>
      <p:sp>
        <p:nvSpPr>
          <p:cNvPr id="14" name="Rounded Rectangle 13"/>
          <p:cNvSpPr/>
          <p:nvPr/>
        </p:nvSpPr>
        <p:spPr>
          <a:xfrm>
            <a:off x="548640"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en todos los turnos</a:t>
            </a:r>
          </a:p>
        </p:txBody>
      </p:sp>
      <p:sp>
        <p:nvSpPr>
          <p:cNvPr id="17" name="Rounded Rectangle 16"/>
          <p:cNvSpPr/>
          <p:nvPr/>
        </p:nvSpPr>
        <p:spPr>
          <a:xfrm>
            <a:off x="429767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de los neumáticos</a:t>
            </a:r>
          </a:p>
        </p:txBody>
      </p:sp>
      <p:sp>
        <p:nvSpPr>
          <p:cNvPr id="20" name="Rounded Rectangle 19"/>
          <p:cNvSpPr/>
          <p:nvPr/>
        </p:nvSpPr>
        <p:spPr>
          <a:xfrm>
            <a:off x="804671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Seg.</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de la medida, a la acción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Cuatro respuestas automáticas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De la más suave a la más firme, según lo que diga la medida</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Alertar</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Avisa al operario y al responsable en pantalla y en el móvil.</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PRODUCCIÓN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Ajustar</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Corrige el parámetro de la máquina (regulación R4P) sin intervención.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PRODUCCIÓN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Bloquear</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Detiene la máquina si la desviación no se puede corregir.</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PRUEBAS</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Segregar</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Apartará el producto afectado de la línea de forma automática.</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Noto Sans"/>
              </a:rPr>
              <a:t>PRÓXIMA FASE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en acción: la deriva se corrige sola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real de regulación BJ · MAC6 · puesto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Límite inferior</a:t>
            </a:r>
          </a:p>
          <a:p>
            <a:pPr algn="l">
              <a:lnSpc>
                <a:spcPts val="1800"/>
              </a:lnSpc>
            </a:pPr>
            <a:r>
              <a:rPr sz="1200" b="0">
                <a:solidFill>
                  <a:schemeClr val="tx1">
                    <a:lumMod val="65000"/>
                    <a:lumOff val="35000"/>
                  </a:schemeClr>
                </a:solidFill>
                <a:latin typeface="Noto Sans"/>
              </a:rPr>
              <a:t>el trusquín llega al límite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R4P actúa</a:t>
            </a:r>
          </a:p>
          <a:p>
            <a:pPr algn="l">
              <a:lnSpc>
                <a:spcPts val="1800"/>
              </a:lnSpc>
            </a:pPr>
            <a:r>
              <a:rPr sz="1200" b="0">
                <a:solidFill>
                  <a:schemeClr val="tx1">
                    <a:lumMod val="65000"/>
                    <a:lumOff val="35000"/>
                  </a:schemeClr>
                </a:solidFill>
                <a:latin typeface="Noto Sans"/>
              </a:rPr>
              <a:t>activa la corrección ODM</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Objetivo</a:t>
            </a:r>
          </a:p>
          <a:p>
            <a:pPr algn="l">
              <a:lnSpc>
                <a:spcPts val="1800"/>
              </a:lnSpc>
            </a:pPr>
            <a:r>
              <a:rPr sz="1200" b="0">
                <a:solidFill>
                  <a:schemeClr val="tx1">
                    <a:lumMod val="65000"/>
                    <a:lumOff val="35000"/>
                  </a:schemeClr>
                </a:solidFill>
                <a:latin typeface="Noto Sans"/>
              </a:rPr>
              <a:t>vuelve al valor teórico</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Sin corrección</a:t>
            </a:r>
          </a:p>
          <a:p>
            <a:pPr algn="l">
              <a:lnSpc>
                <a:spcPts val="1800"/>
              </a:lnSpc>
            </a:pPr>
            <a:r>
              <a:rPr sz="1200" b="0">
                <a:solidFill>
                  <a:schemeClr val="tx1">
                    <a:lumMod val="65000"/>
                    <a:lumOff val="35000"/>
                  </a:schemeClr>
                </a:solidFill>
                <a:latin typeface="Noto Sans"/>
              </a:rPr>
              <a:t>vuelve a derivar: la prueba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R4P marca la diferencia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Qué pasa cuando una medida empieza a derivar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2000" b="1">
                <a:solidFill>
                  <a:schemeClr val="tx1">
                    <a:lumMod val="65000"/>
                    <a:lumOff val="35000"/>
                  </a:schemeClr>
                </a:solidFill>
                <a:latin typeface="BIB Bold"/>
              </a:rPr>
              <a:t>Sin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Corrección manual</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Empieza la deriva</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Salta la alerta</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El técnico llega</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Ajuste manual</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Noto Sans"/>
              </a:rPr>
              <a:t>Neumáticos fuera de objetivo hasta que alguien actúa</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2000" b="1">
                <a:solidFill>
                  <a:schemeClr val="tx1"/>
                </a:solidFill>
                <a:latin typeface="BIB Bold"/>
              </a:rPr>
              <a:t>Con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Corrección automática</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Empieza la deriva</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Noto Sans"/>
              </a:rPr>
              <a:t>R4P corrige al instante</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Noto Sans"/>
              </a:rPr>
              <a:t>La producción vuelve al objetivo de inmediato</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Mismas reglas 24/7</a:t>
            </a:r>
          </a:p>
          <a:p>
            <a:pPr algn="l">
              <a:lnSpc>
                <a:spcPts val="1800"/>
              </a:lnSpc>
            </a:pPr>
            <a:r>
              <a:rPr sz="1200" b="0">
                <a:solidFill>
                  <a:schemeClr val="bg1"/>
                </a:solidFill>
                <a:latin typeface="Noto Sans"/>
              </a:rPr>
              <a:t>La calidad no depende del turno ni de la hora.</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Experiencia convertida en reglas</a:t>
            </a:r>
          </a:p>
          <a:p>
            <a:pPr algn="l">
              <a:lnSpc>
                <a:spcPts val="1800"/>
              </a:lnSpc>
            </a:pPr>
            <a:r>
              <a:rPr sz="1200" b="0">
                <a:solidFill>
                  <a:schemeClr val="bg1"/>
                </a:solidFill>
                <a:latin typeface="Noto Sans"/>
              </a:rPr>
              <a:t>Lo que sabe el mejor técnico, aplicado siempre.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Cada decisión, registrada</a:t>
            </a:r>
          </a:p>
          <a:p>
            <a:pPr algn="l">
              <a:lnSpc>
                <a:spcPts val="1800"/>
              </a:lnSpc>
            </a:pPr>
            <a:r>
              <a:rPr sz="1200" b="0">
                <a:solidFill>
                  <a:schemeClr val="bg1"/>
                </a:solidFill>
                <a:latin typeface="Noto Sans"/>
              </a:rPr>
              <a:t>Trazabilidad completa en PI System.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Anticipar</a:t>
            </a:r>
          </a:p>
          <a:p>
            <a:r>
              <a:rPr sz="2000" b="0">
                <a:latin typeface="Noto Sans"/>
              </a:rPr>
              <a:t>Analítica avanzada con Dataiku</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de millones de datos a patrones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Analítica avanzada para entender cada problema de calidad</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01  Unir</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Medidas PI, imágenes y resultados de calidad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02  Explorar</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Correlaciones entre parámetros, puestos y turnos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03  Descubrir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Patrones que se repiten antes de una deriva</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04  Actuar</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Nuevas reglas, alertas y mejoras de proceso</a:t>
            </a:r>
          </a:p>
        </p:txBody>
      </p:sp>
      <p:sp>
        <p:nvSpPr>
          <p:cNvPr id="24" name="Rounded Rectangle 23"/>
          <p:cNvSpPr/>
          <p:nvPr/>
        </p:nvSpPr>
        <p:spPr>
          <a:xfrm>
            <a:off x="548640" y="3429000"/>
            <a:ext cx="11091672" cy="2788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Una pregunta típica</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BIB Bold"/>
              </a:rPr>
              <a:t>«¿Qué tienen en común los neumáticos en los que la soldadura empezó a derivar?»</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Lo que responde Dataiku</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Noto Sans"/>
              </a:rPr>
              <a:t>Qué parámetros se movieron antes</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En qué puestos, turnos o lotes se concentra</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Qué regla nueva lo habría evitado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un flujo real de datos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La característica de calidad CQ 38.1, de la confección a la cocción</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Noto Sans"/>
              </a:rPr>
              <a:t>Zona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Plugin PI</a:t>
            </a:r>
          </a:p>
          <a:p>
            <a:pPr algn="l">
              <a:lnSpc>
                <a:spcPts val="1600"/>
              </a:lnSpc>
            </a:pPr>
            <a:r>
              <a:rPr sz="1100" b="0">
                <a:solidFill>
                  <a:schemeClr val="tx1">
                    <a:lumMod val="65000"/>
                    <a:lumOff val="35000"/>
                  </a:schemeClr>
                </a:solidFill>
                <a:latin typeface="Noto Sans"/>
              </a:rPr>
              <a:t>lee las medidas de cada puesto</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Preparación</a:t>
            </a:r>
          </a:p>
          <a:p>
            <a:pPr algn="l">
              <a:lnSpc>
                <a:spcPts val="1600"/>
              </a:lnSpc>
            </a:pPr>
            <a:r>
              <a:rPr sz="1100" b="0">
                <a:solidFill>
                  <a:schemeClr val="tx1">
                    <a:lumMod val="65000"/>
                    <a:lumOff val="35000"/>
                  </a:schemeClr>
                </a:solidFill>
                <a:latin typeface="Noto Sans"/>
              </a:rPr>
              <a:t>limpieza automática</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Unión</a:t>
            </a:r>
          </a:p>
          <a:p>
            <a:pPr algn="l">
              <a:lnSpc>
                <a:spcPts val="1600"/>
              </a:lnSpc>
            </a:pPr>
            <a:r>
              <a:rPr sz="1100" b="0">
                <a:solidFill>
                  <a:schemeClr val="tx1">
                    <a:lumMod val="65000"/>
                    <a:lumOff val="35000"/>
                  </a:schemeClr>
                </a:solidFill>
                <a:latin typeface="Noto Sans"/>
              </a:rPr>
              <a:t>series temporales entre puestos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Matrícula</a:t>
            </a:r>
          </a:p>
          <a:p>
            <a:pPr algn="l">
              <a:lnSpc>
                <a:spcPts val="1600"/>
              </a:lnSpc>
            </a:pPr>
            <a:r>
              <a:rPr sz="1100" b="0">
                <a:solidFill>
                  <a:schemeClr val="tx1">
                    <a:lumMod val="65000"/>
                    <a:lumOff val="35000"/>
                  </a:schemeClr>
                </a:solidFill>
                <a:latin typeface="Noto Sans"/>
              </a:rPr>
              <a:t>la identidad del neumático</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Cocción C11</a:t>
            </a:r>
          </a:p>
          <a:p>
            <a:pPr algn="l">
              <a:lnSpc>
                <a:spcPts val="1600"/>
              </a:lnSpc>
            </a:pPr>
            <a:r>
              <a:rPr sz="1100" b="0">
                <a:solidFill>
                  <a:schemeClr val="tx1">
                    <a:lumMod val="65000"/>
                    <a:lumOff val="35000"/>
                  </a:schemeClr>
                </a:solidFill>
                <a:latin typeface="Noto Sans"/>
              </a:rPr>
              <a:t>se completa su historia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Dominio del proceso y mejora continua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Cada vuelta del ciclo nos hace un poco mejores</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Ver</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Entender</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Decidir</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Anticipar</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BIB Bold"/>
              </a:rPr>
              <a:t>Medimos</a:t>
            </a:r>
          </a:p>
          <a:p>
            <a:pPr algn="l">
              <a:lnSpc>
                <a:spcPts val="2100"/>
              </a:lnSpc>
            </a:pPr>
            <a:r>
              <a:rPr sz="1400" b="0">
                <a:solidFill>
                  <a:schemeClr val="tx1">
                    <a:lumMod val="65000"/>
                    <a:lumOff val="35000"/>
                  </a:schemeClr>
                </a:solidFill>
                <a:latin typeface="Noto Sans"/>
              </a:rPr>
              <a:t>cada neumático con láser 3D; la IA verá lo que no tiene cota</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BIB Bold"/>
              </a:rPr>
              <a:t>Comprendemos</a:t>
            </a:r>
          </a:p>
          <a:p>
            <a:pPr algn="l">
              <a:lnSpc>
                <a:spcPts val="2100"/>
              </a:lnSpc>
            </a:pPr>
            <a:r>
              <a:rPr sz="1400" b="0">
                <a:solidFill>
                  <a:schemeClr val="tx1">
                    <a:lumMod val="65000"/>
                    <a:lumOff val="35000"/>
                  </a:schemeClr>
                </a:solidFill>
                <a:latin typeface="Noto Sans"/>
              </a:rPr>
              <a:t>tendencias y alertas en tiempo real</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BIB Bold"/>
              </a:rPr>
              <a:t>Corregimos</a:t>
            </a:r>
          </a:p>
          <a:p>
            <a:pPr algn="l">
              <a:lnSpc>
                <a:spcPts val="2100"/>
              </a:lnSpc>
            </a:pPr>
            <a:r>
              <a:rPr sz="1400" b="0">
                <a:solidFill>
                  <a:schemeClr val="tx1">
                    <a:lumMod val="65000"/>
                    <a:lumOff val="35000"/>
                  </a:schemeClr>
                </a:solidFill>
                <a:latin typeface="Noto Sans"/>
              </a:rPr>
              <a:t>automáticamente con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BIB Bold"/>
              </a:rPr>
              <a:t>Aprendemos</a:t>
            </a:r>
          </a:p>
          <a:p>
            <a:pPr algn="l">
              <a:lnSpc>
                <a:spcPts val="2100"/>
              </a:lnSpc>
            </a:pPr>
            <a:r>
              <a:rPr sz="1400" b="0">
                <a:solidFill>
                  <a:schemeClr val="tx1">
                    <a:lumMod val="65000"/>
                    <a:lumOff val="35000"/>
                  </a:schemeClr>
                </a:solidFill>
                <a:latin typeface="Noto Sans"/>
              </a:rPr>
              <a:t>patrones con Dataiku que se convierten en nuevas reglas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información adecuada para cada persona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El mismo dato, convertido en acción en cada nivel</a:t>
            </a:r>
          </a:p>
        </p:txBody>
      </p:sp>
      <p:sp>
        <p:nvSpPr>
          <p:cNvPr id="4" name="Rounded Rectangle 3"/>
          <p:cNvSpPr/>
          <p:nvPr/>
        </p:nvSpPr>
        <p:spPr>
          <a:xfrm>
            <a:off x="548640"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Operario</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Ve el estado de su puesto en tiempo real.</a:t>
            </a:r>
          </a:p>
        </p:txBody>
      </p:sp>
      <p:sp>
        <p:nvSpPr>
          <p:cNvPr id="9" name="Rounded Rectangle 8"/>
          <p:cNvSpPr/>
          <p:nvPr/>
        </p:nvSpPr>
        <p:spPr>
          <a:xfrm>
            <a:off x="4311396"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Proceso y mantenimiento</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Reciben la alerta y actúan sobre la máquina.</a:t>
            </a:r>
          </a:p>
        </p:txBody>
      </p:sp>
      <p:sp>
        <p:nvSpPr>
          <p:cNvPr id="14" name="Rounded Rectangle 13"/>
          <p:cNvSpPr/>
          <p:nvPr/>
        </p:nvSpPr>
        <p:spPr>
          <a:xfrm>
            <a:off x="8074152"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Ingeniería y calidad</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Analizan tendencias y mejoran reglas e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Cada neumático: visto, entendido, decidido y cada día mejor</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Ver  ·  Entender  ·  Decidir  ·  Anticipar</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chemeClr val="tx1"/>
                </a:solidFill>
                <a:latin typeface="BIB Bold"/>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&amp;  Michelin · Socios de confianza para nuevas tecnologías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