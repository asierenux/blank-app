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2.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rgbClr val="002C5F"/>
                </a:solidFill>
                <a:latin typeface="Arial"/>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r>
              <a:rPr sz="1500" b="0">
                <a:solidFill>
                  <a:srgbClr val="6B6E80"/>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rgbClr val="002C5F"/>
                </a:solidFill>
                <a:latin typeface="Arial"/>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r>
              <a:rPr sz="1200" b="1">
                <a:solidFill>
                  <a:srgbClr val="6B6E80"/>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rgbClr val="061866"/>
                </a:solidFill>
                <a:latin typeface="BIB Bold"/>
              </a:rPr>
              <a:t>Michelin Primacy 5 Energy 235/45 R20</a:t>
            </a:r>
          </a:p>
          <a:p>
            <a:pPr algn="l"/>
            <a:r>
              <a:rPr sz="1400" b="0">
                <a:solidFill>
                  <a:srgbClr val="061866"/>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r>
              <a:rPr sz="1100" b="0">
                <a:solidFill>
                  <a:srgbClr val="6B6E80"/>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r>
              <a:rPr sz="1400" b="0">
                <a:solidFill>
                  <a:srgbClr val="FFFFFF"/>
                </a:solidFill>
                <a:latin typeface="Noto Sans"/>
              </a:rPr>
              <a:t>Cada uno de estos neumáticos nace en el entorno digital </a:t>
            </a:r>
            <a:r>
              <a:rPr sz="1400" b="1">
                <a:solidFill>
                  <a:srgbClr val="FFFF1A"/>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rgbClr val="061866"/>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rgbClr val="6B6E80"/>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rgbClr val="6B6E80"/>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r>
              <a:rPr sz="1400" b="0">
                <a:solidFill>
                  <a:srgbClr val="6B6E80"/>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rgbClr val="6B6E80"/>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r>
              <a:rPr sz="1400" b="0">
                <a:solidFill>
                  <a:srgbClr val="6B6E80"/>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rgbClr val="6B6E80"/>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r>
              <a:rPr sz="1400" b="0">
                <a:solidFill>
                  <a:srgbClr val="6B6E80"/>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rgbClr val="FFFF1A"/>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rgbClr val="FFFF1A"/>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r>
              <a:rPr sz="1400" b="0">
                <a:solidFill>
                  <a:srgbClr val="FFFFFF"/>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rgbClr val="FFFF1A"/>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r>
              <a:rPr sz="1400" b="0">
                <a:solidFill>
                  <a:srgbClr val="FFFFFF"/>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rgbClr val="FFFF1A"/>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r>
              <a:rPr sz="1400" b="0">
                <a:solidFill>
                  <a:srgbClr val="FFFFFF"/>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rgbClr val="A3AAC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rgbClr val="061866"/>
                </a:solidFill>
                <a:latin typeface="BIB Bold"/>
              </a:rPr>
              <a:t>IQF</a:t>
            </a:r>
          </a:p>
        </p:txBody>
      </p:sp>
      <p:sp>
        <p:nvSpPr>
          <p:cNvPr id="7" name="Oval 6"/>
          <p:cNvSpPr/>
          <p:nvPr/>
        </p:nvSpPr>
        <p:spPr>
          <a:xfrm>
            <a:off x="2587752" y="17647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rgbClr val="FFFF1A"/>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r>
              <a:rPr sz="1200" b="1">
                <a:solidFill>
                  <a:srgbClr val="FFFFFF"/>
                </a:solidFill>
                <a:latin typeface="Noto Sans"/>
              </a:rPr>
              <a:t>Ver</a:t>
            </a:r>
          </a:p>
        </p:txBody>
      </p:sp>
      <p:sp>
        <p:nvSpPr>
          <p:cNvPr id="10" name="Oval 9"/>
          <p:cNvSpPr/>
          <p:nvPr/>
        </p:nvSpPr>
        <p:spPr>
          <a:xfrm>
            <a:off x="41879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Entender</a:t>
            </a:r>
          </a:p>
        </p:txBody>
      </p:sp>
      <p:sp>
        <p:nvSpPr>
          <p:cNvPr id="13" name="Oval 12"/>
          <p:cNvSpPr/>
          <p:nvPr/>
        </p:nvSpPr>
        <p:spPr>
          <a:xfrm>
            <a:off x="2587752" y="4965192"/>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rgbClr val="FFFF1A"/>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r>
              <a:rPr sz="1200" b="1">
                <a:solidFill>
                  <a:srgbClr val="FFFFFF"/>
                </a:solidFill>
                <a:latin typeface="Noto Sans"/>
              </a:rPr>
              <a:t>Decidir</a:t>
            </a:r>
          </a:p>
        </p:txBody>
      </p:sp>
      <p:sp>
        <p:nvSpPr>
          <p:cNvPr id="16" name="Oval 15"/>
          <p:cNvSpPr/>
          <p:nvPr/>
        </p:nvSpPr>
        <p:spPr>
          <a:xfrm>
            <a:off x="9875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rgbClr val="061866"/>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r>
              <a:rPr sz="1600" b="1">
                <a:solidFill>
                  <a:srgbClr val="061866"/>
                </a:solidFill>
                <a:latin typeface="Noto Sans"/>
              </a:rPr>
              <a:t>Ver  </a:t>
            </a:r>
            <a:r>
              <a:rPr sz="1400" b="1">
                <a:solidFill>
                  <a:srgbClr val="6B6E80"/>
                </a:solidFill>
                <a:latin typeface="Noto Sans"/>
              </a:rPr>
              <a:t>Perfilómetros láser 3D</a:t>
            </a:r>
          </a:p>
          <a:p>
            <a:pPr algn="l"/>
            <a:r>
              <a:rPr sz="1300" b="0">
                <a:solidFill>
                  <a:srgbClr val="061866"/>
                </a:solidFill>
                <a:latin typeface="Noto Sans"/>
              </a:rPr>
              <a:t>Cada producto, medido en 3D en cada neumático.</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rgbClr val="061866"/>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r>
              <a:rPr sz="1600" b="1">
                <a:solidFill>
                  <a:srgbClr val="061866"/>
                </a:solidFill>
                <a:latin typeface="Noto Sans"/>
              </a:rPr>
              <a:t>Entender  </a:t>
            </a:r>
            <a:r>
              <a:rPr sz="1400" b="1">
                <a:solidFill>
                  <a:srgbClr val="6B6E80"/>
                </a:solidFill>
                <a:latin typeface="Noto Sans"/>
              </a:rPr>
              <a:t>PI System · PI Vision</a:t>
            </a:r>
          </a:p>
          <a:p>
            <a:pPr algn="l"/>
            <a:r>
              <a:rPr sz="1300" b="0">
                <a:solidFill>
                  <a:srgbClr val="061866"/>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rgbClr val="061866"/>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r>
              <a:rPr sz="1600" b="1">
                <a:solidFill>
                  <a:srgbClr val="061866"/>
                </a:solidFill>
                <a:latin typeface="Noto Sans"/>
              </a:rPr>
              <a:t>Decidir  </a:t>
            </a:r>
            <a:r>
              <a:rPr sz="1400" b="1">
                <a:solidFill>
                  <a:srgbClr val="6B6E80"/>
                </a:solidFill>
                <a:latin typeface="Noto Sans"/>
              </a:rPr>
              <a:t>R4P</a:t>
            </a:r>
          </a:p>
          <a:p>
            <a:pPr algn="l"/>
            <a:r>
              <a:rPr sz="1300" b="0">
                <a:solidFill>
                  <a:srgbClr val="061866"/>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rgbClr val="061866"/>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r>
              <a:rPr sz="1600" b="1">
                <a:solidFill>
                  <a:srgbClr val="061866"/>
                </a:solidFill>
                <a:latin typeface="Noto Sans"/>
              </a:rPr>
              <a:t>Anticipar  </a:t>
            </a:r>
            <a:r>
              <a:rPr sz="1400" b="1">
                <a:solidFill>
                  <a:srgbClr val="6B6E80"/>
                </a:solidFill>
                <a:latin typeface="Noto Sans"/>
              </a:rPr>
              <a:t>Dataiku · IA</a:t>
            </a:r>
          </a:p>
          <a:p>
            <a:pPr algn="l"/>
            <a:r>
              <a:rPr sz="1300" b="0">
                <a:solidFill>
                  <a:srgbClr val="061866"/>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r>
              <a:rPr sz="1500" b="0">
                <a:solidFill>
                  <a:srgbClr val="6B6E80"/>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Ver</a:t>
            </a:r>
          </a:p>
        </p:txBody>
      </p:sp>
      <p:sp>
        <p:nvSpPr>
          <p:cNvPr id="7" name="Oval 6"/>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9" name="Oval 8"/>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1" name="Oval 10"/>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rgbClr val="061866"/>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r>
              <a:rPr sz="1600" b="0">
                <a:solidFill>
                  <a:srgbClr val="061866"/>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rgbClr val="061866"/>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r>
              <a:rPr sz="1600" b="0">
                <a:solidFill>
                  <a:srgbClr val="061866"/>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rgbClr val="061866"/>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r>
              <a:rPr sz="1600" b="0">
                <a:solidFill>
                  <a:srgbClr val="061866"/>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r>
              <a:rPr sz="1100" b="0">
                <a:solidFill>
                  <a:srgbClr val="6B6E80"/>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3584447" y="3295497"/>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1" name="Oval 20"/>
          <p:cNvSpPr/>
          <p:nvPr/>
        </p:nvSpPr>
        <p:spPr>
          <a:xfrm>
            <a:off x="7315200" y="1600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r>
              <a:rPr sz="1400" b="1">
                <a:solidFill>
                  <a:srgbClr val="061866"/>
                </a:solidFill>
                <a:latin typeface="Noto Sans"/>
              </a:rPr>
              <a:t>Mapa 3D</a:t>
            </a:r>
          </a:p>
          <a:p>
            <a:pPr algn="l"/>
            <a:r>
              <a:rPr sz="1200" b="0">
                <a:solidFill>
                  <a:srgbClr val="6B6E80"/>
                </a:solidFill>
                <a:latin typeface="Noto Sans"/>
              </a:rPr>
              <a:t>de la unión de la banda NST</a:t>
            </a:r>
          </a:p>
        </p:txBody>
      </p:sp>
      <p:sp>
        <p:nvSpPr>
          <p:cNvPr id="24" name="Oval 23"/>
          <p:cNvSpPr/>
          <p:nvPr/>
        </p:nvSpPr>
        <p:spPr>
          <a:xfrm>
            <a:off x="7315200" y="24231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r>
              <a:rPr sz="1400" b="1">
                <a:solidFill>
                  <a:srgbClr val="061866"/>
                </a:solidFill>
                <a:latin typeface="Noto Sans"/>
              </a:rPr>
              <a:t>Sección de medida</a:t>
            </a:r>
          </a:p>
          <a:p>
            <a:pPr algn="l"/>
            <a:r>
              <a:rPr sz="1200" b="0">
                <a:solidFill>
                  <a:srgbClr val="6B6E80"/>
                </a:solidFill>
                <a:latin typeface="Noto Sans"/>
              </a:rPr>
              <a:t>trazada sobre la soldadura</a:t>
            </a:r>
          </a:p>
        </p:txBody>
      </p:sp>
      <p:sp>
        <p:nvSpPr>
          <p:cNvPr id="27" name="Oval 26"/>
          <p:cNvSpPr/>
          <p:nvPr/>
        </p:nvSpPr>
        <p:spPr>
          <a:xfrm>
            <a:off x="7315200" y="32461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r>
              <a:rPr sz="1400" b="1">
                <a:solidFill>
                  <a:srgbClr val="061866"/>
                </a:solidFill>
                <a:latin typeface="Noto Sans"/>
              </a:rPr>
              <a:t>Perfil</a:t>
            </a:r>
          </a:p>
          <a:p>
            <a:pPr algn="l"/>
            <a:r>
              <a:rPr sz="1200" b="0">
                <a:solidFill>
                  <a:srgbClr val="6B6E80"/>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rgbClr val="061866"/>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201168" indent="-201168">
              <a:spcAft>
                <a:spcPts val="300"/>
              </a:spcAft>
              <a:buClr>
                <a:srgbClr val="061866"/>
              </a:buClr>
              <a:buFont typeface="Arial"/>
              <a:buChar char="•"/>
            </a:pPr>
            <a:r>
              <a:rPr sz="1400" b="0">
                <a:solidFill>
                  <a:srgbClr val="061866"/>
                </a:solidFill>
                <a:latin typeface="Noto Sans"/>
              </a:rPr>
              <a:t>Superposición de la soldadura</a:t>
            </a:r>
          </a:p>
          <a:p>
            <a:pPr algn="l" marL="201168" indent="-201168">
              <a:spcAft>
                <a:spcPts val="300"/>
              </a:spcAft>
              <a:buClr>
                <a:srgbClr val="061866"/>
              </a:buClr>
              <a:buFont typeface="Arial"/>
              <a:buChar char="•"/>
            </a:pPr>
            <a:r>
              <a:rPr sz="1400" b="0">
                <a:solidFill>
                  <a:srgbClr val="061866"/>
                </a:solidFill>
                <a:latin typeface="Noto Sans"/>
              </a:rPr>
              <a:t>Altura de la soldadura</a:t>
            </a:r>
          </a:p>
          <a:p>
            <a:pPr algn="l" marL="201168" indent="-201168">
              <a:spcAft>
                <a:spcPts val="300"/>
              </a:spcAft>
              <a:buClr>
                <a:srgbClr val="061866"/>
              </a:buClr>
              <a:buFont typeface="Arial"/>
              <a:buChar char="•"/>
            </a:pPr>
            <a:r>
              <a:rPr sz="1400" b="0">
                <a:solidFill>
                  <a:srgbClr val="061866"/>
                </a:solidFill>
                <a:latin typeface="Noto Sans"/>
              </a:rPr>
              <a:t>Offset de la soldadura</a:t>
            </a:r>
          </a:p>
          <a:p>
            <a:pPr algn="l" marL="201168" indent="-201168">
              <a:spcAft>
                <a:spcPts val="300"/>
              </a:spcAft>
              <a:buClr>
                <a:srgbClr val="061866"/>
              </a:buClr>
              <a:buFont typeface="Arial"/>
              <a:buChar char="•"/>
            </a:pPr>
            <a:r>
              <a:rPr sz="1400" b="0">
                <a:solidFill>
                  <a:srgbClr val="061866"/>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3681438" y="162968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5929883" y="368503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6874607" y="446272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54864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Doce puestos</a:t>
            </a:r>
          </a:p>
          <a:p>
            <a:pPr algn="l"/>
            <a:r>
              <a:rPr sz="1200" b="0">
                <a:solidFill>
                  <a:srgbClr val="6B6E80"/>
                </a:solidFill>
                <a:latin typeface="Noto Sans"/>
              </a:rPr>
              <a:t>del P05 al P18</a:t>
            </a:r>
          </a:p>
        </p:txBody>
      </p:sp>
      <p:sp>
        <p:nvSpPr>
          <p:cNvPr id="25" name="Oval 24"/>
          <p:cNvSpPr/>
          <p:nvPr/>
        </p:nvSpPr>
        <p:spPr>
          <a:xfrm>
            <a:off x="333756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Código de estado</a:t>
            </a:r>
          </a:p>
          <a:p>
            <a:pPr algn="l"/>
            <a:r>
              <a:rPr sz="1200" b="0">
                <a:solidFill>
                  <a:srgbClr val="6B6E80"/>
                </a:solidFill>
                <a:latin typeface="Noto Sans"/>
              </a:rPr>
              <a:t>OK · vigilancia · control</a:t>
            </a:r>
          </a:p>
        </p:txBody>
      </p:sp>
      <p:sp>
        <p:nvSpPr>
          <p:cNvPr id="28" name="Oval 27"/>
          <p:cNvSpPr/>
          <p:nvPr/>
        </p:nvSpPr>
        <p:spPr>
          <a:xfrm>
            <a:off x="6126479"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Soldaduras</a:t>
            </a:r>
          </a:p>
          <a:p>
            <a:pPr algn="l"/>
            <a:r>
              <a:rPr sz="1200" b="0">
                <a:solidFill>
                  <a:srgbClr val="6B6E80"/>
                </a:solidFill>
                <a:latin typeface="Noto Sans"/>
              </a:rPr>
              <a:t>medidas en cada puesto</a:t>
            </a:r>
          </a:p>
        </p:txBody>
      </p:sp>
      <p:sp>
        <p:nvSpPr>
          <p:cNvPr id="31" name="Oval 30"/>
          <p:cNvSpPr/>
          <p:nvPr/>
        </p:nvSpPr>
        <p:spPr>
          <a:xfrm>
            <a:off x="8915399"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r>
              <a:rPr sz="1400" b="1">
                <a:solidFill>
                  <a:srgbClr val="061866"/>
                </a:solidFill>
                <a:latin typeface="Noto Sans"/>
              </a:rPr>
              <a:t>Medida 100 %</a:t>
            </a:r>
          </a:p>
          <a:p>
            <a:pPr algn="l"/>
            <a:r>
              <a:rPr sz="1200" b="0">
                <a:solidFill>
                  <a:srgbClr val="6B6E80"/>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Pantalla OLM de la BNS62: NST1, NST2 y KM</a:t>
            </a:r>
          </a:p>
        </p:txBody>
      </p:sp>
      <p:sp>
        <p:nvSpPr>
          <p:cNvPr id="4" name="Oval 3"/>
          <p:cNvSpPr/>
          <p:nvPr/>
        </p:nvSpPr>
        <p:spPr>
          <a:xfrm>
            <a:off x="763524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1">
                <a:solidFill>
                  <a:srgbClr val="061866"/>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982065" y="257367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5129784" y="199299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6973214" y="40253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Alerta y colores</a:t>
            </a:r>
          </a:p>
          <a:p>
            <a:pPr algn="l"/>
            <a:r>
              <a:rPr sz="1200" b="0">
                <a:solidFill>
                  <a:srgbClr val="6B6E80"/>
                </a:solidFill>
                <a:latin typeface="Noto Sans"/>
              </a:rPr>
              <a:t>verde, naranja, rojo</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Cada puesto</a:t>
            </a:r>
          </a:p>
          <a:p>
            <a:pPr algn="l"/>
            <a:r>
              <a:rPr sz="1200" b="0">
                <a:solidFill>
                  <a:srgbClr val="6B6E80"/>
                </a:solidFill>
                <a:latin typeface="Noto Sans"/>
              </a:rPr>
              <a:t>centrado, anchura, soldadura</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Un clic</a:t>
            </a:r>
          </a:p>
          <a:p>
            <a:pPr algn="l"/>
            <a:r>
              <a:rPr sz="1200" b="0">
                <a:solidFill>
                  <a:srgbClr val="6B6E80"/>
                </a:solidFill>
                <a:latin typeface="Noto Sans"/>
              </a:rPr>
              <a:t>IQF, imágenes, alertas</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Soldadura KM</a:t>
            </a:r>
          </a:p>
          <a:p>
            <a:pPr algn="l"/>
            <a:r>
              <a:rPr sz="1200" b="0">
                <a:solidFill>
                  <a:srgbClr val="6B6E80"/>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4937760" y="2557186"/>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4246473" y="271771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4338645" y="205775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Cada neumático</a:t>
            </a:r>
          </a:p>
          <a:p>
            <a:pPr algn="l"/>
            <a:r>
              <a:rPr sz="1200" b="0">
                <a:solidFill>
                  <a:srgbClr val="6B6E80"/>
                </a:solidFill>
                <a:latin typeface="Noto Sans"/>
              </a:rPr>
              <a:t>su valor individual</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La tendencia</a:t>
            </a:r>
          </a:p>
          <a:p>
            <a:pPr algn="l"/>
            <a:r>
              <a:rPr sz="1200" b="0">
                <a:solidFill>
                  <a:srgbClr val="6B6E80"/>
                </a:solidFill>
                <a:latin typeface="Noto Sans"/>
              </a:rPr>
              <a:t>mediana de los 20 últimos</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Los límites</a:t>
            </a:r>
          </a:p>
          <a:p>
            <a:pPr algn="l"/>
            <a:r>
              <a:rPr sz="1200" b="0">
                <a:solidFill>
                  <a:srgbClr val="6B6E80"/>
                </a:solidFill>
                <a:latin typeface="Noto Sans"/>
              </a:rPr>
              <a:t>tolerancias siempre visibles</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El objetivo</a:t>
            </a:r>
          </a:p>
          <a:p>
            <a:pPr algn="l"/>
            <a:r>
              <a:rPr sz="1200" b="0">
                <a:solidFill>
                  <a:srgbClr val="6B6E80"/>
                </a:solidFill>
                <a:latin typeface="Noto Sans"/>
              </a:rPr>
              <a:t>valor teórico de referencia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2738765" y="2515341"/>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r>
              <a:rPr sz="1400" b="1">
                <a:solidFill>
                  <a:srgbClr val="061866"/>
                </a:solidFill>
                <a:latin typeface="Noto Sans"/>
              </a:rPr>
              <a:t>Entra en alerta</a:t>
            </a:r>
          </a:p>
          <a:p>
            <a:pPr algn="l"/>
            <a:r>
              <a:rPr sz="1200" b="0">
                <a:solidFill>
                  <a:srgbClr val="6B6E80"/>
                </a:solidFill>
                <a:latin typeface="Noto Sans"/>
              </a:rPr>
              <a:t>la mediana sale de tolerancia</a:t>
            </a:r>
          </a:p>
        </p:txBody>
      </p:sp>
      <p:sp>
        <p:nvSpPr>
          <p:cNvPr id="22" name="Oval 21"/>
          <p:cNvSpPr/>
          <p:nvPr/>
        </p:nvSpPr>
        <p:spPr>
          <a:xfrm>
            <a:off x="2697480" y="57607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r>
              <a:rPr sz="1400" b="1">
                <a:solidFill>
                  <a:srgbClr val="061866"/>
                </a:solidFill>
                <a:latin typeface="Noto Sans"/>
              </a:rPr>
              <a:t>Sale de alerta</a:t>
            </a:r>
          </a:p>
          <a:p>
            <a:pPr algn="l"/>
            <a:r>
              <a:rPr sz="1200" b="0">
                <a:solidFill>
                  <a:srgbClr val="6B6E80"/>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r>
              <a:rPr sz="1400" b="1">
                <a:solidFill>
                  <a:srgbClr val="061866"/>
                </a:solidFill>
                <a:latin typeface="Noto Sans"/>
              </a:rPr>
              <a:t>Aviso en pantalla y en el móvil</a:t>
            </a:r>
          </a:p>
          <a:p>
            <a:pPr algn="l"/>
            <a:r>
              <a:rPr sz="1400" b="0">
                <a:solidFill>
                  <a:srgbClr val="6B6E80"/>
                </a:solidFill>
                <a:latin typeface="Noto Sans"/>
              </a:rPr>
              <a:t>Al responsable de proceso (CARE) o de mantenimiento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Imagen de cada producto</a:t>
            </a:r>
          </a:p>
          <a:p>
            <a:pPr algn="l"/>
            <a:r>
              <a:rPr sz="1200" b="0">
                <a:solidFill>
                  <a:srgbClr val="6B6E80"/>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Histórico de alertas</a:t>
            </a:r>
          </a:p>
          <a:p>
            <a:pPr algn="l"/>
            <a:r>
              <a:rPr sz="1200" b="0">
                <a:solidFill>
                  <a:srgbClr val="6B6E80"/>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r>
              <a:rPr sz="1400" b="1">
                <a:solidFill>
                  <a:srgbClr val="061866"/>
                </a:solidFill>
                <a:latin typeface="Noto Sans"/>
              </a:rPr>
              <a:t>Base para la IA</a:t>
            </a:r>
          </a:p>
          <a:p>
            <a:pPr algn="l"/>
            <a:r>
              <a:rPr sz="1200" b="0">
                <a:solidFill>
                  <a:srgbClr val="6B6E80"/>
                </a:solidFill>
                <a:latin typeface="Noto Sans"/>
              </a:rPr>
              <a:t>miles de imágenes reales para aprender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rgbClr val="061866"/>
                </a:solidFill>
                <a:latin typeface="BIB Bold"/>
              </a:rPr>
              <a:t>Mide, decide y actúa</a:t>
            </a:r>
          </a:p>
          <a:p>
            <a:pPr algn="l">
              <a:spcAft>
                <a:spcPts val="1000"/>
              </a:spcAft>
            </a:pPr>
            <a:r>
              <a:rPr sz="1600" b="0">
                <a:solidFill>
                  <a:srgbClr val="6B6E80"/>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rgbClr val="061866"/>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r>
              <a:rPr sz="1300" b="0">
                <a:solidFill>
                  <a:srgbClr val="061866"/>
                </a:solidFill>
                <a:latin typeface="Noto Sans"/>
              </a:rPr>
              <a:t>de la medida, a la acción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r>
              <a:rPr sz="1000" b="1">
                <a:solidFill>
                  <a:srgbClr val="FFFFFF"/>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rgbClr val="FFFFFF"/>
          </a:solidFill>
          <a:ln w="15875">
            <a:solidFill>
              <a:srgbClr val="0618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rgbClr val="061866"/>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rgbClr val="061866"/>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r>
              <a:rPr sz="1300" b="0">
                <a:solidFill>
                  <a:srgbClr val="6B6E80"/>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r>
              <a:rPr sz="1000" b="1">
                <a:solidFill>
                  <a:srgbClr val="061866"/>
                </a:solidFill>
                <a:latin typeface="Noto Sans"/>
              </a:rPr>
              <a:t>PRÓXIMA FASE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1028151" y="4220284"/>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1826971" y="265567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3055924" y="306545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8823960" y="164592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r>
              <a:rPr sz="1400" b="1">
                <a:solidFill>
                  <a:srgbClr val="061866"/>
                </a:solidFill>
                <a:latin typeface="Noto Sans"/>
              </a:rPr>
              <a:t>Límite inferior</a:t>
            </a:r>
          </a:p>
          <a:p>
            <a:pPr algn="l"/>
            <a:r>
              <a:rPr sz="1200" b="0">
                <a:solidFill>
                  <a:srgbClr val="6B6E80"/>
                </a:solidFill>
                <a:latin typeface="Noto Sans"/>
              </a:rPr>
              <a:t>el trusquín llega al límite</a:t>
            </a:r>
          </a:p>
        </p:txBody>
      </p:sp>
      <p:sp>
        <p:nvSpPr>
          <p:cNvPr id="25" name="Oval 24"/>
          <p:cNvSpPr/>
          <p:nvPr/>
        </p:nvSpPr>
        <p:spPr>
          <a:xfrm>
            <a:off x="8823960" y="274320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r>
              <a:rPr sz="1400" b="1">
                <a:solidFill>
                  <a:srgbClr val="061866"/>
                </a:solidFill>
                <a:latin typeface="Noto Sans"/>
              </a:rPr>
              <a:t>R4P actúa</a:t>
            </a:r>
          </a:p>
          <a:p>
            <a:pPr algn="l"/>
            <a:r>
              <a:rPr sz="1200" b="0">
                <a:solidFill>
                  <a:srgbClr val="6B6E80"/>
                </a:solidFill>
                <a:latin typeface="Noto Sans"/>
              </a:rPr>
              <a:t>activa la corrección ODM</a:t>
            </a:r>
          </a:p>
        </p:txBody>
      </p:sp>
      <p:sp>
        <p:nvSpPr>
          <p:cNvPr id="28" name="Oval 27"/>
          <p:cNvSpPr/>
          <p:nvPr/>
        </p:nvSpPr>
        <p:spPr>
          <a:xfrm>
            <a:off x="8823960" y="384048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r>
              <a:rPr sz="1400" b="1">
                <a:solidFill>
                  <a:srgbClr val="061866"/>
                </a:solidFill>
                <a:latin typeface="Noto Sans"/>
              </a:rPr>
              <a:t>Objetivo</a:t>
            </a:r>
          </a:p>
          <a:p>
            <a:pPr algn="l"/>
            <a:r>
              <a:rPr sz="1200" b="0">
                <a:solidFill>
                  <a:srgbClr val="6B6E80"/>
                </a:solidFill>
                <a:latin typeface="Noto Sans"/>
              </a:rPr>
              <a:t>vuelve al valor teórico</a:t>
            </a:r>
          </a:p>
        </p:txBody>
      </p:sp>
      <p:sp>
        <p:nvSpPr>
          <p:cNvPr id="31" name="Oval 30"/>
          <p:cNvSpPr/>
          <p:nvPr/>
        </p:nvSpPr>
        <p:spPr>
          <a:xfrm>
            <a:off x="8823960" y="4937759"/>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r>
              <a:rPr sz="1400" b="1">
                <a:solidFill>
                  <a:srgbClr val="061866"/>
                </a:solidFill>
                <a:latin typeface="Noto Sans"/>
              </a:rPr>
              <a:t>Sin corrección</a:t>
            </a:r>
          </a:p>
          <a:p>
            <a:pPr algn="l"/>
            <a:r>
              <a:rPr sz="1200" b="0">
                <a:solidFill>
                  <a:srgbClr val="6B6E80"/>
                </a:solidFill>
                <a:latin typeface="Noto Sans"/>
              </a:rPr>
              <a:t>vuelve a derivar: la prueba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Decidir</a:t>
            </a:r>
          </a:p>
        </p:txBody>
      </p:sp>
      <p:sp>
        <p:nvSpPr>
          <p:cNvPr id="10" name="Oval 9"/>
          <p:cNvSpPr/>
          <p:nvPr/>
        </p:nvSpPr>
        <p:spPr>
          <a:xfrm>
            <a:off x="10661904"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rgbClr val="6B6E80"/>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r>
              <a:rPr sz="1200" b="0">
                <a:solidFill>
                  <a:srgbClr val="6B6E80"/>
                </a:solidFill>
                <a:latin typeface="Noto Sans"/>
              </a:rPr>
              <a:t>Corrección manual</a:t>
            </a:r>
          </a:p>
        </p:txBody>
      </p:sp>
      <p:cxnSp>
        <p:nvCxnSpPr>
          <p:cNvPr id="15" name="Connector 14"/>
          <p:cNvCxnSpPr/>
          <p:nvPr/>
        </p:nvCxnSpPr>
        <p:spPr>
          <a:xfrm>
            <a:off x="2697480" y="2121408"/>
            <a:ext cx="6894576" cy="0"/>
          </a:xfrm>
          <a:prstGeom prst="line">
            <a:avLst/>
          </a:prstGeom>
          <a:ln>
            <a:solidFill>
              <a:srgbClr val="A3AACB"/>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rgbClr val="E6724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r>
              <a:rPr sz="1000" b="0">
                <a:solidFill>
                  <a:srgbClr val="6B6E80"/>
                </a:solidFill>
                <a:latin typeface="Noto Sans"/>
              </a:rPr>
              <a:t>Ajuste manual</a:t>
            </a:r>
          </a:p>
        </p:txBody>
      </p:sp>
      <p:sp>
        <p:nvSpPr>
          <p:cNvPr id="32" name="Rectangle 31"/>
          <p:cNvSpPr/>
          <p:nvPr/>
        </p:nvSpPr>
        <p:spPr>
          <a:xfrm>
            <a:off x="4379976" y="1801368"/>
            <a:ext cx="4023360" cy="640080"/>
          </a:xfrm>
          <a:prstGeom prst="rect">
            <a:avLst/>
          </a:prstGeom>
          <a:noFill/>
          <a:ln w="15875">
            <a:solidFill>
              <a:srgbClr val="E672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r>
              <a:rPr sz="1200" b="1">
                <a:solidFill>
                  <a:srgbClr val="E6724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rgbClr val="061866"/>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r>
              <a:rPr sz="1200" b="0">
                <a:solidFill>
                  <a:srgbClr val="6B6E80"/>
                </a:solidFill>
                <a:latin typeface="Noto Sans"/>
              </a:rPr>
              <a:t>Corrección automática</a:t>
            </a:r>
          </a:p>
        </p:txBody>
      </p:sp>
      <p:cxnSp>
        <p:nvCxnSpPr>
          <p:cNvPr id="37" name="Connector 36"/>
          <p:cNvCxnSpPr/>
          <p:nvPr/>
        </p:nvCxnSpPr>
        <p:spPr>
          <a:xfrm>
            <a:off x="2697480" y="3995928"/>
            <a:ext cx="6894576" cy="0"/>
          </a:xfrm>
          <a:prstGeom prst="line">
            <a:avLst/>
          </a:prstGeom>
          <a:ln>
            <a:solidFill>
              <a:srgbClr val="A3AACB"/>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rgbClr val="FFE1B5"/>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rgbClr val="7EDEC8"/>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r>
              <a:rPr sz="1000" b="0">
                <a:solidFill>
                  <a:srgbClr val="6B6E80"/>
                </a:solidFill>
                <a:latin typeface="Noto Sans"/>
              </a:rPr>
              <a:t>Empieza la deriva</a:t>
            </a:r>
          </a:p>
        </p:txBody>
      </p:sp>
      <p:sp>
        <p:nvSpPr>
          <p:cNvPr id="51" name="Down Arrow 50"/>
          <p:cNvSpPr/>
          <p:nvPr/>
        </p:nvSpPr>
        <p:spPr>
          <a:xfrm>
            <a:off x="5084064" y="3456432"/>
            <a:ext cx="365760" cy="256032"/>
          </a:xfrm>
          <a:prstGeom prst="downArrow">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r>
              <a:rPr sz="1200" b="1">
                <a:solidFill>
                  <a:srgbClr val="061866"/>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r>
              <a:rPr sz="1200" b="1">
                <a:solidFill>
                  <a:srgbClr val="061866"/>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Mismas reglas 24/7</a:t>
            </a:r>
          </a:p>
          <a:p>
            <a:pPr algn="l"/>
            <a:r>
              <a:rPr sz="1200" b="0">
                <a:solidFill>
                  <a:srgbClr val="FFFFFF"/>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Experiencia convertida en reglas</a:t>
            </a:r>
          </a:p>
          <a:p>
            <a:pPr algn="l"/>
            <a:r>
              <a:rPr sz="1200" b="0">
                <a:solidFill>
                  <a:srgbClr val="FFFFFF"/>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r>
              <a:rPr sz="1400" b="1">
                <a:solidFill>
                  <a:srgbClr val="FFFF1A"/>
                </a:solidFill>
                <a:latin typeface="Noto Sans"/>
              </a:rPr>
              <a:t>Cada decisión, registrada</a:t>
            </a:r>
          </a:p>
          <a:p>
            <a:pPr algn="l"/>
            <a:r>
              <a:rPr sz="1200" b="0">
                <a:solidFill>
                  <a:srgbClr val="FFFFFF"/>
                </a:solidFill>
                <a:latin typeface="Noto Sans"/>
              </a:rPr>
              <a:t>Trazabilidad completa en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e inteligencia artificial</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r>
              <a:rPr sz="1500" b="1">
                <a:solidFill>
                  <a:srgbClr val="FFFFFF"/>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r>
              <a:rPr sz="1300" b="0">
                <a:solidFill>
                  <a:srgbClr val="6B6E80"/>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r>
              <a:rPr sz="1300" b="1">
                <a:solidFill>
                  <a:srgbClr val="6B6E80"/>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rgbClr val="061866"/>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r>
              <a:rPr sz="1300" b="1">
                <a:solidFill>
                  <a:srgbClr val="6B6E80"/>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201168" indent="-201168">
              <a:spcAft>
                <a:spcPts val="800"/>
              </a:spcAft>
              <a:buClr>
                <a:srgbClr val="061866"/>
              </a:buClr>
              <a:buFont typeface="Arial"/>
              <a:buChar char="•"/>
            </a:pPr>
            <a:r>
              <a:rPr sz="1500" b="0">
                <a:solidFill>
                  <a:srgbClr val="061866"/>
                </a:solidFill>
                <a:latin typeface="Noto Sans"/>
              </a:rPr>
              <a:t>Qué parámetros se movieron antes</a:t>
            </a:r>
          </a:p>
          <a:p>
            <a:pPr algn="l" marL="201168" indent="-201168">
              <a:spcAft>
                <a:spcPts val="800"/>
              </a:spcAft>
              <a:buClr>
                <a:srgbClr val="061866"/>
              </a:buClr>
              <a:buFont typeface="Arial"/>
              <a:buChar char="•"/>
            </a:pPr>
            <a:r>
              <a:rPr sz="1500" b="0">
                <a:solidFill>
                  <a:srgbClr val="061866"/>
                </a:solidFill>
                <a:latin typeface="Noto Sans"/>
              </a:rPr>
              <a:t>En qué puestos, turnos o lotes se concentra</a:t>
            </a:r>
          </a:p>
          <a:p>
            <a:pPr algn="l" marL="201168" indent="-201168">
              <a:spcAft>
                <a:spcPts val="800"/>
              </a:spcAft>
              <a:buClr>
                <a:srgbClr val="061866"/>
              </a:buClr>
              <a:buFont typeface="Arial"/>
              <a:buChar char="•"/>
            </a:pPr>
            <a:r>
              <a:rPr sz="1500" b="0">
                <a:solidFill>
                  <a:srgbClr val="061866"/>
                </a:solidFill>
                <a:latin typeface="Noto Sans"/>
              </a:rPr>
              <a:t>Qué regla nueva lo habría evitado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16" name="Oval 15"/>
          <p:cNvSpPr/>
          <p:nvPr/>
        </p:nvSpPr>
        <p:spPr>
          <a:xfrm>
            <a:off x="2777576" y="3105302"/>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18" name="Oval 17"/>
          <p:cNvSpPr/>
          <p:nvPr/>
        </p:nvSpPr>
        <p:spPr>
          <a:xfrm>
            <a:off x="3892028" y="329504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20" name="Oval 19"/>
          <p:cNvSpPr/>
          <p:nvPr/>
        </p:nvSpPr>
        <p:spPr>
          <a:xfrm>
            <a:off x="2363636" y="2858643"/>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22" name="Oval 21"/>
          <p:cNvSpPr/>
          <p:nvPr/>
        </p:nvSpPr>
        <p:spPr>
          <a:xfrm>
            <a:off x="6874513" y="2687878"/>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rgbClr val="061866"/>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r>
              <a:rPr sz="1100" b="1">
                <a:solidFill>
                  <a:srgbClr val="061866"/>
                </a:solidFill>
                <a:latin typeface="Noto Sans"/>
              </a:rPr>
              <a:t>Zona CQ 38.1</a:t>
            </a:r>
          </a:p>
        </p:txBody>
      </p:sp>
      <p:sp>
        <p:nvSpPr>
          <p:cNvPr id="25" name="Oval 24"/>
          <p:cNvSpPr/>
          <p:nvPr/>
        </p:nvSpPr>
        <p:spPr>
          <a:xfrm>
            <a:off x="548640"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Plugin PI</a:t>
            </a:r>
          </a:p>
          <a:p>
            <a:pPr algn="l"/>
            <a:r>
              <a:rPr sz="1100" b="0">
                <a:solidFill>
                  <a:srgbClr val="6B6E80"/>
                </a:solidFill>
                <a:latin typeface="Noto Sans"/>
              </a:rPr>
              <a:t>lee las medidas de cada puesto</a:t>
            </a:r>
          </a:p>
        </p:txBody>
      </p:sp>
      <p:sp>
        <p:nvSpPr>
          <p:cNvPr id="28" name="Oval 27"/>
          <p:cNvSpPr/>
          <p:nvPr/>
        </p:nvSpPr>
        <p:spPr>
          <a:xfrm>
            <a:off x="2779776"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Preparación</a:t>
            </a:r>
          </a:p>
          <a:p>
            <a:pPr algn="l"/>
            <a:r>
              <a:rPr sz="1100" b="0">
                <a:solidFill>
                  <a:srgbClr val="6B6E80"/>
                </a:solidFill>
                <a:latin typeface="Noto Sans"/>
              </a:rPr>
              <a:t>limpieza automática</a:t>
            </a:r>
          </a:p>
        </p:txBody>
      </p:sp>
      <p:sp>
        <p:nvSpPr>
          <p:cNvPr id="31" name="Oval 30"/>
          <p:cNvSpPr/>
          <p:nvPr/>
        </p:nvSpPr>
        <p:spPr>
          <a:xfrm>
            <a:off x="5010912"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Unión</a:t>
            </a:r>
          </a:p>
          <a:p>
            <a:pPr algn="l"/>
            <a:r>
              <a:rPr sz="1100" b="0">
                <a:solidFill>
                  <a:srgbClr val="6B6E80"/>
                </a:solidFill>
                <a:latin typeface="Noto Sans"/>
              </a:rPr>
              <a:t>series temporales entre puestos</a:t>
            </a:r>
          </a:p>
        </p:txBody>
      </p:sp>
      <p:sp>
        <p:nvSpPr>
          <p:cNvPr id="34" name="Oval 33"/>
          <p:cNvSpPr/>
          <p:nvPr/>
        </p:nvSpPr>
        <p:spPr>
          <a:xfrm>
            <a:off x="7242048"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Matrícula</a:t>
            </a:r>
          </a:p>
          <a:p>
            <a:pPr algn="l"/>
            <a:r>
              <a:rPr sz="1100" b="0">
                <a:solidFill>
                  <a:srgbClr val="6B6E80"/>
                </a:solidFill>
                <a:latin typeface="Noto Sans"/>
              </a:rPr>
              <a:t>la identidad del neumático</a:t>
            </a:r>
          </a:p>
        </p:txBody>
      </p:sp>
      <p:sp>
        <p:nvSpPr>
          <p:cNvPr id="37" name="Oval 36"/>
          <p:cNvSpPr/>
          <p:nvPr/>
        </p:nvSpPr>
        <p:spPr>
          <a:xfrm>
            <a:off x="9473184" y="5623560"/>
            <a:ext cx="329184" cy="3291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rgbClr val="061866"/>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r>
              <a:rPr sz="1300" b="1">
                <a:solidFill>
                  <a:srgbClr val="061866"/>
                </a:solidFill>
                <a:latin typeface="Noto Sans"/>
              </a:rPr>
              <a:t>Cocción C11</a:t>
            </a:r>
          </a:p>
          <a:p>
            <a:pPr algn="l"/>
            <a:r>
              <a:rPr sz="1100" b="0">
                <a:solidFill>
                  <a:srgbClr val="6B6E80"/>
                </a:solidFill>
                <a:latin typeface="Noto Sans"/>
              </a:rPr>
              <a:t>se completa su historia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 sobre nuestras imágenes láser</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El láser mide; la IA reconoce lo que no se puede medir con una cota</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rgbClr val="FFFF1A"/>
                </a:solidFill>
                <a:latin typeface="BIB Bold"/>
              </a:rPr>
              <a:t>Medir: láser y cotas</a:t>
            </a:r>
          </a:p>
        </p:txBody>
      </p:sp>
      <p:sp>
        <p:nvSpPr>
          <p:cNvPr id="14" name="Rectangle 13"/>
          <p:cNvSpPr/>
          <p:nvPr/>
        </p:nvSpPr>
        <p:spPr>
          <a:xfrm>
            <a:off x="868680" y="2194560"/>
            <a:ext cx="4480559" cy="233172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r>
              <a:rPr sz="1400" b="1">
                <a:solidFill>
                  <a:srgbClr val="FFFFFF"/>
                </a:solidFill>
                <a:latin typeface="Noto Sans"/>
              </a:rPr>
              <a:t>Hoy y siempre. </a:t>
            </a:r>
          </a:p>
          <a:p>
            <a:pPr algn="l"/>
            <a:r>
              <a:rPr sz="1400" b="0">
                <a:solidFill>
                  <a:srgbClr val="D6DBEE"/>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rgbClr val="061866"/>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rgbClr val="061866"/>
                </a:solidFill>
                <a:latin typeface="BIB Bold"/>
              </a:rPr>
              <a:t>Reconocer: IA</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r>
              <a:rPr sz="1400" b="1">
                <a:solidFill>
                  <a:srgbClr val="061866"/>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201168" indent="-201168">
              <a:spcAft>
                <a:spcPts val="300"/>
              </a:spcAft>
              <a:buClr>
                <a:srgbClr val="061866"/>
              </a:buClr>
              <a:buFont typeface="Arial"/>
              <a:buChar char="•"/>
            </a:pPr>
            <a:r>
              <a:rPr sz="1400" b="0">
                <a:solidFill>
                  <a:srgbClr val="061866"/>
                </a:solidFill>
                <a:latin typeface="Noto Sans"/>
              </a:rPr>
              <a:t>Rugosidades y textura de la superficie</a:t>
            </a:r>
          </a:p>
          <a:p>
            <a:pPr algn="l" marL="201168" indent="-201168">
              <a:spcAft>
                <a:spcPts val="300"/>
              </a:spcAft>
              <a:buClr>
                <a:srgbClr val="061866"/>
              </a:buClr>
              <a:buFont typeface="Arial"/>
              <a:buChar char="•"/>
            </a:pPr>
            <a:r>
              <a:rPr sz="1400" b="0">
                <a:solidFill>
                  <a:srgbClr val="061866"/>
                </a:solidFill>
                <a:latin typeface="Noto Sans"/>
              </a:rPr>
              <a:t>Posibles materias extrañas</a:t>
            </a:r>
          </a:p>
          <a:p>
            <a:pPr algn="l" marL="201168" indent="-201168">
              <a:spcAft>
                <a:spcPts val="300"/>
              </a:spcAft>
              <a:buClr>
                <a:srgbClr val="061866"/>
              </a:buClr>
              <a:buFont typeface="Arial"/>
              <a:buChar char="•"/>
            </a:pPr>
            <a:r>
              <a:rPr sz="1400" b="0">
                <a:solidFill>
                  <a:srgbClr val="061866"/>
                </a:solidFill>
                <a:latin typeface="Noto Sans"/>
              </a:rPr>
              <a:t>Goma mal dispersa</a:t>
            </a:r>
          </a:p>
          <a:p>
            <a:pPr algn="l" marL="201168" indent="-201168">
              <a:spcAft>
                <a:spcPts val="300"/>
              </a:spcAft>
              <a:buClr>
                <a:srgbClr val="061866"/>
              </a:buClr>
              <a:buFont typeface="Arial"/>
              <a:buChar char="•"/>
            </a:pPr>
            <a:r>
              <a:rPr sz="1400" b="0">
                <a:solidFill>
                  <a:srgbClr val="061866"/>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r>
              <a:rPr sz="1200" b="0">
                <a:solidFill>
                  <a:srgbClr val="6B6E80"/>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r>
              <a:rPr sz="1400" b="1">
                <a:solidFill>
                  <a:srgbClr val="061866"/>
                </a:solidFill>
                <a:latin typeface="Noto Sans"/>
              </a:rPr>
              <a:t>La base ya existe: </a:t>
            </a:r>
            <a:r>
              <a:rPr sz="1400" b="0">
                <a:solidFill>
                  <a:srgbClr val="061866"/>
                </a:solidFill>
                <a:latin typeface="Noto Sans"/>
              </a:rPr>
              <a:t>miles de imágenes reales archivadas en PI, asociadas a sus medidas y alertas.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r>
              <a:rPr sz="1000" b="0">
                <a:solidFill>
                  <a:srgbClr val="A3AACB"/>
                </a:solidFill>
                <a:latin typeface="Noto Sans"/>
              </a:rPr>
              <a:t>Ver</a:t>
            </a:r>
          </a:p>
        </p:txBody>
      </p:sp>
      <p:sp>
        <p:nvSpPr>
          <p:cNvPr id="6" name="Oval 5"/>
          <p:cNvSpPr/>
          <p:nvPr/>
        </p:nvSpPr>
        <p:spPr>
          <a:xfrm>
            <a:off x="8412480"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Entender</a:t>
            </a:r>
          </a:p>
        </p:txBody>
      </p:sp>
      <p:sp>
        <p:nvSpPr>
          <p:cNvPr id="8" name="Oval 7"/>
          <p:cNvSpPr/>
          <p:nvPr/>
        </p:nvSpPr>
        <p:spPr>
          <a:xfrm>
            <a:off x="9537192" y="1097280"/>
            <a:ext cx="100584" cy="100584"/>
          </a:xfrm>
          <a:prstGeom prst="ellipse">
            <a:avLst/>
          </a:prstGeom>
          <a:solidFill>
            <a:srgbClr val="A3AA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r>
              <a:rPr sz="1000" b="0">
                <a:solidFill>
                  <a:srgbClr val="A3AACB"/>
                </a:solidFill>
                <a:latin typeface="Noto Sans"/>
              </a:rPr>
              <a:t>Decidir</a:t>
            </a:r>
          </a:p>
        </p:txBody>
      </p:sp>
      <p:sp>
        <p:nvSpPr>
          <p:cNvPr id="10" name="Oval 9"/>
          <p:cNvSpPr/>
          <p:nvPr/>
        </p:nvSpPr>
        <p:spPr>
          <a:xfrm>
            <a:off x="10661904" y="1097280"/>
            <a:ext cx="100584" cy="100584"/>
          </a:xfrm>
          <a:prstGeom prst="ellipse">
            <a:avLst/>
          </a:prstGeom>
          <a:solidFill>
            <a:srgbClr val="FFFF1A"/>
          </a:solidFill>
          <a:ln w="15875">
            <a:solidFill>
              <a:srgbClr val="061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r>
              <a:rPr sz="1000" b="1">
                <a:solidFill>
                  <a:srgbClr val="061866"/>
                </a:solidFill>
                <a:latin typeface="Noto Sans"/>
              </a:rPr>
              <a:t>Anticipar</a:t>
            </a:r>
          </a:p>
        </p:txBody>
      </p:sp>
      <p:sp>
        <p:nvSpPr>
          <p:cNvPr id="12" name="Oval 11"/>
          <p:cNvSpPr/>
          <p:nvPr/>
        </p:nvSpPr>
        <p:spPr>
          <a:xfrm>
            <a:off x="1554480" y="2331720"/>
            <a:ext cx="3200400" cy="3200400"/>
          </a:xfrm>
          <a:prstGeom prst="ellipse">
            <a:avLst/>
          </a:prstGeom>
          <a:noFill/>
          <a:ln w="25400">
            <a:solidFill>
              <a:srgbClr val="A3AACB"/>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rgbClr val="FFF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rgbClr val="061866"/>
                </a:solidFill>
                <a:latin typeface="BIB Bold"/>
              </a:rPr>
              <a:t>IQF</a:t>
            </a:r>
          </a:p>
        </p:txBody>
      </p:sp>
      <p:sp>
        <p:nvSpPr>
          <p:cNvPr id="15" name="Oval 14"/>
          <p:cNvSpPr/>
          <p:nvPr/>
        </p:nvSpPr>
        <p:spPr>
          <a:xfrm>
            <a:off x="2587752" y="17647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rgbClr val="FFFF1A"/>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r>
              <a:rPr sz="1200" b="1">
                <a:solidFill>
                  <a:srgbClr val="FFFFFF"/>
                </a:solidFill>
                <a:latin typeface="Noto Sans"/>
              </a:rPr>
              <a:t>Ver</a:t>
            </a:r>
          </a:p>
        </p:txBody>
      </p:sp>
      <p:sp>
        <p:nvSpPr>
          <p:cNvPr id="18" name="Oval 17"/>
          <p:cNvSpPr/>
          <p:nvPr/>
        </p:nvSpPr>
        <p:spPr>
          <a:xfrm>
            <a:off x="41879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Entender</a:t>
            </a:r>
          </a:p>
        </p:txBody>
      </p:sp>
      <p:sp>
        <p:nvSpPr>
          <p:cNvPr id="21" name="Oval 20"/>
          <p:cNvSpPr/>
          <p:nvPr/>
        </p:nvSpPr>
        <p:spPr>
          <a:xfrm>
            <a:off x="2587752" y="4965192"/>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rgbClr val="FFFF1A"/>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r>
              <a:rPr sz="1200" b="1">
                <a:solidFill>
                  <a:srgbClr val="FFFFFF"/>
                </a:solidFill>
                <a:latin typeface="Noto Sans"/>
              </a:rPr>
              <a:t>Decidir</a:t>
            </a:r>
          </a:p>
        </p:txBody>
      </p:sp>
      <p:sp>
        <p:nvSpPr>
          <p:cNvPr id="24" name="Oval 23"/>
          <p:cNvSpPr/>
          <p:nvPr/>
        </p:nvSpPr>
        <p:spPr>
          <a:xfrm>
            <a:off x="987552" y="3364991"/>
            <a:ext cx="1133856" cy="1133856"/>
          </a:xfrm>
          <a:prstGeom prst="ellipse">
            <a:avLst/>
          </a:prstGeom>
          <a:solidFill>
            <a:srgbClr val="061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rgbClr val="FFFF1A"/>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r>
              <a:rPr sz="1200" b="1">
                <a:solidFill>
                  <a:srgbClr val="FFFFFF"/>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rgbClr val="061866"/>
                </a:solidFill>
                <a:latin typeface="BIB Bold"/>
              </a:rPr>
              <a:t>Medimos</a:t>
            </a:r>
          </a:p>
          <a:p>
            <a:pPr algn="l"/>
            <a:r>
              <a:rPr sz="1400" b="0">
                <a:solidFill>
                  <a:srgbClr val="6B6E80"/>
                </a:solidFill>
                <a:latin typeface="Noto Sans"/>
              </a:rPr>
              <a:t>cada neumático con láser 3D</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rgbClr val="061866"/>
                </a:solidFill>
                <a:latin typeface="BIB Bold"/>
              </a:rPr>
              <a:t>Comprendemos</a:t>
            </a:r>
          </a:p>
          <a:p>
            <a:pPr algn="l"/>
            <a:r>
              <a:rPr sz="1400" b="0">
                <a:solidFill>
                  <a:srgbClr val="6B6E80"/>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rgbClr val="061866"/>
                </a:solidFill>
                <a:latin typeface="BIB Bold"/>
              </a:rPr>
              <a:t>Corregimos</a:t>
            </a:r>
          </a:p>
          <a:p>
            <a:pPr algn="l"/>
            <a:r>
              <a:rPr sz="1400" b="0">
                <a:solidFill>
                  <a:srgbClr val="6B6E80"/>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rgbClr val="061866"/>
                </a:solidFill>
                <a:latin typeface="BIB Bold"/>
              </a:rPr>
              <a:t>Aprendemos</a:t>
            </a:r>
          </a:p>
          <a:p>
            <a:pPr algn="l"/>
            <a:r>
              <a:rPr sz="1400" b="0">
                <a:solidFill>
                  <a:srgbClr val="6B6E80"/>
                </a:solidFill>
                <a:latin typeface="Noto Sans"/>
              </a:rPr>
              <a:t>patrones con Dataiku e 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r>
              <a:rPr sz="1500" b="0">
                <a:solidFill>
                  <a:srgbClr val="6B6E80"/>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rgbClr val="F5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rgbClr val="061866"/>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r>
              <a:rPr sz="1400" b="0">
                <a:solidFill>
                  <a:srgbClr val="6B6E80"/>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rgbClr val="061866"/>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rgbClr val="002C5F"/>
                </a:solidFill>
                <a:latin typeface="Arial"/>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r>
              <a:rPr sz="1400" b="1">
                <a:solidFill>
                  <a:srgbClr val="061866"/>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