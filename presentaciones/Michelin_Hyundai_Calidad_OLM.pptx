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8b16748-f9d4-dafa-d004-52cbba90edd3}">
          <p14:sldIdLst>
            <p14:sldId id="256"/>
            <p14:sldId id="257"/>
          </p14:sldIdLst>
        </p14:section>
        <p14:section name="Una relación de confianza" id="{27b844c4-cf79-7e2e-18ed-c09ea3cf6ac1}">
          <p14:sldIdLst>
            <p14:sldId id="258"/>
            <p14:sldId id="259"/>
          </p14:sldIdLst>
        </p14:section>
        <p14:section name="Cómo lo hacemos" id="{53af8e41-8455-3b1b-0f08-22edbd4c1553}">
          <p14:sldIdLst>
            <p14:sldId id="260"/>
            <p14:sldId id="261"/>
            <p14:sldId id="262"/>
          </p14:sldIdLst>
        </p14:section>
        <p14:section name="Del dato a la acción" id="{a8c631aa-a419-1366-5596-9e2ebac0b861}">
          <p14:sldIdLst>
            <p14:sldId id="263"/>
            <p14:sldId id="264"/>
            <p14:sldId id="265"/>
            <p14:sldId id="266"/>
            <p14:sldId id="267"/>
          </p14:sldIdLst>
        </p14:section>
        <p14:section name="Valor para Hyundai" id="{fd6190a1-72b0-c537-5ffa-d1e797450cd2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con el mensaje clave: Hyundai no compra solo un neumático, compra la garantía de que cada unidad sale de fábrica medida y controlada. Hoy enseñamos cómo lo hacemos en las líneas MAC y BNS.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ejecutivo en tres ideas. Si el cliente solo recuerda una diapositiva, que sea esta: medimos el 100 %, avisamos en tiempo real y corregimos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públicas: acuerdos de 2017 (IONIQ 5) y junio de 2022 (eléctricos premium), y un tercer acuerdo de tres años anunciado por Hyundai Motor Group y Kia. Confirmar la fecha exacta del tercer acuerdo antes de la reunión. Mensaje: la medición en línea que enseñamos hoy es la misma filosofía de los acuerdos (datos y monitorización en tiempo real) aplicada a la fábrica.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el producto concreto con el proceso. El cliente homologa un neumático; nuestro compromiso es que los miles de unidades que reciba sean iguales a ese neumático homologado.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Explicación sencilla: es como un escáner 3D que fotografía cada capa de goma mientras se coloca en el tambor de la máquina. Datos técnicos de la serie Gocator 2400: hasta 5.000 perfiles por segundo y repetibilidad de micras (según modelo). Si preguntan, tener a mano la ficha técnica de la presentación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explicar el esquema en detalle; lo importante son los números: 8 puestos, 16 sensores, 1 PLC y 4 PCs. Transmite que es un sistema industrial robusto y ya desplegado.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imágenes vienen de las líneas MAC (RFI, GI, BT) y P15. Explicar el mapa de colores: el rojo y el violeta son alturas distintas; un bulto o una arruga destaca sobre el fondo uniforme. En la presentación original había un demostrador que ya permitió detectar productos mal aplicados (mal plaqué).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mediana de las últimas 20 unidades permite ver si la máquina empieza a desviarse antes de salirse de tolerancia. Es control estadístico del proceso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 de la gráfica: la medida entra en alerta, se avisa al responsable, se actúa y la medida sale de alerta. Todo queda registrado en el histórico de alertas (PI Vision).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más potente para un fabricante de coches: el sistema no solo avisa, corrige. Ejemplo de la regulación BJ: el trusquín (posición del borde) llega al límite inferior, se activa el ODM, se ajusta y vuelve al valor teórico. Si una corrección no es posible, la regla bloquea la máquina o segrega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no es un caso aislado. La misma lógica de medir, avisar y corregir se extiende a otras líneas (BNS). Sensor Gocator 2650, láser clase 3R, instalado con su protección.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un fabricante de coches la trazabilidad es clave: si un día hay una pregunta sobre un lote, tenemos los datos de medida de su fabricación.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Traducir la tecnología a beneficios para el comprador y para calidad de Hyundai. Insistir en la conexión con la colaboración de I+D: monitorización en tiempo real es exactamente lo que ambos desarrollamos para sus vehículos.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una petición concreta. Ajustar los próximos pasos al objetivo real de la reunión (visita, acuerdo de indicadores, lanzamiento).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lank-app/7493bec7-5fc4-598a-95c5-e4a4b47f4a0e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384048"/>
            <a:ext cx="1143000" cy="50053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Michelin · Hyundai Motor Group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lank-app/7493bec7-5fc4-598a-95c5-e4a4b47f4a0e/scratchpad/img/tucs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54864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pic>
        <p:nvPicPr>
          <p:cNvPr id="5" name="Image 1" descr="/tmp/claude-0/-home-user-blank-app/7493bec7-5fc4-598a-95c5-e4a4b47f4a0e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498"/>
            <a:ext cx="1463040" cy="6406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Hyundai &amp; Michelin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774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Calidad medida en cada neumático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14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Cómo controlamos en tiempo real la fabricación del Primacy 5 Energy para el nuevo Hyundai Tucson 2027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35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Visita a planta · Medición en línea (OLM) en MAC y BNS</a:t>
            </a:r>
            <a:endParaRPr lang="en-US" sz="1200" dirty="0"/>
          </a:p>
        </p:txBody>
      </p:sp>
      <p:pic>
        <p:nvPicPr>
          <p:cNvPr id="10" name="Primacy 5 Energy" descr="/tmp/claude-0/-home-user-blank-app/7493bec7-5fc4-598a-95c5-e4a4b47f4a0e/scratchpad/img/ti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01752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queremos que se lleven hoy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Cada neumático que llega a su línea de montaje ha sido medido, vigilado y corregido mientras se fabricaba</a:t>
            </a:r>
            <a:endParaRPr lang="en-US" sz="1600" dirty="0"/>
          </a:p>
        </p:txBody>
      </p:sp>
      <p:sp>
        <p:nvSpPr>
          <p:cNvPr id="4" name="card 1 · Medimos todo"/>
          <p:cNvSpPr/>
          <p:nvPr/>
        </p:nvSpPr>
        <p:spPr>
          <a:xfrm>
            <a:off x="548640" y="19202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13306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· Medimos todo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</a:rPr>
              <a:t>Láseres 3D escanean cada componente del neumático durante la fabricación. Sin muestreos y sin tocar el producto.</a:t>
            </a:r>
            <a:endParaRPr lang="en-US" sz="1600" dirty="0"/>
          </a:p>
        </p:txBody>
      </p:sp>
      <p:sp>
        <p:nvSpPr>
          <p:cNvPr id="9" name="card 2 · Avisamos al momento"/>
          <p:cNvSpPr/>
          <p:nvPr/>
        </p:nvSpPr>
        <p:spPr>
          <a:xfrm>
            <a:off x="4338218" y="19202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13306B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71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· Avisamos al momento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4290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</a:rPr>
              <a:t>Si una medida se acerca al límite, el sistema lanza una alerta al operario (también en el móvil) antes de que haya un defecto.</a:t>
            </a:r>
            <a:endParaRPr lang="en-US" sz="1600" dirty="0"/>
          </a:p>
        </p:txBody>
      </p:sp>
      <p:sp>
        <p:nvSpPr>
          <p:cNvPr id="14" name="card 3 · Corregimos solos"/>
          <p:cNvSpPr/>
          <p:nvPr/>
        </p:nvSpPr>
        <p:spPr>
          <a:xfrm>
            <a:off x="8127797" y="192024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13306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194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331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718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· Corregimos solos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42900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</a:rPr>
              <a:t>Un motor de reglas ajusta la máquina automáticamente o aparta el producto. El error no avanza en la línea.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Socios en innovación desde 2017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No somos un proveedor nuevo: desarrollamos juntos los neumáticos de sus vehículos más exigentes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2468880"/>
            <a:ext cx="8526551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718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2017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Primer acuerdo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años. Neumático exclusivo co-desarrollado para el IONIQ 5, métodos de ensayo compartidos e intercambio tecnológico.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0824" y="21488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272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90824" y="29718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2022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390824" y="35204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Segundo acuerdo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390824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años. Neumáticos para eléctricos premium: más materiales sostenibles y monitorización del neumático en tiempo real.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214884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6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33008" y="29718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Hoy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6233008" y="35204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Tercer acuerdo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233008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años. Baja resistencia a la rodadura, alto rendimiento, desarrollo virtual y tecnología SmartGrip para frenar mejor.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75191" y="21488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639" y="2304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5191" y="297180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2027</a:t>
            </a:r>
            <a:endParaRPr lang="en-US" sz="3200" dirty="0"/>
          </a:p>
        </p:txBody>
      </p:sp>
      <p:sp>
        <p:nvSpPr>
          <p:cNvPr id="23" name="Text 17"/>
          <p:cNvSpPr txBox="1"/>
          <p:nvPr/>
        </p:nvSpPr>
        <p:spPr>
          <a:xfrm>
            <a:off x="9075191" y="35204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Nuevo Tucson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9075191" y="3931920"/>
            <a:ext cx="2567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Primacy 5 Energy 235/45 R20 en primer equipo del nuevo Hyundai Tucson 2027.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4864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Ya en primer equipo de su gama alta: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neumáticos con marcaje HN para Hyundai N y GOE para Genesis.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Primacy 5 Energy para el nuevo Tucson 2027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Un neumático desarrollado para su vehículo y fabricado bajo control total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/>
        </p:spPr>
      </p:sp>
      <p:pic>
        <p:nvPicPr>
          <p:cNvPr id="5" name="Image 0" descr="/tmp/claude-0/-home-user-blank-app/7493bec7-5fc4-598a-95c5-e4a4b47f4a0e/scratchpad/img/t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MODELO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0391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Michelin Primacy 5 Energy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560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MEDIDA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8163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235/45 R20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3337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VEHÍCULO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5935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Hyundai Tucson 2027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CÓDIGO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43708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5759 · CAI 514126A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17920" y="498348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4983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Las siguientes páginas muestran cómo garantizamos que cada unidad de este neumático sea idéntica a la que ustedes homologaron.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escáner láser 3D en cada máquina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Medición en línea (OLM): vemos cada capa del neumático mientras se construye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goc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0052"/>
            <a:ext cx="4937760" cy="30721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114800" y="397764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D5DD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claude-0/-home-user-blank-app/7493bec7-5fc4-598a-95c5-e4a4b47f4a0e/scratchpad/img/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045" y="4069080"/>
            <a:ext cx="1347990" cy="1508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Sensor Gocator (LMI) y esquema de escaneo sobre el tambor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17373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3D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1737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perfil completo de cada componente: anchura, posición y forma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100 %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3108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la producción medida, no por muestreo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4480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4480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contacto con el producto: la medición no frena la línea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Así está montado en la máquina MAC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Una instalación industrial completa, no un piloto de laboratorio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91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puestos de medida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383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889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788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sensores láser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3383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8862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886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autómata (PLC) de medición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383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983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983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ordenadores de análisis</a:t>
            </a:r>
            <a:endParaRPr lang="en-US" sz="1500" dirty="0"/>
          </a:p>
        </p:txBody>
      </p:sp>
      <p:pic>
        <p:nvPicPr>
          <p:cNvPr id="16" name="Image 0" descr="/tmp/claude-0/-home-user-blank-app/7493bec7-5fc4-598a-95c5-e4a4b47f4a0e/scratchpad/img/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752148"/>
            <a:ext cx="7345375" cy="408522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429768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Arquitectura MAC5: sensores, autómata y PCs conectados en 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Vemos lo que el ojo no ve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Cada color es una altura: cualquier pliegue, empalme irregular o desviación aparece al instante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d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3515258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Relieve de un componente en 3D</a:t>
            </a:r>
            <a:endParaRPr lang="en-US" sz="1400" dirty="0"/>
          </a:p>
        </p:txBody>
      </p:sp>
      <p:pic>
        <p:nvPicPr>
          <p:cNvPr id="6" name="Image 1" descr="/tmp/claude-0/-home-user-blank-app/7493bec7-5fc4-598a-95c5-e4a4b47f4a0e/scratchpad/img/d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8218" y="1828800"/>
            <a:ext cx="3515258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38218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Detección de una irregularidad de forma</a:t>
            </a:r>
            <a:endParaRPr lang="en-US" sz="1400" dirty="0"/>
          </a:p>
        </p:txBody>
      </p:sp>
      <p:pic>
        <p:nvPicPr>
          <p:cNvPr id="8" name="Image 2" descr="/tmp/claude-0/-home-user-blank-app/7493bec7-5fc4-598a-95c5-e4a4b47f4a0e/scratchpad/img/d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797" y="1828800"/>
            <a:ext cx="3515258" cy="3291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27797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de empalmes y solapes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Resultado: los defectos se detectan en la máquina, no en el control final ni en su planta.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medida, en pantalla y en tiempo real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Anchura y posición de cada componente, comparadas con el valor teórico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32305"/>
            <a:ext cx="7589520" cy="352491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Panel OSIsoft PI · MAC3 · P14: anchura y posición frente a su objetivo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1828800"/>
            <a:ext cx="31391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0B1F4B"/>
                </a:solidFill>
              </a:rPr>
              <a:t>Valor individual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 cada neumático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0B1F4B"/>
                </a:solidFill>
              </a:rPr>
              <a:t>Mediana de los últimos 20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para ver la tendencia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0B1F4B"/>
                </a:solidFill>
              </a:rPr>
              <a:t>Límites superior e inferior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siempre visibles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0B1F4B"/>
                </a:solidFill>
              </a:rPr>
              <a:t>Mismo dato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para operarios, calidad e ingeniería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Alerta antes de que haya un defecto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Cuando la tendencia se acerca al límite, el equipo lo sabe al instante, también en el móvil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32305"/>
            <a:ext cx="7589520" cy="352491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503920" y="1737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8745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35440" y="1719072"/>
            <a:ext cx="2407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Entra en alerta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9235440" y="2103120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mediana cruza el umbral definido.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50392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35440" y="3090672"/>
            <a:ext cx="2407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Aviso inmediato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9235440" y="3474720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Notificación en pantalla y en el móvil del responsable.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503920" y="44805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46177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35440" y="4462272"/>
            <a:ext cx="2407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Sale de alerta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9235440" y="4846320"/>
            <a:ext cx="2407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medida vuelve a su valor y queda registrado.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máquina se corrige sola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Motor de reglas R4P: de la medida a la acción sin esperar a nadie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r4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19" y="1691640"/>
            <a:ext cx="6744002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92040"/>
            <a:ext cx="21336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9834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Medir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49240"/>
            <a:ext cx="176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sensor mide el componente.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65120" y="4892040"/>
            <a:ext cx="21336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48000" y="49834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Decidir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048000" y="5349240"/>
            <a:ext cx="176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motor de reglas compara con el objetivo.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81600" y="4892040"/>
            <a:ext cx="21336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64480" y="49834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Actuar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364480" y="5349240"/>
            <a:ext cx="176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Ajusta la máquina, la bloquea o aparta el producto.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80960" y="1691640"/>
            <a:ext cx="3962095" cy="4434840"/>
          </a:xfrm>
          <a:prstGeom prst="roundRect">
            <a:avLst>
              <a:gd name="adj" fmla="val 2769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55280" y="1874520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Ejemplo real en la línea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2377440"/>
            <a:ext cx="34134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La posición del borde baja al límite inferior.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La corrección automática (ODM) se activa.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La máquina se ajusta sin intervención.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4. La medida vuelve a su valor teórico.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misma tecnología en la línea BNS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Medición láser de las bandas NST1 y NST2 con un sensor Gocator 2650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b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952"/>
            <a:ext cx="3566160" cy="292417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5" name="Image 1" descr="/tmp/claude-0/-home-user-blank-app/7493bec7-5fc4-598a-95c5-e4a4b47f4a0e/scratchpad/img/n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028797"/>
            <a:ext cx="4846320" cy="344048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2" descr="/tmp/claude-0/-home-user-blank-app/7493bec7-5fc4-598a-95c5-e4a4b47f4a0e/scratchpad/img/nst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500667"/>
            <a:ext cx="2133295" cy="249674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Montaje del sensor · Escaneo 3D de la banda · Vista de control NST1 y NST2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Todo queda registrado y es trazable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Histórico de medidas y alertas en OSIsoft PI Vision, consultable en cualquier momento</a:t>
            </a:r>
            <a:endParaRPr lang="en-US" sz="1600" dirty="0"/>
          </a:p>
        </p:txBody>
      </p:sp>
      <p:pic>
        <p:nvPicPr>
          <p:cNvPr id="4" name="Image 0" descr="/tmp/claude-0/-home-user-blank-app/7493bec7-5fc4-598a-95c5-e4a4b47f4a0e/scratchpad/img/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9537"/>
            <a:ext cx="6949440" cy="321604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5" name="Image 1" descr="/tmp/claude-0/-home-user-blank-app/7493bec7-5fc4-598a-95c5-e4a4b47f4a0e/scratchpad/img/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24505"/>
            <a:ext cx="3870655" cy="182611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Por máquina y producto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623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Medidas de cada máquina (MAC, BNS) y de cada referencia.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338218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Histórico de alertas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338218" y="5623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Cuándo empezó, cuándo terminó y qué se hizo.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127797" y="52578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 para auditorías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127797" y="5623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Datos objetivos para analizar cualquier incidencia con ustedes.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20040"/>
            <a:ext cx="9631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Qué gana Hyundai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987552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Calidad constante, menos incidencias y un socio preparado para el futuro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65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Calidad constante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23160"/>
            <a:ext cx="390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Primacy 5 Energy igual al homologado: misma geometría, mismo comportamiento en el Tucson.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3008" y="169164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7448" y="1965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Menos incidencias en su planta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67448" y="2423160"/>
            <a:ext cx="390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defectos se paran en nuestra máquina, no en su línea de montaje ni en el cliente final.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2976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Transparencia total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754880"/>
            <a:ext cx="390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Datos de medida y alertas trazables, listos para revisar juntos.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33008" y="402336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7328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44805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7448" y="429768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Preparados para lo que viene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67448" y="4754880"/>
            <a:ext cx="390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misma cultura de datos en tiempo real que guía nuestros acuerdos para sus eléctricos y la conducción autónoma.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lank-app/7493bec7-5fc4-598a-95c5-e4a4b47f4a0e/scratchpad/img/bi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024003"/>
            <a:ext cx="2926080" cy="480999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Véanlo con sus propios ojos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514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Visita a las líneas MAC y BNS con el sistema OLM en marcha.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3474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Sesión con su equipo de calidad para definir qué indicadores compartir.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434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Seguimiento conjunto del Primacy 5 Energy durante el lanzamiento del Tucson 2027.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15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spc="200" kern="0" dirty="0">
                <a:solidFill>
                  <a:schemeClr val="bg1"/>
                </a:solidFill>
              </a:rPr>
              <a:t>MOTION FOR LIFE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chelin Hyundai">
  <a:themeElements>
    <a:clrScheme name="Michelin Hyundai">
      <a:dk1>
        <a:srgbClr val="1C2333"/>
      </a:dk1>
      <a:lt1>
        <a:srgbClr val="FFFFFF"/>
      </a:lt1>
      <a:dk2>
        <a:srgbClr val="0B1F4B"/>
      </a:dk2>
      <a:lt2>
        <a:srgbClr val="EEF2F8"/>
      </a:lt2>
      <a:accent1>
        <a:srgbClr val="27509B"/>
      </a:accent1>
      <a:accent2>
        <a:srgbClr val="FCE500"/>
      </a:accent2>
      <a:accent3>
        <a:srgbClr val="1E9E5A"/>
      </a:accent3>
      <a:accent4>
        <a:srgbClr val="D6402B"/>
      </a:accent4>
      <a:accent5>
        <a:srgbClr val="7FA3D9"/>
      </a:accent5>
      <a:accent6>
        <a:srgbClr val="5B6475"/>
      </a:accent6>
      <a:hlink>
        <a:srgbClr val="27509B"/>
      </a:hlink>
      <a:folHlink>
        <a:srgbClr val="5B3E96"/>
      </a:folHlink>
    </a:clrScheme>
    <a:fontScheme name="Michelin Hyund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Hyundai &amp; Michelin: calidad medida en cada neumático</dc:title>
  <dc:subject>PptxGenJS Presentation</dc:subject>
  <dc:creator>Michelin</dc:creator>
  <cp:lastModifiedBy>Michelin</cp:lastModifiedBy>
  <cp:revision>1</cp:revision>
  <dcterms:created xsi:type="dcterms:W3CDTF">2026-10-20T20:46:36Z</dcterms:created>
  <dcterms:modified xsi:type="dcterms:W3CDTF">2026-10-20T20:46:36Z</dcterms:modified>
</cp:coreProperties>
</file>